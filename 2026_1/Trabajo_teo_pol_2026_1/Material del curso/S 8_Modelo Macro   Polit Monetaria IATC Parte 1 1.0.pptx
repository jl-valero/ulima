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6" r:id="rId2"/>
    <p:sldId id="296" r:id="rId3"/>
    <p:sldId id="399" r:id="rId4"/>
    <p:sldId id="400" r:id="rId5"/>
    <p:sldId id="334" r:id="rId6"/>
    <p:sldId id="551" r:id="rId7"/>
    <p:sldId id="552" r:id="rId8"/>
    <p:sldId id="564" r:id="rId9"/>
    <p:sldId id="573" r:id="rId10"/>
    <p:sldId id="574" r:id="rId11"/>
    <p:sldId id="575" r:id="rId12"/>
    <p:sldId id="576" r:id="rId13"/>
    <p:sldId id="577" r:id="rId14"/>
    <p:sldId id="578" r:id="rId15"/>
    <p:sldId id="579" r:id="rId16"/>
    <p:sldId id="580" r:id="rId17"/>
    <p:sldId id="581" r:id="rId18"/>
    <p:sldId id="582" r:id="rId19"/>
    <p:sldId id="583" r:id="rId20"/>
    <p:sldId id="584" r:id="rId21"/>
    <p:sldId id="585" r:id="rId22"/>
    <p:sldId id="586" r:id="rId23"/>
    <p:sldId id="587" r:id="rId24"/>
    <p:sldId id="571" r:id="rId25"/>
    <p:sldId id="588" r:id="rId26"/>
    <p:sldId id="589" r:id="rId27"/>
    <p:sldId id="590" r:id="rId28"/>
    <p:sldId id="591" r:id="rId29"/>
    <p:sldId id="592" r:id="rId30"/>
    <p:sldId id="594" r:id="rId31"/>
    <p:sldId id="595" r:id="rId32"/>
    <p:sldId id="596" r:id="rId33"/>
    <p:sldId id="597" r:id="rId34"/>
    <p:sldId id="598" r:id="rId35"/>
    <p:sldId id="599" r:id="rId36"/>
    <p:sldId id="600" r:id="rId37"/>
    <p:sldId id="601" r:id="rId38"/>
    <p:sldId id="553" r:id="rId39"/>
    <p:sldId id="554" r:id="rId40"/>
    <p:sldId id="401" r:id="rId41"/>
  </p:sldIdLst>
  <p:sldSz cx="12192000" cy="6858000"/>
  <p:notesSz cx="6669088" cy="9928225"/>
  <p:defaultTextStyle>
    <a:defPPr>
      <a:defRPr lang="es-ES"/>
    </a:defPPr>
    <a:lvl1pPr algn="l" rtl="0" eaLnBrk="0" fontAlgn="base" hangingPunct="0">
      <a:spcBef>
        <a:spcPct val="0"/>
      </a:spcBef>
      <a:spcAft>
        <a:spcPct val="0"/>
      </a:spcAft>
      <a:defRPr sz="27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7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7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7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700" kern="1200">
        <a:solidFill>
          <a:schemeClr val="tx1"/>
        </a:solidFill>
        <a:latin typeface="Arial" panose="020B0604020202020204" pitchFamily="34" charset="0"/>
        <a:ea typeface="+mn-ea"/>
        <a:cs typeface="+mn-cs"/>
      </a:defRPr>
    </a:lvl5pPr>
    <a:lvl6pPr marL="2286000" algn="l" defTabSz="914400" rtl="0" eaLnBrk="1" latinLnBrk="0" hangingPunct="1">
      <a:defRPr sz="2700" kern="1200">
        <a:solidFill>
          <a:schemeClr val="tx1"/>
        </a:solidFill>
        <a:latin typeface="Arial" panose="020B0604020202020204" pitchFamily="34" charset="0"/>
        <a:ea typeface="+mn-ea"/>
        <a:cs typeface="+mn-cs"/>
      </a:defRPr>
    </a:lvl6pPr>
    <a:lvl7pPr marL="2743200" algn="l" defTabSz="914400" rtl="0" eaLnBrk="1" latinLnBrk="0" hangingPunct="1">
      <a:defRPr sz="2700" kern="1200">
        <a:solidFill>
          <a:schemeClr val="tx1"/>
        </a:solidFill>
        <a:latin typeface="Arial" panose="020B0604020202020204" pitchFamily="34" charset="0"/>
        <a:ea typeface="+mn-ea"/>
        <a:cs typeface="+mn-cs"/>
      </a:defRPr>
    </a:lvl7pPr>
    <a:lvl8pPr marL="3200400" algn="l" defTabSz="914400" rtl="0" eaLnBrk="1" latinLnBrk="0" hangingPunct="1">
      <a:defRPr sz="2700" kern="1200">
        <a:solidFill>
          <a:schemeClr val="tx1"/>
        </a:solidFill>
        <a:latin typeface="Arial" panose="020B0604020202020204" pitchFamily="34" charset="0"/>
        <a:ea typeface="+mn-ea"/>
        <a:cs typeface="+mn-cs"/>
      </a:defRPr>
    </a:lvl8pPr>
    <a:lvl9pPr marL="3657600" algn="l" defTabSz="914400" rtl="0" eaLnBrk="1" latinLnBrk="0" hangingPunct="1">
      <a:defRPr sz="2700"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Sección predeterminada" id="{0DA1C512-E15B-4AA6-9E97-5A242A7B6ACF}">
          <p14:sldIdLst>
            <p14:sldId id="256"/>
            <p14:sldId id="296"/>
            <p14:sldId id="399"/>
            <p14:sldId id="400"/>
            <p14:sldId id="334"/>
            <p14:sldId id="551"/>
            <p14:sldId id="552"/>
          </p14:sldIdLst>
        </p14:section>
        <p14:section name="OA-DA y políticas macro" id="{FD907B87-1470-4101-B70D-A0512983B4D1}">
          <p14:sldIdLst>
            <p14:sldId id="564"/>
            <p14:sldId id="573"/>
            <p14:sldId id="574"/>
            <p14:sldId id="575"/>
            <p14:sldId id="576"/>
            <p14:sldId id="577"/>
            <p14:sldId id="578"/>
            <p14:sldId id="579"/>
            <p14:sldId id="580"/>
          </p14:sldIdLst>
        </p14:section>
        <p14:section name="La OA" id="{92270CAF-64D0-48A9-A94F-D4B71AEB900E}">
          <p14:sldIdLst>
            <p14:sldId id="581"/>
            <p14:sldId id="582"/>
            <p14:sldId id="583"/>
            <p14:sldId id="584"/>
            <p14:sldId id="585"/>
            <p14:sldId id="586"/>
          </p14:sldIdLst>
        </p14:section>
        <p14:section name="Choques de Oferta" id="{DCE1159A-6BA5-4CA8-9D33-E0639AED3428}">
          <p14:sldIdLst>
            <p14:sldId id="587"/>
          </p14:sldIdLst>
        </p14:section>
        <p14:section name="La DA" id="{45CDCC01-DD3E-4B71-8727-D34104A17FBC}">
          <p14:sldIdLst>
            <p14:sldId id="571"/>
            <p14:sldId id="588"/>
          </p14:sldIdLst>
        </p14:section>
        <p14:section name="Eq. Monetario" id="{C2C4B527-4793-4CCE-BDE2-CE7B87847F15}">
          <p14:sldIdLst>
            <p14:sldId id="589"/>
            <p14:sldId id="590"/>
          </p14:sldIdLst>
        </p14:section>
        <p14:section name="Análisis de Shocks Intro" id="{FA99F430-C75D-4CD5-8F2A-3A1E26C05C9E}">
          <p14:sldIdLst>
            <p14:sldId id="591"/>
            <p14:sldId id="592"/>
          </p14:sldIdLst>
        </p14:section>
        <p14:section name="Analisis de Shocks" id="{B4EA4DA5-A0D6-4C46-B7DC-201EF840E47D}">
          <p14:sldIdLst>
            <p14:sldId id="594"/>
            <p14:sldId id="595"/>
            <p14:sldId id="596"/>
            <p14:sldId id="597"/>
            <p14:sldId id="598"/>
            <p14:sldId id="599"/>
            <p14:sldId id="600"/>
            <p14:sldId id="601"/>
            <p14:sldId id="553"/>
            <p14:sldId id="554"/>
            <p14:sldId id="40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127">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3300"/>
    <a:srgbClr val="0000FF"/>
    <a:srgbClr val="CCCC00"/>
    <a:srgbClr val="CC00CC"/>
    <a:srgbClr val="FF3399"/>
    <a:srgbClr val="FFCC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0" autoAdjust="0"/>
    <p:restoredTop sz="94641" autoAdjust="0"/>
  </p:normalViewPr>
  <p:slideViewPr>
    <p:cSldViewPr>
      <p:cViewPr varScale="1">
        <p:scale>
          <a:sx n="75" d="100"/>
          <a:sy n="75" d="100"/>
        </p:scale>
        <p:origin x="1046" y="4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0"/>
    </p:cViewPr>
  </p:sorterViewPr>
  <p:notesViewPr>
    <p:cSldViewPr>
      <p:cViewPr varScale="1">
        <p:scale>
          <a:sx n="52" d="100"/>
          <a:sy n="52" d="100"/>
        </p:scale>
        <p:origin x="-2664" y="-108"/>
      </p:cViewPr>
      <p:guideLst>
        <p:guide orient="horz" pos="3127"/>
        <p:guide pos="210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8" name="Rectangle 4">
            <a:extLst>
              <a:ext uri="{FF2B5EF4-FFF2-40B4-BE49-F238E27FC236}">
                <a16:creationId xmlns:a16="http://schemas.microsoft.com/office/drawing/2014/main" id="{4721D659-003A-19CA-2748-BE41C7206745}"/>
              </a:ext>
            </a:extLst>
          </p:cNvPr>
          <p:cNvSpPr>
            <a:spLocks noGrp="1" noChangeArrowheads="1"/>
          </p:cNvSpPr>
          <p:nvPr>
            <p:ph type="ftr" sz="quarter" idx="2"/>
          </p:nvPr>
        </p:nvSpPr>
        <p:spPr bwMode="auto">
          <a:xfrm>
            <a:off x="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Times New Roman" pitchFamily="18" charset="0"/>
              </a:defRPr>
            </a:lvl1pPr>
          </a:lstStyle>
          <a:p>
            <a:pPr>
              <a:defRPr/>
            </a:pPr>
            <a:endParaRPr lang="es-ES"/>
          </a:p>
        </p:txBody>
      </p:sp>
      <p:sp>
        <p:nvSpPr>
          <p:cNvPr id="77829" name="Rectangle 5">
            <a:extLst>
              <a:ext uri="{FF2B5EF4-FFF2-40B4-BE49-F238E27FC236}">
                <a16:creationId xmlns:a16="http://schemas.microsoft.com/office/drawing/2014/main" id="{ADE5EB8D-167A-5801-54D9-62797E19D81E}"/>
              </a:ext>
            </a:extLst>
          </p:cNvPr>
          <p:cNvSpPr>
            <a:spLocks noGrp="1" noChangeArrowheads="1"/>
          </p:cNvSpPr>
          <p:nvPr>
            <p:ph type="sldNum" sz="quarter" idx="3"/>
          </p:nvPr>
        </p:nvSpPr>
        <p:spPr bwMode="auto">
          <a:xfrm>
            <a:off x="377825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Times New Roman" panose="02020603050405020304" pitchFamily="18" charset="0"/>
              </a:defRPr>
            </a:lvl1pPr>
          </a:lstStyle>
          <a:p>
            <a:pPr>
              <a:defRPr/>
            </a:pPr>
            <a:fld id="{6177356B-AB19-48C6-B18A-9D9500D29BDA}" type="slidenum">
              <a:rPr lang="es-ES" altLang="es-PE"/>
              <a:pPr>
                <a:defRPr/>
              </a:pPr>
              <a:t>‹Nº›</a:t>
            </a:fld>
            <a:endParaRPr lang="es-ES" altLang="es-PE"/>
          </a:p>
        </p:txBody>
      </p:sp>
      <p:sp>
        <p:nvSpPr>
          <p:cNvPr id="77832" name="Rectangle 8">
            <a:extLst>
              <a:ext uri="{FF2B5EF4-FFF2-40B4-BE49-F238E27FC236}">
                <a16:creationId xmlns:a16="http://schemas.microsoft.com/office/drawing/2014/main" id="{8836619A-F1F4-89D4-7D08-48D786D1F4D3}"/>
              </a:ext>
            </a:extLst>
          </p:cNvPr>
          <p:cNvSpPr>
            <a:spLocks noGrp="1" noChangeArrowheads="1"/>
          </p:cNvSpPr>
          <p:nvPr>
            <p:ph type="dt" sz="quarter" idx="1"/>
          </p:nvPr>
        </p:nvSpPr>
        <p:spPr bwMode="auto">
          <a:xfrm>
            <a:off x="3779838"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50000"/>
              </a:spcBef>
              <a:defRPr sz="1200">
                <a:latin typeface="Arial" charset="0"/>
              </a:defRPr>
            </a:lvl1pPr>
          </a:lstStyle>
          <a:p>
            <a:pPr>
              <a:defRPr/>
            </a:pPr>
            <a:endParaRPr lang="es-ES"/>
          </a:p>
        </p:txBody>
      </p:sp>
      <p:sp>
        <p:nvSpPr>
          <p:cNvPr id="77833" name="Rectangle 9">
            <a:extLst>
              <a:ext uri="{FF2B5EF4-FFF2-40B4-BE49-F238E27FC236}">
                <a16:creationId xmlns:a16="http://schemas.microsoft.com/office/drawing/2014/main" id="{5C9ED19D-BEB2-678C-0ABF-E751F42BF0C3}"/>
              </a:ext>
            </a:extLst>
          </p:cNvPr>
          <p:cNvSpPr>
            <a:spLocks noGrp="1" noChangeArrowheads="1"/>
          </p:cNvSpPr>
          <p:nvPr>
            <p:ph type="hdr" sz="quarter"/>
          </p:nvPr>
        </p:nvSpPr>
        <p:spPr bwMode="auto">
          <a:xfrm>
            <a:off x="393700" y="323850"/>
            <a:ext cx="48704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900" i="1">
                <a:latin typeface="Arial" charset="0"/>
              </a:defRPr>
            </a:lvl1pPr>
          </a:lstStyle>
          <a:p>
            <a:pPr>
              <a:defRPr/>
            </a:pPr>
            <a:r>
              <a:rPr lang="es-PE"/>
              <a:t>EL MODELO IS - LM: LOS MERCADOS DE BIENES Y FINANCIEROS</a:t>
            </a:r>
          </a:p>
        </p:txBody>
      </p:sp>
      <p:sp>
        <p:nvSpPr>
          <p:cNvPr id="22534" name="Line 10">
            <a:extLst>
              <a:ext uri="{FF2B5EF4-FFF2-40B4-BE49-F238E27FC236}">
                <a16:creationId xmlns:a16="http://schemas.microsoft.com/office/drawing/2014/main" id="{D6A285CE-379E-32E4-2E40-8B4CC1D53EFF}"/>
              </a:ext>
            </a:extLst>
          </p:cNvPr>
          <p:cNvSpPr>
            <a:spLocks noChangeShapeType="1"/>
          </p:cNvSpPr>
          <p:nvPr/>
        </p:nvSpPr>
        <p:spPr bwMode="auto">
          <a:xfrm>
            <a:off x="482600" y="546100"/>
            <a:ext cx="5878513"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s-P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55FA3591-1776-2030-5027-ACECBC0FED07}"/>
              </a:ext>
            </a:extLst>
          </p:cNvPr>
          <p:cNvSpPr>
            <a:spLocks noGrp="1" noChangeArrowheads="1"/>
          </p:cNvSpPr>
          <p:nvPr>
            <p:ph type="hdr" sz="quarter"/>
          </p:nvPr>
        </p:nvSpPr>
        <p:spPr bwMode="auto">
          <a:xfrm>
            <a:off x="0"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latin typeface="Times New Roman" pitchFamily="18" charset="0"/>
              </a:defRPr>
            </a:lvl1pPr>
          </a:lstStyle>
          <a:p>
            <a:pPr>
              <a:defRPr/>
            </a:pPr>
            <a:r>
              <a:rPr lang="es-ES"/>
              <a:t>EL MODELO IS - LM: LOS MERCADOS DE BIENES Y FINANCIEROS</a:t>
            </a:r>
          </a:p>
        </p:txBody>
      </p:sp>
      <p:sp>
        <p:nvSpPr>
          <p:cNvPr id="81923" name="Rectangle 3">
            <a:extLst>
              <a:ext uri="{FF2B5EF4-FFF2-40B4-BE49-F238E27FC236}">
                <a16:creationId xmlns:a16="http://schemas.microsoft.com/office/drawing/2014/main" id="{4DCAC32C-9C68-BF6F-BABE-F62454B326FA}"/>
              </a:ext>
            </a:extLst>
          </p:cNvPr>
          <p:cNvSpPr>
            <a:spLocks noGrp="1" noChangeArrowheads="1"/>
          </p:cNvSpPr>
          <p:nvPr>
            <p:ph type="dt" idx="1"/>
          </p:nvPr>
        </p:nvSpPr>
        <p:spPr bwMode="auto">
          <a:xfrm>
            <a:off x="3778250"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Times New Roman" pitchFamily="18" charset="0"/>
              </a:defRPr>
            </a:lvl1pPr>
          </a:lstStyle>
          <a:p>
            <a:pPr>
              <a:defRPr/>
            </a:pPr>
            <a:endParaRPr lang="es-ES"/>
          </a:p>
        </p:txBody>
      </p:sp>
      <p:sp>
        <p:nvSpPr>
          <p:cNvPr id="21508" name="Rectangle 4">
            <a:extLst>
              <a:ext uri="{FF2B5EF4-FFF2-40B4-BE49-F238E27FC236}">
                <a16:creationId xmlns:a16="http://schemas.microsoft.com/office/drawing/2014/main" id="{3FF423E6-FEE5-92BD-FBCA-EEF5FD7DB975}"/>
              </a:ext>
            </a:extLst>
          </p:cNvPr>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5" name="Rectangle 5">
            <a:extLst>
              <a:ext uri="{FF2B5EF4-FFF2-40B4-BE49-F238E27FC236}">
                <a16:creationId xmlns:a16="http://schemas.microsoft.com/office/drawing/2014/main" id="{F7A22A17-1E2E-7AA7-6D71-1FACCD39465B}"/>
              </a:ext>
            </a:extLst>
          </p:cNvPr>
          <p:cNvSpPr>
            <a:spLocks noGrp="1" noChangeArrowheads="1"/>
          </p:cNvSpPr>
          <p:nvPr>
            <p:ph type="body" sz="quarter" idx="3"/>
          </p:nvPr>
        </p:nvSpPr>
        <p:spPr bwMode="auto">
          <a:xfrm>
            <a:off x="666750" y="4716463"/>
            <a:ext cx="5335588"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81926" name="Rectangle 6">
            <a:extLst>
              <a:ext uri="{FF2B5EF4-FFF2-40B4-BE49-F238E27FC236}">
                <a16:creationId xmlns:a16="http://schemas.microsoft.com/office/drawing/2014/main" id="{0EC9C255-130A-8180-D010-E6E1738BF284}"/>
              </a:ext>
            </a:extLst>
          </p:cNvPr>
          <p:cNvSpPr>
            <a:spLocks noGrp="1" noChangeArrowheads="1"/>
          </p:cNvSpPr>
          <p:nvPr>
            <p:ph type="ftr" sz="quarter" idx="4"/>
          </p:nvPr>
        </p:nvSpPr>
        <p:spPr bwMode="auto">
          <a:xfrm>
            <a:off x="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Times New Roman" pitchFamily="18" charset="0"/>
              </a:defRPr>
            </a:lvl1pPr>
          </a:lstStyle>
          <a:p>
            <a:pPr>
              <a:defRPr/>
            </a:pPr>
            <a:endParaRPr lang="es-ES"/>
          </a:p>
        </p:txBody>
      </p:sp>
      <p:sp>
        <p:nvSpPr>
          <p:cNvPr id="81927" name="Rectangle 7">
            <a:extLst>
              <a:ext uri="{FF2B5EF4-FFF2-40B4-BE49-F238E27FC236}">
                <a16:creationId xmlns:a16="http://schemas.microsoft.com/office/drawing/2014/main" id="{D408D129-681C-FDAF-FF86-10B6A81852F2}"/>
              </a:ext>
            </a:extLst>
          </p:cNvPr>
          <p:cNvSpPr>
            <a:spLocks noGrp="1" noChangeArrowheads="1"/>
          </p:cNvSpPr>
          <p:nvPr>
            <p:ph type="sldNum" sz="quarter" idx="5"/>
          </p:nvPr>
        </p:nvSpPr>
        <p:spPr bwMode="auto">
          <a:xfrm>
            <a:off x="377825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BD6B612E-FE54-4F77-9F98-0A03C252F9FB}" type="slidenum">
              <a:rPr lang="es-ES" altLang="es-PE"/>
              <a:pPr>
                <a:defRPr/>
              </a:pPr>
              <a:t>‹Nº›</a:t>
            </a:fld>
            <a:endParaRPr lang="es-ES" altLang="es-PE"/>
          </a:p>
        </p:txBody>
      </p:sp>
    </p:spTree>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Google Shape;196;p1:notes">
            <a:extLst>
              <a:ext uri="{FF2B5EF4-FFF2-40B4-BE49-F238E27FC236}">
                <a16:creationId xmlns:a16="http://schemas.microsoft.com/office/drawing/2014/main" id="{A0BEBC2E-9D28-DF92-4A2D-01B0C5A6592F}"/>
              </a:ext>
            </a:extLst>
          </p:cNvPr>
          <p:cNvSpPr>
            <a:spLocks noGrp="1" noRot="1" noChangeAspect="1" noTextEdit="1"/>
          </p:cNvSpPr>
          <p:nvPr>
            <p:ph type="sldImg" idx="2"/>
          </p:nvPr>
        </p:nvSpPr>
        <p:spPr>
          <a:xfrm>
            <a:off x="466725" y="692150"/>
            <a:ext cx="6151563" cy="346075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24579" name="Google Shape;197;p1:notes">
            <a:extLst>
              <a:ext uri="{FF2B5EF4-FFF2-40B4-BE49-F238E27FC236}">
                <a16:creationId xmlns:a16="http://schemas.microsoft.com/office/drawing/2014/main" id="{06E7E2B9-AF14-6917-47EB-09F2D82E6112}"/>
              </a:ext>
            </a:extLst>
          </p:cNvPr>
          <p:cNvSpPr>
            <a:spLocks noGrp="1" noChangeArrowheads="1"/>
          </p:cNvSpPr>
          <p:nvPr>
            <p:ph type="body" idx="1"/>
          </p:nvPr>
        </p:nvSpPr>
        <p:spPr>
          <a:xfrm>
            <a:off x="708025" y="4384675"/>
            <a:ext cx="566896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3" tIns="93153" rIns="93153" bIns="93153"/>
          <a:lstStyle/>
          <a:p>
            <a:pPr>
              <a:spcBef>
                <a:spcPct val="0"/>
              </a:spcBef>
              <a:buSzPts val="1100"/>
            </a:pPr>
            <a:endParaRPr lang="es-PE" altLang="es-P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Marcador de imagen de diapositiva 1">
            <a:extLst>
              <a:ext uri="{FF2B5EF4-FFF2-40B4-BE49-F238E27FC236}">
                <a16:creationId xmlns:a16="http://schemas.microsoft.com/office/drawing/2014/main" id="{120196F7-F4D3-06B0-8EB0-0A27B19D4C4F}"/>
              </a:ext>
            </a:extLst>
          </p:cNvPr>
          <p:cNvSpPr>
            <a:spLocks noGrp="1" noRot="1" noChangeAspect="1" noChangeArrowheads="1" noTextEdit="1"/>
          </p:cNvSpPr>
          <p:nvPr>
            <p:ph type="sldImg"/>
          </p:nvPr>
        </p:nvSpPr>
        <p:spPr>
          <a:ln/>
        </p:spPr>
      </p:sp>
      <p:sp>
        <p:nvSpPr>
          <p:cNvPr id="28675" name="Marcador de notas 2">
            <a:extLst>
              <a:ext uri="{FF2B5EF4-FFF2-40B4-BE49-F238E27FC236}">
                <a16:creationId xmlns:a16="http://schemas.microsoft.com/office/drawing/2014/main" id="{66E9EEE7-85E9-52A0-8124-AB55126468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PE" altLang="es-PE"/>
          </a:p>
        </p:txBody>
      </p:sp>
      <p:sp>
        <p:nvSpPr>
          <p:cNvPr id="28676" name="Marcador de número de diapositiva 3">
            <a:extLst>
              <a:ext uri="{FF2B5EF4-FFF2-40B4-BE49-F238E27FC236}">
                <a16:creationId xmlns:a16="http://schemas.microsoft.com/office/drawing/2014/main" id="{316EE2D4-4957-F757-EF85-89E3D04E6E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700">
                <a:solidFill>
                  <a:schemeClr val="tx1"/>
                </a:solidFill>
                <a:latin typeface="Arial" panose="020B0604020202020204" pitchFamily="34" charset="0"/>
              </a:defRPr>
            </a:lvl1pPr>
            <a:lvl2pPr marL="742950" indent="-285750">
              <a:defRPr sz="2700">
                <a:solidFill>
                  <a:schemeClr val="tx1"/>
                </a:solidFill>
                <a:latin typeface="Arial" panose="020B0604020202020204" pitchFamily="34" charset="0"/>
              </a:defRPr>
            </a:lvl2pPr>
            <a:lvl3pPr marL="1143000" indent="-228600">
              <a:defRPr sz="2700">
                <a:solidFill>
                  <a:schemeClr val="tx1"/>
                </a:solidFill>
                <a:latin typeface="Arial" panose="020B0604020202020204" pitchFamily="34" charset="0"/>
              </a:defRPr>
            </a:lvl3pPr>
            <a:lvl4pPr marL="1600200" indent="-228600">
              <a:defRPr sz="2700">
                <a:solidFill>
                  <a:schemeClr val="tx1"/>
                </a:solidFill>
                <a:latin typeface="Arial" panose="020B0604020202020204" pitchFamily="34" charset="0"/>
              </a:defRPr>
            </a:lvl4pPr>
            <a:lvl5pPr marL="2057400" indent="-228600">
              <a:defRPr sz="2700">
                <a:solidFill>
                  <a:schemeClr val="tx1"/>
                </a:solidFill>
                <a:latin typeface="Arial" panose="020B0604020202020204" pitchFamily="34" charset="0"/>
              </a:defRPr>
            </a:lvl5pPr>
            <a:lvl6pPr marL="2514600" indent="-228600" eaLnBrk="0" fontAlgn="base" hangingPunct="0">
              <a:spcBef>
                <a:spcPct val="0"/>
              </a:spcBef>
              <a:spcAft>
                <a:spcPct val="0"/>
              </a:spcAft>
              <a:defRPr sz="2700">
                <a:solidFill>
                  <a:schemeClr val="tx1"/>
                </a:solidFill>
                <a:latin typeface="Arial" panose="020B0604020202020204" pitchFamily="34" charset="0"/>
              </a:defRPr>
            </a:lvl6pPr>
            <a:lvl7pPr marL="2971800" indent="-228600" eaLnBrk="0" fontAlgn="base" hangingPunct="0">
              <a:spcBef>
                <a:spcPct val="0"/>
              </a:spcBef>
              <a:spcAft>
                <a:spcPct val="0"/>
              </a:spcAft>
              <a:defRPr sz="2700">
                <a:solidFill>
                  <a:schemeClr val="tx1"/>
                </a:solidFill>
                <a:latin typeface="Arial" panose="020B0604020202020204" pitchFamily="34" charset="0"/>
              </a:defRPr>
            </a:lvl7pPr>
            <a:lvl8pPr marL="3429000" indent="-228600" eaLnBrk="0" fontAlgn="base" hangingPunct="0">
              <a:spcBef>
                <a:spcPct val="0"/>
              </a:spcBef>
              <a:spcAft>
                <a:spcPct val="0"/>
              </a:spcAft>
              <a:defRPr sz="2700">
                <a:solidFill>
                  <a:schemeClr val="tx1"/>
                </a:solidFill>
                <a:latin typeface="Arial" panose="020B0604020202020204" pitchFamily="34" charset="0"/>
              </a:defRPr>
            </a:lvl8pPr>
            <a:lvl9pPr marL="3886200" indent="-228600" eaLnBrk="0" fontAlgn="base" hangingPunct="0">
              <a:spcBef>
                <a:spcPct val="0"/>
              </a:spcBef>
              <a:spcAft>
                <a:spcPct val="0"/>
              </a:spcAft>
              <a:defRPr sz="2700">
                <a:solidFill>
                  <a:schemeClr val="tx1"/>
                </a:solidFill>
                <a:latin typeface="Arial" panose="020B0604020202020204" pitchFamily="34" charset="0"/>
              </a:defRPr>
            </a:lvl9pPr>
          </a:lstStyle>
          <a:p>
            <a:fld id="{AE7255CA-B4FF-440F-8430-253832AC7578}" type="slidenum">
              <a:rPr lang="es-ES" altLang="es-PE" sz="1200" smtClean="0">
                <a:latin typeface="Times New Roman" panose="02020603050405020304" pitchFamily="18" charset="0"/>
              </a:rPr>
              <a:pPr/>
              <a:t>4</a:t>
            </a:fld>
            <a:endParaRPr lang="es-ES" altLang="es-PE" sz="1200">
              <a:latin typeface="Times New Roman" panose="02020603050405020304" pitchFamily="18" charset="0"/>
            </a:endParaRPr>
          </a:p>
        </p:txBody>
      </p:sp>
      <p:sp>
        <p:nvSpPr>
          <p:cNvPr id="28677" name="Marcador de encabezado 4">
            <a:extLst>
              <a:ext uri="{FF2B5EF4-FFF2-40B4-BE49-F238E27FC236}">
                <a16:creationId xmlns:a16="http://schemas.microsoft.com/office/drawing/2014/main" id="{75E5FA43-92E2-E6CE-8B95-B341A137510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700">
                <a:solidFill>
                  <a:schemeClr val="tx1"/>
                </a:solidFill>
                <a:latin typeface="Arial" panose="020B0604020202020204" pitchFamily="34" charset="0"/>
              </a:defRPr>
            </a:lvl1pPr>
            <a:lvl2pPr marL="742950" indent="-285750">
              <a:defRPr sz="2700">
                <a:solidFill>
                  <a:schemeClr val="tx1"/>
                </a:solidFill>
                <a:latin typeface="Arial" panose="020B0604020202020204" pitchFamily="34" charset="0"/>
              </a:defRPr>
            </a:lvl2pPr>
            <a:lvl3pPr marL="1143000" indent="-228600">
              <a:defRPr sz="2700">
                <a:solidFill>
                  <a:schemeClr val="tx1"/>
                </a:solidFill>
                <a:latin typeface="Arial" panose="020B0604020202020204" pitchFamily="34" charset="0"/>
              </a:defRPr>
            </a:lvl3pPr>
            <a:lvl4pPr marL="1600200" indent="-228600">
              <a:defRPr sz="2700">
                <a:solidFill>
                  <a:schemeClr val="tx1"/>
                </a:solidFill>
                <a:latin typeface="Arial" panose="020B0604020202020204" pitchFamily="34" charset="0"/>
              </a:defRPr>
            </a:lvl4pPr>
            <a:lvl5pPr marL="2057400" indent="-228600">
              <a:defRPr sz="2700">
                <a:solidFill>
                  <a:schemeClr val="tx1"/>
                </a:solidFill>
                <a:latin typeface="Arial" panose="020B0604020202020204" pitchFamily="34" charset="0"/>
              </a:defRPr>
            </a:lvl5pPr>
            <a:lvl6pPr marL="2514600" indent="-228600" eaLnBrk="0" fontAlgn="base" hangingPunct="0">
              <a:spcBef>
                <a:spcPct val="0"/>
              </a:spcBef>
              <a:spcAft>
                <a:spcPct val="0"/>
              </a:spcAft>
              <a:defRPr sz="2700">
                <a:solidFill>
                  <a:schemeClr val="tx1"/>
                </a:solidFill>
                <a:latin typeface="Arial" panose="020B0604020202020204" pitchFamily="34" charset="0"/>
              </a:defRPr>
            </a:lvl6pPr>
            <a:lvl7pPr marL="2971800" indent="-228600" eaLnBrk="0" fontAlgn="base" hangingPunct="0">
              <a:spcBef>
                <a:spcPct val="0"/>
              </a:spcBef>
              <a:spcAft>
                <a:spcPct val="0"/>
              </a:spcAft>
              <a:defRPr sz="2700">
                <a:solidFill>
                  <a:schemeClr val="tx1"/>
                </a:solidFill>
                <a:latin typeface="Arial" panose="020B0604020202020204" pitchFamily="34" charset="0"/>
              </a:defRPr>
            </a:lvl7pPr>
            <a:lvl8pPr marL="3429000" indent="-228600" eaLnBrk="0" fontAlgn="base" hangingPunct="0">
              <a:spcBef>
                <a:spcPct val="0"/>
              </a:spcBef>
              <a:spcAft>
                <a:spcPct val="0"/>
              </a:spcAft>
              <a:defRPr sz="2700">
                <a:solidFill>
                  <a:schemeClr val="tx1"/>
                </a:solidFill>
                <a:latin typeface="Arial" panose="020B0604020202020204" pitchFamily="34" charset="0"/>
              </a:defRPr>
            </a:lvl8pPr>
            <a:lvl9pPr marL="3886200" indent="-228600" eaLnBrk="0" fontAlgn="base" hangingPunct="0">
              <a:spcBef>
                <a:spcPct val="0"/>
              </a:spcBef>
              <a:spcAft>
                <a:spcPct val="0"/>
              </a:spcAft>
              <a:defRPr sz="2700">
                <a:solidFill>
                  <a:schemeClr val="tx1"/>
                </a:solidFill>
                <a:latin typeface="Arial" panose="020B0604020202020204" pitchFamily="34" charset="0"/>
              </a:defRPr>
            </a:lvl9pPr>
          </a:lstStyle>
          <a:p>
            <a:endParaRPr lang="es-PE" altLang="es-PE" sz="12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7698" name="Google Shape;226;p5:notes">
            <a:extLst>
              <a:ext uri="{FF2B5EF4-FFF2-40B4-BE49-F238E27FC236}">
                <a16:creationId xmlns:a16="http://schemas.microsoft.com/office/drawing/2014/main" id="{20BF765F-27F8-7D95-7A97-84832F43F67C}"/>
              </a:ext>
            </a:extLst>
          </p:cNvPr>
          <p:cNvSpPr>
            <a:spLocks noGrp="1" noRot="1" noChangeAspect="1" noTextEdit="1"/>
          </p:cNvSpPr>
          <p:nvPr>
            <p:ph type="sldImg" idx="2"/>
          </p:nvPr>
        </p:nvSpPr>
        <p:spPr>
          <a:xfrm>
            <a:off x="466725" y="692150"/>
            <a:ext cx="6151563" cy="346075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157699" name="Google Shape;227;p5:notes">
            <a:extLst>
              <a:ext uri="{FF2B5EF4-FFF2-40B4-BE49-F238E27FC236}">
                <a16:creationId xmlns:a16="http://schemas.microsoft.com/office/drawing/2014/main" id="{B026F19E-927D-656D-F718-06BCC4546A3A}"/>
              </a:ext>
            </a:extLst>
          </p:cNvPr>
          <p:cNvSpPr>
            <a:spLocks noGrp="1" noChangeArrowheads="1"/>
          </p:cNvSpPr>
          <p:nvPr>
            <p:ph type="body" idx="1"/>
          </p:nvPr>
        </p:nvSpPr>
        <p:spPr>
          <a:xfrm>
            <a:off x="708025" y="4384675"/>
            <a:ext cx="566896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3" tIns="93153" rIns="93153" bIns="93153"/>
          <a:lstStyle/>
          <a:p>
            <a:pPr>
              <a:spcBef>
                <a:spcPct val="0"/>
              </a:spcBef>
              <a:buSzPts val="1100"/>
            </a:pPr>
            <a:endParaRPr lang="es-PE" altLang="es-P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C5D49120-DE36-B9C0-3B8B-8B100AEBCCE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5" name="Rectangle 4">
            <a:extLst>
              <a:ext uri="{FF2B5EF4-FFF2-40B4-BE49-F238E27FC236}">
                <a16:creationId xmlns:a16="http://schemas.microsoft.com/office/drawing/2014/main" id="{25DAB153-9358-68E4-4020-2A33BE773121}"/>
              </a:ext>
            </a:extLst>
          </p:cNvPr>
          <p:cNvSpPr>
            <a:spLocks noGrp="1" noChangeArrowheads="1"/>
          </p:cNvSpPr>
          <p:nvPr>
            <p:ph type="dt" sz="half" idx="10"/>
          </p:nvPr>
        </p:nvSpPr>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C29E43D6-21C4-D0FC-6FDF-F7B71C46782D}"/>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4124900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B911AC18-E6EB-FA60-63DF-843FC5BC40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4">
            <a:extLst>
              <a:ext uri="{FF2B5EF4-FFF2-40B4-BE49-F238E27FC236}">
                <a16:creationId xmlns:a16="http://schemas.microsoft.com/office/drawing/2014/main" id="{214FC611-AE04-7A69-A285-B45DD77CC185}"/>
              </a:ext>
            </a:extLst>
          </p:cNvPr>
          <p:cNvSpPr>
            <a:spLocks noGrp="1" noChangeArrowheads="1"/>
          </p:cNvSpPr>
          <p:nvPr>
            <p:ph type="dt" sz="half" idx="10"/>
          </p:nvPr>
        </p:nvSpPr>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DE8ED18D-3B23-195E-7325-7A3D3B5111FA}"/>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77449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CBECB07C-B427-B15B-FD5B-E80A5A033AF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5" name="Rectangle 4">
            <a:extLst>
              <a:ext uri="{FF2B5EF4-FFF2-40B4-BE49-F238E27FC236}">
                <a16:creationId xmlns:a16="http://schemas.microsoft.com/office/drawing/2014/main" id="{0F2D146B-736A-A2E4-A513-B253E09BC3F7}"/>
              </a:ext>
            </a:extLst>
          </p:cNvPr>
          <p:cNvSpPr>
            <a:spLocks noGrp="1" noChangeArrowheads="1"/>
          </p:cNvSpPr>
          <p:nvPr>
            <p:ph type="dt" sz="half" idx="10"/>
          </p:nvPr>
        </p:nvSpPr>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9A929881-4651-9182-836D-CF026D0F8374}"/>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172759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5" name="Imagen 10">
            <a:extLst>
              <a:ext uri="{FF2B5EF4-FFF2-40B4-BE49-F238E27FC236}">
                <a16:creationId xmlns:a16="http://schemas.microsoft.com/office/drawing/2014/main" id="{082D362A-AD76-ABC9-8918-DD334D9E116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Rectangle 4">
            <a:extLst>
              <a:ext uri="{FF2B5EF4-FFF2-40B4-BE49-F238E27FC236}">
                <a16:creationId xmlns:a16="http://schemas.microsoft.com/office/drawing/2014/main" id="{3F6107B5-CC3C-5959-21C4-6C354C1A34F1}"/>
              </a:ext>
            </a:extLst>
          </p:cNvPr>
          <p:cNvSpPr>
            <a:spLocks noGrp="1" noChangeArrowheads="1"/>
          </p:cNvSpPr>
          <p:nvPr>
            <p:ph type="dt" sz="half" idx="10"/>
          </p:nvPr>
        </p:nvSpPr>
        <p:spPr/>
        <p:txBody>
          <a:bodyPr/>
          <a:lstStyle>
            <a:lvl1pPr>
              <a:defRPr/>
            </a:lvl1pPr>
          </a:lstStyle>
          <a:p>
            <a:pPr>
              <a:defRPr/>
            </a:pPr>
            <a:endParaRPr lang="es-ES"/>
          </a:p>
        </p:txBody>
      </p:sp>
      <p:sp>
        <p:nvSpPr>
          <p:cNvPr id="7" name="Rectangle 5">
            <a:extLst>
              <a:ext uri="{FF2B5EF4-FFF2-40B4-BE49-F238E27FC236}">
                <a16:creationId xmlns:a16="http://schemas.microsoft.com/office/drawing/2014/main" id="{7530622A-0DD5-E440-5E26-4AB7962EF227}"/>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3378036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7" name="Imagen 10">
            <a:extLst>
              <a:ext uri="{FF2B5EF4-FFF2-40B4-BE49-F238E27FC236}">
                <a16:creationId xmlns:a16="http://schemas.microsoft.com/office/drawing/2014/main" id="{4CFE64C4-EAFD-3197-DC8D-5DD3602EA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a:xfrm>
            <a:off x="609600" y="274638"/>
            <a:ext cx="109728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Rectangle 4">
            <a:extLst>
              <a:ext uri="{FF2B5EF4-FFF2-40B4-BE49-F238E27FC236}">
                <a16:creationId xmlns:a16="http://schemas.microsoft.com/office/drawing/2014/main" id="{AA16BE47-75B4-B06E-57E7-423C15694F5E}"/>
              </a:ext>
            </a:extLst>
          </p:cNvPr>
          <p:cNvSpPr>
            <a:spLocks noGrp="1" noChangeArrowheads="1"/>
          </p:cNvSpPr>
          <p:nvPr>
            <p:ph type="dt" sz="half" idx="10"/>
          </p:nvPr>
        </p:nvSpPr>
        <p:spPr/>
        <p:txBody>
          <a:bodyPr/>
          <a:lstStyle>
            <a:lvl1pPr>
              <a:defRPr/>
            </a:lvl1pPr>
          </a:lstStyle>
          <a:p>
            <a:pPr>
              <a:defRPr/>
            </a:pPr>
            <a:endParaRPr lang="es-ES"/>
          </a:p>
        </p:txBody>
      </p:sp>
      <p:sp>
        <p:nvSpPr>
          <p:cNvPr id="9" name="Rectangle 5">
            <a:extLst>
              <a:ext uri="{FF2B5EF4-FFF2-40B4-BE49-F238E27FC236}">
                <a16:creationId xmlns:a16="http://schemas.microsoft.com/office/drawing/2014/main" id="{F44550A5-1EB4-E89C-5DA5-041C2EEBDB15}"/>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1472991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pic>
        <p:nvPicPr>
          <p:cNvPr id="3" name="Imagen 6">
            <a:extLst>
              <a:ext uri="{FF2B5EF4-FFF2-40B4-BE49-F238E27FC236}">
                <a16:creationId xmlns:a16="http://schemas.microsoft.com/office/drawing/2014/main" id="{66F1947B-CF31-0E92-354D-7A1435C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p:txBody>
          <a:bodyPr/>
          <a:lstStyle/>
          <a:p>
            <a:r>
              <a:rPr lang="es-ES"/>
              <a:t>Haga clic para modificar el estilo de título del patrón</a:t>
            </a:r>
          </a:p>
        </p:txBody>
      </p:sp>
      <p:sp>
        <p:nvSpPr>
          <p:cNvPr id="4" name="Rectangle 4">
            <a:extLst>
              <a:ext uri="{FF2B5EF4-FFF2-40B4-BE49-F238E27FC236}">
                <a16:creationId xmlns:a16="http://schemas.microsoft.com/office/drawing/2014/main" id="{897A5A5D-762E-79FA-E9D2-BB790D981E32}"/>
              </a:ext>
            </a:extLst>
          </p:cNvPr>
          <p:cNvSpPr>
            <a:spLocks noGrp="1" noChangeArrowheads="1"/>
          </p:cNvSpPr>
          <p:nvPr>
            <p:ph type="dt" sz="half" idx="10"/>
          </p:nvPr>
        </p:nvSpPr>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E5AAC8E5-B1BA-9252-27BA-1D6EB6D9536A}"/>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2644745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2" name="Imagen 6">
            <a:extLst>
              <a:ext uri="{FF2B5EF4-FFF2-40B4-BE49-F238E27FC236}">
                <a16:creationId xmlns:a16="http://schemas.microsoft.com/office/drawing/2014/main" id="{B405320C-7E60-DDBC-0ADB-16B82F6B51A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4">
            <a:extLst>
              <a:ext uri="{FF2B5EF4-FFF2-40B4-BE49-F238E27FC236}">
                <a16:creationId xmlns:a16="http://schemas.microsoft.com/office/drawing/2014/main" id="{7D6F7EB0-4C0C-E199-0541-53EBC7CC4909}"/>
              </a:ext>
            </a:extLst>
          </p:cNvPr>
          <p:cNvSpPr>
            <a:spLocks noGrp="1" noChangeArrowheads="1"/>
          </p:cNvSpPr>
          <p:nvPr>
            <p:ph type="dt" sz="half" idx="10"/>
          </p:nvPr>
        </p:nvSpPr>
        <p:spPr/>
        <p:txBody>
          <a:bodyPr/>
          <a:lstStyle>
            <a:lvl1pPr>
              <a:defRPr/>
            </a:lvl1pPr>
          </a:lstStyle>
          <a:p>
            <a:pPr>
              <a:defRPr/>
            </a:pPr>
            <a:endParaRPr lang="es-ES"/>
          </a:p>
        </p:txBody>
      </p:sp>
      <p:sp>
        <p:nvSpPr>
          <p:cNvPr id="4" name="Rectangle 5">
            <a:extLst>
              <a:ext uri="{FF2B5EF4-FFF2-40B4-BE49-F238E27FC236}">
                <a16:creationId xmlns:a16="http://schemas.microsoft.com/office/drawing/2014/main" id="{40033369-016C-5D9C-D447-1BD4881937E6}"/>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617289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5" name="Imagen 10">
            <a:extLst>
              <a:ext uri="{FF2B5EF4-FFF2-40B4-BE49-F238E27FC236}">
                <a16:creationId xmlns:a16="http://schemas.microsoft.com/office/drawing/2014/main" id="{74465566-53A0-15EA-DA90-A1EE4D73DE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6" name="Rectangle 4">
            <a:extLst>
              <a:ext uri="{FF2B5EF4-FFF2-40B4-BE49-F238E27FC236}">
                <a16:creationId xmlns:a16="http://schemas.microsoft.com/office/drawing/2014/main" id="{C5B0D190-85C1-1B74-A493-02BDF9E06BAE}"/>
              </a:ext>
            </a:extLst>
          </p:cNvPr>
          <p:cNvSpPr>
            <a:spLocks noGrp="1" noChangeArrowheads="1"/>
          </p:cNvSpPr>
          <p:nvPr>
            <p:ph type="dt" sz="half" idx="10"/>
          </p:nvPr>
        </p:nvSpPr>
        <p:spPr/>
        <p:txBody>
          <a:bodyPr/>
          <a:lstStyle>
            <a:lvl1pPr>
              <a:defRPr/>
            </a:lvl1pPr>
          </a:lstStyle>
          <a:p>
            <a:pPr>
              <a:defRPr/>
            </a:pPr>
            <a:endParaRPr lang="es-ES"/>
          </a:p>
        </p:txBody>
      </p:sp>
      <p:sp>
        <p:nvSpPr>
          <p:cNvPr id="7" name="Rectangle 5">
            <a:extLst>
              <a:ext uri="{FF2B5EF4-FFF2-40B4-BE49-F238E27FC236}">
                <a16:creationId xmlns:a16="http://schemas.microsoft.com/office/drawing/2014/main" id="{F743D9B7-5E91-12CB-913E-8C1DB3B59BCB}"/>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983515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5" name="Imagen 10">
            <a:extLst>
              <a:ext uri="{FF2B5EF4-FFF2-40B4-BE49-F238E27FC236}">
                <a16:creationId xmlns:a16="http://schemas.microsoft.com/office/drawing/2014/main" id="{C7A48AD6-9E07-C400-E283-2BF0B262D3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6" name="Rectangle 4">
            <a:extLst>
              <a:ext uri="{FF2B5EF4-FFF2-40B4-BE49-F238E27FC236}">
                <a16:creationId xmlns:a16="http://schemas.microsoft.com/office/drawing/2014/main" id="{5AC5D7E1-8716-EBE5-BAB2-73539FF9D4EC}"/>
              </a:ext>
            </a:extLst>
          </p:cNvPr>
          <p:cNvSpPr>
            <a:spLocks noGrp="1" noChangeArrowheads="1"/>
          </p:cNvSpPr>
          <p:nvPr>
            <p:ph type="dt" sz="half" idx="10"/>
          </p:nvPr>
        </p:nvSpPr>
        <p:spPr/>
        <p:txBody>
          <a:bodyPr/>
          <a:lstStyle>
            <a:lvl1pPr>
              <a:defRPr/>
            </a:lvl1pPr>
          </a:lstStyle>
          <a:p>
            <a:pPr>
              <a:defRPr/>
            </a:pPr>
            <a:endParaRPr lang="es-ES"/>
          </a:p>
        </p:txBody>
      </p:sp>
      <p:sp>
        <p:nvSpPr>
          <p:cNvPr id="7" name="Rectangle 5">
            <a:extLst>
              <a:ext uri="{FF2B5EF4-FFF2-40B4-BE49-F238E27FC236}">
                <a16:creationId xmlns:a16="http://schemas.microsoft.com/office/drawing/2014/main" id="{ADB9C502-9D9A-7A02-7281-EB6873757670}"/>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138802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5308BBD0-1889-DEED-F257-AAF5933213A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4">
            <a:extLst>
              <a:ext uri="{FF2B5EF4-FFF2-40B4-BE49-F238E27FC236}">
                <a16:creationId xmlns:a16="http://schemas.microsoft.com/office/drawing/2014/main" id="{A42CD6FE-8ADE-25C7-8B61-130ECB8DB920}"/>
              </a:ext>
            </a:extLst>
          </p:cNvPr>
          <p:cNvSpPr>
            <a:spLocks noGrp="1" noChangeArrowheads="1"/>
          </p:cNvSpPr>
          <p:nvPr>
            <p:ph type="dt" sz="half" idx="10"/>
          </p:nvPr>
        </p:nvSpPr>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4F4FF5CF-965E-521D-AD34-BBA44E458DFA}"/>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3158740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85F2C8BD-22E8-0108-C825-71AAD717A90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vertical"/>
          <p:cNvSpPr>
            <a:spLocks noGrp="1"/>
          </p:cNvSpPr>
          <p:nvPr>
            <p:ph type="title" orient="vert"/>
          </p:nvPr>
        </p:nvSpPr>
        <p:spPr>
          <a:xfrm>
            <a:off x="8686800" y="609600"/>
            <a:ext cx="2590800" cy="5486400"/>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914400" y="609600"/>
            <a:ext cx="7569200" cy="548640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4">
            <a:extLst>
              <a:ext uri="{FF2B5EF4-FFF2-40B4-BE49-F238E27FC236}">
                <a16:creationId xmlns:a16="http://schemas.microsoft.com/office/drawing/2014/main" id="{94B66392-3673-D9BC-1ADC-13CAF05517F2}"/>
              </a:ext>
            </a:extLst>
          </p:cNvPr>
          <p:cNvSpPr>
            <a:spLocks noGrp="1" noChangeArrowheads="1"/>
          </p:cNvSpPr>
          <p:nvPr>
            <p:ph type="dt" sz="half" idx="10"/>
          </p:nvPr>
        </p:nvSpPr>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6D877A3F-A60B-8950-378D-3BBC9424115D}"/>
              </a:ext>
            </a:extLst>
          </p:cNvPr>
          <p:cNvSpPr>
            <a:spLocks noGrp="1" noChangeArrowheads="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853823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Diapositiva de título">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5580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slide">
  <p:cSld name="Main slide">
    <p:bg>
      <p:bgPr>
        <a:solidFill>
          <a:srgbClr val="FFFFFF"/>
        </a:solidFill>
        <a:effectLst/>
      </p:bgPr>
    </p:bg>
    <p:spTree>
      <p:nvGrpSpPr>
        <p:cNvPr id="1" name="Shape 8"/>
        <p:cNvGrpSpPr/>
        <p:nvPr/>
      </p:nvGrpSpPr>
      <p:grpSpPr>
        <a:xfrm>
          <a:off x="0" y="0"/>
          <a:ext cx="0" cy="0"/>
          <a:chOff x="0" y="0"/>
          <a:chExt cx="0" cy="0"/>
        </a:xfrm>
      </p:grpSpPr>
      <p:pic>
        <p:nvPicPr>
          <p:cNvPr id="2" name="Imagen 1">
            <a:extLst>
              <a:ext uri="{FF2B5EF4-FFF2-40B4-BE49-F238E27FC236}">
                <a16:creationId xmlns:a16="http://schemas.microsoft.com/office/drawing/2014/main" id="{56674E6C-3C55-A752-846A-FFEF9F13CC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2088" y="188913"/>
            <a:ext cx="18669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Google Shape;12;p2"/>
          <p:cNvSpPr txBox="1">
            <a:spLocks noGrp="1"/>
          </p:cNvSpPr>
          <p:nvPr>
            <p:ph type="ctrTitle"/>
          </p:nvPr>
        </p:nvSpPr>
        <p:spPr>
          <a:xfrm>
            <a:off x="1633200" y="2304591"/>
            <a:ext cx="8925600" cy="1419600"/>
          </a:xfrm>
          <a:prstGeom prst="rect">
            <a:avLst/>
          </a:prstGeom>
          <a:noFill/>
          <a:ln>
            <a:noFill/>
          </a:ln>
        </p:spPr>
        <p:txBody>
          <a:bodyPr spcFirstLastPara="1" lIns="91425" tIns="91425" rIns="91425" bIns="91425">
            <a:noAutofit/>
          </a:bodyPr>
          <a:lstStyle>
            <a:lvl1pPr lvl="0" algn="ctr">
              <a:lnSpc>
                <a:spcPct val="100000"/>
              </a:lnSpc>
              <a:spcBef>
                <a:spcPts val="0"/>
              </a:spcBef>
              <a:spcAft>
                <a:spcPts val="0"/>
              </a:spcAft>
              <a:buClr>
                <a:srgbClr val="434343"/>
              </a:buClr>
              <a:buSzPts val="2800"/>
              <a:buNone/>
              <a:defRPr sz="4267"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a:lnSpc>
                <a:spcPct val="100000"/>
              </a:lnSpc>
              <a:spcBef>
                <a:spcPts val="0"/>
              </a:spcBef>
              <a:spcAft>
                <a:spcPts val="0"/>
              </a:spcAft>
              <a:buClr>
                <a:srgbClr val="7F8D99"/>
              </a:buClr>
              <a:buSzPts val="2800"/>
              <a:buNone/>
              <a:defRPr>
                <a:solidFill>
                  <a:srgbClr val="7F8D99"/>
                </a:solidFill>
              </a:defRPr>
            </a:lvl2pPr>
            <a:lvl3pPr lvl="2" algn="ctr">
              <a:lnSpc>
                <a:spcPct val="100000"/>
              </a:lnSpc>
              <a:spcBef>
                <a:spcPts val="0"/>
              </a:spcBef>
              <a:spcAft>
                <a:spcPts val="0"/>
              </a:spcAft>
              <a:buClr>
                <a:srgbClr val="7F8D99"/>
              </a:buClr>
              <a:buSzPts val="2800"/>
              <a:buNone/>
              <a:defRPr>
                <a:solidFill>
                  <a:srgbClr val="7F8D99"/>
                </a:solidFill>
              </a:defRPr>
            </a:lvl3pPr>
            <a:lvl4pPr lvl="3" algn="ctr">
              <a:lnSpc>
                <a:spcPct val="100000"/>
              </a:lnSpc>
              <a:spcBef>
                <a:spcPts val="0"/>
              </a:spcBef>
              <a:spcAft>
                <a:spcPts val="0"/>
              </a:spcAft>
              <a:buClr>
                <a:srgbClr val="7F8D99"/>
              </a:buClr>
              <a:buSzPts val="2800"/>
              <a:buNone/>
              <a:defRPr>
                <a:solidFill>
                  <a:srgbClr val="7F8D99"/>
                </a:solidFill>
              </a:defRPr>
            </a:lvl4pPr>
            <a:lvl5pPr lvl="4" algn="ctr">
              <a:lnSpc>
                <a:spcPct val="100000"/>
              </a:lnSpc>
              <a:spcBef>
                <a:spcPts val="0"/>
              </a:spcBef>
              <a:spcAft>
                <a:spcPts val="0"/>
              </a:spcAft>
              <a:buClr>
                <a:srgbClr val="7F8D99"/>
              </a:buClr>
              <a:buSzPts val="2800"/>
              <a:buNone/>
              <a:defRPr>
                <a:solidFill>
                  <a:srgbClr val="7F8D99"/>
                </a:solidFill>
              </a:defRPr>
            </a:lvl5pPr>
            <a:lvl6pPr lvl="5" algn="ctr">
              <a:lnSpc>
                <a:spcPct val="100000"/>
              </a:lnSpc>
              <a:spcBef>
                <a:spcPts val="0"/>
              </a:spcBef>
              <a:spcAft>
                <a:spcPts val="0"/>
              </a:spcAft>
              <a:buClr>
                <a:srgbClr val="7F8D99"/>
              </a:buClr>
              <a:buSzPts val="2800"/>
              <a:buNone/>
              <a:defRPr>
                <a:solidFill>
                  <a:srgbClr val="7F8D99"/>
                </a:solidFill>
              </a:defRPr>
            </a:lvl6pPr>
            <a:lvl7pPr lvl="6" algn="ctr">
              <a:lnSpc>
                <a:spcPct val="100000"/>
              </a:lnSpc>
              <a:spcBef>
                <a:spcPts val="0"/>
              </a:spcBef>
              <a:spcAft>
                <a:spcPts val="0"/>
              </a:spcAft>
              <a:buClr>
                <a:srgbClr val="7F8D99"/>
              </a:buClr>
              <a:buSzPts val="2800"/>
              <a:buNone/>
              <a:defRPr>
                <a:solidFill>
                  <a:srgbClr val="7F8D99"/>
                </a:solidFill>
              </a:defRPr>
            </a:lvl7pPr>
            <a:lvl8pPr lvl="7" algn="ctr">
              <a:lnSpc>
                <a:spcPct val="100000"/>
              </a:lnSpc>
              <a:spcBef>
                <a:spcPts val="0"/>
              </a:spcBef>
              <a:spcAft>
                <a:spcPts val="0"/>
              </a:spcAft>
              <a:buClr>
                <a:srgbClr val="7F8D99"/>
              </a:buClr>
              <a:buSzPts val="2800"/>
              <a:buNone/>
              <a:defRPr>
                <a:solidFill>
                  <a:srgbClr val="7F8D99"/>
                </a:solidFill>
              </a:defRPr>
            </a:lvl8pPr>
            <a:lvl9pPr lvl="8" algn="ctr">
              <a:lnSpc>
                <a:spcPct val="100000"/>
              </a:lnSpc>
              <a:spcBef>
                <a:spcPts val="0"/>
              </a:spcBef>
              <a:spcAft>
                <a:spcPts val="0"/>
              </a:spcAft>
              <a:buClr>
                <a:srgbClr val="7F8D99"/>
              </a:buClr>
              <a:buSzPts val="2800"/>
              <a:buNone/>
              <a:defRPr>
                <a:solidFill>
                  <a:srgbClr val="7F8D99"/>
                </a:solidFill>
              </a:defRPr>
            </a:lvl9pPr>
          </a:lstStyle>
          <a:p>
            <a:endParaRPr dirty="0"/>
          </a:p>
        </p:txBody>
      </p:sp>
      <p:sp>
        <p:nvSpPr>
          <p:cNvPr id="13" name="Google Shape;13;p2"/>
          <p:cNvSpPr txBox="1">
            <a:spLocks noGrp="1"/>
          </p:cNvSpPr>
          <p:nvPr>
            <p:ph type="ctrTitle" idx="2"/>
          </p:nvPr>
        </p:nvSpPr>
        <p:spPr>
          <a:xfrm>
            <a:off x="1633200" y="3934776"/>
            <a:ext cx="8925600" cy="965200"/>
          </a:xfrm>
          <a:prstGeom prst="rect">
            <a:avLst/>
          </a:prstGeom>
          <a:noFill/>
          <a:ln>
            <a:noFill/>
          </a:ln>
        </p:spPr>
        <p:txBody>
          <a:bodyPr spcFirstLastPara="1" lIns="91425" tIns="91425" rIns="91425" bIns="91425" anchor="t">
            <a:noAutofit/>
          </a:bodyPr>
          <a:lstStyle>
            <a:lvl1pPr lvl="0" algn="ctr">
              <a:lnSpc>
                <a:spcPct val="100000"/>
              </a:lnSpc>
              <a:spcBef>
                <a:spcPts val="0"/>
              </a:spcBef>
              <a:spcAft>
                <a:spcPts val="0"/>
              </a:spcAft>
              <a:buClr>
                <a:srgbClr val="434343"/>
              </a:buClr>
              <a:buSzPts val="1800"/>
              <a:buNone/>
              <a:defRPr sz="21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a:lnSpc>
                <a:spcPct val="100000"/>
              </a:lnSpc>
              <a:spcBef>
                <a:spcPts val="0"/>
              </a:spcBef>
              <a:spcAft>
                <a:spcPts val="0"/>
              </a:spcAft>
              <a:buClr>
                <a:srgbClr val="7F8D99"/>
              </a:buClr>
              <a:buSzPts val="1800"/>
              <a:buNone/>
              <a:defRPr sz="2400">
                <a:solidFill>
                  <a:srgbClr val="7F8D99"/>
                </a:solidFill>
              </a:defRPr>
            </a:lvl2pPr>
            <a:lvl3pPr lvl="2" algn="ctr">
              <a:lnSpc>
                <a:spcPct val="100000"/>
              </a:lnSpc>
              <a:spcBef>
                <a:spcPts val="0"/>
              </a:spcBef>
              <a:spcAft>
                <a:spcPts val="0"/>
              </a:spcAft>
              <a:buClr>
                <a:srgbClr val="7F8D99"/>
              </a:buClr>
              <a:buSzPts val="1800"/>
              <a:buNone/>
              <a:defRPr sz="2400">
                <a:solidFill>
                  <a:srgbClr val="7F8D99"/>
                </a:solidFill>
              </a:defRPr>
            </a:lvl3pPr>
            <a:lvl4pPr lvl="3" algn="ctr">
              <a:lnSpc>
                <a:spcPct val="100000"/>
              </a:lnSpc>
              <a:spcBef>
                <a:spcPts val="0"/>
              </a:spcBef>
              <a:spcAft>
                <a:spcPts val="0"/>
              </a:spcAft>
              <a:buClr>
                <a:srgbClr val="7F8D99"/>
              </a:buClr>
              <a:buSzPts val="1800"/>
              <a:buNone/>
              <a:defRPr sz="2400">
                <a:solidFill>
                  <a:srgbClr val="7F8D99"/>
                </a:solidFill>
              </a:defRPr>
            </a:lvl4pPr>
            <a:lvl5pPr lvl="4" algn="ctr">
              <a:lnSpc>
                <a:spcPct val="100000"/>
              </a:lnSpc>
              <a:spcBef>
                <a:spcPts val="0"/>
              </a:spcBef>
              <a:spcAft>
                <a:spcPts val="0"/>
              </a:spcAft>
              <a:buClr>
                <a:srgbClr val="7F8D99"/>
              </a:buClr>
              <a:buSzPts val="1800"/>
              <a:buNone/>
              <a:defRPr sz="2400">
                <a:solidFill>
                  <a:srgbClr val="7F8D99"/>
                </a:solidFill>
              </a:defRPr>
            </a:lvl5pPr>
            <a:lvl6pPr lvl="5" algn="ctr">
              <a:lnSpc>
                <a:spcPct val="100000"/>
              </a:lnSpc>
              <a:spcBef>
                <a:spcPts val="0"/>
              </a:spcBef>
              <a:spcAft>
                <a:spcPts val="0"/>
              </a:spcAft>
              <a:buClr>
                <a:srgbClr val="7F8D99"/>
              </a:buClr>
              <a:buSzPts val="1800"/>
              <a:buNone/>
              <a:defRPr sz="2400">
                <a:solidFill>
                  <a:srgbClr val="7F8D99"/>
                </a:solidFill>
              </a:defRPr>
            </a:lvl6pPr>
            <a:lvl7pPr lvl="6" algn="ctr">
              <a:lnSpc>
                <a:spcPct val="100000"/>
              </a:lnSpc>
              <a:spcBef>
                <a:spcPts val="0"/>
              </a:spcBef>
              <a:spcAft>
                <a:spcPts val="0"/>
              </a:spcAft>
              <a:buClr>
                <a:srgbClr val="7F8D99"/>
              </a:buClr>
              <a:buSzPts val="1800"/>
              <a:buNone/>
              <a:defRPr sz="2400">
                <a:solidFill>
                  <a:srgbClr val="7F8D99"/>
                </a:solidFill>
              </a:defRPr>
            </a:lvl7pPr>
            <a:lvl8pPr lvl="7" algn="ctr">
              <a:lnSpc>
                <a:spcPct val="100000"/>
              </a:lnSpc>
              <a:spcBef>
                <a:spcPts val="0"/>
              </a:spcBef>
              <a:spcAft>
                <a:spcPts val="0"/>
              </a:spcAft>
              <a:buClr>
                <a:srgbClr val="7F8D99"/>
              </a:buClr>
              <a:buSzPts val="1800"/>
              <a:buNone/>
              <a:defRPr sz="2400">
                <a:solidFill>
                  <a:srgbClr val="7F8D99"/>
                </a:solidFill>
              </a:defRPr>
            </a:lvl8pPr>
            <a:lvl9pPr lvl="8" algn="ctr">
              <a:lnSpc>
                <a:spcPct val="100000"/>
              </a:lnSpc>
              <a:spcBef>
                <a:spcPts val="0"/>
              </a:spcBef>
              <a:spcAft>
                <a:spcPts val="0"/>
              </a:spcAft>
              <a:buClr>
                <a:srgbClr val="7F8D99"/>
              </a:buClr>
              <a:buSzPts val="1800"/>
              <a:buNone/>
              <a:defRPr sz="2400">
                <a:solidFill>
                  <a:srgbClr val="7F8D99"/>
                </a:solidFill>
              </a:defRPr>
            </a:lvl9pPr>
          </a:lstStyle>
          <a:p>
            <a:endParaRPr dirty="0"/>
          </a:p>
        </p:txBody>
      </p:sp>
    </p:spTree>
    <p:extLst>
      <p:ext uri="{BB962C8B-B14F-4D97-AF65-F5344CB8AC3E}">
        <p14:creationId xmlns:p14="http://schemas.microsoft.com/office/powerpoint/2010/main" val="1046022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ext slide with title 1">
  <p:cSld name="Text slide with title 1">
    <p:spTree>
      <p:nvGrpSpPr>
        <p:cNvPr id="1" name="Shape 23"/>
        <p:cNvGrpSpPr/>
        <p:nvPr/>
      </p:nvGrpSpPr>
      <p:grpSpPr>
        <a:xfrm>
          <a:off x="0" y="0"/>
          <a:ext cx="0" cy="0"/>
          <a:chOff x="0" y="0"/>
          <a:chExt cx="0" cy="0"/>
        </a:xfrm>
      </p:grpSpPr>
      <p:pic>
        <p:nvPicPr>
          <p:cNvPr id="2" name="Imagen 8">
            <a:extLst>
              <a:ext uri="{FF2B5EF4-FFF2-40B4-BE49-F238E27FC236}">
                <a16:creationId xmlns:a16="http://schemas.microsoft.com/office/drawing/2014/main" id="{63CC8359-7C74-42DC-7DD7-A8627606468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V="1">
            <a:off x="11741150" y="149225"/>
            <a:ext cx="3000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Google Shape;28;p4"/>
          <p:cNvSpPr txBox="1">
            <a:spLocks noGrp="1"/>
          </p:cNvSpPr>
          <p:nvPr>
            <p:ph type="title"/>
          </p:nvPr>
        </p:nvSpPr>
        <p:spPr>
          <a:xfrm>
            <a:off x="529767" y="1392400"/>
            <a:ext cx="11360800" cy="763600"/>
          </a:xfrm>
          <a:prstGeom prst="rect">
            <a:avLst/>
          </a:prstGeom>
          <a:noFill/>
          <a:ln>
            <a:noFill/>
          </a:ln>
        </p:spPr>
        <p:txBody>
          <a:bodyPr spcFirstLastPara="1" lIns="91425" tIns="91425" rIns="91425" bIns="91425" anchor="b">
            <a:noAutofit/>
          </a:bodyPr>
          <a:lstStyle>
            <a:lvl1pPr lvl="0" rtl="0">
              <a:lnSpc>
                <a:spcPct val="100000"/>
              </a:lnSpc>
              <a:spcBef>
                <a:spcPts val="0"/>
              </a:spcBef>
              <a:spcAft>
                <a:spcPts val="0"/>
              </a:spcAft>
              <a:buClr>
                <a:srgbClr val="434343"/>
              </a:buClr>
              <a:buSzPts val="2800"/>
              <a:buNone/>
              <a:defRPr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rtl="0">
              <a:lnSpc>
                <a:spcPct val="100000"/>
              </a:lnSpc>
              <a:spcBef>
                <a:spcPts val="0"/>
              </a:spcBef>
              <a:spcAft>
                <a:spcPts val="0"/>
              </a:spcAft>
              <a:buSzPts val="2800"/>
              <a:buNone/>
              <a:defRPr/>
            </a:lvl2pPr>
            <a:lvl3pPr lvl="2" algn="ctr" rtl="0">
              <a:lnSpc>
                <a:spcPct val="100000"/>
              </a:lnSpc>
              <a:spcBef>
                <a:spcPts val="0"/>
              </a:spcBef>
              <a:spcAft>
                <a:spcPts val="0"/>
              </a:spcAft>
              <a:buSzPts val="2800"/>
              <a:buNone/>
              <a:defRPr/>
            </a:lvl3pPr>
            <a:lvl4pPr lvl="3" algn="ctr" rtl="0">
              <a:lnSpc>
                <a:spcPct val="100000"/>
              </a:lnSpc>
              <a:spcBef>
                <a:spcPts val="0"/>
              </a:spcBef>
              <a:spcAft>
                <a:spcPts val="0"/>
              </a:spcAft>
              <a:buSzPts val="2800"/>
              <a:buNone/>
              <a:defRPr/>
            </a:lvl4pPr>
            <a:lvl5pPr lvl="4" algn="ctr" rtl="0">
              <a:lnSpc>
                <a:spcPct val="100000"/>
              </a:lnSpc>
              <a:spcBef>
                <a:spcPts val="0"/>
              </a:spcBef>
              <a:spcAft>
                <a:spcPts val="0"/>
              </a:spcAft>
              <a:buSzPts val="2800"/>
              <a:buNone/>
              <a:defRPr/>
            </a:lvl5pPr>
            <a:lvl6pPr lvl="5" algn="ctr" rtl="0">
              <a:lnSpc>
                <a:spcPct val="100000"/>
              </a:lnSpc>
              <a:spcBef>
                <a:spcPts val="0"/>
              </a:spcBef>
              <a:spcAft>
                <a:spcPts val="0"/>
              </a:spcAft>
              <a:buSzPts val="2800"/>
              <a:buNone/>
              <a:defRPr/>
            </a:lvl6pPr>
            <a:lvl7pPr lvl="6" algn="ctr" rtl="0">
              <a:lnSpc>
                <a:spcPct val="100000"/>
              </a:lnSpc>
              <a:spcBef>
                <a:spcPts val="0"/>
              </a:spcBef>
              <a:spcAft>
                <a:spcPts val="0"/>
              </a:spcAft>
              <a:buSzPts val="2800"/>
              <a:buNone/>
              <a:defRPr/>
            </a:lvl7pPr>
            <a:lvl8pPr lvl="7" algn="ctr" rtl="0">
              <a:lnSpc>
                <a:spcPct val="100000"/>
              </a:lnSpc>
              <a:spcBef>
                <a:spcPts val="0"/>
              </a:spcBef>
              <a:spcAft>
                <a:spcPts val="0"/>
              </a:spcAft>
              <a:buSzPts val="2800"/>
              <a:buNone/>
              <a:defRPr/>
            </a:lvl8pPr>
            <a:lvl9pPr lvl="8" algn="ctr" rtl="0">
              <a:lnSpc>
                <a:spcPct val="100000"/>
              </a:lnSpc>
              <a:spcBef>
                <a:spcPts val="0"/>
              </a:spcBef>
              <a:spcAft>
                <a:spcPts val="0"/>
              </a:spcAft>
              <a:buSzPts val="2800"/>
              <a:buNone/>
              <a:defRPr/>
            </a:lvl9pPr>
          </a:lstStyle>
          <a:p>
            <a:endParaRPr dirty="0"/>
          </a:p>
        </p:txBody>
      </p:sp>
      <p:sp>
        <p:nvSpPr>
          <p:cNvPr id="29" name="Google Shape;29;p4"/>
          <p:cNvSpPr txBox="1">
            <a:spLocks noGrp="1"/>
          </p:cNvSpPr>
          <p:nvPr>
            <p:ph type="body" idx="1"/>
          </p:nvPr>
        </p:nvSpPr>
        <p:spPr>
          <a:xfrm>
            <a:off x="529779" y="2170933"/>
            <a:ext cx="8196800" cy="2504000"/>
          </a:xfrm>
          <a:prstGeom prst="rect">
            <a:avLst/>
          </a:prstGeom>
          <a:noFill/>
          <a:ln>
            <a:noFill/>
          </a:ln>
        </p:spPr>
        <p:txBody>
          <a:bodyPr spcFirstLastPara="1" lIns="91425" tIns="91425" rIns="91425" bIns="91425">
            <a:noAutofit/>
          </a:bodyPr>
          <a:lstStyle>
            <a:lvl1pPr marL="609585" lvl="0" indent="-423323" algn="l" rtl="0">
              <a:lnSpc>
                <a:spcPct val="100000"/>
              </a:lnSpc>
              <a:spcBef>
                <a:spcPts val="0"/>
              </a:spcBef>
              <a:spcAft>
                <a:spcPts val="0"/>
              </a:spcAft>
              <a:buClr>
                <a:srgbClr val="FF3A00"/>
              </a:buClr>
              <a:buSzPts val="1400"/>
              <a:buChar cha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1219170" lvl="1" indent="-406390" algn="l" rtl="0">
              <a:lnSpc>
                <a:spcPct val="100000"/>
              </a:lnSpc>
              <a:spcBef>
                <a:spcPts val="0"/>
              </a:spcBef>
              <a:spcAft>
                <a:spcPts val="0"/>
              </a:spcAft>
              <a:buClr>
                <a:srgbClr val="999999"/>
              </a:buClr>
              <a:buSzPts val="1200"/>
              <a:buChar char="○"/>
              <a:defRPr sz="1600">
                <a:solidFill>
                  <a:srgbClr val="999999"/>
                </a:solidFill>
              </a:defRPr>
            </a:lvl2pPr>
            <a:lvl3pPr marL="1828754" lvl="2" indent="-406390" algn="l" rtl="0">
              <a:lnSpc>
                <a:spcPct val="100000"/>
              </a:lnSpc>
              <a:spcBef>
                <a:spcPts val="0"/>
              </a:spcBef>
              <a:spcAft>
                <a:spcPts val="0"/>
              </a:spcAft>
              <a:buClr>
                <a:srgbClr val="999999"/>
              </a:buClr>
              <a:buSzPts val="1200"/>
              <a:buChar char="■"/>
              <a:defRPr sz="1600">
                <a:solidFill>
                  <a:srgbClr val="999999"/>
                </a:solidFill>
              </a:defRPr>
            </a:lvl3pPr>
            <a:lvl4pPr marL="2438339" lvl="3" indent="-406390" algn="l" rtl="0">
              <a:lnSpc>
                <a:spcPct val="100000"/>
              </a:lnSpc>
              <a:spcBef>
                <a:spcPts val="0"/>
              </a:spcBef>
              <a:spcAft>
                <a:spcPts val="0"/>
              </a:spcAft>
              <a:buClr>
                <a:srgbClr val="999999"/>
              </a:buClr>
              <a:buSzPts val="1200"/>
              <a:buChar char="●"/>
              <a:defRPr sz="1600">
                <a:solidFill>
                  <a:srgbClr val="999999"/>
                </a:solidFill>
              </a:defRPr>
            </a:lvl4pPr>
            <a:lvl5pPr marL="3047924" lvl="4" indent="-406390" algn="l" rtl="0">
              <a:lnSpc>
                <a:spcPct val="100000"/>
              </a:lnSpc>
              <a:spcBef>
                <a:spcPts val="0"/>
              </a:spcBef>
              <a:spcAft>
                <a:spcPts val="0"/>
              </a:spcAft>
              <a:buClr>
                <a:srgbClr val="999999"/>
              </a:buClr>
              <a:buSzPts val="1200"/>
              <a:buChar char="○"/>
              <a:defRPr sz="1600">
                <a:solidFill>
                  <a:srgbClr val="999999"/>
                </a:solidFill>
              </a:defRPr>
            </a:lvl5pPr>
            <a:lvl6pPr marL="3657509" lvl="5" indent="-406390" algn="l" rtl="0">
              <a:lnSpc>
                <a:spcPct val="100000"/>
              </a:lnSpc>
              <a:spcBef>
                <a:spcPts val="0"/>
              </a:spcBef>
              <a:spcAft>
                <a:spcPts val="0"/>
              </a:spcAft>
              <a:buClr>
                <a:srgbClr val="999999"/>
              </a:buClr>
              <a:buSzPts val="1200"/>
              <a:buChar char="■"/>
              <a:defRPr sz="1600">
                <a:solidFill>
                  <a:srgbClr val="999999"/>
                </a:solidFill>
              </a:defRPr>
            </a:lvl6pPr>
            <a:lvl7pPr marL="4267093" lvl="6" indent="-406390" algn="l" rtl="0">
              <a:lnSpc>
                <a:spcPct val="100000"/>
              </a:lnSpc>
              <a:spcBef>
                <a:spcPts val="0"/>
              </a:spcBef>
              <a:spcAft>
                <a:spcPts val="0"/>
              </a:spcAft>
              <a:buClr>
                <a:srgbClr val="999999"/>
              </a:buClr>
              <a:buSzPts val="1200"/>
              <a:buChar char="●"/>
              <a:defRPr sz="1600">
                <a:solidFill>
                  <a:srgbClr val="999999"/>
                </a:solidFill>
              </a:defRPr>
            </a:lvl7pPr>
            <a:lvl8pPr marL="4876678" lvl="7" indent="-406390" algn="l" rtl="0">
              <a:lnSpc>
                <a:spcPct val="100000"/>
              </a:lnSpc>
              <a:spcBef>
                <a:spcPts val="0"/>
              </a:spcBef>
              <a:spcAft>
                <a:spcPts val="0"/>
              </a:spcAft>
              <a:buClr>
                <a:srgbClr val="999999"/>
              </a:buClr>
              <a:buSzPts val="1200"/>
              <a:buChar char="○"/>
              <a:defRPr sz="1600">
                <a:solidFill>
                  <a:srgbClr val="999999"/>
                </a:solidFill>
              </a:defRPr>
            </a:lvl8pPr>
            <a:lvl9pPr marL="5486263" lvl="8" indent="-406390" algn="l" rtl="0">
              <a:lnSpc>
                <a:spcPct val="100000"/>
              </a:lnSpc>
              <a:spcBef>
                <a:spcPts val="0"/>
              </a:spcBef>
              <a:spcAft>
                <a:spcPts val="0"/>
              </a:spcAft>
              <a:buClr>
                <a:srgbClr val="999999"/>
              </a:buClr>
              <a:buSzPts val="1200"/>
              <a:buChar char="■"/>
              <a:defRPr sz="1600">
                <a:solidFill>
                  <a:srgbClr val="999999"/>
                </a:solidFill>
              </a:defRPr>
            </a:lvl9pPr>
          </a:lstStyle>
          <a:p>
            <a:endParaRPr dirty="0"/>
          </a:p>
        </p:txBody>
      </p:sp>
    </p:spTree>
    <p:extLst>
      <p:ext uri="{BB962C8B-B14F-4D97-AF65-F5344CB8AC3E}">
        <p14:creationId xmlns:p14="http://schemas.microsoft.com/office/powerpoint/2010/main" val="102809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F29EEBD-142C-8AD1-3C75-1E5493669BCD}"/>
              </a:ext>
            </a:extLst>
          </p:cNvPr>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PE"/>
              <a:t>Haga clic para modificar el estilo de título del patrón</a:t>
            </a:r>
          </a:p>
        </p:txBody>
      </p:sp>
      <p:sp>
        <p:nvSpPr>
          <p:cNvPr id="1027" name="Rectangle 3">
            <a:extLst>
              <a:ext uri="{FF2B5EF4-FFF2-40B4-BE49-F238E27FC236}">
                <a16:creationId xmlns:a16="http://schemas.microsoft.com/office/drawing/2014/main" id="{9B47AC71-8D14-6965-B7CD-B18DF7C31857}"/>
              </a:ext>
            </a:extLst>
          </p:cNvPr>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PE"/>
              <a:t>Haga clic para modificar el estilo de texto del patrón</a:t>
            </a:r>
          </a:p>
          <a:p>
            <a:pPr lvl="1"/>
            <a:r>
              <a:rPr lang="es-ES" altLang="es-PE"/>
              <a:t>Segundo nivel</a:t>
            </a:r>
          </a:p>
          <a:p>
            <a:pPr lvl="2"/>
            <a:r>
              <a:rPr lang="es-ES" altLang="es-PE"/>
              <a:t>Tercer nivel</a:t>
            </a:r>
          </a:p>
          <a:p>
            <a:pPr lvl="3"/>
            <a:r>
              <a:rPr lang="es-ES" altLang="es-PE"/>
              <a:t>Cuarto nivel</a:t>
            </a:r>
          </a:p>
          <a:p>
            <a:pPr lvl="4"/>
            <a:r>
              <a:rPr lang="es-ES" altLang="es-PE"/>
              <a:t>Quinto nivel</a:t>
            </a:r>
          </a:p>
        </p:txBody>
      </p:sp>
      <p:sp>
        <p:nvSpPr>
          <p:cNvPr id="1028" name="Rectangle 4">
            <a:extLst>
              <a:ext uri="{FF2B5EF4-FFF2-40B4-BE49-F238E27FC236}">
                <a16:creationId xmlns:a16="http://schemas.microsoft.com/office/drawing/2014/main" id="{6AC89BFD-2AB7-862C-2062-C44C6D256B6C}"/>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400">
                <a:latin typeface="+mn-lt"/>
              </a:defRPr>
            </a:lvl1pPr>
          </a:lstStyle>
          <a:p>
            <a:pPr>
              <a:defRPr/>
            </a:pPr>
            <a:endParaRPr lang="es-ES"/>
          </a:p>
        </p:txBody>
      </p:sp>
      <p:sp>
        <p:nvSpPr>
          <p:cNvPr id="1029" name="Rectangle 5">
            <a:extLst>
              <a:ext uri="{FF2B5EF4-FFF2-40B4-BE49-F238E27FC236}">
                <a16:creationId xmlns:a16="http://schemas.microsoft.com/office/drawing/2014/main" id="{ABD7B7C7-4656-3C6D-B32A-DB4FC796CFA4}"/>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a:latin typeface="+mn-lt"/>
              </a:defRPr>
            </a:lvl1pPr>
          </a:lstStyle>
          <a:p>
            <a:pPr>
              <a:defRPr/>
            </a:pPr>
            <a:endParaRPr lang="es-ES"/>
          </a:p>
        </p:txBody>
      </p:sp>
      <p:sp>
        <p:nvSpPr>
          <p:cNvPr id="1030" name="Rectangle 7">
            <a:extLst>
              <a:ext uri="{FF2B5EF4-FFF2-40B4-BE49-F238E27FC236}">
                <a16:creationId xmlns:a16="http://schemas.microsoft.com/office/drawing/2014/main" id="{A44EFAA7-D4C6-FEDE-45A6-C44D7B649690}"/>
              </a:ext>
            </a:extLst>
          </p:cNvPr>
          <p:cNvSpPr>
            <a:spLocks noChangeArrowheads="1"/>
          </p:cNvSpPr>
          <p:nvPr userDrawn="1"/>
        </p:nvSpPr>
        <p:spPr bwMode="auto">
          <a:xfrm>
            <a:off x="914400" y="6240463"/>
            <a:ext cx="2540000" cy="457200"/>
          </a:xfrm>
          <a:prstGeom prst="rect">
            <a:avLst/>
          </a:prstGeom>
          <a:noFill/>
          <a:ln>
            <a:noFill/>
          </a:ln>
        </p:spPr>
        <p:txBody>
          <a:bodyPr/>
          <a:lstStyle>
            <a:lvl1pPr eaLnBrk="0" hangingPunct="0">
              <a:defRPr sz="2700">
                <a:solidFill>
                  <a:schemeClr val="tx1"/>
                </a:solidFill>
                <a:latin typeface="Arial" charset="0"/>
              </a:defRPr>
            </a:lvl1pPr>
            <a:lvl2pPr marL="742950" indent="-285750" eaLnBrk="0" hangingPunct="0">
              <a:defRPr sz="2700">
                <a:solidFill>
                  <a:schemeClr val="tx1"/>
                </a:solidFill>
                <a:latin typeface="Arial" charset="0"/>
              </a:defRPr>
            </a:lvl2pPr>
            <a:lvl3pPr marL="1143000" indent="-228600" eaLnBrk="0" hangingPunct="0">
              <a:defRPr sz="2700">
                <a:solidFill>
                  <a:schemeClr val="tx1"/>
                </a:solidFill>
                <a:latin typeface="Arial" charset="0"/>
              </a:defRPr>
            </a:lvl3pPr>
            <a:lvl4pPr marL="1600200" indent="-228600" eaLnBrk="0" hangingPunct="0">
              <a:defRPr sz="2700">
                <a:solidFill>
                  <a:schemeClr val="tx1"/>
                </a:solidFill>
                <a:latin typeface="Arial" charset="0"/>
              </a:defRPr>
            </a:lvl4pPr>
            <a:lvl5pPr marL="2057400" indent="-228600" eaLnBrk="0" hangingPunct="0">
              <a:defRPr sz="2700">
                <a:solidFill>
                  <a:schemeClr val="tx1"/>
                </a:solidFill>
                <a:latin typeface="Arial" charset="0"/>
              </a:defRPr>
            </a:lvl5pPr>
            <a:lvl6pPr marL="2514600" indent="-228600" algn="ctr" eaLnBrk="0" fontAlgn="base" hangingPunct="0">
              <a:spcBef>
                <a:spcPct val="50000"/>
              </a:spcBef>
              <a:spcAft>
                <a:spcPct val="0"/>
              </a:spcAft>
              <a:defRPr sz="2700">
                <a:solidFill>
                  <a:schemeClr val="tx1"/>
                </a:solidFill>
                <a:latin typeface="Arial" charset="0"/>
              </a:defRPr>
            </a:lvl6pPr>
            <a:lvl7pPr marL="2971800" indent="-228600" algn="ctr" eaLnBrk="0" fontAlgn="base" hangingPunct="0">
              <a:spcBef>
                <a:spcPct val="50000"/>
              </a:spcBef>
              <a:spcAft>
                <a:spcPct val="0"/>
              </a:spcAft>
              <a:defRPr sz="2700">
                <a:solidFill>
                  <a:schemeClr val="tx1"/>
                </a:solidFill>
                <a:latin typeface="Arial" charset="0"/>
              </a:defRPr>
            </a:lvl7pPr>
            <a:lvl8pPr marL="3429000" indent="-228600" algn="ctr" eaLnBrk="0" fontAlgn="base" hangingPunct="0">
              <a:spcBef>
                <a:spcPct val="50000"/>
              </a:spcBef>
              <a:spcAft>
                <a:spcPct val="0"/>
              </a:spcAft>
              <a:defRPr sz="2700">
                <a:solidFill>
                  <a:schemeClr val="tx1"/>
                </a:solidFill>
                <a:latin typeface="Arial" charset="0"/>
              </a:defRPr>
            </a:lvl8pPr>
            <a:lvl9pPr marL="3886200" indent="-228600" algn="ctr" eaLnBrk="0" fontAlgn="base" hangingPunct="0">
              <a:spcBef>
                <a:spcPct val="50000"/>
              </a:spcBef>
              <a:spcAft>
                <a:spcPct val="0"/>
              </a:spcAft>
              <a:defRPr sz="2700">
                <a:solidFill>
                  <a:schemeClr val="tx1"/>
                </a:solidFill>
                <a:latin typeface="Arial" charset="0"/>
              </a:defRPr>
            </a:lvl9pPr>
          </a:lstStyle>
          <a:p>
            <a:pPr eaLnBrk="1" hangingPunct="1">
              <a:defRPr/>
            </a:pPr>
            <a:endParaRPr lang="es-PE" altLang="es-PE" sz="1400">
              <a:latin typeface="Times New Roman" pitchFamily="18" charset="0"/>
            </a:endParaRPr>
          </a:p>
        </p:txBody>
      </p:sp>
      <p:sp>
        <p:nvSpPr>
          <p:cNvPr id="1031" name="Rectangle 8">
            <a:extLst>
              <a:ext uri="{FF2B5EF4-FFF2-40B4-BE49-F238E27FC236}">
                <a16:creationId xmlns:a16="http://schemas.microsoft.com/office/drawing/2014/main" id="{6F2D5EBC-B9DF-F24F-66BB-E4AE3674E4C3}"/>
              </a:ext>
            </a:extLst>
          </p:cNvPr>
          <p:cNvSpPr>
            <a:spLocks noChangeArrowheads="1"/>
          </p:cNvSpPr>
          <p:nvPr userDrawn="1"/>
        </p:nvSpPr>
        <p:spPr bwMode="auto">
          <a:xfrm>
            <a:off x="4165600" y="6240463"/>
            <a:ext cx="3860800" cy="457200"/>
          </a:xfrm>
          <a:prstGeom prst="rect">
            <a:avLst/>
          </a:prstGeom>
          <a:noFill/>
          <a:ln>
            <a:noFill/>
          </a:ln>
        </p:spPr>
        <p:txBody>
          <a:bodyPr/>
          <a:lstStyle>
            <a:lvl1pPr eaLnBrk="0" hangingPunct="0">
              <a:defRPr sz="2700">
                <a:solidFill>
                  <a:schemeClr val="tx1"/>
                </a:solidFill>
                <a:latin typeface="Arial" charset="0"/>
              </a:defRPr>
            </a:lvl1pPr>
            <a:lvl2pPr marL="742950" indent="-285750" eaLnBrk="0" hangingPunct="0">
              <a:defRPr sz="2700">
                <a:solidFill>
                  <a:schemeClr val="tx1"/>
                </a:solidFill>
                <a:latin typeface="Arial" charset="0"/>
              </a:defRPr>
            </a:lvl2pPr>
            <a:lvl3pPr marL="1143000" indent="-228600" eaLnBrk="0" hangingPunct="0">
              <a:defRPr sz="2700">
                <a:solidFill>
                  <a:schemeClr val="tx1"/>
                </a:solidFill>
                <a:latin typeface="Arial" charset="0"/>
              </a:defRPr>
            </a:lvl3pPr>
            <a:lvl4pPr marL="1600200" indent="-228600" eaLnBrk="0" hangingPunct="0">
              <a:defRPr sz="2700">
                <a:solidFill>
                  <a:schemeClr val="tx1"/>
                </a:solidFill>
                <a:latin typeface="Arial" charset="0"/>
              </a:defRPr>
            </a:lvl4pPr>
            <a:lvl5pPr marL="2057400" indent="-228600" eaLnBrk="0" hangingPunct="0">
              <a:defRPr sz="2700">
                <a:solidFill>
                  <a:schemeClr val="tx1"/>
                </a:solidFill>
                <a:latin typeface="Arial" charset="0"/>
              </a:defRPr>
            </a:lvl5pPr>
            <a:lvl6pPr marL="2514600" indent="-228600" algn="ctr" eaLnBrk="0" fontAlgn="base" hangingPunct="0">
              <a:spcBef>
                <a:spcPct val="50000"/>
              </a:spcBef>
              <a:spcAft>
                <a:spcPct val="0"/>
              </a:spcAft>
              <a:defRPr sz="2700">
                <a:solidFill>
                  <a:schemeClr val="tx1"/>
                </a:solidFill>
                <a:latin typeface="Arial" charset="0"/>
              </a:defRPr>
            </a:lvl6pPr>
            <a:lvl7pPr marL="2971800" indent="-228600" algn="ctr" eaLnBrk="0" fontAlgn="base" hangingPunct="0">
              <a:spcBef>
                <a:spcPct val="50000"/>
              </a:spcBef>
              <a:spcAft>
                <a:spcPct val="0"/>
              </a:spcAft>
              <a:defRPr sz="2700">
                <a:solidFill>
                  <a:schemeClr val="tx1"/>
                </a:solidFill>
                <a:latin typeface="Arial" charset="0"/>
              </a:defRPr>
            </a:lvl7pPr>
            <a:lvl8pPr marL="3429000" indent="-228600" algn="ctr" eaLnBrk="0" fontAlgn="base" hangingPunct="0">
              <a:spcBef>
                <a:spcPct val="50000"/>
              </a:spcBef>
              <a:spcAft>
                <a:spcPct val="0"/>
              </a:spcAft>
              <a:defRPr sz="2700">
                <a:solidFill>
                  <a:schemeClr val="tx1"/>
                </a:solidFill>
                <a:latin typeface="Arial" charset="0"/>
              </a:defRPr>
            </a:lvl8pPr>
            <a:lvl9pPr marL="3886200" indent="-228600" algn="ctr" eaLnBrk="0" fontAlgn="base" hangingPunct="0">
              <a:spcBef>
                <a:spcPct val="50000"/>
              </a:spcBef>
              <a:spcAft>
                <a:spcPct val="0"/>
              </a:spcAft>
              <a:defRPr sz="2700">
                <a:solidFill>
                  <a:schemeClr val="tx1"/>
                </a:solidFill>
                <a:latin typeface="Arial" charset="0"/>
              </a:defRPr>
            </a:lvl9pPr>
          </a:lstStyle>
          <a:p>
            <a:pPr algn="ctr" eaLnBrk="1" hangingPunct="1">
              <a:defRPr/>
            </a:pPr>
            <a:endParaRPr lang="es-PE" altLang="es-PE" sz="1400">
              <a:latin typeface="Times New Roman" pitchFamily="18" charset="0"/>
            </a:endParaRPr>
          </a:p>
        </p:txBody>
      </p:sp>
      <p:sp>
        <p:nvSpPr>
          <p:cNvPr id="1032" name="Rectangle 10">
            <a:extLst>
              <a:ext uri="{FF2B5EF4-FFF2-40B4-BE49-F238E27FC236}">
                <a16:creationId xmlns:a16="http://schemas.microsoft.com/office/drawing/2014/main" id="{093265D6-EDB4-8FC2-4A64-6AF4A0182160}"/>
              </a:ext>
            </a:extLst>
          </p:cNvPr>
          <p:cNvSpPr>
            <a:spLocks noChangeArrowheads="1"/>
          </p:cNvSpPr>
          <p:nvPr userDrawn="1"/>
        </p:nvSpPr>
        <p:spPr bwMode="auto">
          <a:xfrm>
            <a:off x="914400" y="6240463"/>
            <a:ext cx="2540000" cy="457200"/>
          </a:xfrm>
          <a:prstGeom prst="rect">
            <a:avLst/>
          </a:prstGeom>
          <a:noFill/>
          <a:ln>
            <a:noFill/>
          </a:ln>
        </p:spPr>
        <p:txBody>
          <a:bodyPr/>
          <a:lstStyle>
            <a:lvl1pPr eaLnBrk="0" hangingPunct="0">
              <a:defRPr sz="2700">
                <a:solidFill>
                  <a:schemeClr val="tx1"/>
                </a:solidFill>
                <a:latin typeface="Arial" charset="0"/>
              </a:defRPr>
            </a:lvl1pPr>
            <a:lvl2pPr marL="742950" indent="-285750" eaLnBrk="0" hangingPunct="0">
              <a:defRPr sz="2700">
                <a:solidFill>
                  <a:schemeClr val="tx1"/>
                </a:solidFill>
                <a:latin typeface="Arial" charset="0"/>
              </a:defRPr>
            </a:lvl2pPr>
            <a:lvl3pPr marL="1143000" indent="-228600" eaLnBrk="0" hangingPunct="0">
              <a:defRPr sz="2700">
                <a:solidFill>
                  <a:schemeClr val="tx1"/>
                </a:solidFill>
                <a:latin typeface="Arial" charset="0"/>
              </a:defRPr>
            </a:lvl3pPr>
            <a:lvl4pPr marL="1600200" indent="-228600" eaLnBrk="0" hangingPunct="0">
              <a:defRPr sz="2700">
                <a:solidFill>
                  <a:schemeClr val="tx1"/>
                </a:solidFill>
                <a:latin typeface="Arial" charset="0"/>
              </a:defRPr>
            </a:lvl4pPr>
            <a:lvl5pPr marL="2057400" indent="-228600" eaLnBrk="0" hangingPunct="0">
              <a:defRPr sz="2700">
                <a:solidFill>
                  <a:schemeClr val="tx1"/>
                </a:solidFill>
                <a:latin typeface="Arial" charset="0"/>
              </a:defRPr>
            </a:lvl5pPr>
            <a:lvl6pPr marL="2514600" indent="-228600" algn="ctr" eaLnBrk="0" fontAlgn="base" hangingPunct="0">
              <a:spcBef>
                <a:spcPct val="50000"/>
              </a:spcBef>
              <a:spcAft>
                <a:spcPct val="0"/>
              </a:spcAft>
              <a:defRPr sz="2700">
                <a:solidFill>
                  <a:schemeClr val="tx1"/>
                </a:solidFill>
                <a:latin typeface="Arial" charset="0"/>
              </a:defRPr>
            </a:lvl6pPr>
            <a:lvl7pPr marL="2971800" indent="-228600" algn="ctr" eaLnBrk="0" fontAlgn="base" hangingPunct="0">
              <a:spcBef>
                <a:spcPct val="50000"/>
              </a:spcBef>
              <a:spcAft>
                <a:spcPct val="0"/>
              </a:spcAft>
              <a:defRPr sz="2700">
                <a:solidFill>
                  <a:schemeClr val="tx1"/>
                </a:solidFill>
                <a:latin typeface="Arial" charset="0"/>
              </a:defRPr>
            </a:lvl7pPr>
            <a:lvl8pPr marL="3429000" indent="-228600" algn="ctr" eaLnBrk="0" fontAlgn="base" hangingPunct="0">
              <a:spcBef>
                <a:spcPct val="50000"/>
              </a:spcBef>
              <a:spcAft>
                <a:spcPct val="0"/>
              </a:spcAft>
              <a:defRPr sz="2700">
                <a:solidFill>
                  <a:schemeClr val="tx1"/>
                </a:solidFill>
                <a:latin typeface="Arial" charset="0"/>
              </a:defRPr>
            </a:lvl8pPr>
            <a:lvl9pPr marL="3886200" indent="-228600" algn="ctr" eaLnBrk="0" fontAlgn="base" hangingPunct="0">
              <a:spcBef>
                <a:spcPct val="50000"/>
              </a:spcBef>
              <a:spcAft>
                <a:spcPct val="0"/>
              </a:spcAft>
              <a:defRPr sz="2700">
                <a:solidFill>
                  <a:schemeClr val="tx1"/>
                </a:solidFill>
                <a:latin typeface="Arial" charset="0"/>
              </a:defRPr>
            </a:lvl9pPr>
          </a:lstStyle>
          <a:p>
            <a:pPr eaLnBrk="1" hangingPunct="1">
              <a:defRPr/>
            </a:pPr>
            <a:endParaRPr lang="es-PE" altLang="es-PE" sz="1400">
              <a:latin typeface="Times New Roman" pitchFamily="18" charset="0"/>
            </a:endParaRPr>
          </a:p>
        </p:txBody>
      </p:sp>
      <p:sp>
        <p:nvSpPr>
          <p:cNvPr id="1033" name="Rectangle 11">
            <a:extLst>
              <a:ext uri="{FF2B5EF4-FFF2-40B4-BE49-F238E27FC236}">
                <a16:creationId xmlns:a16="http://schemas.microsoft.com/office/drawing/2014/main" id="{983BDE92-7E12-187B-FAFA-98ADEA8478F5}"/>
              </a:ext>
            </a:extLst>
          </p:cNvPr>
          <p:cNvSpPr>
            <a:spLocks noChangeArrowheads="1"/>
          </p:cNvSpPr>
          <p:nvPr userDrawn="1"/>
        </p:nvSpPr>
        <p:spPr bwMode="auto">
          <a:xfrm>
            <a:off x="4165600" y="6240463"/>
            <a:ext cx="3860800" cy="457200"/>
          </a:xfrm>
          <a:prstGeom prst="rect">
            <a:avLst/>
          </a:prstGeom>
          <a:noFill/>
          <a:ln>
            <a:noFill/>
          </a:ln>
        </p:spPr>
        <p:txBody>
          <a:bodyPr/>
          <a:lstStyle>
            <a:lvl1pPr eaLnBrk="0" hangingPunct="0">
              <a:defRPr sz="2700">
                <a:solidFill>
                  <a:schemeClr val="tx1"/>
                </a:solidFill>
                <a:latin typeface="Arial" charset="0"/>
              </a:defRPr>
            </a:lvl1pPr>
            <a:lvl2pPr marL="742950" indent="-285750" eaLnBrk="0" hangingPunct="0">
              <a:defRPr sz="2700">
                <a:solidFill>
                  <a:schemeClr val="tx1"/>
                </a:solidFill>
                <a:latin typeface="Arial" charset="0"/>
              </a:defRPr>
            </a:lvl2pPr>
            <a:lvl3pPr marL="1143000" indent="-228600" eaLnBrk="0" hangingPunct="0">
              <a:defRPr sz="2700">
                <a:solidFill>
                  <a:schemeClr val="tx1"/>
                </a:solidFill>
                <a:latin typeface="Arial" charset="0"/>
              </a:defRPr>
            </a:lvl3pPr>
            <a:lvl4pPr marL="1600200" indent="-228600" eaLnBrk="0" hangingPunct="0">
              <a:defRPr sz="2700">
                <a:solidFill>
                  <a:schemeClr val="tx1"/>
                </a:solidFill>
                <a:latin typeface="Arial" charset="0"/>
              </a:defRPr>
            </a:lvl4pPr>
            <a:lvl5pPr marL="2057400" indent="-228600" eaLnBrk="0" hangingPunct="0">
              <a:defRPr sz="2700">
                <a:solidFill>
                  <a:schemeClr val="tx1"/>
                </a:solidFill>
                <a:latin typeface="Arial" charset="0"/>
              </a:defRPr>
            </a:lvl5pPr>
            <a:lvl6pPr marL="2514600" indent="-228600" algn="ctr" eaLnBrk="0" fontAlgn="base" hangingPunct="0">
              <a:spcBef>
                <a:spcPct val="50000"/>
              </a:spcBef>
              <a:spcAft>
                <a:spcPct val="0"/>
              </a:spcAft>
              <a:defRPr sz="2700">
                <a:solidFill>
                  <a:schemeClr val="tx1"/>
                </a:solidFill>
                <a:latin typeface="Arial" charset="0"/>
              </a:defRPr>
            </a:lvl6pPr>
            <a:lvl7pPr marL="2971800" indent="-228600" algn="ctr" eaLnBrk="0" fontAlgn="base" hangingPunct="0">
              <a:spcBef>
                <a:spcPct val="50000"/>
              </a:spcBef>
              <a:spcAft>
                <a:spcPct val="0"/>
              </a:spcAft>
              <a:defRPr sz="2700">
                <a:solidFill>
                  <a:schemeClr val="tx1"/>
                </a:solidFill>
                <a:latin typeface="Arial" charset="0"/>
              </a:defRPr>
            </a:lvl7pPr>
            <a:lvl8pPr marL="3429000" indent="-228600" algn="ctr" eaLnBrk="0" fontAlgn="base" hangingPunct="0">
              <a:spcBef>
                <a:spcPct val="50000"/>
              </a:spcBef>
              <a:spcAft>
                <a:spcPct val="0"/>
              </a:spcAft>
              <a:defRPr sz="2700">
                <a:solidFill>
                  <a:schemeClr val="tx1"/>
                </a:solidFill>
                <a:latin typeface="Arial" charset="0"/>
              </a:defRPr>
            </a:lvl8pPr>
            <a:lvl9pPr marL="3886200" indent="-228600" algn="ctr" eaLnBrk="0" fontAlgn="base" hangingPunct="0">
              <a:spcBef>
                <a:spcPct val="50000"/>
              </a:spcBef>
              <a:spcAft>
                <a:spcPct val="0"/>
              </a:spcAft>
              <a:defRPr sz="2700">
                <a:solidFill>
                  <a:schemeClr val="tx1"/>
                </a:solidFill>
                <a:latin typeface="Arial" charset="0"/>
              </a:defRPr>
            </a:lvl9pPr>
          </a:lstStyle>
          <a:p>
            <a:pPr algn="ctr" eaLnBrk="1" hangingPunct="1">
              <a:defRPr/>
            </a:pPr>
            <a:endParaRPr lang="es-PE" altLang="es-PE" sz="1400">
              <a:latin typeface="Times New Roman" pitchFamily="18" charset="0"/>
            </a:endParaRPr>
          </a:p>
        </p:txBody>
      </p:sp>
      <p:sp>
        <p:nvSpPr>
          <p:cNvPr id="1034" name="Rectangle 14">
            <a:extLst>
              <a:ext uri="{FF2B5EF4-FFF2-40B4-BE49-F238E27FC236}">
                <a16:creationId xmlns:a16="http://schemas.microsoft.com/office/drawing/2014/main" id="{009F5C03-E714-865A-F748-21D7DEE5321E}"/>
              </a:ext>
            </a:extLst>
          </p:cNvPr>
          <p:cNvSpPr>
            <a:spLocks noChangeArrowheads="1"/>
          </p:cNvSpPr>
          <p:nvPr userDrawn="1"/>
        </p:nvSpPr>
        <p:spPr bwMode="auto">
          <a:xfrm>
            <a:off x="9551988" y="6500813"/>
            <a:ext cx="2540000" cy="457200"/>
          </a:xfrm>
          <a:prstGeom prst="rect">
            <a:avLst/>
          </a:prstGeom>
          <a:noFill/>
          <a:ln>
            <a:noFill/>
          </a:ln>
        </p:spPr>
        <p:txBody>
          <a:bodyPr/>
          <a:lstStyle>
            <a:lvl1pPr>
              <a:defRPr sz="2700">
                <a:solidFill>
                  <a:schemeClr val="tx1"/>
                </a:solidFill>
                <a:latin typeface="Arial" panose="020B0604020202020204" pitchFamily="34" charset="0"/>
              </a:defRPr>
            </a:lvl1pPr>
            <a:lvl2pPr marL="742950" indent="-285750">
              <a:defRPr sz="2700">
                <a:solidFill>
                  <a:schemeClr val="tx1"/>
                </a:solidFill>
                <a:latin typeface="Arial" panose="020B0604020202020204" pitchFamily="34" charset="0"/>
              </a:defRPr>
            </a:lvl2pPr>
            <a:lvl3pPr marL="1143000" indent="-228600">
              <a:defRPr sz="2700">
                <a:solidFill>
                  <a:schemeClr val="tx1"/>
                </a:solidFill>
                <a:latin typeface="Arial" panose="020B0604020202020204" pitchFamily="34" charset="0"/>
              </a:defRPr>
            </a:lvl3pPr>
            <a:lvl4pPr marL="1600200" indent="-228600">
              <a:defRPr sz="2700">
                <a:solidFill>
                  <a:schemeClr val="tx1"/>
                </a:solidFill>
                <a:latin typeface="Arial" panose="020B0604020202020204" pitchFamily="34" charset="0"/>
              </a:defRPr>
            </a:lvl4pPr>
            <a:lvl5pPr marL="2057400" indent="-228600">
              <a:defRPr sz="2700">
                <a:solidFill>
                  <a:schemeClr val="tx1"/>
                </a:solidFill>
                <a:latin typeface="Arial" panose="020B0604020202020204" pitchFamily="34" charset="0"/>
              </a:defRPr>
            </a:lvl5pPr>
            <a:lvl6pPr marL="2514600" indent="-228600" eaLnBrk="0" fontAlgn="base" hangingPunct="0">
              <a:spcBef>
                <a:spcPct val="0"/>
              </a:spcBef>
              <a:spcAft>
                <a:spcPct val="0"/>
              </a:spcAft>
              <a:defRPr sz="2700">
                <a:solidFill>
                  <a:schemeClr val="tx1"/>
                </a:solidFill>
                <a:latin typeface="Arial" panose="020B0604020202020204" pitchFamily="34" charset="0"/>
              </a:defRPr>
            </a:lvl6pPr>
            <a:lvl7pPr marL="2971800" indent="-228600" eaLnBrk="0" fontAlgn="base" hangingPunct="0">
              <a:spcBef>
                <a:spcPct val="0"/>
              </a:spcBef>
              <a:spcAft>
                <a:spcPct val="0"/>
              </a:spcAft>
              <a:defRPr sz="2700">
                <a:solidFill>
                  <a:schemeClr val="tx1"/>
                </a:solidFill>
                <a:latin typeface="Arial" panose="020B0604020202020204" pitchFamily="34" charset="0"/>
              </a:defRPr>
            </a:lvl7pPr>
            <a:lvl8pPr marL="3429000" indent="-228600" eaLnBrk="0" fontAlgn="base" hangingPunct="0">
              <a:spcBef>
                <a:spcPct val="0"/>
              </a:spcBef>
              <a:spcAft>
                <a:spcPct val="0"/>
              </a:spcAft>
              <a:defRPr sz="2700">
                <a:solidFill>
                  <a:schemeClr val="tx1"/>
                </a:solidFill>
                <a:latin typeface="Arial" panose="020B0604020202020204" pitchFamily="34" charset="0"/>
              </a:defRPr>
            </a:lvl8pPr>
            <a:lvl9pPr marL="3886200" indent="-228600" eaLnBrk="0" fontAlgn="base" hangingPunct="0">
              <a:spcBef>
                <a:spcPct val="0"/>
              </a:spcBef>
              <a:spcAft>
                <a:spcPct val="0"/>
              </a:spcAft>
              <a:defRPr sz="2700">
                <a:solidFill>
                  <a:schemeClr val="tx1"/>
                </a:solidFill>
                <a:latin typeface="Arial" panose="020B0604020202020204" pitchFamily="34" charset="0"/>
              </a:defRPr>
            </a:lvl9pPr>
          </a:lstStyle>
          <a:p>
            <a:pPr algn="r" eaLnBrk="1" hangingPunct="1">
              <a:defRPr/>
            </a:pPr>
            <a:fld id="{84C3497A-AAD9-4500-9884-4A009C3462C1}" type="slidenum">
              <a:rPr lang="es-ES" altLang="es-PE" sz="1600" smtClean="0">
                <a:latin typeface="Times New Roman" panose="02020603050405020304" pitchFamily="18" charset="0"/>
              </a:rPr>
              <a:pPr algn="r" eaLnBrk="1" hangingPunct="1">
                <a:defRPr/>
              </a:pPr>
              <a:t>‹Nº›</a:t>
            </a:fld>
            <a:endParaRPr lang="es-ES" altLang="es-PE" sz="16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4786" r:id="rId1"/>
    <p:sldLayoutId id="2147484787" r:id="rId2"/>
    <p:sldLayoutId id="2147484788" r:id="rId3"/>
    <p:sldLayoutId id="2147484789" r:id="rId4"/>
    <p:sldLayoutId id="2147484790" r:id="rId5"/>
    <p:sldLayoutId id="2147484791" r:id="rId6"/>
    <p:sldLayoutId id="2147484792" r:id="rId7"/>
    <p:sldLayoutId id="2147484793" r:id="rId8"/>
    <p:sldLayoutId id="2147484794" r:id="rId9"/>
    <p:sldLayoutId id="2147484795" r:id="rId10"/>
    <p:sldLayoutId id="2147484796" r:id="rId11"/>
    <p:sldLayoutId id="2147484797" r:id="rId12"/>
    <p:sldLayoutId id="2147484798" r:id="rId13"/>
    <p:sldLayoutId id="2147484799"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ítulo 8">
            <a:extLst>
              <a:ext uri="{FF2B5EF4-FFF2-40B4-BE49-F238E27FC236}">
                <a16:creationId xmlns:a16="http://schemas.microsoft.com/office/drawing/2014/main" id="{D636FE32-CE2F-57EC-85F4-3A6C36039A51}"/>
              </a:ext>
            </a:extLst>
          </p:cNvPr>
          <p:cNvSpPr>
            <a:spLocks noGrp="1" noChangeArrowheads="1"/>
          </p:cNvSpPr>
          <p:nvPr>
            <p:ph type="ctrTitle"/>
          </p:nvPr>
        </p:nvSpPr>
        <p:spPr>
          <a:xfrm>
            <a:off x="1565275" y="3933825"/>
            <a:ext cx="9499600" cy="1871663"/>
          </a:xfrm>
        </p:spPr>
        <p:txBody>
          <a:bodyPr/>
          <a:lstStyle/>
          <a:p>
            <a:pPr marL="111125">
              <a:spcBef>
                <a:spcPts val="475"/>
              </a:spcBef>
              <a:spcAft>
                <a:spcPct val="0"/>
              </a:spcAft>
              <a:tabLst>
                <a:tab pos="4813300" algn="l"/>
              </a:tabLst>
            </a:pPr>
            <a:r>
              <a:rPr lang="es-PE" altLang="es-PE" sz="2800" dirty="0"/>
              <a:t>UN MODELO MACROECONÓMICO y POLITICA MONETARIA</a:t>
            </a:r>
            <a:br>
              <a:rPr lang="es-PE" altLang="es-PE" sz="2800" dirty="0"/>
            </a:br>
            <a:r>
              <a:rPr lang="es-PE" altLang="es-PE" sz="2800" dirty="0"/>
              <a:t>(</a:t>
            </a:r>
            <a:r>
              <a:rPr lang="es-PE" altLang="es-PE" sz="2800" dirty="0" err="1"/>
              <a:t>Sesion</a:t>
            </a:r>
            <a:r>
              <a:rPr lang="es-PE" altLang="es-PE" sz="2800" dirty="0"/>
              <a:t> 8 Parte 1)</a:t>
            </a:r>
            <a:endParaRPr lang="es-ES_tradnl" altLang="es-PE" sz="2800" dirty="0"/>
          </a:p>
        </p:txBody>
      </p:sp>
      <p:sp>
        <p:nvSpPr>
          <p:cNvPr id="23555" name="CuadroTexto 11">
            <a:extLst>
              <a:ext uri="{FF2B5EF4-FFF2-40B4-BE49-F238E27FC236}">
                <a16:creationId xmlns:a16="http://schemas.microsoft.com/office/drawing/2014/main" id="{7DA61981-5D07-33C3-C340-C69FE2A30353}"/>
              </a:ext>
            </a:extLst>
          </p:cNvPr>
          <p:cNvSpPr txBox="1">
            <a:spLocks noChangeArrowheads="1"/>
          </p:cNvSpPr>
          <p:nvPr/>
        </p:nvSpPr>
        <p:spPr bwMode="auto">
          <a:xfrm>
            <a:off x="8585200" y="6026150"/>
            <a:ext cx="184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s-PE" altLang="es-PE">
              <a:latin typeface="Arial" panose="020B0604020202020204" pitchFamily="34" charset="0"/>
            </a:endParaRPr>
          </a:p>
        </p:txBody>
      </p:sp>
      <p:sp>
        <p:nvSpPr>
          <p:cNvPr id="2" name="TextBox 1">
            <a:extLst>
              <a:ext uri="{FF2B5EF4-FFF2-40B4-BE49-F238E27FC236}">
                <a16:creationId xmlns:a16="http://schemas.microsoft.com/office/drawing/2014/main" id="{D0A9C00E-790E-429A-15C8-0969C2C82C97}"/>
              </a:ext>
            </a:extLst>
          </p:cNvPr>
          <p:cNvSpPr txBox="1">
            <a:spLocks noChangeArrowheads="1"/>
          </p:cNvSpPr>
          <p:nvPr/>
        </p:nvSpPr>
        <p:spPr bwMode="auto">
          <a:xfrm>
            <a:off x="5338763" y="322263"/>
            <a:ext cx="6707187" cy="544512"/>
          </a:xfrm>
          <a:prstGeom prst="rect">
            <a:avLst/>
          </a:prstGeom>
          <a:noFill/>
          <a:ln>
            <a:noFill/>
          </a:ln>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s-ES_tradnl" altLang="es-PE" sz="1467" b="1" dirty="0">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algn="r" eaLnBrk="1" hangingPunct="1">
              <a:spcBef>
                <a:spcPct val="0"/>
              </a:spcBef>
              <a:buFontTx/>
              <a:buNone/>
              <a:defRPr/>
            </a:pPr>
            <a:r>
              <a:rPr lang="es-ES_tradnl" altLang="es-PE" sz="1467" b="1" dirty="0">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467" b="1" dirty="0">
              <a:latin typeface="Verdana" panose="020B0604030504040204" pitchFamily="34" charset="0"/>
              <a:ea typeface="Verdana" panose="020B0604030504040204" pitchFamily="34" charset="0"/>
              <a:cs typeface="Verdana" panose="020B0604030504040204" pitchFamily="34" charset="0"/>
            </a:endParaRPr>
          </a:p>
        </p:txBody>
      </p:sp>
      <p:sp>
        <p:nvSpPr>
          <p:cNvPr id="23557" name="Google Shape;102;p1">
            <a:extLst>
              <a:ext uri="{FF2B5EF4-FFF2-40B4-BE49-F238E27FC236}">
                <a16:creationId xmlns:a16="http://schemas.microsoft.com/office/drawing/2014/main" id="{B34FC58F-34D7-0A65-0105-6D8096E69B58}"/>
              </a:ext>
            </a:extLst>
          </p:cNvPr>
          <p:cNvSpPr txBox="1">
            <a:spLocks noChangeArrowheads="1"/>
          </p:cNvSpPr>
          <p:nvPr/>
        </p:nvSpPr>
        <p:spPr bwMode="auto">
          <a:xfrm>
            <a:off x="1565275" y="2133600"/>
            <a:ext cx="9334500"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62533" tIns="162533" rIns="162533" bIns="162533"/>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
                <a:srgbClr val="434343"/>
              </a:buClr>
              <a:buSzPts val="1800"/>
              <a:buFont typeface="Abril Fatface" panose="02000503000000020003" pitchFamily="2" charset="0"/>
              <a:buNone/>
            </a:pPr>
            <a:r>
              <a:rPr lang="es-ES" altLang="es-PE" sz="3600" b="1" dirty="0">
                <a:solidFill>
                  <a:srgbClr val="FF3A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TEORIA Y POLÍTICA MONETARIA</a:t>
            </a:r>
          </a:p>
        </p:txBody>
      </p:sp>
      <p:sp>
        <p:nvSpPr>
          <p:cNvPr id="23558" name="CuadroTexto 7">
            <a:extLst>
              <a:ext uri="{FF2B5EF4-FFF2-40B4-BE49-F238E27FC236}">
                <a16:creationId xmlns:a16="http://schemas.microsoft.com/office/drawing/2014/main" id="{893949AC-8FA8-3C5B-D923-2267E9759136}"/>
              </a:ext>
            </a:extLst>
          </p:cNvPr>
          <p:cNvSpPr txBox="1">
            <a:spLocks noChangeArrowheads="1"/>
          </p:cNvSpPr>
          <p:nvPr/>
        </p:nvSpPr>
        <p:spPr bwMode="auto">
          <a:xfrm>
            <a:off x="5232400" y="6240463"/>
            <a:ext cx="2311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s-PE" sz="1800">
                <a:solidFill>
                  <a:srgbClr val="FF3A00"/>
                </a:solidFill>
                <a:latin typeface="Arial" panose="020B0604020202020204" pitchFamily="34" charset="0"/>
              </a:rPr>
              <a:t>Metodología IATC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ítulo 1">
            <a:extLst>
              <a:ext uri="{FF2B5EF4-FFF2-40B4-BE49-F238E27FC236}">
                <a16:creationId xmlns:a16="http://schemas.microsoft.com/office/drawing/2014/main" id="{C5FD65A5-A944-1DE4-0140-9127C4CFADF6}"/>
              </a:ext>
            </a:extLst>
          </p:cNvPr>
          <p:cNvSpPr txBox="1">
            <a:spLocks/>
          </p:cNvSpPr>
          <p:nvPr/>
        </p:nvSpPr>
        <p:spPr bwMode="auto">
          <a:xfrm>
            <a:off x="1214438" y="2540000"/>
            <a:ext cx="98726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s-PE" altLang="es-PE" sz="4000" b="1">
                <a:solidFill>
                  <a:srgbClr val="FFFFFF"/>
                </a:solidFill>
                <a:latin typeface="Verdana" panose="020B0604030504040204" pitchFamily="34" charset="0"/>
                <a:ea typeface="Verdana" panose="020B0604030504040204" pitchFamily="34" charset="0"/>
                <a:cs typeface="Verdana" panose="020B0604030504040204" pitchFamily="34" charset="0"/>
              </a:rPr>
              <a:t>IMPACTO</a:t>
            </a:r>
            <a:endParaRPr lang="es-ES_tradnl" altLang="es-PE" sz="4000" b="1">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25603" name="TextBox 1">
            <a:extLst>
              <a:ext uri="{FF2B5EF4-FFF2-40B4-BE49-F238E27FC236}">
                <a16:creationId xmlns:a16="http://schemas.microsoft.com/office/drawing/2014/main" id="{93D4AA4A-305D-579B-7149-F0CD22939389}"/>
              </a:ext>
            </a:extLst>
          </p:cNvPr>
          <p:cNvSpPr txBox="1">
            <a:spLocks noChangeArrowheads="1"/>
          </p:cNvSpPr>
          <p:nvPr/>
        </p:nvSpPr>
        <p:spPr bwMode="auto">
          <a:xfrm>
            <a:off x="381000" y="487363"/>
            <a:ext cx="503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20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Google Shape;109;p2">
            <a:extLst>
              <a:ext uri="{FF2B5EF4-FFF2-40B4-BE49-F238E27FC236}">
                <a16:creationId xmlns:a16="http://schemas.microsoft.com/office/drawing/2014/main" id="{441B2428-334A-ED74-4B92-22EBA5B74C7D}"/>
              </a:ext>
            </a:extLst>
          </p:cNvPr>
          <p:cNvSpPr>
            <a:spLocks noGrp="1" noChangeArrowheads="1"/>
          </p:cNvSpPr>
          <p:nvPr>
            <p:ph type="ctrTitle"/>
          </p:nvPr>
        </p:nvSpPr>
        <p:spPr>
          <a:xfrm>
            <a:off x="192088" y="917575"/>
            <a:ext cx="11369675" cy="1039813"/>
          </a:xfrm>
        </p:spPr>
        <p:txBody>
          <a:bodyPr lIns="162533" tIns="162533" rIns="162533" bIns="162533"/>
          <a:lstStyle/>
          <a:p>
            <a:pPr algn="l">
              <a:spcBef>
                <a:spcPct val="0"/>
              </a:spcBef>
              <a:spcAft>
                <a:spcPct val="0"/>
              </a:spcAft>
            </a:pPr>
            <a:r>
              <a:rPr lang="es-ES" altLang="es-PE" sz="4400">
                <a:solidFill>
                  <a:srgbClr val="FFC000"/>
                </a:solidFill>
              </a:rPr>
              <a:t>Logro de aprendizaje: </a:t>
            </a:r>
            <a:endParaRPr lang="es-PE" altLang="es-PE" sz="4400"/>
          </a:p>
        </p:txBody>
      </p:sp>
      <p:sp>
        <p:nvSpPr>
          <p:cNvPr id="26627" name="CuadroTexto 9">
            <a:extLst>
              <a:ext uri="{FF2B5EF4-FFF2-40B4-BE49-F238E27FC236}">
                <a16:creationId xmlns:a16="http://schemas.microsoft.com/office/drawing/2014/main" id="{9E549DB2-2BBD-83CC-ADFC-19910204C54A}"/>
              </a:ext>
            </a:extLst>
          </p:cNvPr>
          <p:cNvSpPr txBox="1">
            <a:spLocks noChangeArrowheads="1"/>
          </p:cNvSpPr>
          <p:nvPr/>
        </p:nvSpPr>
        <p:spPr bwMode="auto">
          <a:xfrm>
            <a:off x="1084263" y="2276475"/>
            <a:ext cx="104775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buFontTx/>
              <a:buNone/>
            </a:pPr>
            <a:r>
              <a:rPr lang="es-PE" altLang="es-PE" sz="2800" dirty="0">
                <a:latin typeface="Arial" panose="020B0604020202020204" pitchFamily="34" charset="0"/>
              </a:rPr>
              <a:t>Comprender el funcionamiento de un modelo macroeconómico sencillo de OA y DA</a:t>
            </a:r>
            <a:endParaRPr lang="es-PE" altLang="es-PE" sz="280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Google Shape;114;p3">
            <a:extLst>
              <a:ext uri="{FF2B5EF4-FFF2-40B4-BE49-F238E27FC236}">
                <a16:creationId xmlns:a16="http://schemas.microsoft.com/office/drawing/2014/main" id="{69230216-EEF9-C908-DF10-7D791CBFD031}"/>
              </a:ext>
            </a:extLst>
          </p:cNvPr>
          <p:cNvSpPr>
            <a:spLocks noGrp="1" noChangeArrowheads="1"/>
          </p:cNvSpPr>
          <p:nvPr>
            <p:ph type="ctrTitle"/>
          </p:nvPr>
        </p:nvSpPr>
        <p:spPr>
          <a:xfrm>
            <a:off x="125413" y="908050"/>
            <a:ext cx="11941175" cy="1008063"/>
          </a:xfrm>
        </p:spPr>
        <p:txBody>
          <a:bodyPr lIns="162533" tIns="162533" rIns="162533" bIns="162533"/>
          <a:lstStyle/>
          <a:p>
            <a:pPr>
              <a:spcBef>
                <a:spcPct val="0"/>
              </a:spcBef>
              <a:spcAft>
                <a:spcPct val="0"/>
              </a:spcAft>
            </a:pPr>
            <a:r>
              <a:rPr lang="es-ES" altLang="es-PE" sz="4000">
                <a:solidFill>
                  <a:srgbClr val="000000"/>
                </a:solidFill>
              </a:rPr>
              <a:t>CONTENIDO DETALLADO</a:t>
            </a:r>
            <a:endParaRPr lang="es-PE" altLang="es-PE" sz="4000">
              <a:solidFill>
                <a:srgbClr val="000000"/>
              </a:solidFill>
            </a:endParaRPr>
          </a:p>
        </p:txBody>
      </p:sp>
      <p:sp>
        <p:nvSpPr>
          <p:cNvPr id="27651" name="CuadroTexto 7">
            <a:extLst>
              <a:ext uri="{FF2B5EF4-FFF2-40B4-BE49-F238E27FC236}">
                <a16:creationId xmlns:a16="http://schemas.microsoft.com/office/drawing/2014/main" id="{844F6952-3716-E8B9-DD47-D29D7E424C28}"/>
              </a:ext>
            </a:extLst>
          </p:cNvPr>
          <p:cNvSpPr txBox="1">
            <a:spLocks noChangeArrowheads="1"/>
          </p:cNvSpPr>
          <p:nvPr/>
        </p:nvSpPr>
        <p:spPr bwMode="auto">
          <a:xfrm>
            <a:off x="2279650" y="2060575"/>
            <a:ext cx="8202613" cy="1574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ts val="600"/>
              </a:spcBef>
            </a:pPr>
            <a:r>
              <a:rPr lang="es-ES" altLang="es-PE" sz="2000" b="1" dirty="0">
                <a:latin typeface="Arial" panose="020B0604020202020204" pitchFamily="34" charset="0"/>
                <a:cs typeface="Arial" panose="020B0604020202020204" pitchFamily="34" charset="0"/>
              </a:rPr>
              <a:t>La función de Oferta Agregada: La OA</a:t>
            </a:r>
          </a:p>
          <a:p>
            <a:pPr>
              <a:lnSpc>
                <a:spcPct val="150000"/>
              </a:lnSpc>
              <a:spcBef>
                <a:spcPts val="600"/>
              </a:spcBef>
            </a:pPr>
            <a:r>
              <a:rPr lang="es-ES" altLang="es-PE" sz="2000" b="1" dirty="0">
                <a:latin typeface="Arial" panose="020B0604020202020204" pitchFamily="34" charset="0"/>
                <a:cs typeface="Arial" panose="020B0604020202020204" pitchFamily="34" charset="0"/>
              </a:rPr>
              <a:t>La función de demanda agregada: La DA</a:t>
            </a:r>
          </a:p>
          <a:p>
            <a:pPr>
              <a:lnSpc>
                <a:spcPct val="150000"/>
              </a:lnSpc>
              <a:spcBef>
                <a:spcPts val="600"/>
              </a:spcBef>
            </a:pPr>
            <a:r>
              <a:rPr lang="es-ES" altLang="es-PE" sz="2000" b="1" dirty="0">
                <a:latin typeface="Arial" panose="020B0604020202020204" pitchFamily="34" charset="0"/>
                <a:cs typeface="Arial" panose="020B0604020202020204" pitchFamily="34" charset="0"/>
              </a:rPr>
              <a:t>Políticas macroeconómicas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Imagen 3">
            <a:extLst>
              <a:ext uri="{FF2B5EF4-FFF2-40B4-BE49-F238E27FC236}">
                <a16:creationId xmlns:a16="http://schemas.microsoft.com/office/drawing/2014/main" id="{8DB7415C-F955-E63A-E0AE-0E13DFE32A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609600"/>
            <a:ext cx="4648200"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3">
            <a:extLst>
              <a:ext uri="{FF2B5EF4-FFF2-40B4-BE49-F238E27FC236}">
                <a16:creationId xmlns:a16="http://schemas.microsoft.com/office/drawing/2014/main" id="{9F1ABFF8-B15E-AF72-710B-F7738ADA8065}"/>
              </a:ext>
            </a:extLst>
          </p:cNvPr>
          <p:cNvSpPr txBox="1">
            <a:spLocks noChangeArrowheads="1"/>
          </p:cNvSpPr>
          <p:nvPr/>
        </p:nvSpPr>
        <p:spPr bwMode="auto">
          <a:xfrm>
            <a:off x="811213" y="2101850"/>
            <a:ext cx="107743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FontTx/>
              <a:buNone/>
            </a:pPr>
            <a:r>
              <a:rPr lang="es-PE" altLang="es-PE" sz="2000" dirty="0">
                <a:latin typeface="Verdana" panose="020B0604030504040204" pitchFamily="34" charset="0"/>
                <a:ea typeface="Verdana" panose="020B0604030504040204" pitchFamily="34" charset="0"/>
                <a:cs typeface="Arial" panose="020B0604020202020204" pitchFamily="34" charset="0"/>
              </a:rPr>
              <a:t>De Gregorio Macroeconomía (7a ed.):</a:t>
            </a:r>
          </a:p>
          <a:p>
            <a:pPr>
              <a:lnSpc>
                <a:spcPct val="150000"/>
              </a:lnSpc>
              <a:spcBef>
                <a:spcPct val="0"/>
              </a:spcBef>
              <a:buFontTx/>
              <a:buNone/>
            </a:pPr>
            <a:r>
              <a:rPr lang="es-PE" altLang="es-PE" sz="2000" dirty="0">
                <a:latin typeface="Verdana" panose="020B0604030504040204" pitchFamily="34" charset="0"/>
                <a:ea typeface="Verdana" panose="020B0604030504040204" pitchFamily="34" charset="0"/>
                <a:cs typeface="Arial" panose="020B0604020202020204" pitchFamily="34" charset="0"/>
              </a:rPr>
              <a:t> </a:t>
            </a:r>
            <a:r>
              <a:rPr lang="es-PE" altLang="es-PE" sz="2000" u="sng" dirty="0">
                <a:latin typeface="Verdana" panose="020B0604030504040204" pitchFamily="34" charset="0"/>
                <a:ea typeface="Verdana" panose="020B0604030504040204" pitchFamily="34" charset="0"/>
                <a:cs typeface="Arial" panose="020B0604020202020204" pitchFamily="34" charset="0"/>
              </a:rPr>
              <a:t>Capitulo 18</a:t>
            </a:r>
            <a:r>
              <a:rPr lang="es-PE" altLang="es-PE" sz="2000" dirty="0">
                <a:latin typeface="Verdana" panose="020B0604030504040204" pitchFamily="34" charset="0"/>
                <a:ea typeface="Verdana" panose="020B0604030504040204" pitchFamily="34" charset="0"/>
                <a:cs typeface="Arial" panose="020B0604020202020204" pitchFamily="34" charset="0"/>
              </a:rPr>
              <a:t>:</a:t>
            </a:r>
          </a:p>
        </p:txBody>
      </p:sp>
      <p:sp>
        <p:nvSpPr>
          <p:cNvPr id="31747" name="Google Shape;109;p2">
            <a:extLst>
              <a:ext uri="{FF2B5EF4-FFF2-40B4-BE49-F238E27FC236}">
                <a16:creationId xmlns:a16="http://schemas.microsoft.com/office/drawing/2014/main" id="{8C578319-AA16-0129-4104-9AB255C401F9}"/>
              </a:ext>
            </a:extLst>
          </p:cNvPr>
          <p:cNvSpPr txBox="1">
            <a:spLocks noChangeArrowheads="1"/>
          </p:cNvSpPr>
          <p:nvPr/>
        </p:nvSpPr>
        <p:spPr bwMode="auto">
          <a:xfrm>
            <a:off x="811213" y="987425"/>
            <a:ext cx="737552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00" tIns="121900" rIns="121900" bIns="12190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434343"/>
              </a:buClr>
              <a:buSzPts val="2800"/>
              <a:buFontTx/>
              <a:buNone/>
            </a:pPr>
            <a:r>
              <a:rPr lang="es-ES" altLang="es-PE" sz="3300" b="1">
                <a:solidFill>
                  <a:srgbClr val="FFC000"/>
                </a:solidFill>
                <a:latin typeface="Verdana" panose="020B0604030504040204" pitchFamily="34" charset="0"/>
                <a:ea typeface="Verdana" panose="020B0604030504040204" pitchFamily="34" charset="0"/>
                <a:cs typeface="Verdana" panose="020B0604030504040204" pitchFamily="34" charset="0"/>
              </a:rPr>
              <a:t>Fuente: </a:t>
            </a:r>
            <a:endParaRPr lang="es-PE" altLang="es-PE" sz="3300" b="1">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ítulo 1">
            <a:extLst>
              <a:ext uri="{FF2B5EF4-FFF2-40B4-BE49-F238E27FC236}">
                <a16:creationId xmlns:a16="http://schemas.microsoft.com/office/drawing/2014/main" id="{9C67035B-6CFC-86C9-ABD8-0C66C66A23A9}"/>
              </a:ext>
            </a:extLst>
          </p:cNvPr>
          <p:cNvSpPr txBox="1">
            <a:spLocks/>
          </p:cNvSpPr>
          <p:nvPr/>
        </p:nvSpPr>
        <p:spPr bwMode="auto">
          <a:xfrm>
            <a:off x="1214438" y="2540000"/>
            <a:ext cx="98726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s-PE" altLang="es-PE" sz="4000" b="1">
                <a:solidFill>
                  <a:srgbClr val="FFFFFF"/>
                </a:solidFill>
                <a:latin typeface="Verdana" panose="020B0604030504040204" pitchFamily="34" charset="0"/>
                <a:ea typeface="Verdana" panose="020B0604030504040204" pitchFamily="34" charset="0"/>
                <a:cs typeface="Verdana" panose="020B0604030504040204" pitchFamily="34" charset="0"/>
              </a:rPr>
              <a:t>ADQUISICIÓN</a:t>
            </a:r>
            <a:endParaRPr lang="es-ES_tradnl" altLang="es-PE" sz="4000" b="1">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29699" name="TextBox 1">
            <a:extLst>
              <a:ext uri="{FF2B5EF4-FFF2-40B4-BE49-F238E27FC236}">
                <a16:creationId xmlns:a16="http://schemas.microsoft.com/office/drawing/2014/main" id="{C123216A-4D32-BC24-2468-19BEE74F33E5}"/>
              </a:ext>
            </a:extLst>
          </p:cNvPr>
          <p:cNvSpPr txBox="1">
            <a:spLocks noChangeArrowheads="1"/>
          </p:cNvSpPr>
          <p:nvPr/>
        </p:nvSpPr>
        <p:spPr bwMode="auto">
          <a:xfrm>
            <a:off x="381000" y="487363"/>
            <a:ext cx="503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20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4094C-C2A1-09FE-CA95-187F31D9EE6E}"/>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D9A70ACC-08E3-41DC-889D-0FF0B9CC0D6E}"/>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32771" name="Marcador de contenido 2">
            <a:extLst>
              <a:ext uri="{FF2B5EF4-FFF2-40B4-BE49-F238E27FC236}">
                <a16:creationId xmlns:a16="http://schemas.microsoft.com/office/drawing/2014/main" id="{A0B42846-3C22-E0B6-34FA-770E23635430}"/>
              </a:ext>
            </a:extLst>
          </p:cNvPr>
          <p:cNvSpPr>
            <a:spLocks noGrp="1" noChangeArrowheads="1"/>
          </p:cNvSpPr>
          <p:nvPr>
            <p:ph idx="1"/>
          </p:nvPr>
        </p:nvSpPr>
        <p:spPr>
          <a:xfrm>
            <a:off x="407368" y="1143036"/>
            <a:ext cx="11161240" cy="5166284"/>
          </a:xfrm>
        </p:spPr>
        <p:txBody>
          <a:bodyPr/>
          <a:lstStyle/>
          <a:p>
            <a:pPr>
              <a:lnSpc>
                <a:spcPct val="150000"/>
              </a:lnSpc>
            </a:pPr>
            <a:r>
              <a:rPr lang="es-PE" dirty="0"/>
              <a:t>El mercado del trabajo</a:t>
            </a:r>
            <a:endParaRPr lang="es-PE" altLang="es-PE" sz="2400" dirty="0"/>
          </a:p>
        </p:txBody>
      </p:sp>
      <p:sp>
        <p:nvSpPr>
          <p:cNvPr id="4" name="Rectángulo 3">
            <a:extLst>
              <a:ext uri="{FF2B5EF4-FFF2-40B4-BE49-F238E27FC236}">
                <a16:creationId xmlns:a16="http://schemas.microsoft.com/office/drawing/2014/main" id="{240D60DC-5E92-97F5-B02A-D9DA2C0EEBEB}"/>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pic>
        <p:nvPicPr>
          <p:cNvPr id="3" name="Imagen 2">
            <a:extLst>
              <a:ext uri="{FF2B5EF4-FFF2-40B4-BE49-F238E27FC236}">
                <a16:creationId xmlns:a16="http://schemas.microsoft.com/office/drawing/2014/main" id="{B65133A9-2ED5-FE1C-76F3-EE5411345503}"/>
              </a:ext>
            </a:extLst>
          </p:cNvPr>
          <p:cNvPicPr>
            <a:picLocks noChangeAspect="1"/>
          </p:cNvPicPr>
          <p:nvPr/>
        </p:nvPicPr>
        <p:blipFill>
          <a:blip r:embed="rId2"/>
          <a:stretch>
            <a:fillRect/>
          </a:stretch>
        </p:blipFill>
        <p:spPr>
          <a:xfrm>
            <a:off x="6528048" y="1934942"/>
            <a:ext cx="4822641" cy="4066148"/>
          </a:xfrm>
          <a:prstGeom prst="rect">
            <a:avLst/>
          </a:prstGeom>
        </p:spPr>
      </p:pic>
      <p:pic>
        <p:nvPicPr>
          <p:cNvPr id="8" name="Imagen 7">
            <a:extLst>
              <a:ext uri="{FF2B5EF4-FFF2-40B4-BE49-F238E27FC236}">
                <a16:creationId xmlns:a16="http://schemas.microsoft.com/office/drawing/2014/main" id="{BE4897D2-7086-57AB-73CD-55FBBAB7170E}"/>
              </a:ext>
            </a:extLst>
          </p:cNvPr>
          <p:cNvPicPr>
            <a:picLocks noChangeAspect="1"/>
          </p:cNvPicPr>
          <p:nvPr/>
        </p:nvPicPr>
        <p:blipFill>
          <a:blip r:embed="rId3"/>
          <a:srcRect b="86814"/>
          <a:stretch>
            <a:fillRect/>
          </a:stretch>
        </p:blipFill>
        <p:spPr>
          <a:xfrm>
            <a:off x="23459" y="2255417"/>
            <a:ext cx="5136437" cy="611727"/>
          </a:xfrm>
          <a:prstGeom prst="rect">
            <a:avLst/>
          </a:prstGeom>
        </p:spPr>
      </p:pic>
      <p:pic>
        <p:nvPicPr>
          <p:cNvPr id="10" name="Imagen 9">
            <a:extLst>
              <a:ext uri="{FF2B5EF4-FFF2-40B4-BE49-F238E27FC236}">
                <a16:creationId xmlns:a16="http://schemas.microsoft.com/office/drawing/2014/main" id="{D3D85319-AC08-9664-4BAE-D63337CCAEC8}"/>
              </a:ext>
            </a:extLst>
          </p:cNvPr>
          <p:cNvPicPr>
            <a:picLocks noChangeAspect="1"/>
          </p:cNvPicPr>
          <p:nvPr/>
        </p:nvPicPr>
        <p:blipFill>
          <a:blip r:embed="rId3"/>
          <a:srcRect t="86815"/>
          <a:stretch>
            <a:fillRect/>
          </a:stretch>
        </p:blipFill>
        <p:spPr>
          <a:xfrm>
            <a:off x="639022" y="3208318"/>
            <a:ext cx="4832650" cy="575547"/>
          </a:xfrm>
          <a:prstGeom prst="rect">
            <a:avLst/>
          </a:prstGeom>
        </p:spPr>
      </p:pic>
      <p:pic>
        <p:nvPicPr>
          <p:cNvPr id="12" name="Imagen 11">
            <a:extLst>
              <a:ext uri="{FF2B5EF4-FFF2-40B4-BE49-F238E27FC236}">
                <a16:creationId xmlns:a16="http://schemas.microsoft.com/office/drawing/2014/main" id="{722C2D66-34BF-6E7A-2FEC-3C1132721484}"/>
              </a:ext>
            </a:extLst>
          </p:cNvPr>
          <p:cNvPicPr>
            <a:picLocks noChangeAspect="1"/>
          </p:cNvPicPr>
          <p:nvPr/>
        </p:nvPicPr>
        <p:blipFill>
          <a:blip r:embed="rId4"/>
          <a:stretch>
            <a:fillRect/>
          </a:stretch>
        </p:blipFill>
        <p:spPr>
          <a:xfrm>
            <a:off x="1415480" y="4098355"/>
            <a:ext cx="2826574" cy="893986"/>
          </a:xfrm>
          <a:prstGeom prst="rect">
            <a:avLst/>
          </a:prstGeom>
        </p:spPr>
      </p:pic>
    </p:spTree>
    <p:extLst>
      <p:ext uri="{BB962C8B-B14F-4D97-AF65-F5344CB8AC3E}">
        <p14:creationId xmlns:p14="http://schemas.microsoft.com/office/powerpoint/2010/main" val="348450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7693A-7961-40C5-57CF-78FF9548FE34}"/>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20697AA2-6273-5A1F-B72A-C22488AEE845}"/>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32771" name="Marcador de contenido 2">
            <a:extLst>
              <a:ext uri="{FF2B5EF4-FFF2-40B4-BE49-F238E27FC236}">
                <a16:creationId xmlns:a16="http://schemas.microsoft.com/office/drawing/2014/main" id="{8CC05AD7-0A3B-0D0A-1D99-0374FC0C1AB6}"/>
              </a:ext>
            </a:extLst>
          </p:cNvPr>
          <p:cNvSpPr>
            <a:spLocks noGrp="1" noChangeArrowheads="1"/>
          </p:cNvSpPr>
          <p:nvPr>
            <p:ph idx="1"/>
          </p:nvPr>
        </p:nvSpPr>
        <p:spPr>
          <a:xfrm>
            <a:off x="407368" y="1143036"/>
            <a:ext cx="11161240" cy="5166284"/>
          </a:xfrm>
        </p:spPr>
        <p:txBody>
          <a:bodyPr/>
          <a:lstStyle/>
          <a:p>
            <a:pPr>
              <a:lnSpc>
                <a:spcPct val="150000"/>
              </a:lnSpc>
            </a:pPr>
            <a:r>
              <a:rPr lang="es-PE" sz="2400" dirty="0"/>
              <a:t>Mercado del trabajo competitivo</a:t>
            </a:r>
            <a:endParaRPr lang="es-PE" altLang="es-PE" sz="2400" dirty="0"/>
          </a:p>
        </p:txBody>
      </p:sp>
      <p:sp>
        <p:nvSpPr>
          <p:cNvPr id="4" name="Rectángulo 3">
            <a:extLst>
              <a:ext uri="{FF2B5EF4-FFF2-40B4-BE49-F238E27FC236}">
                <a16:creationId xmlns:a16="http://schemas.microsoft.com/office/drawing/2014/main" id="{EBE1F369-8574-F6C2-5104-BB64A1F2EFFC}"/>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pic>
        <p:nvPicPr>
          <p:cNvPr id="3" name="Imagen 2">
            <a:extLst>
              <a:ext uri="{FF2B5EF4-FFF2-40B4-BE49-F238E27FC236}">
                <a16:creationId xmlns:a16="http://schemas.microsoft.com/office/drawing/2014/main" id="{24138740-74B9-33F4-30B2-C2CA5E880D61}"/>
              </a:ext>
            </a:extLst>
          </p:cNvPr>
          <p:cNvPicPr>
            <a:picLocks noChangeAspect="1"/>
          </p:cNvPicPr>
          <p:nvPr/>
        </p:nvPicPr>
        <p:blipFill>
          <a:blip r:embed="rId2"/>
          <a:stretch>
            <a:fillRect/>
          </a:stretch>
        </p:blipFill>
        <p:spPr>
          <a:xfrm>
            <a:off x="6528048" y="1934942"/>
            <a:ext cx="4822641" cy="4066148"/>
          </a:xfrm>
          <a:prstGeom prst="rect">
            <a:avLst/>
          </a:prstGeom>
        </p:spPr>
      </p:pic>
      <p:pic>
        <p:nvPicPr>
          <p:cNvPr id="6" name="Imagen 5">
            <a:extLst>
              <a:ext uri="{FF2B5EF4-FFF2-40B4-BE49-F238E27FC236}">
                <a16:creationId xmlns:a16="http://schemas.microsoft.com/office/drawing/2014/main" id="{A96C05ED-E5D1-86B4-C146-F1821D34CC35}"/>
              </a:ext>
            </a:extLst>
          </p:cNvPr>
          <p:cNvPicPr>
            <a:picLocks noChangeAspect="1"/>
          </p:cNvPicPr>
          <p:nvPr/>
        </p:nvPicPr>
        <p:blipFill>
          <a:blip r:embed="rId3"/>
          <a:stretch>
            <a:fillRect/>
          </a:stretch>
        </p:blipFill>
        <p:spPr>
          <a:xfrm>
            <a:off x="1631504" y="2636912"/>
            <a:ext cx="2719957" cy="1891543"/>
          </a:xfrm>
          <a:prstGeom prst="rect">
            <a:avLst/>
          </a:prstGeom>
        </p:spPr>
      </p:pic>
    </p:spTree>
    <p:extLst>
      <p:ext uri="{BB962C8B-B14F-4D97-AF65-F5344CB8AC3E}">
        <p14:creationId xmlns:p14="http://schemas.microsoft.com/office/powerpoint/2010/main" val="2779435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83555-70C4-656E-5A58-FA705AE94A94}"/>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C799A256-287F-8633-179A-395B025EEBE6}"/>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32771" name="Marcador de contenido 2">
            <a:extLst>
              <a:ext uri="{FF2B5EF4-FFF2-40B4-BE49-F238E27FC236}">
                <a16:creationId xmlns:a16="http://schemas.microsoft.com/office/drawing/2014/main" id="{4E214172-F93C-71A2-75EC-F828AE4E3F42}"/>
              </a:ext>
            </a:extLst>
          </p:cNvPr>
          <p:cNvSpPr>
            <a:spLocks noGrp="1" noChangeArrowheads="1"/>
          </p:cNvSpPr>
          <p:nvPr>
            <p:ph idx="1"/>
          </p:nvPr>
        </p:nvSpPr>
        <p:spPr>
          <a:xfrm>
            <a:off x="407368" y="1143036"/>
            <a:ext cx="11161240" cy="5166284"/>
          </a:xfrm>
        </p:spPr>
        <p:txBody>
          <a:bodyPr/>
          <a:lstStyle/>
          <a:p>
            <a:pPr>
              <a:lnSpc>
                <a:spcPct val="150000"/>
              </a:lnSpc>
            </a:pPr>
            <a:r>
              <a:rPr lang="es-PE" sz="2400" dirty="0"/>
              <a:t>Mercado del trabajo competitivo</a:t>
            </a:r>
            <a:endParaRPr lang="es-PE" altLang="es-PE" sz="2400" dirty="0"/>
          </a:p>
        </p:txBody>
      </p:sp>
      <p:sp>
        <p:nvSpPr>
          <p:cNvPr id="4" name="Rectángulo 3">
            <a:extLst>
              <a:ext uri="{FF2B5EF4-FFF2-40B4-BE49-F238E27FC236}">
                <a16:creationId xmlns:a16="http://schemas.microsoft.com/office/drawing/2014/main" id="{3BCF3099-A6C4-EF50-C580-C1F281C26288}"/>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pic>
        <p:nvPicPr>
          <p:cNvPr id="5" name="Imagen 4">
            <a:extLst>
              <a:ext uri="{FF2B5EF4-FFF2-40B4-BE49-F238E27FC236}">
                <a16:creationId xmlns:a16="http://schemas.microsoft.com/office/drawing/2014/main" id="{380D7312-6E09-65A9-C7B6-516C47C3B411}"/>
              </a:ext>
            </a:extLst>
          </p:cNvPr>
          <p:cNvPicPr>
            <a:picLocks noChangeAspect="1"/>
          </p:cNvPicPr>
          <p:nvPr/>
        </p:nvPicPr>
        <p:blipFill>
          <a:blip r:embed="rId2"/>
          <a:stretch>
            <a:fillRect/>
          </a:stretch>
        </p:blipFill>
        <p:spPr>
          <a:xfrm>
            <a:off x="5291829" y="2204864"/>
            <a:ext cx="6492803" cy="3635055"/>
          </a:xfrm>
          <a:prstGeom prst="rect">
            <a:avLst/>
          </a:prstGeom>
        </p:spPr>
      </p:pic>
    </p:spTree>
    <p:extLst>
      <p:ext uri="{BB962C8B-B14F-4D97-AF65-F5344CB8AC3E}">
        <p14:creationId xmlns:p14="http://schemas.microsoft.com/office/powerpoint/2010/main" val="416594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7C0A7-0C5F-3BFE-602A-32408AE1E275}"/>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354DFB8E-7B46-9B59-28C8-69F83EBC386B}"/>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32771" name="Marcador de contenido 2">
            <a:extLst>
              <a:ext uri="{FF2B5EF4-FFF2-40B4-BE49-F238E27FC236}">
                <a16:creationId xmlns:a16="http://schemas.microsoft.com/office/drawing/2014/main" id="{6884AFBB-1CB0-D673-BB53-92AE68463D40}"/>
              </a:ext>
            </a:extLst>
          </p:cNvPr>
          <p:cNvSpPr>
            <a:spLocks noGrp="1" noChangeArrowheads="1"/>
          </p:cNvSpPr>
          <p:nvPr>
            <p:ph idx="1"/>
          </p:nvPr>
        </p:nvSpPr>
        <p:spPr>
          <a:xfrm>
            <a:off x="263352" y="901041"/>
            <a:ext cx="5904656" cy="5711025"/>
          </a:xfrm>
        </p:spPr>
        <p:txBody>
          <a:bodyPr/>
          <a:lstStyle/>
          <a:p>
            <a:pPr marL="0" indent="0">
              <a:lnSpc>
                <a:spcPct val="150000"/>
              </a:lnSpc>
              <a:buNone/>
            </a:pPr>
            <a:r>
              <a:rPr lang="es-PE" sz="2000" b="1" dirty="0"/>
              <a:t>Desempleo: Rigideces reales</a:t>
            </a:r>
          </a:p>
          <a:p>
            <a:pPr>
              <a:lnSpc>
                <a:spcPct val="150000"/>
              </a:lnSpc>
            </a:pPr>
            <a:r>
              <a:rPr lang="es-ES" sz="2000" dirty="0"/>
              <a:t>Una economía sin rigideces no es capaz de explicar fluctuaciones del producto alrededor del pleno empleo, sino solo movimientos del propio producto de pleno empleo (todo el desempleo que se produciría sería voluntario).</a:t>
            </a:r>
          </a:p>
          <a:p>
            <a:pPr>
              <a:lnSpc>
                <a:spcPct val="150000"/>
              </a:lnSpc>
            </a:pPr>
            <a:r>
              <a:rPr lang="es-ES" sz="2000" dirty="0"/>
              <a:t>En la realidad, se observa que hay gente que quiere trabajar, pero que no puede hacerlo: es decir hay desempleo involuntario.</a:t>
            </a:r>
          </a:p>
          <a:p>
            <a:pPr>
              <a:lnSpc>
                <a:spcPct val="150000"/>
              </a:lnSpc>
            </a:pPr>
            <a:r>
              <a:rPr lang="es-ES" sz="2000" dirty="0"/>
              <a:t>Una forma de introducir esta situación en el modelo de mercado del trabajo competitivo es introducir una rigidez al salario real.</a:t>
            </a:r>
            <a:endParaRPr lang="es-PE" altLang="es-PE" sz="2000" dirty="0"/>
          </a:p>
        </p:txBody>
      </p:sp>
      <p:sp>
        <p:nvSpPr>
          <p:cNvPr id="4" name="Rectángulo 3">
            <a:extLst>
              <a:ext uri="{FF2B5EF4-FFF2-40B4-BE49-F238E27FC236}">
                <a16:creationId xmlns:a16="http://schemas.microsoft.com/office/drawing/2014/main" id="{B4ACFD5B-5037-1C3A-3189-E32A1E244666}"/>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pic>
        <p:nvPicPr>
          <p:cNvPr id="3" name="Imagen 2">
            <a:extLst>
              <a:ext uri="{FF2B5EF4-FFF2-40B4-BE49-F238E27FC236}">
                <a16:creationId xmlns:a16="http://schemas.microsoft.com/office/drawing/2014/main" id="{BFED1E8F-4A6F-626A-85CF-D5CB984F6D15}"/>
              </a:ext>
            </a:extLst>
          </p:cNvPr>
          <p:cNvPicPr>
            <a:picLocks noChangeAspect="1"/>
          </p:cNvPicPr>
          <p:nvPr/>
        </p:nvPicPr>
        <p:blipFill>
          <a:blip r:embed="rId2"/>
          <a:stretch>
            <a:fillRect/>
          </a:stretch>
        </p:blipFill>
        <p:spPr>
          <a:xfrm>
            <a:off x="6746825" y="1556792"/>
            <a:ext cx="5041310" cy="4527841"/>
          </a:xfrm>
          <a:prstGeom prst="rect">
            <a:avLst/>
          </a:prstGeom>
        </p:spPr>
      </p:pic>
    </p:spTree>
    <p:extLst>
      <p:ext uri="{BB962C8B-B14F-4D97-AF65-F5344CB8AC3E}">
        <p14:creationId xmlns:p14="http://schemas.microsoft.com/office/powerpoint/2010/main" val="959784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946CE-4F1B-E4BD-61EF-6028B880A16E}"/>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86307A0B-4DEC-818F-8ABC-992BC766466F}"/>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32771" name="Marcador de contenido 2">
            <a:extLst>
              <a:ext uri="{FF2B5EF4-FFF2-40B4-BE49-F238E27FC236}">
                <a16:creationId xmlns:a16="http://schemas.microsoft.com/office/drawing/2014/main" id="{A4357244-168A-7141-DA27-27E15DE51543}"/>
              </a:ext>
            </a:extLst>
          </p:cNvPr>
          <p:cNvSpPr>
            <a:spLocks noGrp="1" noChangeArrowheads="1"/>
          </p:cNvSpPr>
          <p:nvPr>
            <p:ph idx="1"/>
          </p:nvPr>
        </p:nvSpPr>
        <p:spPr>
          <a:xfrm>
            <a:off x="263352" y="901041"/>
            <a:ext cx="5904656" cy="5711025"/>
          </a:xfrm>
        </p:spPr>
        <p:txBody>
          <a:bodyPr/>
          <a:lstStyle/>
          <a:p>
            <a:pPr marL="0" indent="0">
              <a:lnSpc>
                <a:spcPct val="150000"/>
              </a:lnSpc>
              <a:buNone/>
            </a:pPr>
            <a:r>
              <a:rPr lang="es-PE" sz="2000" b="1" dirty="0"/>
              <a:t>Desempleo: Rigideces reales</a:t>
            </a:r>
          </a:p>
          <a:p>
            <a:pPr>
              <a:lnSpc>
                <a:spcPct val="150000"/>
              </a:lnSpc>
            </a:pPr>
            <a:r>
              <a:rPr lang="es-ES" sz="2000" dirty="0"/>
              <a:t>La rigidez en los salarios reales lleva a un nivel de producto menor al producto potencial de pleno empleo.</a:t>
            </a:r>
            <a:endParaRPr lang="es-PE" altLang="es-PE" sz="2000" dirty="0"/>
          </a:p>
        </p:txBody>
      </p:sp>
      <p:sp>
        <p:nvSpPr>
          <p:cNvPr id="4" name="Rectángulo 3">
            <a:extLst>
              <a:ext uri="{FF2B5EF4-FFF2-40B4-BE49-F238E27FC236}">
                <a16:creationId xmlns:a16="http://schemas.microsoft.com/office/drawing/2014/main" id="{41594845-DCF7-6D9F-07A8-89C1194E0081}"/>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pic>
        <p:nvPicPr>
          <p:cNvPr id="5" name="Imagen 4">
            <a:extLst>
              <a:ext uri="{FF2B5EF4-FFF2-40B4-BE49-F238E27FC236}">
                <a16:creationId xmlns:a16="http://schemas.microsoft.com/office/drawing/2014/main" id="{0E1AB5FF-16AF-0A1D-7A98-B454B529FCA5}"/>
              </a:ext>
            </a:extLst>
          </p:cNvPr>
          <p:cNvPicPr>
            <a:picLocks noChangeAspect="1"/>
          </p:cNvPicPr>
          <p:nvPr/>
        </p:nvPicPr>
        <p:blipFill>
          <a:blip r:embed="rId2"/>
          <a:stretch>
            <a:fillRect/>
          </a:stretch>
        </p:blipFill>
        <p:spPr>
          <a:xfrm>
            <a:off x="7248128" y="1628800"/>
            <a:ext cx="4604012" cy="4464496"/>
          </a:xfrm>
          <a:prstGeom prst="rect">
            <a:avLst/>
          </a:prstGeom>
        </p:spPr>
      </p:pic>
    </p:spTree>
    <p:extLst>
      <p:ext uri="{BB962C8B-B14F-4D97-AF65-F5344CB8AC3E}">
        <p14:creationId xmlns:p14="http://schemas.microsoft.com/office/powerpoint/2010/main" val="1338000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18AC3-D993-27DC-178B-3F2F8F531B91}"/>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378D491D-53E9-B0EC-ECD0-A1B17698DE59}"/>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32771" name="Marcador de contenido 2">
            <a:extLst>
              <a:ext uri="{FF2B5EF4-FFF2-40B4-BE49-F238E27FC236}">
                <a16:creationId xmlns:a16="http://schemas.microsoft.com/office/drawing/2014/main" id="{3B8CB852-CD3D-D199-B63F-86592FEE9665}"/>
              </a:ext>
            </a:extLst>
          </p:cNvPr>
          <p:cNvSpPr>
            <a:spLocks noGrp="1" noChangeArrowheads="1"/>
          </p:cNvSpPr>
          <p:nvPr>
            <p:ph idx="1"/>
          </p:nvPr>
        </p:nvSpPr>
        <p:spPr>
          <a:xfrm>
            <a:off x="263352" y="901041"/>
            <a:ext cx="5904656" cy="5711025"/>
          </a:xfrm>
          <a:ln>
            <a:solidFill>
              <a:schemeClr val="bg1">
                <a:lumMod val="65000"/>
              </a:schemeClr>
            </a:solidFill>
          </a:ln>
        </p:spPr>
        <p:txBody>
          <a:bodyPr/>
          <a:lstStyle/>
          <a:p>
            <a:pPr marL="0" indent="0">
              <a:lnSpc>
                <a:spcPct val="150000"/>
              </a:lnSpc>
              <a:buNone/>
            </a:pPr>
            <a:r>
              <a:rPr lang="es-PE" sz="2100" b="1" dirty="0"/>
              <a:t>Desempleo: Rigideces nominales</a:t>
            </a:r>
          </a:p>
          <a:p>
            <a:pPr>
              <a:lnSpc>
                <a:spcPct val="150000"/>
              </a:lnSpc>
            </a:pPr>
            <a:r>
              <a:rPr lang="es-ES" sz="2100" dirty="0"/>
              <a:t>Si hay una inflexibilidad en los salarios nominales. </a:t>
            </a:r>
          </a:p>
          <a:p>
            <a:pPr>
              <a:lnSpc>
                <a:spcPct val="150000"/>
              </a:lnSpc>
            </a:pPr>
            <a:r>
              <a:rPr lang="es-ES" sz="2100" dirty="0"/>
              <a:t>Supuesto: caso en que el salario real es mayor que el de pleno empleo. </a:t>
            </a:r>
          </a:p>
          <a:p>
            <a:pPr>
              <a:lnSpc>
                <a:spcPct val="150000"/>
              </a:lnSpc>
            </a:pPr>
            <a:r>
              <a:rPr lang="es-ES" sz="2100" dirty="0"/>
              <a:t>Al ser el salario nominal rígido, un aumento en el nivel de precios provoca una caída del salario real y, con ello, un aumento del empleo. </a:t>
            </a:r>
          </a:p>
          <a:p>
            <a:pPr>
              <a:lnSpc>
                <a:spcPct val="150000"/>
              </a:lnSpc>
            </a:pPr>
            <a:r>
              <a:rPr lang="es-ES" sz="2100" dirty="0"/>
              <a:t>Al aumentar el empleo, aumenta también el producto de la economía.</a:t>
            </a:r>
            <a:endParaRPr lang="es-PE" sz="2100" b="1" dirty="0"/>
          </a:p>
        </p:txBody>
      </p:sp>
      <p:sp>
        <p:nvSpPr>
          <p:cNvPr id="4" name="Rectángulo 3">
            <a:extLst>
              <a:ext uri="{FF2B5EF4-FFF2-40B4-BE49-F238E27FC236}">
                <a16:creationId xmlns:a16="http://schemas.microsoft.com/office/drawing/2014/main" id="{F00C9C69-5548-E978-7C83-3E5A4A85314B}"/>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pic>
        <p:nvPicPr>
          <p:cNvPr id="3" name="Imagen 2">
            <a:extLst>
              <a:ext uri="{FF2B5EF4-FFF2-40B4-BE49-F238E27FC236}">
                <a16:creationId xmlns:a16="http://schemas.microsoft.com/office/drawing/2014/main" id="{FE99A928-C827-0F2A-FA49-114BC274BC92}"/>
              </a:ext>
            </a:extLst>
          </p:cNvPr>
          <p:cNvPicPr>
            <a:picLocks noChangeAspect="1"/>
          </p:cNvPicPr>
          <p:nvPr/>
        </p:nvPicPr>
        <p:blipFill>
          <a:blip r:embed="rId2"/>
          <a:stretch>
            <a:fillRect/>
          </a:stretch>
        </p:blipFill>
        <p:spPr>
          <a:xfrm>
            <a:off x="7032105" y="1340768"/>
            <a:ext cx="4896544" cy="4469445"/>
          </a:xfrm>
          <a:prstGeom prst="rect">
            <a:avLst/>
          </a:prstGeom>
        </p:spPr>
      </p:pic>
    </p:spTree>
    <p:extLst>
      <p:ext uri="{BB962C8B-B14F-4D97-AF65-F5344CB8AC3E}">
        <p14:creationId xmlns:p14="http://schemas.microsoft.com/office/powerpoint/2010/main" val="1842184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736AE-375E-8BD3-6B84-66CDF27A6BF5}"/>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85C601AA-69E6-0494-D7F0-0EAFFFE410E7}"/>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32771" name="Marcador de contenido 2">
            <a:extLst>
              <a:ext uri="{FF2B5EF4-FFF2-40B4-BE49-F238E27FC236}">
                <a16:creationId xmlns:a16="http://schemas.microsoft.com/office/drawing/2014/main" id="{244B9D39-199A-96C6-B871-1807AC68998A}"/>
              </a:ext>
            </a:extLst>
          </p:cNvPr>
          <p:cNvSpPr>
            <a:spLocks noGrp="1" noChangeArrowheads="1"/>
          </p:cNvSpPr>
          <p:nvPr>
            <p:ph idx="1"/>
          </p:nvPr>
        </p:nvSpPr>
        <p:spPr>
          <a:xfrm>
            <a:off x="263352" y="901041"/>
            <a:ext cx="5713312" cy="5711025"/>
          </a:xfrm>
          <a:ln>
            <a:solidFill>
              <a:schemeClr val="bg1">
                <a:lumMod val="65000"/>
              </a:schemeClr>
            </a:solidFill>
          </a:ln>
        </p:spPr>
        <p:txBody>
          <a:bodyPr/>
          <a:lstStyle/>
          <a:p>
            <a:pPr marL="0" indent="0">
              <a:lnSpc>
                <a:spcPct val="150000"/>
              </a:lnSpc>
              <a:buNone/>
            </a:pPr>
            <a:r>
              <a:rPr lang="es-PE" sz="2100" b="1" dirty="0"/>
              <a:t>Mercados de bienes competitivos</a:t>
            </a:r>
          </a:p>
          <a:p>
            <a:pPr>
              <a:lnSpc>
                <a:spcPct val="150000"/>
              </a:lnSpc>
            </a:pPr>
            <a:r>
              <a:rPr lang="es-ES" sz="2100" dirty="0"/>
              <a:t>Una empresa en un mercado competitivo enfrenta un precio relativo dado (</a:t>
            </a:r>
            <a:r>
              <a:rPr lang="es-ES" sz="2100" i="1" dirty="0"/>
              <a:t>p</a:t>
            </a:r>
            <a:r>
              <a:rPr lang="es-ES" sz="2100" dirty="0"/>
              <a:t>) por su bien. </a:t>
            </a:r>
          </a:p>
          <a:p>
            <a:pPr>
              <a:lnSpc>
                <a:spcPct val="150000"/>
              </a:lnSpc>
            </a:pPr>
            <a:r>
              <a:rPr lang="es-ES" sz="2100" dirty="0"/>
              <a:t>De la teoría de la firma se sabe que la decisión de producción será producir a un nivel tal que su costo marginal (</a:t>
            </a:r>
            <a:r>
              <a:rPr lang="es-ES" sz="2100" dirty="0" err="1"/>
              <a:t>CMg</a:t>
            </a:r>
            <a:r>
              <a:rPr lang="es-ES" sz="2100" dirty="0"/>
              <a:t>) sea igual a </a:t>
            </a:r>
            <a:r>
              <a:rPr lang="es-ES" sz="2100" i="1" dirty="0"/>
              <a:t>p</a:t>
            </a:r>
            <a:r>
              <a:rPr lang="es-ES" sz="2100" dirty="0"/>
              <a:t>.</a:t>
            </a:r>
          </a:p>
          <a:p>
            <a:pPr>
              <a:lnSpc>
                <a:spcPct val="150000"/>
              </a:lnSpc>
            </a:pPr>
            <a:r>
              <a:rPr lang="es-ES" sz="2100" dirty="0"/>
              <a:t>Si todos los precios nominales de los bienes suben, el nivel de precios P sube en la misma proporción. </a:t>
            </a:r>
          </a:p>
        </p:txBody>
      </p:sp>
      <p:sp>
        <p:nvSpPr>
          <p:cNvPr id="4" name="Rectángulo 3">
            <a:extLst>
              <a:ext uri="{FF2B5EF4-FFF2-40B4-BE49-F238E27FC236}">
                <a16:creationId xmlns:a16="http://schemas.microsoft.com/office/drawing/2014/main" id="{CDEAC798-3A0F-83A3-4751-C5FC36A23A33}"/>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901F6636-3FCC-CF7F-0F83-24891113690B}"/>
              </a:ext>
            </a:extLst>
          </p:cNvPr>
          <p:cNvSpPr txBox="1">
            <a:spLocks noChangeArrowheads="1"/>
          </p:cNvSpPr>
          <p:nvPr/>
        </p:nvSpPr>
        <p:spPr bwMode="auto">
          <a:xfrm>
            <a:off x="6287344" y="901040"/>
            <a:ext cx="5713312" cy="5711025"/>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nSpc>
                <a:spcPct val="150000"/>
              </a:lnSpc>
              <a:buNone/>
            </a:pPr>
            <a:endParaRPr lang="es-ES" sz="2100" kern="0" dirty="0"/>
          </a:p>
          <a:p>
            <a:pPr>
              <a:lnSpc>
                <a:spcPct val="150000"/>
              </a:lnSpc>
            </a:pPr>
            <a:r>
              <a:rPr lang="es-ES" sz="2100" kern="0" dirty="0"/>
              <a:t>Sin embargo, los precios relativos se mantienen constantes a pesar del aumento de precios, con lo que ninguna empresa querrá producir más y, en consecuencia, la producción no aumenta. </a:t>
            </a:r>
          </a:p>
          <a:p>
            <a:pPr>
              <a:lnSpc>
                <a:spcPct val="150000"/>
              </a:lnSpc>
            </a:pPr>
            <a:r>
              <a:rPr lang="es-ES" sz="2100" kern="0" dirty="0"/>
              <a:t>Por lo tanto, en presencia de mercados de bienes competitivos la curva de oferta es vertical.</a:t>
            </a:r>
            <a:endParaRPr lang="es-PE" sz="2100" kern="0" dirty="0"/>
          </a:p>
        </p:txBody>
      </p:sp>
    </p:spTree>
    <p:extLst>
      <p:ext uri="{BB962C8B-B14F-4D97-AF65-F5344CB8AC3E}">
        <p14:creationId xmlns:p14="http://schemas.microsoft.com/office/powerpoint/2010/main" val="3936334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8B92-7DA6-03E9-AC6F-EA8E6E5C841C}"/>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E5E82DBD-BDC1-9742-E0CC-8A08EB5DEFD8}"/>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4" name="Rectángulo 3">
            <a:extLst>
              <a:ext uri="{FF2B5EF4-FFF2-40B4-BE49-F238E27FC236}">
                <a16:creationId xmlns:a16="http://schemas.microsoft.com/office/drawing/2014/main" id="{A0B57AD7-43D0-C55A-2B28-F32EE56FD334}"/>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A1C1E662-6C07-AF0A-7292-2E24E6321D70}"/>
              </a:ext>
            </a:extLst>
          </p:cNvPr>
          <p:cNvSpPr txBox="1">
            <a:spLocks noChangeArrowheads="1"/>
          </p:cNvSpPr>
          <p:nvPr/>
        </p:nvSpPr>
        <p:spPr bwMode="auto">
          <a:xfrm>
            <a:off x="263352" y="980728"/>
            <a:ext cx="5713312" cy="5711025"/>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nSpc>
                <a:spcPct val="150000"/>
              </a:lnSpc>
              <a:buNone/>
            </a:pPr>
            <a:endParaRPr lang="es-ES" sz="2100" kern="0" dirty="0"/>
          </a:p>
          <a:p>
            <a:pPr>
              <a:lnSpc>
                <a:spcPct val="150000"/>
              </a:lnSpc>
            </a:pPr>
            <a:r>
              <a:rPr lang="es-ES" sz="2100" kern="0" dirty="0"/>
              <a:t>En mercados perfectamente competitivos las empresas toman los precios (son </a:t>
            </a:r>
            <a:r>
              <a:rPr lang="es-ES" sz="2100" i="1" kern="0" dirty="0" err="1"/>
              <a:t>price-takers</a:t>
            </a:r>
            <a:r>
              <a:rPr lang="es-ES" sz="2100" kern="0" dirty="0"/>
              <a:t>), por lo tanto, no se puede hablar propiamente de rigideces de precios.</a:t>
            </a:r>
            <a:endParaRPr lang="es-PE" sz="2100" kern="0" dirty="0"/>
          </a:p>
        </p:txBody>
      </p:sp>
      <p:pic>
        <p:nvPicPr>
          <p:cNvPr id="5" name="Imagen 4">
            <a:extLst>
              <a:ext uri="{FF2B5EF4-FFF2-40B4-BE49-F238E27FC236}">
                <a16:creationId xmlns:a16="http://schemas.microsoft.com/office/drawing/2014/main" id="{5910BEB9-37A9-9B78-DB5A-E045DDCB183D}"/>
              </a:ext>
            </a:extLst>
          </p:cNvPr>
          <p:cNvPicPr>
            <a:picLocks noChangeAspect="1"/>
          </p:cNvPicPr>
          <p:nvPr/>
        </p:nvPicPr>
        <p:blipFill>
          <a:blip r:embed="rId2"/>
          <a:stretch>
            <a:fillRect/>
          </a:stretch>
        </p:blipFill>
        <p:spPr>
          <a:xfrm>
            <a:off x="6528048" y="1612747"/>
            <a:ext cx="5184576" cy="3632506"/>
          </a:xfrm>
          <a:prstGeom prst="rect">
            <a:avLst/>
          </a:prstGeom>
        </p:spPr>
      </p:pic>
    </p:spTree>
    <p:extLst>
      <p:ext uri="{BB962C8B-B14F-4D97-AF65-F5344CB8AC3E}">
        <p14:creationId xmlns:p14="http://schemas.microsoft.com/office/powerpoint/2010/main" val="3769334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9DFA5-7FBD-73E0-B5FB-8DEAF6209603}"/>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0362B835-9E2D-0AEC-E402-B40CFF567CF2}"/>
              </a:ext>
            </a:extLst>
          </p:cNvPr>
          <p:cNvSpPr>
            <a:spLocks noGrp="1" noChangeArrowheads="1"/>
          </p:cNvSpPr>
          <p:nvPr>
            <p:ph type="title"/>
          </p:nvPr>
        </p:nvSpPr>
        <p:spPr>
          <a:xfrm>
            <a:off x="119336" y="245933"/>
            <a:ext cx="10513168" cy="582613"/>
          </a:xfrm>
        </p:spPr>
        <p:txBody>
          <a:bodyPr/>
          <a:lstStyle/>
          <a:p>
            <a:pPr algn="l"/>
            <a:r>
              <a:rPr lang="es-ES" sz="2800" b="1" dirty="0"/>
              <a:t>¿Qué hay detrás de la oferta agregada?: </a:t>
            </a:r>
            <a:r>
              <a:rPr lang="es-PE" sz="2800" b="1" dirty="0"/>
              <a:t>El mercado del trabajo</a:t>
            </a:r>
            <a:endParaRPr lang="es-PE" altLang="es-PE" sz="1800" b="1" dirty="0"/>
          </a:p>
        </p:txBody>
      </p:sp>
      <p:sp>
        <p:nvSpPr>
          <p:cNvPr id="4" name="Rectángulo 3">
            <a:extLst>
              <a:ext uri="{FF2B5EF4-FFF2-40B4-BE49-F238E27FC236}">
                <a16:creationId xmlns:a16="http://schemas.microsoft.com/office/drawing/2014/main" id="{B649AC46-6A9F-5863-66AA-9E3AD14CD7F1}"/>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DE689B1A-69C6-9E06-AACD-5750F3BFAD33}"/>
              </a:ext>
            </a:extLst>
          </p:cNvPr>
          <p:cNvSpPr txBox="1">
            <a:spLocks noChangeArrowheads="1"/>
          </p:cNvSpPr>
          <p:nvPr/>
        </p:nvSpPr>
        <p:spPr bwMode="auto">
          <a:xfrm>
            <a:off x="263352" y="980728"/>
            <a:ext cx="5713312" cy="5711025"/>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nSpc>
                <a:spcPct val="150000"/>
              </a:lnSpc>
              <a:buNone/>
            </a:pPr>
            <a:r>
              <a:rPr lang="es-ES" sz="2100" b="1" dirty="0"/>
              <a:t>Mercados de bienes no competitivos y rigideces de precios.</a:t>
            </a:r>
          </a:p>
          <a:p>
            <a:pPr>
              <a:lnSpc>
                <a:spcPct val="150000"/>
              </a:lnSpc>
            </a:pPr>
            <a:r>
              <a:rPr lang="es-ES" sz="2100" kern="0" dirty="0"/>
              <a:t>Lo relevante es pensar en una empresa que puede fijar su precio. </a:t>
            </a:r>
          </a:p>
          <a:p>
            <a:pPr>
              <a:lnSpc>
                <a:spcPct val="150000"/>
              </a:lnSpc>
            </a:pPr>
            <a:r>
              <a:rPr lang="es-ES" sz="2100" kern="0" dirty="0"/>
              <a:t>La forma más sencilla de estudiar esto es considerar a todas las empresas como pequeños monopolios que enfrentan una demanda con pendiente negativa.</a:t>
            </a:r>
            <a:endParaRPr lang="es-PE" sz="2100" kern="0" dirty="0"/>
          </a:p>
        </p:txBody>
      </p:sp>
      <p:pic>
        <p:nvPicPr>
          <p:cNvPr id="3" name="Imagen 2">
            <a:extLst>
              <a:ext uri="{FF2B5EF4-FFF2-40B4-BE49-F238E27FC236}">
                <a16:creationId xmlns:a16="http://schemas.microsoft.com/office/drawing/2014/main" id="{45EBAA8B-E2E3-42FF-DEF5-92F85880D5F2}"/>
              </a:ext>
            </a:extLst>
          </p:cNvPr>
          <p:cNvPicPr>
            <a:picLocks noChangeAspect="1"/>
          </p:cNvPicPr>
          <p:nvPr/>
        </p:nvPicPr>
        <p:blipFill>
          <a:blip r:embed="rId2"/>
          <a:stretch>
            <a:fillRect/>
          </a:stretch>
        </p:blipFill>
        <p:spPr>
          <a:xfrm>
            <a:off x="6312024" y="1301048"/>
            <a:ext cx="5496561" cy="4372694"/>
          </a:xfrm>
          <a:prstGeom prst="rect">
            <a:avLst/>
          </a:prstGeom>
        </p:spPr>
      </p:pic>
    </p:spTree>
    <p:extLst>
      <p:ext uri="{BB962C8B-B14F-4D97-AF65-F5344CB8AC3E}">
        <p14:creationId xmlns:p14="http://schemas.microsoft.com/office/powerpoint/2010/main" val="206566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18BBB-C299-F57F-EBF9-F88B07EFC881}"/>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38151AA4-19BC-640E-ADBC-B359B0B7A4A6}"/>
              </a:ext>
            </a:extLst>
          </p:cNvPr>
          <p:cNvSpPr>
            <a:spLocks noGrp="1" noChangeArrowheads="1"/>
          </p:cNvSpPr>
          <p:nvPr>
            <p:ph type="title"/>
          </p:nvPr>
        </p:nvSpPr>
        <p:spPr>
          <a:xfrm>
            <a:off x="119336" y="245933"/>
            <a:ext cx="10513168" cy="582613"/>
          </a:xfrm>
        </p:spPr>
        <p:txBody>
          <a:bodyPr/>
          <a:lstStyle/>
          <a:p>
            <a:pPr algn="l"/>
            <a:r>
              <a:rPr lang="es-ES" sz="2800" b="1" dirty="0"/>
              <a:t>La oferta agregada</a:t>
            </a:r>
            <a:endParaRPr lang="es-PE" altLang="es-PE" sz="1800" b="1" dirty="0"/>
          </a:p>
        </p:txBody>
      </p:sp>
      <p:sp>
        <p:nvSpPr>
          <p:cNvPr id="4" name="Rectángulo 3">
            <a:extLst>
              <a:ext uri="{FF2B5EF4-FFF2-40B4-BE49-F238E27FC236}">
                <a16:creationId xmlns:a16="http://schemas.microsoft.com/office/drawing/2014/main" id="{182DD3B5-DA6B-77D9-1AAC-FD32AB6DA98B}"/>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7169B563-A5C3-0F9E-CCA6-F6834E12A39F}"/>
              </a:ext>
            </a:extLst>
          </p:cNvPr>
          <p:cNvSpPr txBox="1">
            <a:spLocks noChangeArrowheads="1"/>
          </p:cNvSpPr>
          <p:nvPr/>
        </p:nvSpPr>
        <p:spPr bwMode="auto">
          <a:xfrm>
            <a:off x="263352" y="980728"/>
            <a:ext cx="5713312" cy="5711025"/>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nSpc>
                <a:spcPct val="150000"/>
              </a:lnSpc>
              <a:buNone/>
            </a:pPr>
            <a:r>
              <a:rPr lang="es-ES" sz="2200" dirty="0"/>
              <a:t>1. Oferta Agregada</a:t>
            </a:r>
          </a:p>
          <a:p>
            <a:pPr marL="0" indent="0" algn="just">
              <a:lnSpc>
                <a:spcPct val="150000"/>
              </a:lnSpc>
              <a:buNone/>
            </a:pPr>
            <a:r>
              <a:rPr lang="es-ES" sz="2200" dirty="0"/>
              <a:t>Este modelo tiene en una oferta agregada definida como:</a:t>
            </a:r>
          </a:p>
          <a:p>
            <a:pPr marL="0" indent="0" algn="ctr">
              <a:lnSpc>
                <a:spcPct val="150000"/>
              </a:lnSpc>
              <a:buNone/>
            </a:pPr>
            <a:r>
              <a:rPr lang="es-ES" sz="2200" dirty="0"/>
              <a:t> 𝒚</a:t>
            </a:r>
            <a:r>
              <a:rPr lang="es-ES" sz="2200" baseline="-25000" dirty="0"/>
              <a:t>𝒕</a:t>
            </a:r>
            <a:r>
              <a:rPr lang="es-ES" sz="2200" baseline="30000" dirty="0"/>
              <a:t>𝒔</a:t>
            </a:r>
            <a:r>
              <a:rPr lang="es-ES" sz="2200" dirty="0"/>
              <a:t>=𝜸[𝑷</a:t>
            </a:r>
            <a:r>
              <a:rPr lang="es-ES" sz="2200" baseline="-25000" dirty="0"/>
              <a:t>𝒕</a:t>
            </a:r>
            <a:r>
              <a:rPr lang="es-ES" sz="2200" dirty="0"/>
              <a:t>−𝑬</a:t>
            </a:r>
            <a:r>
              <a:rPr lang="es-ES" sz="2200" baseline="-25000" dirty="0"/>
              <a:t>𝒕−𝟏</a:t>
            </a:r>
            <a:r>
              <a:rPr lang="es-ES" sz="2200" dirty="0"/>
              <a:t>𝑷</a:t>
            </a:r>
            <a:r>
              <a:rPr lang="es-ES" sz="2200" baseline="-25000" dirty="0"/>
              <a:t>𝒕</a:t>
            </a:r>
            <a:r>
              <a:rPr lang="es-ES" sz="2200" dirty="0"/>
              <a:t>]+𝜺</a:t>
            </a:r>
            <a:r>
              <a:rPr lang="es-ES" sz="2200" baseline="-25000" dirty="0"/>
              <a:t>𝒕</a:t>
            </a:r>
            <a:r>
              <a:rPr lang="es-ES" sz="2200" baseline="30000" dirty="0"/>
              <a:t>𝒔</a:t>
            </a:r>
          </a:p>
          <a:p>
            <a:pPr>
              <a:lnSpc>
                <a:spcPct val="150000"/>
              </a:lnSpc>
              <a:buFont typeface="Wingdings" panose="05000000000000000000" pitchFamily="2" charset="2"/>
              <a:buChar char="§"/>
            </a:pPr>
            <a:r>
              <a:rPr lang="es-ES" sz="2200" dirty="0"/>
              <a:t>𝑬</a:t>
            </a:r>
            <a:r>
              <a:rPr lang="es-ES" sz="2200" baseline="-25000" dirty="0"/>
              <a:t>𝒕−𝟏</a:t>
            </a:r>
            <a:r>
              <a:rPr lang="es-ES" sz="2200" dirty="0"/>
              <a:t>𝑷</a:t>
            </a:r>
            <a:r>
              <a:rPr lang="es-ES" sz="2200" baseline="-25000" dirty="0"/>
              <a:t>𝒕 </a:t>
            </a:r>
            <a:r>
              <a:rPr lang="es-ES" sz="2200" dirty="0"/>
              <a:t>es la expectativa inicial del nivel optimo del precio</a:t>
            </a:r>
          </a:p>
          <a:p>
            <a:pPr>
              <a:lnSpc>
                <a:spcPct val="150000"/>
              </a:lnSpc>
              <a:buFont typeface="Wingdings" panose="05000000000000000000" pitchFamily="2" charset="2"/>
              <a:buChar char="§"/>
            </a:pPr>
            <a:r>
              <a:rPr lang="es-ES" sz="2200" dirty="0"/>
              <a:t>𝜺</a:t>
            </a:r>
            <a:r>
              <a:rPr lang="es-ES" sz="2200" baseline="-25000" dirty="0"/>
              <a:t>𝒕</a:t>
            </a:r>
            <a:r>
              <a:rPr lang="es-ES" sz="2200" baseline="30000" dirty="0"/>
              <a:t>𝒔</a:t>
            </a:r>
            <a:r>
              <a:rPr lang="es-ES" sz="2200" dirty="0"/>
              <a:t> es shock de oferta</a:t>
            </a:r>
          </a:p>
          <a:p>
            <a:pPr>
              <a:lnSpc>
                <a:spcPct val="150000"/>
              </a:lnSpc>
              <a:buFont typeface="Wingdings" panose="05000000000000000000" pitchFamily="2" charset="2"/>
              <a:buChar char="§"/>
            </a:pPr>
            <a:r>
              <a:rPr lang="es-ES" sz="2200" dirty="0"/>
              <a:t>𝑃</a:t>
            </a:r>
            <a:r>
              <a:rPr lang="es-ES" sz="2200" baseline="-25000" dirty="0"/>
              <a:t>𝑡</a:t>
            </a:r>
            <a:r>
              <a:rPr lang="es-ES" sz="2200" dirty="0"/>
              <a:t> es el precio actual</a:t>
            </a:r>
          </a:p>
          <a:p>
            <a:pPr>
              <a:lnSpc>
                <a:spcPct val="150000"/>
              </a:lnSpc>
              <a:buFont typeface="Wingdings" panose="05000000000000000000" pitchFamily="2" charset="2"/>
              <a:buChar char="§"/>
            </a:pPr>
            <a:r>
              <a:rPr lang="es-ES" sz="2200" dirty="0"/>
              <a:t>𝒚</a:t>
            </a:r>
            <a:r>
              <a:rPr lang="es-ES" sz="2200" baseline="-25000" dirty="0"/>
              <a:t>𝒕</a:t>
            </a:r>
            <a:r>
              <a:rPr lang="es-ES" sz="2200" baseline="30000" dirty="0"/>
              <a:t>𝒔 </a:t>
            </a:r>
            <a:r>
              <a:rPr lang="es-ES" sz="2200" dirty="0"/>
              <a:t>es la oferta agregada (el desvío del producto respecto al potencial</a:t>
            </a:r>
            <a:r>
              <a:rPr lang="es-ES" sz="2200" kern="0" dirty="0"/>
              <a:t>)</a:t>
            </a:r>
            <a:endParaRPr lang="es-PE" sz="2200" kern="0" dirty="0"/>
          </a:p>
        </p:txBody>
      </p:sp>
      <p:pic>
        <p:nvPicPr>
          <p:cNvPr id="5" name="Imagen 4">
            <a:extLst>
              <a:ext uri="{FF2B5EF4-FFF2-40B4-BE49-F238E27FC236}">
                <a16:creationId xmlns:a16="http://schemas.microsoft.com/office/drawing/2014/main" id="{59456D90-FB73-4B83-D04A-43042EC255E8}"/>
              </a:ext>
            </a:extLst>
          </p:cNvPr>
          <p:cNvPicPr>
            <a:picLocks noChangeAspect="1"/>
          </p:cNvPicPr>
          <p:nvPr/>
        </p:nvPicPr>
        <p:blipFill>
          <a:blip r:embed="rId2"/>
          <a:stretch>
            <a:fillRect/>
          </a:stretch>
        </p:blipFill>
        <p:spPr>
          <a:xfrm>
            <a:off x="6653583" y="1700808"/>
            <a:ext cx="5090931" cy="3744416"/>
          </a:xfrm>
          <a:prstGeom prst="rect">
            <a:avLst/>
          </a:prstGeom>
        </p:spPr>
      </p:pic>
    </p:spTree>
    <p:extLst>
      <p:ext uri="{BB962C8B-B14F-4D97-AF65-F5344CB8AC3E}">
        <p14:creationId xmlns:p14="http://schemas.microsoft.com/office/powerpoint/2010/main" val="3187573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320A4-4D6D-9275-6CBA-A998991BF2F0}"/>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50B9BF80-080D-D224-CA4C-BCE99DA5555F}"/>
              </a:ext>
            </a:extLst>
          </p:cNvPr>
          <p:cNvSpPr>
            <a:spLocks noGrp="1" noChangeArrowheads="1"/>
          </p:cNvSpPr>
          <p:nvPr>
            <p:ph type="title"/>
          </p:nvPr>
        </p:nvSpPr>
        <p:spPr>
          <a:xfrm>
            <a:off x="119336" y="245933"/>
            <a:ext cx="10513168" cy="582613"/>
          </a:xfrm>
        </p:spPr>
        <p:txBody>
          <a:bodyPr/>
          <a:lstStyle/>
          <a:p>
            <a:pPr algn="l"/>
            <a:r>
              <a:rPr lang="es-ES" sz="2800" b="1" dirty="0"/>
              <a:t>La oferta agregada</a:t>
            </a:r>
            <a:endParaRPr lang="es-PE" altLang="es-PE" sz="1800" b="1" dirty="0"/>
          </a:p>
        </p:txBody>
      </p:sp>
      <p:sp>
        <p:nvSpPr>
          <p:cNvPr id="4" name="Rectángulo 3">
            <a:extLst>
              <a:ext uri="{FF2B5EF4-FFF2-40B4-BE49-F238E27FC236}">
                <a16:creationId xmlns:a16="http://schemas.microsoft.com/office/drawing/2014/main" id="{88E22B29-C0D4-9AB6-43E3-0CE885C41160}"/>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EDF13DBF-A4FD-7317-46C2-B245B82028D6}"/>
              </a:ext>
            </a:extLst>
          </p:cNvPr>
          <p:cNvSpPr txBox="1">
            <a:spLocks noChangeArrowheads="1"/>
          </p:cNvSpPr>
          <p:nvPr/>
        </p:nvSpPr>
        <p:spPr bwMode="auto">
          <a:xfrm>
            <a:off x="263352" y="980728"/>
            <a:ext cx="5713312" cy="5711025"/>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nSpc>
                <a:spcPct val="150000"/>
              </a:lnSpc>
              <a:buNone/>
            </a:pPr>
            <a:r>
              <a:rPr lang="es-ES" sz="2200" dirty="0"/>
              <a:t>En micro: </a:t>
            </a:r>
          </a:p>
          <a:p>
            <a:pPr>
              <a:lnSpc>
                <a:spcPct val="150000"/>
              </a:lnSpc>
            </a:pPr>
            <a:r>
              <a:rPr lang="es-ES" sz="2200" dirty="0"/>
              <a:t>Dada una función de producción del 𝑃</a:t>
            </a:r>
            <a:r>
              <a:rPr lang="es-ES" sz="2200" i="1" dirty="0" err="1"/>
              <a:t>M</a:t>
            </a:r>
            <a:r>
              <a:rPr lang="es-ES" sz="2200" dirty="0" err="1"/>
              <a:t>gL</a:t>
            </a:r>
            <a:r>
              <a:rPr lang="es-ES" sz="2200" dirty="0"/>
              <a:t> y la función de costos (de la cual se tiene 𝐶</a:t>
            </a:r>
            <a:r>
              <a:rPr lang="es-ES" sz="2200" i="1" dirty="0"/>
              <a:t>M</a:t>
            </a:r>
            <a:r>
              <a:rPr lang="es-ES" sz="2200" dirty="0"/>
              <a:t>𝑔 se formaba la oferta.</a:t>
            </a:r>
          </a:p>
          <a:p>
            <a:pPr marL="0" indent="0">
              <a:lnSpc>
                <a:spcPct val="150000"/>
              </a:lnSpc>
              <a:buNone/>
            </a:pPr>
            <a:r>
              <a:rPr lang="es-ES" sz="2200" dirty="0"/>
              <a:t>En macro </a:t>
            </a:r>
          </a:p>
          <a:p>
            <a:pPr>
              <a:lnSpc>
                <a:spcPct val="150000"/>
              </a:lnSpc>
            </a:pPr>
            <a:r>
              <a:rPr lang="es-ES" sz="2200" dirty="0"/>
              <a:t>Dada una función de producción, que es la productividad total de factores 𝐴 y que depende del único factor de este modelo sencillo que es la mano de obra: 𝑦=𝐴𝑓(𝐿)</a:t>
            </a:r>
            <a:endParaRPr lang="es-PE" sz="2200" kern="0" dirty="0"/>
          </a:p>
        </p:txBody>
      </p:sp>
      <p:pic>
        <p:nvPicPr>
          <p:cNvPr id="5" name="Imagen 4">
            <a:extLst>
              <a:ext uri="{FF2B5EF4-FFF2-40B4-BE49-F238E27FC236}">
                <a16:creationId xmlns:a16="http://schemas.microsoft.com/office/drawing/2014/main" id="{BA2F187A-3263-000B-0376-143D4561BEBD}"/>
              </a:ext>
            </a:extLst>
          </p:cNvPr>
          <p:cNvPicPr>
            <a:picLocks noChangeAspect="1"/>
          </p:cNvPicPr>
          <p:nvPr/>
        </p:nvPicPr>
        <p:blipFill>
          <a:blip r:embed="rId2"/>
          <a:stretch>
            <a:fillRect/>
          </a:stretch>
        </p:blipFill>
        <p:spPr>
          <a:xfrm>
            <a:off x="6653583" y="1700808"/>
            <a:ext cx="5090931" cy="3744416"/>
          </a:xfrm>
          <a:prstGeom prst="rect">
            <a:avLst/>
          </a:prstGeom>
        </p:spPr>
      </p:pic>
    </p:spTree>
    <p:extLst>
      <p:ext uri="{BB962C8B-B14F-4D97-AF65-F5344CB8AC3E}">
        <p14:creationId xmlns:p14="http://schemas.microsoft.com/office/powerpoint/2010/main" val="674259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643E8-9F78-571F-C7EA-6A5AB1D95412}"/>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CF4776E3-5EEA-F880-80B0-FBF9E1F24F6B}"/>
              </a:ext>
            </a:extLst>
          </p:cNvPr>
          <p:cNvSpPr>
            <a:spLocks noGrp="1" noChangeArrowheads="1"/>
          </p:cNvSpPr>
          <p:nvPr>
            <p:ph type="title"/>
          </p:nvPr>
        </p:nvSpPr>
        <p:spPr>
          <a:xfrm>
            <a:off x="119336" y="245933"/>
            <a:ext cx="10513168" cy="582613"/>
          </a:xfrm>
        </p:spPr>
        <p:txBody>
          <a:bodyPr/>
          <a:lstStyle/>
          <a:p>
            <a:pPr algn="l"/>
            <a:r>
              <a:rPr lang="es-ES" sz="2800" b="1" dirty="0"/>
              <a:t>La oferta agregada</a:t>
            </a:r>
            <a:endParaRPr lang="es-PE" altLang="es-PE" sz="1800" b="1" dirty="0"/>
          </a:p>
        </p:txBody>
      </p:sp>
      <p:sp>
        <p:nvSpPr>
          <p:cNvPr id="4" name="Rectángulo 3">
            <a:extLst>
              <a:ext uri="{FF2B5EF4-FFF2-40B4-BE49-F238E27FC236}">
                <a16:creationId xmlns:a16="http://schemas.microsoft.com/office/drawing/2014/main" id="{08707ED2-0214-34CC-F768-F759ABE30E4B}"/>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6" name="Marcador de contenido 2">
                <a:extLst>
                  <a:ext uri="{FF2B5EF4-FFF2-40B4-BE49-F238E27FC236}">
                    <a16:creationId xmlns:a16="http://schemas.microsoft.com/office/drawing/2014/main" id="{8D8C3BD0-8DC7-87F6-2DE3-56FF932286F5}"/>
                  </a:ext>
                </a:extLst>
              </p:cNvPr>
              <p:cNvSpPr txBox="1">
                <a:spLocks noChangeArrowheads="1"/>
              </p:cNvSpPr>
              <p:nvPr/>
            </p:nvSpPr>
            <p:spPr bwMode="auto">
              <a:xfrm>
                <a:off x="119336" y="855963"/>
                <a:ext cx="5713312" cy="5711025"/>
              </a:xfrm>
              <a:prstGeom prst="rect">
                <a:avLst/>
              </a:prstGeom>
              <a:noFill/>
              <a:ln>
                <a:solidFill>
                  <a:schemeClr val="bg1">
                    <a:lumMod val="65000"/>
                  </a:schemeClr>
                </a:solidFill>
              </a:ln>
              <a:extLst>
                <a:ext uri="{909E8E84-426E-40DD-AFC4-6F175D3DCCD1}">
                  <a14:hiddenFill>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150000"/>
                  </a:lnSpc>
                </a:pPr>
                <a:r>
                  <a:rPr lang="es-ES" sz="2100" dirty="0"/>
                  <a:t>P.e se quiere abrir un restaurante con 1,000 mesas para 4,000 personas (tamaño óptimo que corresponde al producto potencial.</a:t>
                </a:r>
              </a:p>
              <a:p>
                <a:pPr>
                  <a:lnSpc>
                    <a:spcPct val="150000"/>
                  </a:lnSpc>
                </a:pPr>
                <a:r>
                  <a:rPr lang="es-ES" sz="2100" dirty="0"/>
                  <a:t>Ese nivel óptimo estará asociado al pleno empleo de los recursos que se utiliza (los trabajadores).</a:t>
                </a:r>
              </a:p>
              <a:p>
                <a:pPr>
                  <a:lnSpc>
                    <a:spcPct val="150000"/>
                  </a:lnSpc>
                </a:pPr>
                <a:r>
                  <a:rPr lang="es-ES" sz="2100" dirty="0"/>
                  <a:t>A ese nivel óptimo de producto potencial, se halla el nivel de trabajadores óptimo igualando el 𝑃</a:t>
                </a:r>
                <a:r>
                  <a:rPr lang="es-ES" sz="2100" i="1" dirty="0"/>
                  <a:t>Mg</a:t>
                </a:r>
                <a:r>
                  <a:rPr lang="es-ES" sz="2100" dirty="0"/>
                  <a:t> real (aporte productivo del trabajador a esa unidad de producción) con el </a:t>
                </a:r>
                <a:r>
                  <a:rPr lang="es-ES" sz="2100" i="1" dirty="0"/>
                  <a:t>𝐶M𝑔</a:t>
                </a:r>
                <a:r>
                  <a:rPr lang="es-ES" sz="2100" dirty="0"/>
                  <a:t> real (el salario de ese trabajador): </a:t>
                </a:r>
                <a14:m>
                  <m:oMath xmlns:m="http://schemas.openxmlformats.org/officeDocument/2006/math">
                    <m:r>
                      <a:rPr lang="es-PE" sz="2100" b="0" i="0" smtClean="0">
                        <a:latin typeface="Cambria Math" panose="02040503050406030204" pitchFamily="18" charset="0"/>
                      </a:rPr>
                      <m:t> </m:t>
                    </m:r>
                    <m:f>
                      <m:fPr>
                        <m:ctrlPr>
                          <a:rPr lang="es-ES" sz="2100" i="1" smtClean="0">
                            <a:latin typeface="Cambria Math" panose="02040503050406030204" pitchFamily="18" charset="0"/>
                          </a:rPr>
                        </m:ctrlPr>
                      </m:fPr>
                      <m:num>
                        <m:sSub>
                          <m:sSubPr>
                            <m:ctrlPr>
                              <a:rPr lang="es-ES" sz="2100" i="1" smtClean="0">
                                <a:latin typeface="Cambria Math" panose="02040503050406030204" pitchFamily="18" charset="0"/>
                              </a:rPr>
                            </m:ctrlPr>
                          </m:sSubPr>
                          <m:e>
                            <m:r>
                              <a:rPr lang="es-PE" sz="2100" b="0" i="1" smtClean="0">
                                <a:latin typeface="Cambria Math" panose="02040503050406030204" pitchFamily="18" charset="0"/>
                              </a:rPr>
                              <m:t>𝑊</m:t>
                            </m:r>
                          </m:e>
                          <m:sub>
                            <m:r>
                              <a:rPr lang="es-PE" sz="2100" b="0" i="1" smtClean="0">
                                <a:latin typeface="Cambria Math" panose="02040503050406030204" pitchFamily="18" charset="0"/>
                              </a:rPr>
                              <m:t>𝑡</m:t>
                            </m:r>
                          </m:sub>
                        </m:sSub>
                      </m:num>
                      <m:den>
                        <m:sSub>
                          <m:sSubPr>
                            <m:ctrlPr>
                              <a:rPr lang="es-ES" sz="2100" i="1" smtClean="0">
                                <a:latin typeface="Cambria Math" panose="02040503050406030204" pitchFamily="18" charset="0"/>
                              </a:rPr>
                            </m:ctrlPr>
                          </m:sSubPr>
                          <m:e>
                            <m:r>
                              <a:rPr lang="es-PE" sz="2100" b="0" i="1" smtClean="0">
                                <a:latin typeface="Cambria Math" panose="02040503050406030204" pitchFamily="18" charset="0"/>
                              </a:rPr>
                              <m:t>𝐸</m:t>
                            </m:r>
                          </m:e>
                          <m:sub>
                            <m:r>
                              <a:rPr lang="es-PE" sz="2100" b="0" i="1" smtClean="0">
                                <a:latin typeface="Cambria Math" panose="02040503050406030204" pitchFamily="18" charset="0"/>
                              </a:rPr>
                              <m:t>𝑡</m:t>
                            </m:r>
                          </m:sub>
                        </m:sSub>
                        <m:sSub>
                          <m:sSubPr>
                            <m:ctrlPr>
                              <a:rPr lang="es-ES" sz="2100" i="1" smtClean="0">
                                <a:latin typeface="Cambria Math" panose="02040503050406030204" pitchFamily="18" charset="0"/>
                              </a:rPr>
                            </m:ctrlPr>
                          </m:sSubPr>
                          <m:e>
                            <m:r>
                              <a:rPr lang="es-PE" sz="2100" b="0" i="1" smtClean="0">
                                <a:latin typeface="Cambria Math" panose="02040503050406030204" pitchFamily="18" charset="0"/>
                              </a:rPr>
                              <m:t>𝑃</m:t>
                            </m:r>
                          </m:e>
                          <m:sub>
                            <m:r>
                              <a:rPr lang="es-PE" sz="2100" b="0" i="1" smtClean="0">
                                <a:latin typeface="Cambria Math" panose="02040503050406030204" pitchFamily="18" charset="0"/>
                              </a:rPr>
                              <m:t>𝑡</m:t>
                            </m:r>
                          </m:sub>
                        </m:sSub>
                      </m:den>
                    </m:f>
                  </m:oMath>
                </a14:m>
                <a:endParaRPr lang="es-PE" sz="2100" kern="0" dirty="0"/>
              </a:p>
            </p:txBody>
          </p:sp>
        </mc:Choice>
        <mc:Fallback xmlns="">
          <p:sp>
            <p:nvSpPr>
              <p:cNvPr id="6" name="Marcador de contenido 2">
                <a:extLst>
                  <a:ext uri="{FF2B5EF4-FFF2-40B4-BE49-F238E27FC236}">
                    <a16:creationId xmlns:a16="http://schemas.microsoft.com/office/drawing/2014/main" id="{8D8C3BD0-8DC7-87F6-2DE3-56FF932286F5}"/>
                  </a:ext>
                </a:extLst>
              </p:cNvPr>
              <p:cNvSpPr txBox="1">
                <a:spLocks noRot="1" noChangeAspect="1" noMove="1" noResize="1" noEditPoints="1" noAdjustHandles="1" noChangeArrowheads="1" noChangeShapeType="1" noTextEdit="1"/>
              </p:cNvSpPr>
              <p:nvPr/>
            </p:nvSpPr>
            <p:spPr bwMode="auto">
              <a:xfrm>
                <a:off x="119336" y="855963"/>
                <a:ext cx="5713312" cy="5711025"/>
              </a:xfrm>
              <a:prstGeom prst="rect">
                <a:avLst/>
              </a:prstGeom>
              <a:blipFill>
                <a:blip r:embed="rId2"/>
                <a:stretch>
                  <a:fillRect l="-958" r="-213"/>
                </a:stretch>
              </a:blip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a:lstStyle/>
              <a:p>
                <a:r>
                  <a:rPr lang="es-PE">
                    <a:noFill/>
                  </a:rPr>
                  <a:t> </a:t>
                </a:r>
              </a:p>
            </p:txBody>
          </p:sp>
        </mc:Fallback>
      </mc:AlternateContent>
      <p:pic>
        <p:nvPicPr>
          <p:cNvPr id="15" name="Imagen 14">
            <a:extLst>
              <a:ext uri="{FF2B5EF4-FFF2-40B4-BE49-F238E27FC236}">
                <a16:creationId xmlns:a16="http://schemas.microsoft.com/office/drawing/2014/main" id="{D2C7253D-9354-A488-F11D-C65DABFBFA77}"/>
              </a:ext>
            </a:extLst>
          </p:cNvPr>
          <p:cNvPicPr>
            <a:picLocks noChangeAspect="1"/>
          </p:cNvPicPr>
          <p:nvPr/>
        </p:nvPicPr>
        <p:blipFill>
          <a:blip r:embed="rId3"/>
          <a:stretch>
            <a:fillRect/>
          </a:stretch>
        </p:blipFill>
        <p:spPr>
          <a:xfrm>
            <a:off x="6125759" y="1484784"/>
            <a:ext cx="5836801" cy="4320480"/>
          </a:xfrm>
          <a:prstGeom prst="rect">
            <a:avLst/>
          </a:prstGeom>
        </p:spPr>
      </p:pic>
    </p:spTree>
    <p:extLst>
      <p:ext uri="{BB962C8B-B14F-4D97-AF65-F5344CB8AC3E}">
        <p14:creationId xmlns:p14="http://schemas.microsoft.com/office/powerpoint/2010/main" val="1953400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549A1-3D1B-D3EF-B3DB-CE543467AF11}"/>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E4215EFA-513A-57CE-2C8D-CA67209233A8}"/>
              </a:ext>
            </a:extLst>
          </p:cNvPr>
          <p:cNvSpPr>
            <a:spLocks noGrp="1" noChangeArrowheads="1"/>
          </p:cNvSpPr>
          <p:nvPr>
            <p:ph type="title"/>
          </p:nvPr>
        </p:nvSpPr>
        <p:spPr>
          <a:xfrm>
            <a:off x="119336" y="38075"/>
            <a:ext cx="10513168" cy="582613"/>
          </a:xfrm>
        </p:spPr>
        <p:txBody>
          <a:bodyPr/>
          <a:lstStyle/>
          <a:p>
            <a:pPr algn="l"/>
            <a:r>
              <a:rPr lang="es-ES" sz="2800" b="1" dirty="0"/>
              <a:t>La oferta agregada</a:t>
            </a:r>
            <a:endParaRPr lang="es-PE" altLang="es-PE" sz="1800" b="1" dirty="0"/>
          </a:p>
        </p:txBody>
      </p:sp>
      <p:sp>
        <p:nvSpPr>
          <p:cNvPr id="4" name="Rectángulo 3">
            <a:extLst>
              <a:ext uri="{FF2B5EF4-FFF2-40B4-BE49-F238E27FC236}">
                <a16:creationId xmlns:a16="http://schemas.microsoft.com/office/drawing/2014/main" id="{4E797A91-8AA6-A4BD-6103-1CA5996B73AB}"/>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53EE2746-61FB-C4EF-8A36-A0C1C4087A65}"/>
              </a:ext>
            </a:extLst>
          </p:cNvPr>
          <p:cNvSpPr txBox="1">
            <a:spLocks noChangeArrowheads="1"/>
          </p:cNvSpPr>
          <p:nvPr/>
        </p:nvSpPr>
        <p:spPr bwMode="auto">
          <a:xfrm>
            <a:off x="167792" y="620688"/>
            <a:ext cx="5976664" cy="5904656"/>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a:lnSpc>
                <a:spcPct val="150000"/>
              </a:lnSpc>
            </a:pPr>
            <a:r>
              <a:rPr lang="es-ES" sz="2100" kern="0" dirty="0"/>
              <a:t>Si se anunció un precio de 20 (precio ‘optimo’) y se supera la capacidad del restaurante (4 mil personas) y en el mercado se ve 8 mil personas, ello refleja que el precio esperado (precio ‘óptimo’) es menor que el precio actual:</a:t>
            </a:r>
          </a:p>
          <a:p>
            <a:pPr marL="0" indent="0" algn="ctr">
              <a:lnSpc>
                <a:spcPct val="150000"/>
              </a:lnSpc>
              <a:buNone/>
            </a:pPr>
            <a:r>
              <a:rPr lang="es-ES" sz="2100" kern="0" dirty="0"/>
              <a:t>𝑷</a:t>
            </a:r>
            <a:r>
              <a:rPr lang="es-ES" sz="2100" kern="0" baseline="-25000" dirty="0"/>
              <a:t>𝒕</a:t>
            </a:r>
            <a:r>
              <a:rPr lang="es-ES" sz="2100" kern="0" dirty="0"/>
              <a:t>&gt;𝑬</a:t>
            </a:r>
            <a:r>
              <a:rPr lang="es-ES" sz="2100" kern="0" baseline="-25000" dirty="0"/>
              <a:t>𝒕−𝟏</a:t>
            </a:r>
            <a:r>
              <a:rPr lang="es-ES" sz="2100" kern="0" dirty="0"/>
              <a:t>𝑷</a:t>
            </a:r>
            <a:r>
              <a:rPr lang="es-ES" sz="2100" kern="0" baseline="-25000" dirty="0"/>
              <a:t>𝒕</a:t>
            </a:r>
          </a:p>
          <a:p>
            <a:pPr>
              <a:lnSpc>
                <a:spcPct val="150000"/>
              </a:lnSpc>
            </a:pPr>
            <a:r>
              <a:rPr lang="es-ES" sz="2100" kern="0" dirty="0"/>
              <a:t>Si se observa una mayor demanda entonces se anuncia un nuevo precio: 30. </a:t>
            </a:r>
          </a:p>
          <a:p>
            <a:pPr>
              <a:lnSpc>
                <a:spcPct val="150000"/>
              </a:lnSpc>
              <a:tabLst>
                <a:tab pos="2509838" algn="l"/>
              </a:tabLst>
            </a:pPr>
            <a:r>
              <a:rPr lang="es-ES" sz="2100" kern="0" dirty="0"/>
              <a:t>Dado esta modificación, algunas personas se irán. </a:t>
            </a:r>
          </a:p>
        </p:txBody>
      </p:sp>
      <p:pic>
        <p:nvPicPr>
          <p:cNvPr id="35" name="Imagen 34">
            <a:extLst>
              <a:ext uri="{FF2B5EF4-FFF2-40B4-BE49-F238E27FC236}">
                <a16:creationId xmlns:a16="http://schemas.microsoft.com/office/drawing/2014/main" id="{A3BE9942-656F-4ED1-D5BE-68D8836A2DF5}"/>
              </a:ext>
            </a:extLst>
          </p:cNvPr>
          <p:cNvPicPr>
            <a:picLocks noChangeAspect="1"/>
          </p:cNvPicPr>
          <p:nvPr/>
        </p:nvPicPr>
        <p:blipFill>
          <a:blip r:embed="rId2"/>
          <a:stretch>
            <a:fillRect/>
          </a:stretch>
        </p:blipFill>
        <p:spPr>
          <a:xfrm>
            <a:off x="6456040" y="1124740"/>
            <a:ext cx="5727580" cy="4578784"/>
          </a:xfrm>
          <a:prstGeom prst="rect">
            <a:avLst/>
          </a:prstGeom>
        </p:spPr>
      </p:pic>
    </p:spTree>
    <p:extLst>
      <p:ext uri="{BB962C8B-B14F-4D97-AF65-F5344CB8AC3E}">
        <p14:creationId xmlns:p14="http://schemas.microsoft.com/office/powerpoint/2010/main" val="608066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94562-2238-7086-B34C-A03CF2894C4D}"/>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FB20EB67-AD6B-5DF2-5AE1-50E01DD2850F}"/>
              </a:ext>
            </a:extLst>
          </p:cNvPr>
          <p:cNvSpPr>
            <a:spLocks noGrp="1" noChangeArrowheads="1"/>
          </p:cNvSpPr>
          <p:nvPr>
            <p:ph type="title"/>
          </p:nvPr>
        </p:nvSpPr>
        <p:spPr>
          <a:xfrm>
            <a:off x="119336" y="38075"/>
            <a:ext cx="10513168" cy="582613"/>
          </a:xfrm>
        </p:spPr>
        <p:txBody>
          <a:bodyPr/>
          <a:lstStyle/>
          <a:p>
            <a:pPr algn="l"/>
            <a:r>
              <a:rPr lang="es-ES" sz="2800" b="1" dirty="0"/>
              <a:t>La oferta agregada</a:t>
            </a:r>
            <a:endParaRPr lang="es-PE" altLang="es-PE" sz="1800" b="1" dirty="0"/>
          </a:p>
        </p:txBody>
      </p:sp>
      <p:sp>
        <p:nvSpPr>
          <p:cNvPr id="4" name="Rectángulo 3">
            <a:extLst>
              <a:ext uri="{FF2B5EF4-FFF2-40B4-BE49-F238E27FC236}">
                <a16:creationId xmlns:a16="http://schemas.microsoft.com/office/drawing/2014/main" id="{38D7C99F-7530-0413-9BBF-ED21AD9DCC43}"/>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AE26A8DC-B111-C592-947A-707593F6F23E}"/>
              </a:ext>
            </a:extLst>
          </p:cNvPr>
          <p:cNvSpPr txBox="1">
            <a:spLocks noChangeArrowheads="1"/>
          </p:cNvSpPr>
          <p:nvPr/>
        </p:nvSpPr>
        <p:spPr bwMode="auto">
          <a:xfrm>
            <a:off x="479376" y="944724"/>
            <a:ext cx="11089232" cy="4968552"/>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150000"/>
              </a:lnSpc>
            </a:pPr>
            <a:r>
              <a:rPr lang="es-ES" sz="2200" kern="0" dirty="0"/>
              <a:t>Si tras el cambio del precio (de 20 a 30) se van 2 mil de los 8 mil (quedan 6 mil), entonces ¿cómo se les atiende? </a:t>
            </a:r>
          </a:p>
          <a:p>
            <a:pPr>
              <a:lnSpc>
                <a:spcPct val="150000"/>
              </a:lnSpc>
            </a:pPr>
            <a:r>
              <a:rPr lang="es-ES" sz="2200" kern="0" dirty="0"/>
              <a:t>En un proceso optimo, si hay </a:t>
            </a:r>
            <a:r>
              <a:rPr lang="es-ES" sz="2200" b="1" u="sng" kern="0" dirty="0"/>
              <a:t>rigidez de salarios</a:t>
            </a:r>
            <a:r>
              <a:rPr lang="es-ES" sz="2200" kern="0" dirty="0"/>
              <a:t>, el salario real de hoy será que menor el salario real óptimo.</a:t>
            </a:r>
          </a:p>
          <a:p>
            <a:pPr marL="360363" indent="-360363">
              <a:lnSpc>
                <a:spcPct val="150000"/>
              </a:lnSpc>
              <a:tabLst>
                <a:tab pos="360363" algn="l"/>
              </a:tabLst>
            </a:pPr>
            <a:r>
              <a:rPr lang="es-ES" sz="2200" kern="0" dirty="0"/>
              <a:t>Ello implica que el </a:t>
            </a:r>
            <a:r>
              <a:rPr lang="es-ES" sz="2200" i="1" kern="0" dirty="0" err="1"/>
              <a:t>CMg</a:t>
            </a:r>
            <a:r>
              <a:rPr lang="es-ES" sz="2200" kern="0" dirty="0"/>
              <a:t> actual es menor que el </a:t>
            </a:r>
            <a:r>
              <a:rPr lang="es-ES" sz="2200" i="1" kern="0" dirty="0" err="1"/>
              <a:t>PMg</a:t>
            </a:r>
            <a:r>
              <a:rPr lang="es-ES" sz="2200" kern="0" dirty="0"/>
              <a:t> porque los salarios están rígidos. </a:t>
            </a:r>
          </a:p>
          <a:p>
            <a:pPr marL="360363" indent="-360363">
              <a:lnSpc>
                <a:spcPct val="150000"/>
              </a:lnSpc>
              <a:tabLst>
                <a:tab pos="360363" algn="l"/>
              </a:tabLst>
            </a:pPr>
            <a:r>
              <a:rPr lang="es-ES" sz="2200" kern="0" dirty="0"/>
              <a:t>Es decir, la empresa observa que c/trabajador puede producir mucho más de lo que le cuesta: así el productor aprovecha eso y producirá más, cubriendo esa demanda adicional </a:t>
            </a:r>
            <a:r>
              <a:rPr lang="es-ES" sz="2200" kern="0" dirty="0">
                <a:sym typeface="Wingdings" panose="05000000000000000000" pitchFamily="2" charset="2"/>
              </a:rPr>
              <a:t> </a:t>
            </a:r>
            <a:r>
              <a:rPr lang="es-ES" sz="2200" kern="0" dirty="0"/>
              <a:t>eso va constituyendo lo que se le llama oferta agregada.</a:t>
            </a:r>
            <a:endParaRPr lang="es-PE" sz="2200" kern="0" dirty="0"/>
          </a:p>
        </p:txBody>
      </p:sp>
    </p:spTree>
    <p:extLst>
      <p:ext uri="{BB962C8B-B14F-4D97-AF65-F5344CB8AC3E}">
        <p14:creationId xmlns:p14="http://schemas.microsoft.com/office/powerpoint/2010/main" val="651488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F9416-DC21-95CB-5273-90B1B4F94C00}"/>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2257EC9B-64FA-079A-434E-162E36AB4B33}"/>
              </a:ext>
            </a:extLst>
          </p:cNvPr>
          <p:cNvSpPr>
            <a:spLocks noGrp="1" noChangeArrowheads="1"/>
          </p:cNvSpPr>
          <p:nvPr>
            <p:ph type="title"/>
          </p:nvPr>
        </p:nvSpPr>
        <p:spPr>
          <a:xfrm>
            <a:off x="119336" y="38075"/>
            <a:ext cx="10513168" cy="582613"/>
          </a:xfrm>
        </p:spPr>
        <p:txBody>
          <a:bodyPr/>
          <a:lstStyle/>
          <a:p>
            <a:pPr algn="l"/>
            <a:r>
              <a:rPr lang="es-ES" sz="2800" b="1" dirty="0"/>
              <a:t>La oferta agregada</a:t>
            </a:r>
            <a:endParaRPr lang="es-PE" altLang="es-PE" sz="1800" b="1" dirty="0"/>
          </a:p>
        </p:txBody>
      </p:sp>
      <p:sp>
        <p:nvSpPr>
          <p:cNvPr id="4" name="Rectángulo 3">
            <a:extLst>
              <a:ext uri="{FF2B5EF4-FFF2-40B4-BE49-F238E27FC236}">
                <a16:creationId xmlns:a16="http://schemas.microsoft.com/office/drawing/2014/main" id="{A048D8CE-F822-30CB-5236-459BCE91E0DE}"/>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AB7681AC-9D4B-545D-F1F5-720F28C7E3E9}"/>
              </a:ext>
            </a:extLst>
          </p:cNvPr>
          <p:cNvSpPr txBox="1">
            <a:spLocks noChangeArrowheads="1"/>
          </p:cNvSpPr>
          <p:nvPr/>
        </p:nvSpPr>
        <p:spPr bwMode="auto">
          <a:xfrm>
            <a:off x="479376" y="944724"/>
            <a:ext cx="5040560" cy="4968552"/>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150000"/>
              </a:lnSpc>
            </a:pPr>
            <a:r>
              <a:rPr lang="es-ES" sz="2200" kern="0" dirty="0"/>
              <a:t>Se pasa de 𝐿</a:t>
            </a:r>
            <a:r>
              <a:rPr lang="es-ES" sz="2200" kern="0" baseline="-25000" dirty="0"/>
              <a:t>𝑛</a:t>
            </a:r>
            <a:r>
              <a:rPr lang="es-ES" sz="2200" kern="0" dirty="0"/>
              <a:t> a 𝐿</a:t>
            </a:r>
            <a:r>
              <a:rPr lang="es-ES" sz="2200" kern="0" baseline="-25000" dirty="0"/>
              <a:t>1</a:t>
            </a:r>
            <a:r>
              <a:rPr lang="es-ES" sz="2200" kern="0" dirty="0"/>
              <a:t> y de 𝑦</a:t>
            </a:r>
            <a:r>
              <a:rPr lang="es-ES" sz="2200" kern="0" baseline="-25000" dirty="0"/>
              <a:t>n</a:t>
            </a:r>
            <a:r>
              <a:rPr lang="es-ES" sz="2200" kern="0" dirty="0"/>
              <a:t> a 𝑦</a:t>
            </a:r>
            <a:r>
              <a:rPr lang="es-ES" sz="2200" kern="0" baseline="-25000" dirty="0"/>
              <a:t>1</a:t>
            </a:r>
            <a:r>
              <a:rPr lang="es-ES" sz="2200" kern="0" dirty="0"/>
              <a:t>. </a:t>
            </a:r>
          </a:p>
          <a:p>
            <a:pPr>
              <a:lnSpc>
                <a:spcPct val="150000"/>
              </a:lnSpc>
            </a:pPr>
            <a:r>
              <a:rPr lang="es-ES" sz="2200" kern="0" dirty="0"/>
              <a:t>Se muestra que:</a:t>
            </a:r>
          </a:p>
          <a:p>
            <a:pPr marL="355600" indent="0">
              <a:lnSpc>
                <a:spcPct val="150000"/>
              </a:lnSpc>
              <a:buNone/>
            </a:pPr>
            <a:r>
              <a:rPr lang="es-ES" sz="2200" kern="0" dirty="0"/>
              <a:t>el desvío del producto efectivo respecto al producto potencial es resultado del desvío de los precios con respecto al nivel ‘óptimo’ esperado. </a:t>
            </a:r>
          </a:p>
          <a:p>
            <a:pPr marL="355600" indent="0">
              <a:lnSpc>
                <a:spcPct val="150000"/>
              </a:lnSpc>
              <a:buNone/>
            </a:pPr>
            <a:r>
              <a:rPr lang="es-ES" sz="2200" kern="0" dirty="0"/>
              <a:t>Eso es posible por la rigidez nominal de los salarios.</a:t>
            </a:r>
            <a:endParaRPr lang="es-PE" sz="2200" kern="0" dirty="0"/>
          </a:p>
        </p:txBody>
      </p:sp>
      <p:pic>
        <p:nvPicPr>
          <p:cNvPr id="2" name="Imagen 1">
            <a:extLst>
              <a:ext uri="{FF2B5EF4-FFF2-40B4-BE49-F238E27FC236}">
                <a16:creationId xmlns:a16="http://schemas.microsoft.com/office/drawing/2014/main" id="{1686D2DB-81AF-B256-087A-C1E791A800F7}"/>
              </a:ext>
            </a:extLst>
          </p:cNvPr>
          <p:cNvPicPr>
            <a:picLocks noChangeAspect="1"/>
          </p:cNvPicPr>
          <p:nvPr/>
        </p:nvPicPr>
        <p:blipFill>
          <a:blip r:embed="rId2"/>
          <a:stretch>
            <a:fillRect/>
          </a:stretch>
        </p:blipFill>
        <p:spPr>
          <a:xfrm>
            <a:off x="5766697" y="1124740"/>
            <a:ext cx="6315815" cy="4788536"/>
          </a:xfrm>
          <a:prstGeom prst="rect">
            <a:avLst/>
          </a:prstGeom>
        </p:spPr>
      </p:pic>
    </p:spTree>
    <p:extLst>
      <p:ext uri="{BB962C8B-B14F-4D97-AF65-F5344CB8AC3E}">
        <p14:creationId xmlns:p14="http://schemas.microsoft.com/office/powerpoint/2010/main" val="2638389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46813-43FB-9DFB-3FF9-1F25BD0AA0BA}"/>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2360F92D-7A41-2F77-08B5-B5621AA01972}"/>
              </a:ext>
            </a:extLst>
          </p:cNvPr>
          <p:cNvSpPr>
            <a:spLocks noGrp="1" noChangeArrowheads="1"/>
          </p:cNvSpPr>
          <p:nvPr>
            <p:ph type="title"/>
          </p:nvPr>
        </p:nvSpPr>
        <p:spPr>
          <a:xfrm>
            <a:off x="119336" y="38075"/>
            <a:ext cx="10513168" cy="582613"/>
          </a:xfrm>
        </p:spPr>
        <p:txBody>
          <a:bodyPr/>
          <a:lstStyle/>
          <a:p>
            <a:pPr algn="l"/>
            <a:r>
              <a:rPr lang="es-ES" sz="2800" b="1" dirty="0"/>
              <a:t>La oferta agregada: Shocks</a:t>
            </a:r>
            <a:endParaRPr lang="es-PE" altLang="es-PE" sz="1800" b="1" dirty="0"/>
          </a:p>
        </p:txBody>
      </p:sp>
      <p:sp>
        <p:nvSpPr>
          <p:cNvPr id="4" name="Rectángulo 3">
            <a:extLst>
              <a:ext uri="{FF2B5EF4-FFF2-40B4-BE49-F238E27FC236}">
                <a16:creationId xmlns:a16="http://schemas.microsoft.com/office/drawing/2014/main" id="{415DF8A7-21BE-2E14-6F6C-032BEBC15F3D}"/>
              </a:ext>
            </a:extLst>
          </p:cNvPr>
          <p:cNvSpPr/>
          <p:nvPr/>
        </p:nvSpPr>
        <p:spPr bwMode="auto">
          <a:xfrm>
            <a:off x="6096000" y="5445224"/>
            <a:ext cx="1224136" cy="2583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s-PE" sz="2700" b="0" i="0" u="none" strike="noStrike" cap="none" normalizeH="0" baseline="0">
              <a:ln>
                <a:noFill/>
              </a:ln>
              <a:solidFill>
                <a:schemeClr val="tx1"/>
              </a:solidFill>
              <a:effectLst/>
              <a:latin typeface="Arial" charset="0"/>
            </a:endParaRPr>
          </a:p>
        </p:txBody>
      </p:sp>
      <p:sp>
        <p:nvSpPr>
          <p:cNvPr id="6" name="Marcador de contenido 2">
            <a:extLst>
              <a:ext uri="{FF2B5EF4-FFF2-40B4-BE49-F238E27FC236}">
                <a16:creationId xmlns:a16="http://schemas.microsoft.com/office/drawing/2014/main" id="{C41A4C3C-922C-DBD2-7123-87D00EF2B991}"/>
              </a:ext>
            </a:extLst>
          </p:cNvPr>
          <p:cNvSpPr txBox="1">
            <a:spLocks noChangeArrowheads="1"/>
          </p:cNvSpPr>
          <p:nvPr/>
        </p:nvSpPr>
        <p:spPr bwMode="auto">
          <a:xfrm>
            <a:off x="307728" y="1226484"/>
            <a:ext cx="11548912" cy="3570668"/>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150000"/>
              </a:lnSpc>
            </a:pPr>
            <a:r>
              <a:rPr lang="es-ES" sz="2300" dirty="0"/>
              <a:t>El choque de oferta más conocido en el Perú es un choque negativo que hace que la producción disminuya es el fenómeno de El Niño (que afecta mayormente a sectores intensivos en mano de obra).</a:t>
            </a:r>
          </a:p>
          <a:p>
            <a:pPr>
              <a:lnSpc>
                <a:spcPct val="150000"/>
              </a:lnSpc>
            </a:pPr>
            <a:r>
              <a:rPr lang="es-ES" sz="2300" dirty="0"/>
              <a:t>El fenómeno de El Niño es un ruido blanco (es estocástico de media 0), por lo que una vez que El Niño se desaparece, se retoma la senda o trayectoria como estaba previamente.</a:t>
            </a:r>
            <a:endParaRPr lang="es-PE" sz="2300" dirty="0"/>
          </a:p>
        </p:txBody>
      </p:sp>
    </p:spTree>
    <p:extLst>
      <p:ext uri="{BB962C8B-B14F-4D97-AF65-F5344CB8AC3E}">
        <p14:creationId xmlns:p14="http://schemas.microsoft.com/office/powerpoint/2010/main" val="14672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4265A-ABA7-9EF6-769A-64470C396DBF}"/>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9276BDE3-E810-F1D6-4574-F7533FE70460}"/>
              </a:ext>
            </a:extLst>
          </p:cNvPr>
          <p:cNvSpPr>
            <a:spLocks noGrp="1" noChangeArrowheads="1"/>
          </p:cNvSpPr>
          <p:nvPr>
            <p:ph type="title"/>
          </p:nvPr>
        </p:nvSpPr>
        <p:spPr>
          <a:xfrm>
            <a:off x="119336" y="332656"/>
            <a:ext cx="8991600" cy="582613"/>
          </a:xfrm>
        </p:spPr>
        <p:txBody>
          <a:bodyPr/>
          <a:lstStyle/>
          <a:p>
            <a:pPr algn="l"/>
            <a:r>
              <a:rPr lang="es-PE" altLang="es-PE" sz="3200" b="1" dirty="0"/>
              <a:t>La Demanda Agregada</a:t>
            </a:r>
          </a:p>
        </p:txBody>
      </p:sp>
      <p:sp>
        <p:nvSpPr>
          <p:cNvPr id="32771" name="Marcador de contenido 2">
            <a:extLst>
              <a:ext uri="{FF2B5EF4-FFF2-40B4-BE49-F238E27FC236}">
                <a16:creationId xmlns:a16="http://schemas.microsoft.com/office/drawing/2014/main" id="{109C0BC9-2D52-13A3-BCC1-22ED7E9DCDDE}"/>
              </a:ext>
            </a:extLst>
          </p:cNvPr>
          <p:cNvSpPr>
            <a:spLocks noGrp="1" noChangeArrowheads="1"/>
          </p:cNvSpPr>
          <p:nvPr>
            <p:ph idx="1"/>
          </p:nvPr>
        </p:nvSpPr>
        <p:spPr>
          <a:xfrm>
            <a:off x="263351" y="1124744"/>
            <a:ext cx="5477308" cy="4953000"/>
          </a:xfrm>
          <a:ln>
            <a:solidFill>
              <a:schemeClr val="bg2">
                <a:lumMod val="60000"/>
                <a:lumOff val="40000"/>
              </a:schemeClr>
            </a:solidFill>
          </a:ln>
        </p:spPr>
        <p:txBody>
          <a:bodyPr/>
          <a:lstStyle/>
          <a:p>
            <a:pPr>
              <a:lnSpc>
                <a:spcPct val="150000"/>
              </a:lnSpc>
            </a:pPr>
            <a:r>
              <a:rPr lang="es-ES" sz="2400" dirty="0"/>
              <a:t>En el modelo se tiene una demanda agregada tal que hay un nivel autónomo, y la parte endógena que depende negativamente de la tasa de interés real más los distintos choques de demanda estocásticos que puedan ocurrir.</a:t>
            </a:r>
          </a:p>
        </p:txBody>
      </p:sp>
      <p:sp>
        <p:nvSpPr>
          <p:cNvPr id="2" name="Marcador de contenido 2">
            <a:extLst>
              <a:ext uri="{FF2B5EF4-FFF2-40B4-BE49-F238E27FC236}">
                <a16:creationId xmlns:a16="http://schemas.microsoft.com/office/drawing/2014/main" id="{1B0AE4D5-4C4C-9A7F-EDB6-351F52CD0897}"/>
              </a:ext>
            </a:extLst>
          </p:cNvPr>
          <p:cNvSpPr txBox="1">
            <a:spLocks noChangeArrowheads="1"/>
          </p:cNvSpPr>
          <p:nvPr/>
        </p:nvSpPr>
        <p:spPr bwMode="auto">
          <a:xfrm>
            <a:off x="6240016" y="1124744"/>
            <a:ext cx="5477308" cy="4953000"/>
          </a:xfrm>
          <a:prstGeom prst="rect">
            <a:avLst/>
          </a:prstGeom>
          <a:noFill/>
          <a:ln>
            <a:solidFill>
              <a:schemeClr val="bg2">
                <a:lumMod val="60000"/>
                <a:lumOff val="40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150000"/>
              </a:lnSpc>
            </a:pPr>
            <a:r>
              <a:rPr lang="es-ES" sz="2400" kern="0" dirty="0"/>
              <a:t>El modelo:</a:t>
            </a:r>
          </a:p>
          <a:p>
            <a:pPr marL="0" indent="0" algn="ctr">
              <a:lnSpc>
                <a:spcPct val="150000"/>
              </a:lnSpc>
              <a:buNone/>
            </a:pPr>
            <a:r>
              <a:rPr lang="es-PE" altLang="es-PE" sz="2400" kern="0" dirty="0" err="1"/>
              <a:t>y</a:t>
            </a:r>
            <a:r>
              <a:rPr lang="es-PE" altLang="es-PE" sz="2400" kern="0" baseline="30000" dirty="0" err="1"/>
              <a:t>D</a:t>
            </a:r>
            <a:r>
              <a:rPr lang="es-PE" altLang="es-PE" sz="2400" kern="0" dirty="0"/>
              <a:t> = y</a:t>
            </a:r>
            <a:r>
              <a:rPr lang="es-PE" altLang="es-PE" sz="2400" kern="0" baseline="-25000" dirty="0">
                <a:latin typeface="Calibri" panose="020F0502020204030204" pitchFamily="34" charset="0"/>
                <a:ea typeface="Calibri" panose="020F0502020204030204" pitchFamily="34" charset="0"/>
                <a:cs typeface="Calibri" panose="020F0502020204030204" pitchFamily="34" charset="0"/>
              </a:rPr>
              <a:t>0</a:t>
            </a:r>
            <a:r>
              <a:rPr lang="es-PE" altLang="es-PE" sz="2400" kern="0" dirty="0"/>
              <a:t> – </a:t>
            </a:r>
            <a:r>
              <a:rPr lang="el-GR" altLang="es-PE" sz="2400" kern="0" dirty="0">
                <a:latin typeface="Palatino Linotype" panose="02040502050505030304" pitchFamily="18" charset="0"/>
              </a:rPr>
              <a:t>β</a:t>
            </a:r>
            <a:r>
              <a:rPr lang="es-PE" altLang="es-PE" sz="2400" kern="0" baseline="-25000" dirty="0">
                <a:latin typeface="Palatino Linotype" panose="02040502050505030304" pitchFamily="18" charset="0"/>
              </a:rPr>
              <a:t>0</a:t>
            </a:r>
            <a:r>
              <a:rPr lang="es-PE" altLang="es-PE" sz="2400" kern="0" dirty="0">
                <a:latin typeface="+mj-lt"/>
              </a:rPr>
              <a:t>r</a:t>
            </a:r>
            <a:r>
              <a:rPr lang="es-PE" altLang="es-PE" sz="2400" kern="0" baseline="-25000" dirty="0">
                <a:latin typeface="+mj-lt"/>
                <a:ea typeface="Calibri" panose="020F0502020204030204" pitchFamily="34" charset="0"/>
                <a:cs typeface="Calibri" panose="020F0502020204030204" pitchFamily="34" charset="0"/>
              </a:rPr>
              <a:t>t</a:t>
            </a:r>
            <a:r>
              <a:rPr lang="es-PE" altLang="es-PE" sz="2400" kern="0" dirty="0">
                <a:latin typeface="+mj-lt"/>
              </a:rPr>
              <a:t>+</a:t>
            </a:r>
            <a:r>
              <a:rPr lang="el-GR" altLang="es-PE" sz="2400" kern="0" dirty="0">
                <a:latin typeface="+mj-lt"/>
                <a:ea typeface="Calibri" panose="020F0502020204030204" pitchFamily="34" charset="0"/>
                <a:cs typeface="Calibri" panose="020F0502020204030204" pitchFamily="34" charset="0"/>
              </a:rPr>
              <a:t>ε</a:t>
            </a:r>
            <a:r>
              <a:rPr lang="es-PE" altLang="es-PE" sz="2400" kern="0" baseline="-25000" dirty="0">
                <a:latin typeface="+mj-lt"/>
                <a:ea typeface="Calibri" panose="020F0502020204030204" pitchFamily="34" charset="0"/>
                <a:cs typeface="Calibri" panose="020F0502020204030204" pitchFamily="34" charset="0"/>
              </a:rPr>
              <a:t>t</a:t>
            </a:r>
          </a:p>
          <a:p>
            <a:pPr lvl="1">
              <a:lnSpc>
                <a:spcPct val="150000"/>
              </a:lnSpc>
            </a:pPr>
            <a:r>
              <a:rPr lang="es-PE" altLang="es-PE" sz="2400" kern="0" dirty="0" err="1"/>
              <a:t>y</a:t>
            </a:r>
            <a:r>
              <a:rPr lang="es-PE" altLang="es-PE" sz="2400" kern="0" baseline="30000" dirty="0" err="1"/>
              <a:t>D</a:t>
            </a:r>
            <a:r>
              <a:rPr lang="es-PE" altLang="es-PE" sz="2400" kern="0" dirty="0"/>
              <a:t> : demanda agregada</a:t>
            </a:r>
            <a:endParaRPr lang="es-PE" altLang="es-PE" sz="2400" kern="0" baseline="-25000" dirty="0">
              <a:ea typeface="Calibri" panose="020F0502020204030204" pitchFamily="34" charset="0"/>
              <a:cs typeface="Calibri" panose="020F0502020204030204" pitchFamily="34" charset="0"/>
            </a:endParaRPr>
          </a:p>
          <a:p>
            <a:pPr lvl="1">
              <a:lnSpc>
                <a:spcPct val="150000"/>
              </a:lnSpc>
            </a:pPr>
            <a:r>
              <a:rPr lang="es-PE" altLang="es-PE" sz="2400" kern="0" dirty="0"/>
              <a:t>y</a:t>
            </a:r>
            <a:r>
              <a:rPr lang="es-PE" altLang="es-PE" sz="2400" kern="0" baseline="-25000" dirty="0">
                <a:latin typeface="Calibri" panose="020F0502020204030204" pitchFamily="34" charset="0"/>
                <a:ea typeface="Calibri" panose="020F0502020204030204" pitchFamily="34" charset="0"/>
                <a:cs typeface="Calibri" panose="020F0502020204030204" pitchFamily="34" charset="0"/>
              </a:rPr>
              <a:t>0</a:t>
            </a:r>
            <a:r>
              <a:rPr lang="es-PE" altLang="es-PE" sz="2400" kern="0" dirty="0"/>
              <a:t> : nivel de producción autónoma</a:t>
            </a:r>
          </a:p>
          <a:p>
            <a:pPr lvl="1">
              <a:lnSpc>
                <a:spcPct val="150000"/>
              </a:lnSpc>
            </a:pPr>
            <a:r>
              <a:rPr lang="es-PE" altLang="es-PE" sz="2400" kern="0" dirty="0" err="1"/>
              <a:t>r</a:t>
            </a:r>
            <a:r>
              <a:rPr lang="es-PE" altLang="es-PE" sz="2400" kern="0" baseline="-25000" dirty="0" err="1">
                <a:ea typeface="Calibri" panose="020F0502020204030204" pitchFamily="34" charset="0"/>
                <a:cs typeface="Calibri" panose="020F0502020204030204" pitchFamily="34" charset="0"/>
              </a:rPr>
              <a:t>t</a:t>
            </a:r>
            <a:r>
              <a:rPr lang="es-PE" altLang="es-PE" sz="2400" kern="0" dirty="0"/>
              <a:t>: tasa de interés real</a:t>
            </a:r>
            <a:endParaRPr lang="es-PE" altLang="es-PE" sz="2400" kern="0" baseline="-25000" dirty="0">
              <a:ea typeface="Calibri" panose="020F0502020204030204" pitchFamily="34" charset="0"/>
              <a:cs typeface="Calibri" panose="020F0502020204030204" pitchFamily="34" charset="0"/>
            </a:endParaRPr>
          </a:p>
          <a:p>
            <a:pPr lvl="1">
              <a:lnSpc>
                <a:spcPct val="150000"/>
              </a:lnSpc>
            </a:pPr>
            <a:r>
              <a:rPr lang="el-GR" altLang="es-PE" sz="2400" kern="0" dirty="0">
                <a:ea typeface="Calibri" panose="020F0502020204030204" pitchFamily="34" charset="0"/>
                <a:cs typeface="Calibri" panose="020F0502020204030204" pitchFamily="34" charset="0"/>
              </a:rPr>
              <a:t>ε</a:t>
            </a:r>
            <a:r>
              <a:rPr lang="es-PE" altLang="es-PE" sz="2400" kern="0" baseline="-25000" dirty="0">
                <a:ea typeface="Calibri" panose="020F0502020204030204" pitchFamily="34" charset="0"/>
                <a:cs typeface="Calibri" panose="020F0502020204030204" pitchFamily="34" charset="0"/>
              </a:rPr>
              <a:t>t</a:t>
            </a:r>
            <a:r>
              <a:rPr lang="es-PE" altLang="es-PE" sz="2400" kern="0" baseline="-25000" dirty="0">
                <a:latin typeface="+mj-lt"/>
                <a:ea typeface="Calibri" panose="020F0502020204030204" pitchFamily="34" charset="0"/>
                <a:cs typeface="Calibri" panose="020F0502020204030204" pitchFamily="34" charset="0"/>
              </a:rPr>
              <a:t> </a:t>
            </a:r>
            <a:r>
              <a:rPr lang="es-PE" altLang="es-PE" sz="2400" kern="0" dirty="0">
                <a:latin typeface="+mj-lt"/>
                <a:ea typeface="Calibri" panose="020F0502020204030204" pitchFamily="34" charset="0"/>
                <a:cs typeface="Calibri" panose="020F0502020204030204" pitchFamily="34" charset="0"/>
              </a:rPr>
              <a:t> : shocks de demanda</a:t>
            </a:r>
            <a:endParaRPr lang="es-PE" altLang="es-PE" sz="2400" kern="0" baseline="-25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3880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0A826-8A3B-927A-3FF2-3DFCEFC461FC}"/>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96030D9B-992D-DF4D-3605-80C316AB3EA8}"/>
              </a:ext>
            </a:extLst>
          </p:cNvPr>
          <p:cNvSpPr>
            <a:spLocks noGrp="1" noChangeArrowheads="1"/>
          </p:cNvSpPr>
          <p:nvPr>
            <p:ph type="title"/>
          </p:nvPr>
        </p:nvSpPr>
        <p:spPr>
          <a:xfrm>
            <a:off x="119336" y="332656"/>
            <a:ext cx="8991600" cy="582613"/>
          </a:xfrm>
        </p:spPr>
        <p:txBody>
          <a:bodyPr/>
          <a:lstStyle/>
          <a:p>
            <a:pPr algn="l"/>
            <a:r>
              <a:rPr lang="es-PE" altLang="es-PE" sz="3200" b="1" dirty="0"/>
              <a:t>La Demanda Agregada</a:t>
            </a:r>
          </a:p>
        </p:txBody>
      </p:sp>
      <p:sp>
        <p:nvSpPr>
          <p:cNvPr id="32771" name="Marcador de contenido 2">
            <a:extLst>
              <a:ext uri="{FF2B5EF4-FFF2-40B4-BE49-F238E27FC236}">
                <a16:creationId xmlns:a16="http://schemas.microsoft.com/office/drawing/2014/main" id="{B828B86F-DB87-00D7-7DC2-A3F5E1C49751}"/>
              </a:ext>
            </a:extLst>
          </p:cNvPr>
          <p:cNvSpPr>
            <a:spLocks noGrp="1" noChangeArrowheads="1"/>
          </p:cNvSpPr>
          <p:nvPr>
            <p:ph idx="1"/>
          </p:nvPr>
        </p:nvSpPr>
        <p:spPr>
          <a:xfrm>
            <a:off x="263350" y="1124744"/>
            <a:ext cx="11521282" cy="5400600"/>
          </a:xfrm>
          <a:ln>
            <a:solidFill>
              <a:schemeClr val="bg2">
                <a:lumMod val="60000"/>
                <a:lumOff val="40000"/>
              </a:schemeClr>
            </a:solidFill>
          </a:ln>
        </p:spPr>
        <p:txBody>
          <a:bodyPr/>
          <a:lstStyle/>
          <a:p>
            <a:pPr>
              <a:lnSpc>
                <a:spcPct val="150000"/>
              </a:lnSpc>
            </a:pPr>
            <a:r>
              <a:rPr lang="es-ES" sz="2400" dirty="0"/>
              <a:t>La Demanda Agregada viene de la Ecuación de Euler:  </a:t>
            </a:r>
          </a:p>
          <a:p>
            <a:pPr>
              <a:lnSpc>
                <a:spcPct val="150000"/>
              </a:lnSpc>
            </a:pPr>
            <a:endParaRPr lang="es-ES" sz="2300" dirty="0">
              <a:ln>
                <a:solidFill>
                  <a:schemeClr val="bg2">
                    <a:lumMod val="75000"/>
                  </a:schemeClr>
                </a:solidFill>
              </a:ln>
            </a:endParaRPr>
          </a:p>
          <a:p>
            <a:pPr>
              <a:lnSpc>
                <a:spcPct val="150000"/>
              </a:lnSpc>
            </a:pPr>
            <a:endParaRPr lang="es-ES" sz="2300" dirty="0">
              <a:ln>
                <a:solidFill>
                  <a:schemeClr val="bg2">
                    <a:lumMod val="75000"/>
                  </a:schemeClr>
                </a:solidFill>
              </a:ln>
            </a:endParaRPr>
          </a:p>
          <a:p>
            <a:pPr>
              <a:lnSpc>
                <a:spcPct val="150000"/>
              </a:lnSpc>
            </a:pPr>
            <a:r>
              <a:rPr lang="es-ES" sz="2400" dirty="0"/>
              <a:t>La Ecuación dice que si aumentan la tasa de interés, aumenta tasa de interés la real. </a:t>
            </a:r>
          </a:p>
          <a:p>
            <a:pPr>
              <a:lnSpc>
                <a:spcPct val="150000"/>
              </a:lnSpc>
            </a:pPr>
            <a:r>
              <a:rPr lang="es-ES" sz="2400" dirty="0"/>
              <a:t>La única forma de restablecer la condición de Euler es aumentando la TMS (es decir, debe subir la </a:t>
            </a:r>
            <a:r>
              <a:rPr lang="es-ES" sz="2400" dirty="0" err="1"/>
              <a:t>UMg</a:t>
            </a:r>
            <a:r>
              <a:rPr lang="es-ES" sz="2400" dirty="0"/>
              <a:t> de consumir hoy, y para ello debería consumir menos hoy).</a:t>
            </a:r>
          </a:p>
          <a:p>
            <a:pPr>
              <a:lnSpc>
                <a:spcPct val="150000"/>
              </a:lnSpc>
            </a:pPr>
            <a:r>
              <a:rPr lang="es-ES" sz="2400" dirty="0"/>
              <a:t>Por ello, hay una relación negativa entre la Demanda Agregada y la tasa interés real.</a:t>
            </a:r>
            <a:endParaRPr lang="es-PE" altLang="es-PE" sz="2400" dirty="0"/>
          </a:p>
        </p:txBody>
      </p:sp>
      <p:pic>
        <p:nvPicPr>
          <p:cNvPr id="3" name="Imagen 2">
            <a:extLst>
              <a:ext uri="{FF2B5EF4-FFF2-40B4-BE49-F238E27FC236}">
                <a16:creationId xmlns:a16="http://schemas.microsoft.com/office/drawing/2014/main" id="{9825DBC5-BA36-54BD-E957-E450E6270614}"/>
              </a:ext>
            </a:extLst>
          </p:cNvPr>
          <p:cNvPicPr>
            <a:picLocks noChangeAspect="1"/>
          </p:cNvPicPr>
          <p:nvPr/>
        </p:nvPicPr>
        <p:blipFill>
          <a:blip r:embed="rId2"/>
          <a:stretch>
            <a:fillRect/>
          </a:stretch>
        </p:blipFill>
        <p:spPr>
          <a:xfrm>
            <a:off x="3359696" y="1772816"/>
            <a:ext cx="4968552" cy="1008112"/>
          </a:xfrm>
          <a:prstGeom prst="rect">
            <a:avLst/>
          </a:prstGeom>
        </p:spPr>
      </p:pic>
    </p:spTree>
    <p:extLst>
      <p:ext uri="{BB962C8B-B14F-4D97-AF65-F5344CB8AC3E}">
        <p14:creationId xmlns:p14="http://schemas.microsoft.com/office/powerpoint/2010/main" val="2273745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EA353-6A2E-55FC-A1BC-D735663F797A}"/>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1C89399B-9B65-81F4-BB40-27FD9123976C}"/>
              </a:ext>
            </a:extLst>
          </p:cNvPr>
          <p:cNvSpPr>
            <a:spLocks noGrp="1" noChangeArrowheads="1"/>
          </p:cNvSpPr>
          <p:nvPr>
            <p:ph type="title"/>
          </p:nvPr>
        </p:nvSpPr>
        <p:spPr>
          <a:xfrm>
            <a:off x="119336" y="332656"/>
            <a:ext cx="8991600" cy="582613"/>
          </a:xfrm>
        </p:spPr>
        <p:txBody>
          <a:bodyPr/>
          <a:lstStyle/>
          <a:p>
            <a:pPr algn="l"/>
            <a:r>
              <a:rPr lang="es-PE" altLang="es-PE" sz="3200" b="1" dirty="0"/>
              <a:t>Equilibrio Monetario</a:t>
            </a:r>
          </a:p>
        </p:txBody>
      </p:sp>
      <p:sp>
        <p:nvSpPr>
          <p:cNvPr id="32771" name="Marcador de contenido 2">
            <a:extLst>
              <a:ext uri="{FF2B5EF4-FFF2-40B4-BE49-F238E27FC236}">
                <a16:creationId xmlns:a16="http://schemas.microsoft.com/office/drawing/2014/main" id="{3F758181-906C-213A-6A51-5D1160E29511}"/>
              </a:ext>
            </a:extLst>
          </p:cNvPr>
          <p:cNvSpPr>
            <a:spLocks noGrp="1" noChangeArrowheads="1"/>
          </p:cNvSpPr>
          <p:nvPr>
            <p:ph idx="1"/>
          </p:nvPr>
        </p:nvSpPr>
        <p:spPr>
          <a:xfrm>
            <a:off x="263350" y="1124744"/>
            <a:ext cx="11521282" cy="5400600"/>
          </a:xfrm>
          <a:ln>
            <a:solidFill>
              <a:schemeClr val="bg2">
                <a:lumMod val="60000"/>
                <a:lumOff val="40000"/>
              </a:schemeClr>
            </a:solidFill>
          </a:ln>
        </p:spPr>
        <p:txBody>
          <a:bodyPr/>
          <a:lstStyle/>
          <a:p>
            <a:pPr>
              <a:lnSpc>
                <a:spcPct val="150000"/>
              </a:lnSpc>
            </a:pPr>
            <a:r>
              <a:rPr lang="es-ES" sz="2400" dirty="0"/>
              <a:t>Para poder transar los bienes por el lado de la oferta y la demanda se necesita liquidez (dinero), entonces la tercera ecuación del modelo es el equilibrio monetario</a:t>
            </a:r>
          </a:p>
          <a:p>
            <a:pPr marL="0" indent="0">
              <a:lnSpc>
                <a:spcPct val="150000"/>
              </a:lnSpc>
              <a:buNone/>
            </a:pPr>
            <a:endParaRPr lang="es-ES" sz="2300" dirty="0">
              <a:ln>
                <a:solidFill>
                  <a:schemeClr val="bg2">
                    <a:lumMod val="75000"/>
                  </a:schemeClr>
                </a:solidFill>
              </a:ln>
            </a:endParaRPr>
          </a:p>
          <a:p>
            <a:pPr marL="0" indent="0">
              <a:lnSpc>
                <a:spcPct val="150000"/>
              </a:lnSpc>
              <a:buNone/>
            </a:pPr>
            <a:endParaRPr lang="es-ES" sz="2300" dirty="0">
              <a:ln>
                <a:solidFill>
                  <a:schemeClr val="bg2">
                    <a:lumMod val="75000"/>
                  </a:schemeClr>
                </a:solidFill>
              </a:ln>
            </a:endParaRPr>
          </a:p>
        </p:txBody>
      </p:sp>
      <p:pic>
        <p:nvPicPr>
          <p:cNvPr id="4" name="Imagen 3">
            <a:extLst>
              <a:ext uri="{FF2B5EF4-FFF2-40B4-BE49-F238E27FC236}">
                <a16:creationId xmlns:a16="http://schemas.microsoft.com/office/drawing/2014/main" id="{98F9BB9A-31EF-C07B-DC52-1FF618A392C9}"/>
              </a:ext>
            </a:extLst>
          </p:cNvPr>
          <p:cNvPicPr>
            <a:picLocks noChangeAspect="1"/>
          </p:cNvPicPr>
          <p:nvPr/>
        </p:nvPicPr>
        <p:blipFill>
          <a:blip r:embed="rId2"/>
          <a:stretch>
            <a:fillRect/>
          </a:stretch>
        </p:blipFill>
        <p:spPr>
          <a:xfrm>
            <a:off x="4439816" y="2348880"/>
            <a:ext cx="3817951" cy="518205"/>
          </a:xfrm>
          <a:prstGeom prst="rect">
            <a:avLst/>
          </a:prstGeom>
        </p:spPr>
      </p:pic>
      <p:pic>
        <p:nvPicPr>
          <p:cNvPr id="6" name="Imagen 5">
            <a:extLst>
              <a:ext uri="{FF2B5EF4-FFF2-40B4-BE49-F238E27FC236}">
                <a16:creationId xmlns:a16="http://schemas.microsoft.com/office/drawing/2014/main" id="{1A2FEBEE-F268-94B6-CFE5-2C49ADEA3B20}"/>
              </a:ext>
            </a:extLst>
          </p:cNvPr>
          <p:cNvPicPr>
            <a:picLocks noChangeAspect="1"/>
          </p:cNvPicPr>
          <p:nvPr/>
        </p:nvPicPr>
        <p:blipFill>
          <a:blip r:embed="rId3"/>
          <a:stretch>
            <a:fillRect/>
          </a:stretch>
        </p:blipFill>
        <p:spPr>
          <a:xfrm>
            <a:off x="695400" y="3076560"/>
            <a:ext cx="9990686" cy="3292125"/>
          </a:xfrm>
          <a:prstGeom prst="rect">
            <a:avLst/>
          </a:prstGeom>
        </p:spPr>
      </p:pic>
    </p:spTree>
    <p:extLst>
      <p:ext uri="{BB962C8B-B14F-4D97-AF65-F5344CB8AC3E}">
        <p14:creationId xmlns:p14="http://schemas.microsoft.com/office/powerpoint/2010/main" val="4207067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AD5A1-689E-B2C6-7DFD-1D92F96E596F}"/>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2F91593F-2312-3EF9-7E47-1E364689A93D}"/>
              </a:ext>
            </a:extLst>
          </p:cNvPr>
          <p:cNvSpPr>
            <a:spLocks noGrp="1" noChangeArrowheads="1"/>
          </p:cNvSpPr>
          <p:nvPr>
            <p:ph type="title"/>
          </p:nvPr>
        </p:nvSpPr>
        <p:spPr>
          <a:xfrm>
            <a:off x="119336" y="332656"/>
            <a:ext cx="8991600" cy="582613"/>
          </a:xfrm>
        </p:spPr>
        <p:txBody>
          <a:bodyPr/>
          <a:lstStyle/>
          <a:p>
            <a:pPr algn="l"/>
            <a:r>
              <a:rPr lang="es-PE" altLang="es-PE" sz="3200" b="1" dirty="0"/>
              <a:t>Equilibrio Monetario</a:t>
            </a:r>
          </a:p>
        </p:txBody>
      </p:sp>
      <mc:AlternateContent xmlns:mc="http://schemas.openxmlformats.org/markup-compatibility/2006" xmlns:a14="http://schemas.microsoft.com/office/drawing/2010/main">
        <mc:Choice Requires="a14">
          <p:sp>
            <p:nvSpPr>
              <p:cNvPr id="32771" name="Marcador de contenido 2">
                <a:extLst>
                  <a:ext uri="{FF2B5EF4-FFF2-40B4-BE49-F238E27FC236}">
                    <a16:creationId xmlns:a16="http://schemas.microsoft.com/office/drawing/2014/main" id="{2DDD3FB9-EDA7-5E9E-F975-7A6DCF392CF4}"/>
                  </a:ext>
                </a:extLst>
              </p:cNvPr>
              <p:cNvSpPr>
                <a:spLocks noGrp="1" noChangeArrowheads="1"/>
              </p:cNvSpPr>
              <p:nvPr>
                <p:ph idx="1"/>
              </p:nvPr>
            </p:nvSpPr>
            <p:spPr>
              <a:xfrm>
                <a:off x="263350" y="1124744"/>
                <a:ext cx="11521282" cy="5400600"/>
              </a:xfrm>
              <a:ln>
                <a:solidFill>
                  <a:schemeClr val="bg2">
                    <a:lumMod val="60000"/>
                    <a:lumOff val="40000"/>
                  </a:schemeClr>
                </a:solidFill>
              </a:ln>
            </p:spPr>
            <p:txBody>
              <a:bodyPr/>
              <a:lstStyle/>
              <a:p>
                <a:pPr>
                  <a:lnSpc>
                    <a:spcPct val="150000"/>
                  </a:lnSpc>
                </a:pPr>
                <a:r>
                  <a:rPr lang="es-ES" sz="2300" dirty="0"/>
                  <a:t>Ecuación de Fisher</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s-ES" sz="2300" i="1">
                              <a:latin typeface="Cambria Math" panose="02040503050406030204" pitchFamily="18" charset="0"/>
                            </a:rPr>
                          </m:ctrlPr>
                        </m:sSubPr>
                        <m:e>
                          <m:r>
                            <a:rPr lang="es-PE" sz="2300">
                              <a:latin typeface="Cambria Math" panose="02040503050406030204" pitchFamily="18" charset="0"/>
                            </a:rPr>
                            <m:t>𝑟</m:t>
                          </m:r>
                        </m:e>
                        <m:sub>
                          <m:r>
                            <a:rPr lang="es-PE" sz="2300">
                              <a:latin typeface="Cambria Math" panose="02040503050406030204" pitchFamily="18" charset="0"/>
                            </a:rPr>
                            <m:t>𝑡</m:t>
                          </m:r>
                        </m:sub>
                      </m:sSub>
                      <m:r>
                        <a:rPr lang="es-PE" sz="2300">
                          <a:latin typeface="Cambria Math" panose="02040503050406030204" pitchFamily="18" charset="0"/>
                        </a:rPr>
                        <m:t>= </m:t>
                      </m:r>
                      <m:sSub>
                        <m:sSubPr>
                          <m:ctrlPr>
                            <a:rPr lang="es-PE" sz="2300" i="1">
                              <a:latin typeface="Cambria Math" panose="02040503050406030204" pitchFamily="18" charset="0"/>
                            </a:rPr>
                          </m:ctrlPr>
                        </m:sSubPr>
                        <m:e>
                          <m:r>
                            <a:rPr lang="es-PE" sz="2300">
                              <a:latin typeface="Cambria Math" panose="02040503050406030204" pitchFamily="18" charset="0"/>
                            </a:rPr>
                            <m:t>𝑅</m:t>
                          </m:r>
                        </m:e>
                        <m:sub>
                          <m:r>
                            <a:rPr lang="es-PE" sz="2300">
                              <a:latin typeface="Cambria Math" panose="02040503050406030204" pitchFamily="18" charset="0"/>
                            </a:rPr>
                            <m:t>𝑡</m:t>
                          </m:r>
                        </m:sub>
                      </m:sSub>
                      <m:r>
                        <a:rPr lang="es-PE" sz="2300">
                          <a:latin typeface="Cambria Math" panose="02040503050406030204" pitchFamily="18" charset="0"/>
                        </a:rPr>
                        <m:t>− </m:t>
                      </m:r>
                      <m:sSubSup>
                        <m:sSubSupPr>
                          <m:ctrlPr>
                            <a:rPr lang="es-PE" sz="2300" i="1">
                              <a:latin typeface="Cambria Math" panose="02040503050406030204" pitchFamily="18" charset="0"/>
                            </a:rPr>
                          </m:ctrlPr>
                        </m:sSubSupPr>
                        <m:e>
                          <m:r>
                            <a:rPr lang="es-PE" sz="2300">
                              <a:latin typeface="Cambria Math" panose="02040503050406030204" pitchFamily="18" charset="0"/>
                            </a:rPr>
                            <m:t>𝜋</m:t>
                          </m:r>
                        </m:e>
                        <m:sub>
                          <m:r>
                            <a:rPr lang="es-PE" sz="2300">
                              <a:latin typeface="Cambria Math" panose="02040503050406030204" pitchFamily="18" charset="0"/>
                            </a:rPr>
                            <m:t>𝑡</m:t>
                          </m:r>
                          <m:r>
                            <a:rPr lang="es-PE" sz="2300">
                              <a:latin typeface="Cambria Math" panose="02040503050406030204" pitchFamily="18" charset="0"/>
                            </a:rPr>
                            <m:t>+1</m:t>
                          </m:r>
                        </m:sub>
                        <m:sup>
                          <m:r>
                            <a:rPr lang="es-PE" sz="2300">
                              <a:latin typeface="Cambria Math" panose="02040503050406030204" pitchFamily="18" charset="0"/>
                            </a:rPr>
                            <m:t>𝑒</m:t>
                          </m:r>
                        </m:sup>
                      </m:sSubSup>
                    </m:oMath>
                  </m:oMathPara>
                </a14:m>
                <a:endParaRPr lang="es-ES" sz="2300" dirty="0"/>
              </a:p>
              <a:p>
                <a:pPr>
                  <a:lnSpc>
                    <a:spcPct val="150000"/>
                  </a:lnSpc>
                </a:pPr>
                <a:r>
                  <a:rPr lang="es-ES" sz="2300" dirty="0"/>
                  <a:t>El ámbito financiero está conformado por el equilibrio monetario y la ecuación Fisher.</a:t>
                </a:r>
              </a:p>
              <a:p>
                <a:pPr>
                  <a:lnSpc>
                    <a:spcPct val="150000"/>
                  </a:lnSpc>
                </a:pPr>
                <a:r>
                  <a:rPr lang="es-ES" sz="2300" dirty="0"/>
                  <a:t>Si la tasa de interés es endógena se asume el equilibrio del mercado monetario.</a:t>
                </a:r>
              </a:p>
              <a:p>
                <a:pPr>
                  <a:lnSpc>
                    <a:spcPct val="150000"/>
                  </a:lnSpc>
                </a:pPr>
                <a:r>
                  <a:rPr lang="es-ES" sz="2300" dirty="0"/>
                  <a:t>Si se asume que la tasa de interés es exógena, la tasa la determina el banco central, se utiliza la regla de Taylor.</a:t>
                </a:r>
                <a:endParaRPr lang="es-ES" sz="2300" dirty="0">
                  <a:ln>
                    <a:solidFill>
                      <a:schemeClr val="bg2">
                        <a:lumMod val="75000"/>
                      </a:schemeClr>
                    </a:solidFill>
                  </a:ln>
                </a:endParaRPr>
              </a:p>
            </p:txBody>
          </p:sp>
        </mc:Choice>
        <mc:Fallback xmlns="">
          <p:sp>
            <p:nvSpPr>
              <p:cNvPr id="32771" name="Marcador de contenido 2">
                <a:extLst>
                  <a:ext uri="{FF2B5EF4-FFF2-40B4-BE49-F238E27FC236}">
                    <a16:creationId xmlns:a16="http://schemas.microsoft.com/office/drawing/2014/main" id="{2DDD3FB9-EDA7-5E9E-F975-7A6DCF392CF4}"/>
                  </a:ext>
                </a:extLst>
              </p:cNvPr>
              <p:cNvSpPr>
                <a:spLocks noGrp="1" noRot="1" noChangeAspect="1" noMove="1" noResize="1" noEditPoints="1" noAdjustHandles="1" noChangeArrowheads="1" noChangeShapeType="1" noTextEdit="1"/>
              </p:cNvSpPr>
              <p:nvPr>
                <p:ph idx="1"/>
              </p:nvPr>
            </p:nvSpPr>
            <p:spPr>
              <a:xfrm>
                <a:off x="263350" y="1124744"/>
                <a:ext cx="11521282" cy="5400600"/>
              </a:xfrm>
              <a:blipFill>
                <a:blip r:embed="rId2"/>
                <a:stretch>
                  <a:fillRect l="-581"/>
                </a:stretch>
              </a:blipFill>
              <a:ln>
                <a:solidFill>
                  <a:schemeClr val="bg2">
                    <a:lumMod val="60000"/>
                    <a:lumOff val="40000"/>
                  </a:schemeClr>
                </a:solidFill>
              </a:ln>
            </p:spPr>
            <p:txBody>
              <a:bodyPr/>
              <a:lstStyle/>
              <a:p>
                <a:r>
                  <a:rPr lang="es-PE">
                    <a:noFill/>
                  </a:rPr>
                  <a:t> </a:t>
                </a:r>
              </a:p>
            </p:txBody>
          </p:sp>
        </mc:Fallback>
      </mc:AlternateContent>
    </p:spTree>
    <p:extLst>
      <p:ext uri="{BB962C8B-B14F-4D97-AF65-F5344CB8AC3E}">
        <p14:creationId xmlns:p14="http://schemas.microsoft.com/office/powerpoint/2010/main" val="3673923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1CAC6-9052-36D0-8224-1DAA4DB0DB2A}"/>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F4DB0726-EC9F-FDF2-281F-9AE221A0F368}"/>
              </a:ext>
            </a:extLst>
          </p:cNvPr>
          <p:cNvSpPr>
            <a:spLocks noGrp="1" noChangeArrowheads="1"/>
          </p:cNvSpPr>
          <p:nvPr>
            <p:ph type="title"/>
          </p:nvPr>
        </p:nvSpPr>
        <p:spPr>
          <a:xfrm>
            <a:off x="119336" y="332656"/>
            <a:ext cx="8991600" cy="582613"/>
          </a:xfrm>
        </p:spPr>
        <p:txBody>
          <a:bodyPr/>
          <a:lstStyle/>
          <a:p>
            <a:pPr algn="l"/>
            <a:r>
              <a:rPr lang="es-PE" altLang="es-PE" sz="3200" b="1" dirty="0"/>
              <a:t>Equilibrio del modelo</a:t>
            </a:r>
          </a:p>
        </p:txBody>
      </p:sp>
      <p:sp>
        <p:nvSpPr>
          <p:cNvPr id="32771" name="Marcador de contenido 2">
            <a:extLst>
              <a:ext uri="{FF2B5EF4-FFF2-40B4-BE49-F238E27FC236}">
                <a16:creationId xmlns:a16="http://schemas.microsoft.com/office/drawing/2014/main" id="{B7E4101D-8447-018D-C865-C1E4ABA66942}"/>
              </a:ext>
            </a:extLst>
          </p:cNvPr>
          <p:cNvSpPr>
            <a:spLocks noGrp="1" noChangeArrowheads="1"/>
          </p:cNvSpPr>
          <p:nvPr>
            <p:ph idx="1"/>
          </p:nvPr>
        </p:nvSpPr>
        <p:spPr>
          <a:xfrm>
            <a:off x="407366" y="1124744"/>
            <a:ext cx="11521282" cy="5400600"/>
          </a:xfrm>
          <a:ln>
            <a:solidFill>
              <a:schemeClr val="bg2">
                <a:lumMod val="60000"/>
                <a:lumOff val="40000"/>
              </a:schemeClr>
            </a:solidFill>
          </a:ln>
        </p:spPr>
        <p:txBody>
          <a:bodyPr/>
          <a:lstStyle/>
          <a:p>
            <a:pPr>
              <a:lnSpc>
                <a:spcPct val="150000"/>
              </a:lnSpc>
            </a:pPr>
            <a:r>
              <a:rPr lang="es-ES" sz="2400" dirty="0"/>
              <a:t>Los shocks de corto plazo intensivos en mano de obra permiten analizar la significancia de:</a:t>
            </a:r>
          </a:p>
          <a:p>
            <a:pPr marL="857250" lvl="1" indent="-457200">
              <a:lnSpc>
                <a:spcPct val="150000"/>
              </a:lnSpc>
              <a:buFont typeface="+mj-lt"/>
              <a:buAutoNum type="arabicPeriod"/>
            </a:pPr>
            <a:r>
              <a:rPr lang="es-ES" sz="2400" dirty="0"/>
              <a:t>Un shock positivo de oferta de corto plazo</a:t>
            </a:r>
          </a:p>
          <a:p>
            <a:pPr marL="857250" lvl="1" indent="-457200">
              <a:lnSpc>
                <a:spcPct val="150000"/>
              </a:lnSpc>
              <a:buFont typeface="+mj-lt"/>
              <a:buAutoNum type="arabicPeriod"/>
            </a:pPr>
            <a:r>
              <a:rPr lang="es-ES" sz="2400" dirty="0"/>
              <a:t>Un shock positivo de demanda de dinero de corto plazo</a:t>
            </a:r>
          </a:p>
          <a:p>
            <a:pPr marL="857250" lvl="1" indent="-457200">
              <a:lnSpc>
                <a:spcPct val="150000"/>
              </a:lnSpc>
              <a:buFont typeface="+mj-lt"/>
              <a:buAutoNum type="arabicPeriod"/>
            </a:pPr>
            <a:r>
              <a:rPr lang="es-ES" sz="2400" dirty="0"/>
              <a:t>Un shock positivo de liquidez de corto plazo (demanda de dinero)</a:t>
            </a:r>
          </a:p>
          <a:p>
            <a:pPr marL="857250" lvl="1" indent="-457200">
              <a:lnSpc>
                <a:spcPct val="150000"/>
              </a:lnSpc>
              <a:buFont typeface="+mj-lt"/>
              <a:buAutoNum type="arabicPeriod"/>
            </a:pPr>
            <a:r>
              <a:rPr lang="es-ES" sz="2400" dirty="0"/>
              <a:t>Un aumento de la oferta monetaria del BCR</a:t>
            </a:r>
          </a:p>
        </p:txBody>
      </p:sp>
    </p:spTree>
    <p:extLst>
      <p:ext uri="{BB962C8B-B14F-4D97-AF65-F5344CB8AC3E}">
        <p14:creationId xmlns:p14="http://schemas.microsoft.com/office/powerpoint/2010/main" val="257810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7D4CC-40D0-AEFD-15E3-5862EECDA3A5}"/>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B14372C1-1FB7-CD56-2A43-7FDDA3BF0423}"/>
              </a:ext>
            </a:extLst>
          </p:cNvPr>
          <p:cNvSpPr>
            <a:spLocks noGrp="1" noChangeArrowheads="1"/>
          </p:cNvSpPr>
          <p:nvPr>
            <p:ph type="title"/>
          </p:nvPr>
        </p:nvSpPr>
        <p:spPr>
          <a:xfrm>
            <a:off x="119336" y="332656"/>
            <a:ext cx="8991600" cy="582613"/>
          </a:xfrm>
        </p:spPr>
        <p:txBody>
          <a:bodyPr/>
          <a:lstStyle/>
          <a:p>
            <a:pPr algn="l"/>
            <a:r>
              <a:rPr lang="es-PE" altLang="es-PE" sz="3200" b="1" dirty="0"/>
              <a:t>Equilibrio del modelo</a:t>
            </a:r>
          </a:p>
        </p:txBody>
      </p:sp>
      <p:sp>
        <p:nvSpPr>
          <p:cNvPr id="32771" name="Marcador de contenido 2">
            <a:extLst>
              <a:ext uri="{FF2B5EF4-FFF2-40B4-BE49-F238E27FC236}">
                <a16:creationId xmlns:a16="http://schemas.microsoft.com/office/drawing/2014/main" id="{D75A8C25-B874-45E7-263E-71A826ED0111}"/>
              </a:ext>
            </a:extLst>
          </p:cNvPr>
          <p:cNvSpPr>
            <a:spLocks noGrp="1" noChangeArrowheads="1"/>
          </p:cNvSpPr>
          <p:nvPr>
            <p:ph idx="1"/>
          </p:nvPr>
        </p:nvSpPr>
        <p:spPr>
          <a:xfrm>
            <a:off x="407366" y="1124744"/>
            <a:ext cx="11521282" cy="5400600"/>
          </a:xfrm>
          <a:ln>
            <a:solidFill>
              <a:schemeClr val="bg2">
                <a:lumMod val="60000"/>
                <a:lumOff val="40000"/>
              </a:schemeClr>
            </a:solidFill>
          </a:ln>
        </p:spPr>
        <p:txBody>
          <a:bodyPr/>
          <a:lstStyle/>
          <a:p>
            <a:pPr>
              <a:lnSpc>
                <a:spcPct val="150000"/>
              </a:lnSpc>
            </a:pPr>
            <a:r>
              <a:rPr lang="es-ES" sz="2000" dirty="0"/>
              <a:t>Se analiza el efecto de los shocks en el nivel de precios, PBI, tasa de desempleo, tasa de interés nominal y tasa de interés real.</a:t>
            </a:r>
          </a:p>
          <a:p>
            <a:pPr>
              <a:lnSpc>
                <a:spcPct val="150000"/>
              </a:lnSpc>
            </a:pPr>
            <a:r>
              <a:rPr lang="es-ES" sz="2000" dirty="0"/>
              <a:t>Estos modelos son dinámicos porque la OA responde a las desviaciones del Y efectivo respecto al Y potencial, ajustándose dinámicamente a los desvíos de los precios respecto a su nivel óptimo. </a:t>
            </a:r>
          </a:p>
          <a:p>
            <a:pPr>
              <a:lnSpc>
                <a:spcPct val="150000"/>
              </a:lnSpc>
            </a:pPr>
            <a:r>
              <a:rPr lang="es-ES" sz="2000" dirty="0"/>
              <a:t>Además, se les llama modelos estocásticos porque incluyen ruidos blancos en sus cálculos. </a:t>
            </a:r>
          </a:p>
          <a:p>
            <a:pPr>
              <a:lnSpc>
                <a:spcPct val="150000"/>
              </a:lnSpc>
            </a:pPr>
            <a:r>
              <a:rPr lang="es-ES" sz="2000" dirty="0"/>
              <a:t>También se conocen como modelos de equilibrio general debido a su enfoque integral en la economía. Por estas razones, estos modelos se denominan DSGE (Modelos Dinámicos Estocásticos de Equilibrio General).</a:t>
            </a:r>
          </a:p>
          <a:p>
            <a:pPr>
              <a:lnSpc>
                <a:spcPct val="150000"/>
              </a:lnSpc>
            </a:pPr>
            <a:r>
              <a:rPr lang="es-ES" sz="2000" dirty="0"/>
              <a:t>Se tiene una OA y DA en equilibrio, y la liquidez en equilibrio y la ecuación de Fisher que cierra el modelo.</a:t>
            </a:r>
          </a:p>
          <a:p>
            <a:pPr>
              <a:lnSpc>
                <a:spcPct val="150000"/>
              </a:lnSpc>
            </a:pPr>
            <a:r>
              <a:rPr lang="es-ES" sz="2000" dirty="0"/>
              <a:t>Para evaluar la significancia de estos shocks  se tiene que partir de una situación de equilibrio en estado estable y del área donde primero impactan estos shocks .</a:t>
            </a:r>
            <a:endParaRPr lang="es-ES" sz="2000" dirty="0">
              <a:ln>
                <a:solidFill>
                  <a:schemeClr val="bg2">
                    <a:lumMod val="75000"/>
                  </a:schemeClr>
                </a:solidFill>
              </a:ln>
            </a:endParaRPr>
          </a:p>
        </p:txBody>
      </p:sp>
    </p:spTree>
    <p:extLst>
      <p:ext uri="{BB962C8B-B14F-4D97-AF65-F5344CB8AC3E}">
        <p14:creationId xmlns:p14="http://schemas.microsoft.com/office/powerpoint/2010/main" val="3751278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1079C-24CA-75CB-8151-A4DA87D865C3}"/>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F174A49A-5AE3-1855-5690-F6B4D63E2EF2}"/>
              </a:ext>
            </a:extLst>
          </p:cNvPr>
          <p:cNvSpPr>
            <a:spLocks noGrp="1" noChangeArrowheads="1"/>
          </p:cNvSpPr>
          <p:nvPr>
            <p:ph type="title"/>
          </p:nvPr>
        </p:nvSpPr>
        <p:spPr>
          <a:xfrm>
            <a:off x="119336" y="332656"/>
            <a:ext cx="8991600" cy="582613"/>
          </a:xfrm>
        </p:spPr>
        <p:txBody>
          <a:bodyPr/>
          <a:lstStyle/>
          <a:p>
            <a:pPr algn="l"/>
            <a:r>
              <a:rPr lang="es-PE" altLang="es-PE" sz="3200" b="1" dirty="0"/>
              <a:t>Shocks al modelos</a:t>
            </a:r>
          </a:p>
        </p:txBody>
      </p:sp>
      <p:sp>
        <p:nvSpPr>
          <p:cNvPr id="32771" name="Marcador de contenido 2">
            <a:extLst>
              <a:ext uri="{FF2B5EF4-FFF2-40B4-BE49-F238E27FC236}">
                <a16:creationId xmlns:a16="http://schemas.microsoft.com/office/drawing/2014/main" id="{B5E7EDA2-AB6F-16F8-BC98-CC71C2EE2076}"/>
              </a:ext>
            </a:extLst>
          </p:cNvPr>
          <p:cNvSpPr>
            <a:spLocks noGrp="1" noChangeArrowheads="1"/>
          </p:cNvSpPr>
          <p:nvPr>
            <p:ph idx="1"/>
          </p:nvPr>
        </p:nvSpPr>
        <p:spPr>
          <a:xfrm>
            <a:off x="263352" y="881773"/>
            <a:ext cx="11521282" cy="5400600"/>
          </a:xfrm>
          <a:ln>
            <a:solidFill>
              <a:schemeClr val="bg2">
                <a:lumMod val="60000"/>
                <a:lumOff val="40000"/>
              </a:schemeClr>
            </a:solidFill>
          </a:ln>
        </p:spPr>
        <p:txBody>
          <a:bodyPr/>
          <a:lstStyle/>
          <a:p>
            <a:pPr marL="0" indent="0">
              <a:lnSpc>
                <a:spcPct val="150000"/>
              </a:lnSpc>
              <a:buNone/>
            </a:pPr>
            <a:r>
              <a:rPr lang="es-PE" sz="2000" b="1" dirty="0"/>
              <a:t>1. SHOCK POSITIVO DE OFERTA </a:t>
            </a:r>
          </a:p>
          <a:p>
            <a:pPr marL="0" indent="0">
              <a:lnSpc>
                <a:spcPct val="150000"/>
              </a:lnSpc>
              <a:buNone/>
            </a:pPr>
            <a:r>
              <a:rPr lang="es-PE" sz="2000" dirty="0"/>
              <a:t>Un </a:t>
            </a:r>
            <a:r>
              <a:rPr lang="es-PE" sz="2000" b="1" dirty="0"/>
              <a:t>a</a:t>
            </a:r>
            <a:r>
              <a:rPr lang="es-ES" sz="2000" b="1" dirty="0" err="1"/>
              <a:t>umento</a:t>
            </a:r>
            <a:r>
              <a:rPr lang="es-ES" sz="2000" b="1" dirty="0"/>
              <a:t> en el volumen de lluvias</a:t>
            </a:r>
            <a:r>
              <a:rPr lang="es-ES" sz="2000" dirty="0"/>
              <a:t> (mejora las condiciones para la producción agrícola).</a:t>
            </a:r>
          </a:p>
          <a:p>
            <a:pPr>
              <a:lnSpc>
                <a:spcPct val="150000"/>
              </a:lnSpc>
            </a:pPr>
            <a:r>
              <a:rPr lang="es-ES" sz="2000" b="1" u="sng" dirty="0"/>
              <a:t>Nivel de precios</a:t>
            </a:r>
            <a:r>
              <a:rPr lang="es-ES" sz="2000" dirty="0"/>
              <a:t>: Se produce un exceso de oferta </a:t>
            </a:r>
            <a:r>
              <a:rPr lang="es-ES" sz="2000" dirty="0">
                <a:sym typeface="Wingdings" panose="05000000000000000000" pitchFamily="2" charset="2"/>
              </a:rPr>
              <a:t> </a:t>
            </a:r>
            <a:r>
              <a:rPr lang="es-ES" sz="2000" dirty="0"/>
              <a:t>una caída temporal en los precios. Sin embargo, como el shock es transitorio (un ruido blanco), los precios eventualmente se recuperarán cuando las condiciones climáticas vuelvan a la normalidad, formando una curva en forma de U.</a:t>
            </a:r>
          </a:p>
          <a:p>
            <a:pPr>
              <a:lnSpc>
                <a:spcPct val="150000"/>
              </a:lnSpc>
            </a:pPr>
            <a:r>
              <a:rPr lang="es-ES" sz="2000" b="1" u="sng" dirty="0"/>
              <a:t>Nivel de Actividad</a:t>
            </a:r>
            <a:r>
              <a:rPr lang="es-ES" sz="2000" dirty="0"/>
              <a:t>: El exceso de oferta inicial </a:t>
            </a:r>
            <a:r>
              <a:rPr lang="es-ES" sz="2000" dirty="0">
                <a:sym typeface="Wingdings" panose="05000000000000000000" pitchFamily="2" charset="2"/>
              </a:rPr>
              <a:t> </a:t>
            </a:r>
            <a:r>
              <a:rPr lang="es-ES" sz="2000" dirty="0"/>
              <a:t>reducción en los precios </a:t>
            </a:r>
            <a:r>
              <a:rPr lang="es-ES" sz="2000" dirty="0">
                <a:sym typeface="Wingdings" panose="05000000000000000000" pitchFamily="2" charset="2"/>
              </a:rPr>
              <a:t> </a:t>
            </a:r>
            <a:r>
              <a:rPr lang="es-ES" sz="2000" dirty="0"/>
              <a:t>aumenta la DA. Este incremento en la DA ayuda a absorber el exceso de oferta </a:t>
            </a:r>
            <a:r>
              <a:rPr lang="es-ES" sz="2000" dirty="0">
                <a:sym typeface="Wingdings" panose="05000000000000000000" pitchFamily="2" charset="2"/>
              </a:rPr>
              <a:t> </a:t>
            </a:r>
            <a:r>
              <a:rPr lang="es-ES" sz="2000" dirty="0"/>
              <a:t>, lo que eleva tanto la OA como la DA. Como resultado, la actividad económica sube temporalmente hasta que el shock se disipe (hace una U invertida).</a:t>
            </a:r>
          </a:p>
          <a:p>
            <a:pPr>
              <a:lnSpc>
                <a:spcPct val="150000"/>
              </a:lnSpc>
            </a:pPr>
            <a:r>
              <a:rPr lang="es-ES" sz="2000" b="1" u="sng" dirty="0"/>
              <a:t>Tasa de Desempleo</a:t>
            </a:r>
            <a:r>
              <a:rPr lang="es-ES" sz="2000" dirty="0"/>
              <a:t>: Con el aumento de la producción, se requiere más mano de obra, lo que eleva el empleo y reduce el desempleo. Sin embargo, esta disminución en la tasa de desempleo es temporal y sigue la forma de una U, volviendo a los niveles normales una vez que el shock se disipe.</a:t>
            </a:r>
          </a:p>
        </p:txBody>
      </p:sp>
    </p:spTree>
    <p:extLst>
      <p:ext uri="{BB962C8B-B14F-4D97-AF65-F5344CB8AC3E}">
        <p14:creationId xmlns:p14="http://schemas.microsoft.com/office/powerpoint/2010/main" val="702049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1118-2E3C-DB8F-C37A-C9E0DF3512F4}"/>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B5CDD7A1-EA50-9884-3A02-D572243B962E}"/>
              </a:ext>
            </a:extLst>
          </p:cNvPr>
          <p:cNvSpPr>
            <a:spLocks noGrp="1" noChangeArrowheads="1"/>
          </p:cNvSpPr>
          <p:nvPr>
            <p:ph type="title"/>
          </p:nvPr>
        </p:nvSpPr>
        <p:spPr>
          <a:xfrm>
            <a:off x="119336" y="332656"/>
            <a:ext cx="8991600" cy="582613"/>
          </a:xfrm>
        </p:spPr>
        <p:txBody>
          <a:bodyPr/>
          <a:lstStyle/>
          <a:p>
            <a:pPr algn="l"/>
            <a:r>
              <a:rPr lang="es-PE" altLang="es-PE" sz="3200" b="1" dirty="0"/>
              <a:t>Shocks al modelos</a:t>
            </a:r>
          </a:p>
        </p:txBody>
      </p:sp>
      <p:sp>
        <p:nvSpPr>
          <p:cNvPr id="32771" name="Marcador de contenido 2">
            <a:extLst>
              <a:ext uri="{FF2B5EF4-FFF2-40B4-BE49-F238E27FC236}">
                <a16:creationId xmlns:a16="http://schemas.microsoft.com/office/drawing/2014/main" id="{047D085C-B3F9-38C5-D889-90D31024D862}"/>
              </a:ext>
            </a:extLst>
          </p:cNvPr>
          <p:cNvSpPr>
            <a:spLocks noGrp="1" noChangeArrowheads="1"/>
          </p:cNvSpPr>
          <p:nvPr>
            <p:ph idx="1"/>
          </p:nvPr>
        </p:nvSpPr>
        <p:spPr>
          <a:xfrm>
            <a:off x="263352" y="881773"/>
            <a:ext cx="11521282" cy="5400600"/>
          </a:xfrm>
          <a:ln>
            <a:solidFill>
              <a:schemeClr val="bg2">
                <a:lumMod val="60000"/>
                <a:lumOff val="40000"/>
              </a:schemeClr>
            </a:solidFill>
          </a:ln>
        </p:spPr>
        <p:txBody>
          <a:bodyPr/>
          <a:lstStyle/>
          <a:p>
            <a:pPr marL="0" indent="0">
              <a:lnSpc>
                <a:spcPct val="150000"/>
              </a:lnSpc>
              <a:buNone/>
            </a:pPr>
            <a:r>
              <a:rPr lang="es-PE" sz="2400" b="1" dirty="0"/>
              <a:t>1. SHOCK POSITIVO DE OFERTA </a:t>
            </a:r>
          </a:p>
          <a:p>
            <a:pPr>
              <a:lnSpc>
                <a:spcPct val="150000"/>
              </a:lnSpc>
            </a:pPr>
            <a:r>
              <a:rPr lang="es-ES" sz="2000" b="1" u="sng" dirty="0"/>
              <a:t>Tasa de Interés Nominal</a:t>
            </a:r>
            <a:r>
              <a:rPr lang="es-ES" sz="2000" dirty="0"/>
              <a:t>: La caída de los precios reduce la demanda de dinero, mientras que la oferta monetaria permanece constante, creando un exceso de liquidez. Este exceso de oferta monetaria provoca una disminución en la tasa de interés nominal durante la duración del shock.</a:t>
            </a:r>
          </a:p>
          <a:p>
            <a:pPr>
              <a:lnSpc>
                <a:spcPct val="150000"/>
              </a:lnSpc>
            </a:pPr>
            <a:r>
              <a:rPr lang="es-ES" sz="2000" b="1" u="sng" dirty="0"/>
              <a:t>Tasa de Interés Real</a:t>
            </a:r>
            <a:r>
              <a:rPr lang="es-ES" sz="2000" dirty="0"/>
              <a:t>: Con la disminución de la tasa de interés nominal debido al exceso de liquidez, la tasa de interés real también cae. Esta reducción es temporal y se mantendrá mientras dure el shock positivo de oferta. Una vez que las condiciones vuelvan a la normalidad, tanto la tasa de interés nominal como la real se estabilizarán.</a:t>
            </a:r>
          </a:p>
        </p:txBody>
      </p:sp>
    </p:spTree>
    <p:extLst>
      <p:ext uri="{BB962C8B-B14F-4D97-AF65-F5344CB8AC3E}">
        <p14:creationId xmlns:p14="http://schemas.microsoft.com/office/powerpoint/2010/main" val="6650501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38867-B8E7-1766-738C-2D83D66BBC55}"/>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1F6645F0-FC3E-4208-86D3-D714DF325A13}"/>
              </a:ext>
            </a:extLst>
          </p:cNvPr>
          <p:cNvSpPr>
            <a:spLocks noGrp="1" noChangeArrowheads="1"/>
          </p:cNvSpPr>
          <p:nvPr>
            <p:ph type="title"/>
          </p:nvPr>
        </p:nvSpPr>
        <p:spPr>
          <a:xfrm>
            <a:off x="119336" y="332656"/>
            <a:ext cx="8991600" cy="582613"/>
          </a:xfrm>
        </p:spPr>
        <p:txBody>
          <a:bodyPr/>
          <a:lstStyle/>
          <a:p>
            <a:pPr algn="l"/>
            <a:r>
              <a:rPr lang="es-PE" altLang="es-PE" sz="3200" b="1" dirty="0"/>
              <a:t>Shocks al modelos</a:t>
            </a:r>
          </a:p>
        </p:txBody>
      </p:sp>
      <p:sp>
        <p:nvSpPr>
          <p:cNvPr id="32771" name="Marcador de contenido 2">
            <a:extLst>
              <a:ext uri="{FF2B5EF4-FFF2-40B4-BE49-F238E27FC236}">
                <a16:creationId xmlns:a16="http://schemas.microsoft.com/office/drawing/2014/main" id="{E917565D-C771-25CB-1C6E-EF3C3E30B8A1}"/>
              </a:ext>
            </a:extLst>
          </p:cNvPr>
          <p:cNvSpPr>
            <a:spLocks noGrp="1" noChangeArrowheads="1"/>
          </p:cNvSpPr>
          <p:nvPr>
            <p:ph idx="1"/>
          </p:nvPr>
        </p:nvSpPr>
        <p:spPr>
          <a:xfrm>
            <a:off x="263352" y="881772"/>
            <a:ext cx="11521282" cy="5643571"/>
          </a:xfrm>
          <a:ln>
            <a:solidFill>
              <a:schemeClr val="bg2">
                <a:lumMod val="60000"/>
                <a:lumOff val="40000"/>
              </a:schemeClr>
            </a:solidFill>
          </a:ln>
        </p:spPr>
        <p:txBody>
          <a:bodyPr/>
          <a:lstStyle/>
          <a:p>
            <a:pPr marL="0" indent="0">
              <a:lnSpc>
                <a:spcPct val="150000"/>
              </a:lnSpc>
              <a:buNone/>
            </a:pPr>
            <a:r>
              <a:rPr lang="es-PE" sz="1800" b="1" dirty="0"/>
              <a:t>2. SHOCK POSITIVO DE DEMANDA</a:t>
            </a:r>
          </a:p>
          <a:p>
            <a:pPr marL="0" indent="0">
              <a:lnSpc>
                <a:spcPct val="150000"/>
              </a:lnSpc>
              <a:buNone/>
            </a:pPr>
            <a:r>
              <a:rPr lang="es-ES" sz="1800" b="1" dirty="0"/>
              <a:t>Aumento en el gasto del gobierno</a:t>
            </a:r>
          </a:p>
          <a:p>
            <a:pPr>
              <a:lnSpc>
                <a:spcPct val="150000"/>
              </a:lnSpc>
            </a:pPr>
            <a:r>
              <a:rPr lang="es-ES" sz="1800" b="1" u="sng" dirty="0"/>
              <a:t>Nivel de Precios</a:t>
            </a:r>
            <a:r>
              <a:rPr lang="es-ES" sz="1800" dirty="0"/>
              <a:t>: Un shock de demanda </a:t>
            </a:r>
            <a:r>
              <a:rPr lang="es-ES" sz="1800" dirty="0">
                <a:sym typeface="Wingdings" panose="05000000000000000000" pitchFamily="2" charset="2"/>
              </a:rPr>
              <a:t></a:t>
            </a:r>
            <a:r>
              <a:rPr lang="es-ES" sz="1800" dirty="0"/>
              <a:t> incremento en la DA </a:t>
            </a:r>
            <a:r>
              <a:rPr lang="es-ES" sz="1800" dirty="0">
                <a:sym typeface="Wingdings" panose="05000000000000000000" pitchFamily="2" charset="2"/>
              </a:rPr>
              <a:t> </a:t>
            </a:r>
            <a:r>
              <a:rPr lang="es-ES" sz="1800" dirty="0"/>
              <a:t>genera un exceso de demanda </a:t>
            </a:r>
            <a:r>
              <a:rPr lang="es-ES" sz="1800" dirty="0">
                <a:sym typeface="Wingdings" panose="05000000000000000000" pitchFamily="2" charset="2"/>
              </a:rPr>
              <a:t>  P</a:t>
            </a:r>
            <a:r>
              <a:rPr lang="es-ES" sz="1800" dirty="0"/>
              <a:t> </a:t>
            </a:r>
            <a:r>
              <a:rPr lang="es-ES" sz="1800" dirty="0">
                <a:latin typeface="Arial" panose="020B0604020202020204" pitchFamily="34" charset="0"/>
                <a:cs typeface="Arial" panose="020B0604020202020204" pitchFamily="34" charset="0"/>
              </a:rPr>
              <a:t>↑</a:t>
            </a:r>
            <a:r>
              <a:rPr lang="es-ES" sz="1800" dirty="0"/>
              <a:t> . Dado que los salarios nominales son rígidos, el salario real </a:t>
            </a:r>
            <a:r>
              <a:rPr lang="es-ES" sz="1800" dirty="0">
                <a:latin typeface="Arial" panose="020B0604020202020204" pitchFamily="34" charset="0"/>
                <a:cs typeface="Arial" panose="020B0604020202020204" pitchFamily="34" charset="0"/>
              </a:rPr>
              <a:t>↓</a:t>
            </a:r>
            <a:r>
              <a:rPr lang="es-ES" sz="1800" dirty="0"/>
              <a:t> </a:t>
            </a:r>
            <a:r>
              <a:rPr lang="es-ES" sz="1800" dirty="0">
                <a:sym typeface="Wingdings" panose="05000000000000000000" pitchFamily="2" charset="2"/>
              </a:rPr>
              <a:t> </a:t>
            </a:r>
            <a:r>
              <a:rPr lang="es-ES" sz="1800" dirty="0"/>
              <a:t>abarata el costo de la mano de obra y eventualmente lleva a un </a:t>
            </a:r>
            <a:r>
              <a:rPr lang="es-ES" sz="1800" dirty="0">
                <a:latin typeface="Arial" panose="020B0604020202020204" pitchFamily="34" charset="0"/>
                <a:cs typeface="Arial" panose="020B0604020202020204" pitchFamily="34" charset="0"/>
              </a:rPr>
              <a:t>↑</a:t>
            </a:r>
            <a:r>
              <a:rPr lang="es-ES" sz="1800" dirty="0"/>
              <a:t> en la OA. Sin embargo, este incremento en P es temporal, ya que el gasto adicional del gobierno es un ruido blanco debido al equilibrio fiscal (el gobierno tendrá que pagar la deuda en el futuro disipando el shock y estabilizando los precios).</a:t>
            </a:r>
          </a:p>
          <a:p>
            <a:pPr>
              <a:lnSpc>
                <a:spcPct val="150000"/>
              </a:lnSpc>
            </a:pPr>
            <a:r>
              <a:rPr lang="es-ES" sz="1800" b="1" u="sng" dirty="0"/>
              <a:t>Nivel de Actividad Económica</a:t>
            </a:r>
            <a:r>
              <a:rPr lang="es-ES" sz="1800" dirty="0"/>
              <a:t>: El aumento en la DA </a:t>
            </a:r>
            <a:r>
              <a:rPr lang="es-ES" sz="1800" dirty="0">
                <a:sym typeface="Wingdings" panose="05000000000000000000" pitchFamily="2" charset="2"/>
              </a:rPr>
              <a:t></a:t>
            </a:r>
            <a:r>
              <a:rPr lang="es-ES" sz="1800" dirty="0"/>
              <a:t> un exceso de demanda (aumenta la actividad económica). El menor costo de la mano de obra </a:t>
            </a:r>
            <a:r>
              <a:rPr lang="es-ES" sz="1800" dirty="0">
                <a:sym typeface="Wingdings" panose="05000000000000000000" pitchFamily="2" charset="2"/>
              </a:rPr>
              <a:t></a:t>
            </a:r>
            <a:r>
              <a:rPr lang="es-ES" sz="1800" dirty="0"/>
              <a:t> a las empresas a incrementar la producción (la OA </a:t>
            </a:r>
            <a:r>
              <a:rPr lang="es-ES" sz="1800" dirty="0">
                <a:latin typeface="Arial" panose="020B0604020202020204" pitchFamily="34" charset="0"/>
                <a:cs typeface="Arial" panose="020B0604020202020204" pitchFamily="34" charset="0"/>
              </a:rPr>
              <a:t>↑).</a:t>
            </a:r>
            <a:r>
              <a:rPr lang="es-ES" sz="1800" dirty="0"/>
              <a:t> La actividad aumenta hasta que el shock se disipe (vuelve a normalidad luego que el gobierno reduce el gasto).</a:t>
            </a:r>
          </a:p>
          <a:p>
            <a:pPr>
              <a:lnSpc>
                <a:spcPct val="150000"/>
              </a:lnSpc>
            </a:pPr>
            <a:r>
              <a:rPr lang="es-ES" sz="1800" b="1" u="sng" dirty="0"/>
              <a:t>Tasa de Desempleo</a:t>
            </a:r>
            <a:r>
              <a:rPr lang="es-ES" sz="1800" dirty="0"/>
              <a:t>: Con el aumento en la producción el empleo aumenta y el desempleo disminuye. Sin embargo, esta reducción en la tasa de desempleo es temporal y solo dura mientras el gobierno mantenga el gasto adicional. Una vez que el gasto disminuya para equilibrar el presupuesto, el desempleo volverá a sus niveles normales.</a:t>
            </a:r>
          </a:p>
        </p:txBody>
      </p:sp>
    </p:spTree>
    <p:extLst>
      <p:ext uri="{BB962C8B-B14F-4D97-AF65-F5344CB8AC3E}">
        <p14:creationId xmlns:p14="http://schemas.microsoft.com/office/powerpoint/2010/main" val="3407490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44A40-630C-1512-D5A0-F866B85B2441}"/>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F2CE0279-E595-65E6-273E-F21986CC847B}"/>
              </a:ext>
            </a:extLst>
          </p:cNvPr>
          <p:cNvSpPr>
            <a:spLocks noGrp="1" noChangeArrowheads="1"/>
          </p:cNvSpPr>
          <p:nvPr>
            <p:ph type="title"/>
          </p:nvPr>
        </p:nvSpPr>
        <p:spPr>
          <a:xfrm>
            <a:off x="119336" y="332656"/>
            <a:ext cx="8991600" cy="582613"/>
          </a:xfrm>
        </p:spPr>
        <p:txBody>
          <a:bodyPr/>
          <a:lstStyle/>
          <a:p>
            <a:pPr algn="l"/>
            <a:r>
              <a:rPr lang="es-PE" altLang="es-PE" sz="3200" b="1" dirty="0"/>
              <a:t>Shocks al modelos</a:t>
            </a:r>
          </a:p>
        </p:txBody>
      </p:sp>
      <p:sp>
        <p:nvSpPr>
          <p:cNvPr id="32771" name="Marcador de contenido 2">
            <a:extLst>
              <a:ext uri="{FF2B5EF4-FFF2-40B4-BE49-F238E27FC236}">
                <a16:creationId xmlns:a16="http://schemas.microsoft.com/office/drawing/2014/main" id="{19259851-CD52-1AD1-5C16-2E706113599E}"/>
              </a:ext>
            </a:extLst>
          </p:cNvPr>
          <p:cNvSpPr>
            <a:spLocks noGrp="1" noChangeArrowheads="1"/>
          </p:cNvSpPr>
          <p:nvPr>
            <p:ph idx="1"/>
          </p:nvPr>
        </p:nvSpPr>
        <p:spPr>
          <a:xfrm>
            <a:off x="263352" y="881772"/>
            <a:ext cx="11521282" cy="5643571"/>
          </a:xfrm>
          <a:ln>
            <a:solidFill>
              <a:schemeClr val="bg2">
                <a:lumMod val="60000"/>
                <a:lumOff val="40000"/>
              </a:schemeClr>
            </a:solidFill>
          </a:ln>
        </p:spPr>
        <p:txBody>
          <a:bodyPr/>
          <a:lstStyle/>
          <a:p>
            <a:pPr marL="0" indent="0">
              <a:lnSpc>
                <a:spcPct val="150000"/>
              </a:lnSpc>
              <a:buNone/>
            </a:pPr>
            <a:r>
              <a:rPr lang="es-PE" sz="2000" b="1" dirty="0"/>
              <a:t>2. SHOCK POSITIVO DE DEMANDA</a:t>
            </a:r>
          </a:p>
          <a:p>
            <a:pPr marL="0" indent="0">
              <a:lnSpc>
                <a:spcPct val="150000"/>
              </a:lnSpc>
              <a:buNone/>
            </a:pPr>
            <a:r>
              <a:rPr lang="es-ES" sz="2000" b="1" dirty="0"/>
              <a:t>Aumento en el gasto del gobierno</a:t>
            </a:r>
          </a:p>
          <a:p>
            <a:pPr>
              <a:lnSpc>
                <a:spcPct val="150000"/>
              </a:lnSpc>
            </a:pPr>
            <a:r>
              <a:rPr lang="es-ES" sz="2000" b="1" u="sng" dirty="0"/>
              <a:t>Tasa de Interés Nominal:</a:t>
            </a:r>
            <a:r>
              <a:rPr lang="es-ES" sz="2000" b="1" dirty="0"/>
              <a:t> </a:t>
            </a:r>
            <a:r>
              <a:rPr lang="es-ES" sz="2000" dirty="0"/>
              <a:t>El aumento en la demanda de bienes y servicios requiere más dinero en circulación debido a los precios más altos. Este exceso de demanda de dinero provoca un incremento en la tasa de interés nominal. La tasa de interés nominal seguirá subiendo hasta que el shock de demanda se disipe y el gasto gubernamental se reduzca.</a:t>
            </a:r>
          </a:p>
          <a:p>
            <a:pPr>
              <a:lnSpc>
                <a:spcPct val="150000"/>
              </a:lnSpc>
            </a:pPr>
            <a:r>
              <a:rPr lang="es-ES" sz="2000" b="1" u="sng" dirty="0"/>
              <a:t>Tasa de Interés Real:</a:t>
            </a:r>
            <a:r>
              <a:rPr lang="es-ES" sz="2000" b="1" dirty="0"/>
              <a:t> </a:t>
            </a:r>
            <a:r>
              <a:rPr lang="es-ES" sz="2000" dirty="0"/>
              <a:t>A medida que la tasa de interés nominal aumenta debido al exceso de demanda de dinero, la tasa de interés real también sube. Este incremento es temporal y se mantendrá mientras dure el shock de demanda. Una vez que el gasto del gobierno vuelva a niveles normales y la deuda se pague, tanto la tasa de interés nominal como la real se estabilizarán.</a:t>
            </a:r>
          </a:p>
        </p:txBody>
      </p:sp>
    </p:spTree>
    <p:extLst>
      <p:ext uri="{BB962C8B-B14F-4D97-AF65-F5344CB8AC3E}">
        <p14:creationId xmlns:p14="http://schemas.microsoft.com/office/powerpoint/2010/main" val="1108515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42C95-7040-9F00-23E4-392F86485805}"/>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9AC90154-F945-0238-CEC4-0D3463413B80}"/>
              </a:ext>
            </a:extLst>
          </p:cNvPr>
          <p:cNvSpPr>
            <a:spLocks noGrp="1" noChangeArrowheads="1"/>
          </p:cNvSpPr>
          <p:nvPr>
            <p:ph type="title"/>
          </p:nvPr>
        </p:nvSpPr>
        <p:spPr>
          <a:xfrm>
            <a:off x="119336" y="332656"/>
            <a:ext cx="8991600" cy="582613"/>
          </a:xfrm>
        </p:spPr>
        <p:txBody>
          <a:bodyPr/>
          <a:lstStyle/>
          <a:p>
            <a:pPr algn="l"/>
            <a:r>
              <a:rPr lang="es-PE" altLang="es-PE" sz="3200" b="1" dirty="0"/>
              <a:t>Shocks al modelos</a:t>
            </a:r>
          </a:p>
        </p:txBody>
      </p:sp>
      <p:sp>
        <p:nvSpPr>
          <p:cNvPr id="32771" name="Marcador de contenido 2">
            <a:extLst>
              <a:ext uri="{FF2B5EF4-FFF2-40B4-BE49-F238E27FC236}">
                <a16:creationId xmlns:a16="http://schemas.microsoft.com/office/drawing/2014/main" id="{F767BBE7-E5E2-9FFD-308E-E40DE48F1CBF}"/>
              </a:ext>
            </a:extLst>
          </p:cNvPr>
          <p:cNvSpPr>
            <a:spLocks noGrp="1" noChangeArrowheads="1"/>
          </p:cNvSpPr>
          <p:nvPr>
            <p:ph idx="1"/>
          </p:nvPr>
        </p:nvSpPr>
        <p:spPr>
          <a:xfrm>
            <a:off x="263352" y="881772"/>
            <a:ext cx="11521282" cy="5643571"/>
          </a:xfrm>
          <a:ln>
            <a:solidFill>
              <a:schemeClr val="bg2">
                <a:lumMod val="60000"/>
                <a:lumOff val="40000"/>
              </a:schemeClr>
            </a:solidFill>
          </a:ln>
        </p:spPr>
        <p:txBody>
          <a:bodyPr/>
          <a:lstStyle/>
          <a:p>
            <a:pPr marL="0" indent="0">
              <a:lnSpc>
                <a:spcPct val="150000"/>
              </a:lnSpc>
              <a:buNone/>
            </a:pPr>
            <a:r>
              <a:rPr lang="es-ES" sz="1800" b="1" dirty="0"/>
              <a:t>3. SHOCK DE PREFERENCIA POR LIQUIDEZ</a:t>
            </a:r>
          </a:p>
          <a:p>
            <a:pPr>
              <a:lnSpc>
                <a:spcPct val="150000"/>
              </a:lnSpc>
            </a:pPr>
            <a:r>
              <a:rPr lang="es-ES" sz="1800" dirty="0"/>
              <a:t>¿Qué pasa si se quiere más </a:t>
            </a:r>
            <a:r>
              <a:rPr lang="es-ES" sz="1800" dirty="0" err="1"/>
              <a:t>líquidez</a:t>
            </a:r>
            <a:r>
              <a:rPr lang="es-ES" sz="1800" dirty="0"/>
              <a:t>? Esto ocurre en caso de una crisis financiera (expectativa de pérdida de riqueza si se deja dinero en el banco), lo que genera una mayor demanda de dinero en efectivo </a:t>
            </a:r>
            <a:r>
              <a:rPr lang="es-ES" sz="1800" dirty="0">
                <a:sym typeface="Wingdings" panose="05000000000000000000" pitchFamily="2" charset="2"/>
              </a:rPr>
              <a:t>, </a:t>
            </a:r>
            <a:r>
              <a:rPr lang="es-ES" sz="1800" dirty="0"/>
              <a:t>dada la oferta monetaria, las tasas de interés suban. El incremento de la tasa de interés nominal </a:t>
            </a:r>
            <a:r>
              <a:rPr lang="es-ES" sz="1800" dirty="0">
                <a:sym typeface="Wingdings" panose="05000000000000000000" pitchFamily="2" charset="2"/>
              </a:rPr>
              <a:t></a:t>
            </a:r>
            <a:r>
              <a:rPr lang="es-ES" sz="1800" dirty="0"/>
              <a:t> la tasa de interés real también sube. El efecto del shock se propaga al ámbito del sector real de la economía.</a:t>
            </a:r>
          </a:p>
          <a:p>
            <a:pPr>
              <a:lnSpc>
                <a:spcPct val="150000"/>
              </a:lnSpc>
            </a:pPr>
            <a:r>
              <a:rPr lang="es-ES" sz="1800" b="1" u="sng" dirty="0"/>
              <a:t>Tasa de Interés Nominal</a:t>
            </a:r>
            <a:r>
              <a:rPr lang="es-ES" sz="1800" dirty="0"/>
              <a:t>: El shock de preferencia por liquidez comienza en el ámbito monetario financiero (donde el precio relevante es la tasa de interés nominal). La mayor demanda de dinero eleva las tasas de interés nominales, ya que la oferta monetaria no cambia. Esta subida se traduce en un aumento en las tasas de interés nominales, que también se disipan al final por ser ruido blanco.</a:t>
            </a:r>
          </a:p>
          <a:p>
            <a:pPr>
              <a:lnSpc>
                <a:spcPct val="150000"/>
              </a:lnSpc>
            </a:pPr>
            <a:r>
              <a:rPr lang="es-ES" sz="1800" b="1" u="sng" dirty="0"/>
              <a:t>Tasa de Interés Real</a:t>
            </a:r>
            <a:r>
              <a:rPr lang="es-ES" sz="1800" dirty="0"/>
              <a:t>:</a:t>
            </a:r>
            <a:r>
              <a:rPr lang="es-ES" sz="1800" b="1" dirty="0"/>
              <a:t> </a:t>
            </a:r>
            <a:r>
              <a:rPr lang="es-ES" sz="1800" dirty="0"/>
              <a:t>Con el aumento de las tasas de interés nominales, las tasas de interés real también suben. Este incremento en la tasa de interés real disminuye la DA, ya que los individuos prefieren ahorrar en lugar de consumir, esperando mejores rendimientos futuros. La actividad económica y los precios caen de manera abrupta, reflejando los efectos devastadores de un shock de preferencia por liquidez durante una crisis financiera.</a:t>
            </a:r>
          </a:p>
        </p:txBody>
      </p:sp>
    </p:spTree>
    <p:extLst>
      <p:ext uri="{BB962C8B-B14F-4D97-AF65-F5344CB8AC3E}">
        <p14:creationId xmlns:p14="http://schemas.microsoft.com/office/powerpoint/2010/main" val="3635049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1340-55F5-E1BE-B0F7-E1AF09817CF0}"/>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DD45B549-7E09-F2B5-4984-4B1E3F56FD84}"/>
              </a:ext>
            </a:extLst>
          </p:cNvPr>
          <p:cNvSpPr>
            <a:spLocks noGrp="1" noChangeArrowheads="1"/>
          </p:cNvSpPr>
          <p:nvPr>
            <p:ph type="title"/>
          </p:nvPr>
        </p:nvSpPr>
        <p:spPr>
          <a:xfrm>
            <a:off x="119336" y="332656"/>
            <a:ext cx="8991600" cy="582613"/>
          </a:xfrm>
        </p:spPr>
        <p:txBody>
          <a:bodyPr/>
          <a:lstStyle/>
          <a:p>
            <a:pPr algn="l"/>
            <a:r>
              <a:rPr lang="es-PE" altLang="es-PE" sz="3200" b="1" dirty="0"/>
              <a:t>Shocks al modelos</a:t>
            </a:r>
          </a:p>
        </p:txBody>
      </p:sp>
      <p:sp>
        <p:nvSpPr>
          <p:cNvPr id="32771" name="Marcador de contenido 2">
            <a:extLst>
              <a:ext uri="{FF2B5EF4-FFF2-40B4-BE49-F238E27FC236}">
                <a16:creationId xmlns:a16="http://schemas.microsoft.com/office/drawing/2014/main" id="{18D2A996-4DB7-098C-DB92-2004A2289229}"/>
              </a:ext>
            </a:extLst>
          </p:cNvPr>
          <p:cNvSpPr>
            <a:spLocks noGrp="1" noChangeArrowheads="1"/>
          </p:cNvSpPr>
          <p:nvPr>
            <p:ph idx="1"/>
          </p:nvPr>
        </p:nvSpPr>
        <p:spPr>
          <a:xfrm>
            <a:off x="263352" y="881772"/>
            <a:ext cx="11521282" cy="5643571"/>
          </a:xfrm>
          <a:ln>
            <a:solidFill>
              <a:schemeClr val="bg2">
                <a:lumMod val="60000"/>
                <a:lumOff val="40000"/>
              </a:schemeClr>
            </a:solidFill>
          </a:ln>
        </p:spPr>
        <p:txBody>
          <a:bodyPr/>
          <a:lstStyle/>
          <a:p>
            <a:pPr marL="0" indent="0">
              <a:lnSpc>
                <a:spcPct val="150000"/>
              </a:lnSpc>
              <a:buNone/>
            </a:pPr>
            <a:r>
              <a:rPr lang="es-ES" sz="1800" b="1" dirty="0"/>
              <a:t>3. SHOCK DE PREFERENCIA POR LIQUIDEZ</a:t>
            </a:r>
          </a:p>
          <a:p>
            <a:pPr>
              <a:lnSpc>
                <a:spcPct val="150000"/>
              </a:lnSpc>
            </a:pPr>
            <a:r>
              <a:rPr lang="es-ES" sz="1800" b="1" u="sng" dirty="0"/>
              <a:t>Nivel de Precios:</a:t>
            </a:r>
            <a:r>
              <a:rPr lang="es-ES" sz="1800" dirty="0"/>
              <a:t> Cuando ocurre un shock monetario de preferencia por liquidez, la gente prefiere mantener más dinero líquido. Esto aumenta la M</a:t>
            </a:r>
            <a:r>
              <a:rPr lang="es-ES" sz="1800" baseline="30000" dirty="0"/>
              <a:t>d</a:t>
            </a:r>
            <a:r>
              <a:rPr lang="es-ES" sz="1800" dirty="0"/>
              <a:t> y con una M</a:t>
            </a:r>
            <a:r>
              <a:rPr lang="es-ES" sz="1800" baseline="30000" dirty="0"/>
              <a:t>s</a:t>
            </a:r>
            <a:r>
              <a:rPr lang="es-ES" sz="1800" dirty="0"/>
              <a:t> constante, las tasas de interés suben </a:t>
            </a:r>
            <a:r>
              <a:rPr lang="es-ES" sz="1800" dirty="0">
                <a:sym typeface="Wingdings" panose="05000000000000000000" pitchFamily="2" charset="2"/>
              </a:rPr>
              <a:t></a:t>
            </a:r>
            <a:r>
              <a:rPr lang="es-ES" sz="1800" dirty="0"/>
              <a:t> las tasas de interés real reducen la DA (las personas prefieren ahorrar), esperando que en el futuro puedan consumir más. Esta caída en la demanda agregada genera un exceso de oferta de bienes, lo que provoca una caída en los precios.</a:t>
            </a:r>
          </a:p>
          <a:p>
            <a:pPr>
              <a:lnSpc>
                <a:spcPct val="150000"/>
              </a:lnSpc>
            </a:pPr>
            <a:r>
              <a:rPr lang="es-ES" sz="1800" b="1" u="sng" dirty="0"/>
              <a:t>Nivel de Actividad:</a:t>
            </a:r>
            <a:r>
              <a:rPr lang="es-ES" sz="1800" dirty="0"/>
              <a:t> La mayor M</a:t>
            </a:r>
            <a:r>
              <a:rPr lang="es-ES" sz="1800" baseline="30000" dirty="0"/>
              <a:t>d </a:t>
            </a:r>
            <a:r>
              <a:rPr lang="es-ES" sz="1800" dirty="0"/>
              <a:t>y el incremento de las tasas de interés real reducen la DA. Con la caída de la demanda, los precios bajan. Pero debido a la rigidez nominal de los salarios, el salario real sube, encareciendo el costo de la mano de obra. Esto lleva a los productores a utilizar menos mano de obra, reduciendo la producción y causando un desplome en la actividad económica. Tanto la OA como la DA caen llevando a una contracción económica.</a:t>
            </a:r>
          </a:p>
          <a:p>
            <a:pPr>
              <a:lnSpc>
                <a:spcPct val="150000"/>
              </a:lnSpc>
            </a:pPr>
            <a:r>
              <a:rPr lang="es-ES" sz="1800" b="1" u="sng" dirty="0"/>
              <a:t>Tasa de Desempleo</a:t>
            </a:r>
            <a:r>
              <a:rPr lang="es-ES" sz="1800" dirty="0"/>
              <a:t>: El aumento en el salario real debido a la caída de los precios hace que el costo de la mano de obra se incremente, por lo que los productores emplean a menos personas. Esta reducción en el empleo lleva a un aumento en la tasa de desempleo. La preferencia por liquidez y la consecuente disminución en el consumo agravan esta situación, resultando en una subida del desempleo similar a la observada en grandes crisis financieras.</a:t>
            </a:r>
          </a:p>
        </p:txBody>
      </p:sp>
    </p:spTree>
    <p:extLst>
      <p:ext uri="{BB962C8B-B14F-4D97-AF65-F5344CB8AC3E}">
        <p14:creationId xmlns:p14="http://schemas.microsoft.com/office/powerpoint/2010/main" val="2742849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BD5D1-F90B-2677-180A-20F007B74A1E}"/>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9D215FA4-085E-489B-9062-9BE8410DD9C8}"/>
              </a:ext>
            </a:extLst>
          </p:cNvPr>
          <p:cNvSpPr>
            <a:spLocks noGrp="1" noChangeArrowheads="1"/>
          </p:cNvSpPr>
          <p:nvPr>
            <p:ph type="title"/>
          </p:nvPr>
        </p:nvSpPr>
        <p:spPr>
          <a:xfrm>
            <a:off x="119336" y="332656"/>
            <a:ext cx="8991600" cy="582613"/>
          </a:xfrm>
        </p:spPr>
        <p:txBody>
          <a:bodyPr/>
          <a:lstStyle/>
          <a:p>
            <a:pPr algn="l"/>
            <a:r>
              <a:rPr lang="es-PE" altLang="es-PE" sz="3200" b="1" dirty="0"/>
              <a:t>Shocks al modelos</a:t>
            </a:r>
          </a:p>
        </p:txBody>
      </p:sp>
      <p:sp>
        <p:nvSpPr>
          <p:cNvPr id="32771" name="Marcador de contenido 2">
            <a:extLst>
              <a:ext uri="{FF2B5EF4-FFF2-40B4-BE49-F238E27FC236}">
                <a16:creationId xmlns:a16="http://schemas.microsoft.com/office/drawing/2014/main" id="{B0242DBB-BE19-EF2E-92E5-8212808B1DA4}"/>
              </a:ext>
            </a:extLst>
          </p:cNvPr>
          <p:cNvSpPr>
            <a:spLocks noGrp="1" noChangeArrowheads="1"/>
          </p:cNvSpPr>
          <p:nvPr>
            <p:ph idx="1"/>
          </p:nvPr>
        </p:nvSpPr>
        <p:spPr>
          <a:xfrm>
            <a:off x="263352" y="881772"/>
            <a:ext cx="11521282" cy="5643571"/>
          </a:xfrm>
          <a:ln>
            <a:solidFill>
              <a:schemeClr val="bg2">
                <a:lumMod val="60000"/>
                <a:lumOff val="40000"/>
              </a:schemeClr>
            </a:solidFill>
          </a:ln>
        </p:spPr>
        <p:txBody>
          <a:bodyPr/>
          <a:lstStyle/>
          <a:p>
            <a:pPr marL="0" indent="0">
              <a:lnSpc>
                <a:spcPct val="150000"/>
              </a:lnSpc>
              <a:buNone/>
            </a:pPr>
            <a:r>
              <a:rPr lang="es-ES" sz="2000" b="1" dirty="0"/>
              <a:t>4. SHOCK DE OFERTA MONETARIA</a:t>
            </a:r>
          </a:p>
          <a:p>
            <a:pPr>
              <a:lnSpc>
                <a:spcPct val="150000"/>
              </a:lnSpc>
            </a:pPr>
            <a:r>
              <a:rPr lang="es-ES" sz="2000" dirty="0"/>
              <a:t>El shock empieza por el ámbito monetario financiero y luego se propaga al ámbito real.</a:t>
            </a:r>
          </a:p>
          <a:p>
            <a:pPr>
              <a:lnSpc>
                <a:spcPct val="150000"/>
              </a:lnSpc>
            </a:pPr>
            <a:r>
              <a:rPr lang="es-ES" sz="2000" b="1" u="sng" dirty="0"/>
              <a:t>Tasa de Interés Nominal</a:t>
            </a:r>
            <a:r>
              <a:rPr lang="es-ES" sz="2000" dirty="0"/>
              <a:t>: La creación de más dinero por parte del banco central genera un exceso de oferta monetaria, lo que </a:t>
            </a:r>
            <a:r>
              <a:rPr lang="es-ES" sz="2000" dirty="0">
                <a:sym typeface="Wingdings" panose="05000000000000000000" pitchFamily="2" charset="2"/>
              </a:rPr>
              <a:t></a:t>
            </a:r>
            <a:r>
              <a:rPr lang="es-ES" sz="2000" dirty="0"/>
              <a:t> a una caída en la tasa de interés nominal. Esta disminución en la tasa nominal facilita el acceso al crédito y fomenta el gasto, incrementando la DA.</a:t>
            </a:r>
          </a:p>
          <a:p>
            <a:pPr>
              <a:lnSpc>
                <a:spcPct val="150000"/>
              </a:lnSpc>
            </a:pPr>
            <a:r>
              <a:rPr lang="es-ES" sz="2000" b="1" u="sng" dirty="0"/>
              <a:t>Tasa de Interés Real</a:t>
            </a:r>
            <a:r>
              <a:rPr lang="es-ES" sz="2000" dirty="0"/>
              <a:t>: Con la caída de la tasa de interés nominal, la tasa de interés real también disminuye. Esta reducción en la tasa real estimula la DA, ya que los consumidores prefieren gastar en el presente en lugar de ahorrar. El aumento en la DA y la consecuente subida de precios refuerzan el impacto positivo del shock de oferta monetaria en la economía.</a:t>
            </a:r>
          </a:p>
        </p:txBody>
      </p:sp>
    </p:spTree>
    <p:extLst>
      <p:ext uri="{BB962C8B-B14F-4D97-AF65-F5344CB8AC3E}">
        <p14:creationId xmlns:p14="http://schemas.microsoft.com/office/powerpoint/2010/main" val="2478730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5469F-EC9D-E461-6A3C-5E07922EBCC2}"/>
            </a:ext>
          </a:extLst>
        </p:cNvPr>
        <p:cNvGrpSpPr/>
        <p:nvPr/>
      </p:nvGrpSpPr>
      <p:grpSpPr>
        <a:xfrm>
          <a:off x="0" y="0"/>
          <a:ext cx="0" cy="0"/>
          <a:chOff x="0" y="0"/>
          <a:chExt cx="0" cy="0"/>
        </a:xfrm>
      </p:grpSpPr>
      <p:sp>
        <p:nvSpPr>
          <p:cNvPr id="32770" name="Título 1">
            <a:extLst>
              <a:ext uri="{FF2B5EF4-FFF2-40B4-BE49-F238E27FC236}">
                <a16:creationId xmlns:a16="http://schemas.microsoft.com/office/drawing/2014/main" id="{51FD6EAA-0595-E517-CB9B-A541463E58CC}"/>
              </a:ext>
            </a:extLst>
          </p:cNvPr>
          <p:cNvSpPr>
            <a:spLocks noGrp="1" noChangeArrowheads="1"/>
          </p:cNvSpPr>
          <p:nvPr>
            <p:ph type="title"/>
          </p:nvPr>
        </p:nvSpPr>
        <p:spPr>
          <a:xfrm>
            <a:off x="119336" y="332656"/>
            <a:ext cx="8991600" cy="582613"/>
          </a:xfrm>
        </p:spPr>
        <p:txBody>
          <a:bodyPr/>
          <a:lstStyle/>
          <a:p>
            <a:pPr algn="l"/>
            <a:r>
              <a:rPr lang="es-PE" altLang="es-PE" sz="3200" b="1" dirty="0"/>
              <a:t>Shocks al modelos</a:t>
            </a:r>
          </a:p>
        </p:txBody>
      </p:sp>
      <p:sp>
        <p:nvSpPr>
          <p:cNvPr id="32771" name="Marcador de contenido 2">
            <a:extLst>
              <a:ext uri="{FF2B5EF4-FFF2-40B4-BE49-F238E27FC236}">
                <a16:creationId xmlns:a16="http://schemas.microsoft.com/office/drawing/2014/main" id="{BAC0A2B2-65EA-8DB4-4700-5E878FAF7583}"/>
              </a:ext>
            </a:extLst>
          </p:cNvPr>
          <p:cNvSpPr>
            <a:spLocks noGrp="1" noChangeArrowheads="1"/>
          </p:cNvSpPr>
          <p:nvPr>
            <p:ph idx="1"/>
          </p:nvPr>
        </p:nvSpPr>
        <p:spPr>
          <a:xfrm>
            <a:off x="263352" y="881772"/>
            <a:ext cx="11521282" cy="5643571"/>
          </a:xfrm>
          <a:ln>
            <a:solidFill>
              <a:schemeClr val="bg2">
                <a:lumMod val="60000"/>
                <a:lumOff val="40000"/>
              </a:schemeClr>
            </a:solidFill>
          </a:ln>
        </p:spPr>
        <p:txBody>
          <a:bodyPr/>
          <a:lstStyle/>
          <a:p>
            <a:pPr marL="0" indent="0">
              <a:lnSpc>
                <a:spcPct val="150000"/>
              </a:lnSpc>
              <a:buNone/>
            </a:pPr>
            <a:r>
              <a:rPr lang="es-ES" sz="1900" b="1" dirty="0"/>
              <a:t>4. SHOCK DE OFERTA MONETARIA</a:t>
            </a:r>
          </a:p>
          <a:p>
            <a:pPr>
              <a:lnSpc>
                <a:spcPct val="150000"/>
              </a:lnSpc>
            </a:pPr>
            <a:r>
              <a:rPr lang="es-ES" sz="1900" dirty="0"/>
              <a:t>El shock empieza por el ámbito monetario financiero y luego se propaga al ámbito real.</a:t>
            </a:r>
          </a:p>
          <a:p>
            <a:pPr>
              <a:lnSpc>
                <a:spcPct val="150000"/>
              </a:lnSpc>
            </a:pPr>
            <a:r>
              <a:rPr lang="es-ES" sz="1900" b="1" u="sng" dirty="0"/>
              <a:t>Nivel de Precios</a:t>
            </a:r>
            <a:r>
              <a:rPr lang="es-ES" sz="1900" b="1" dirty="0"/>
              <a:t>: </a:t>
            </a:r>
            <a:r>
              <a:rPr lang="es-ES" sz="1900" dirty="0"/>
              <a:t>Debido a la caída de la tasa de interés real, la DA aumenta (los consumidores prefieren gastar hoy en lugar de ahorrar para el futuro). Este incremento en la DA </a:t>
            </a:r>
            <a:r>
              <a:rPr lang="es-ES" sz="1900" dirty="0">
                <a:sym typeface="Wingdings" panose="05000000000000000000" pitchFamily="2" charset="2"/>
              </a:rPr>
              <a:t></a:t>
            </a:r>
            <a:r>
              <a:rPr lang="es-ES" sz="1900" dirty="0"/>
              <a:t> un exceso de demanda de </a:t>
            </a:r>
            <a:r>
              <a:rPr lang="es-ES" sz="1900" dirty="0" err="1"/>
              <a:t>BsSs</a:t>
            </a:r>
            <a:r>
              <a:rPr lang="es-ES" sz="1900" dirty="0"/>
              <a:t>, lo que hace que los precios suban temporalmente.</a:t>
            </a:r>
          </a:p>
          <a:p>
            <a:pPr>
              <a:lnSpc>
                <a:spcPct val="150000"/>
              </a:lnSpc>
            </a:pPr>
            <a:r>
              <a:rPr lang="es-ES" sz="1900" b="1" u="sng" dirty="0"/>
              <a:t>Nivel de Actividad Económica</a:t>
            </a:r>
            <a:r>
              <a:rPr lang="es-ES" sz="1900" dirty="0"/>
              <a:t>: La caída de la tasa de interés real impulsa la DA y aumenta la actividad económica. El exceso de demanda de </a:t>
            </a:r>
            <a:r>
              <a:rPr lang="es-ES" sz="1900" dirty="0" err="1"/>
              <a:t>BsSs</a:t>
            </a:r>
            <a:r>
              <a:rPr lang="es-ES" sz="1900" dirty="0"/>
              <a:t>, causado por la mayor DA, eleva los precios. Dado que los salarios nominales son rígidos, el aumento de los precios reduce los salarios reales, abaratando la mano de obra. Esto incentiva a las empresas a aumentar la producción, incrementando así la OA y mejorando la actividad económica.</a:t>
            </a:r>
          </a:p>
          <a:p>
            <a:pPr>
              <a:lnSpc>
                <a:spcPct val="150000"/>
              </a:lnSpc>
            </a:pPr>
            <a:r>
              <a:rPr lang="es-ES" sz="1900" b="1" u="sng" dirty="0"/>
              <a:t>Tasa de Desempleo</a:t>
            </a:r>
            <a:r>
              <a:rPr lang="es-ES" sz="1900" b="1" dirty="0"/>
              <a:t>: </a:t>
            </a:r>
            <a:r>
              <a:rPr lang="es-ES" sz="1900" dirty="0"/>
              <a:t>El incremento en la producción debido a la caída de los salarios reales lleva a una mayor utilización de la mano de obra. Como resultado, el desempleo disminuye. La mayor DA y la expansión de la producción reducen la tasa de desempleo, mejorando la situación del mercado laboral.</a:t>
            </a:r>
          </a:p>
        </p:txBody>
      </p:sp>
    </p:spTree>
    <p:extLst>
      <p:ext uri="{BB962C8B-B14F-4D97-AF65-F5344CB8AC3E}">
        <p14:creationId xmlns:p14="http://schemas.microsoft.com/office/powerpoint/2010/main" val="2521070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ítulo 1">
            <a:extLst>
              <a:ext uri="{FF2B5EF4-FFF2-40B4-BE49-F238E27FC236}">
                <a16:creationId xmlns:a16="http://schemas.microsoft.com/office/drawing/2014/main" id="{234FCB6C-8996-8853-2073-2D71134341EE}"/>
              </a:ext>
            </a:extLst>
          </p:cNvPr>
          <p:cNvSpPr txBox="1">
            <a:spLocks/>
          </p:cNvSpPr>
          <p:nvPr/>
        </p:nvSpPr>
        <p:spPr bwMode="auto">
          <a:xfrm>
            <a:off x="1214438" y="2540000"/>
            <a:ext cx="98726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s-PE" altLang="es-PE" sz="4000" b="1">
                <a:solidFill>
                  <a:srgbClr val="FFFFFF"/>
                </a:solidFill>
                <a:latin typeface="Verdana" panose="020B0604030504040204" pitchFamily="34" charset="0"/>
                <a:ea typeface="Verdana" panose="020B0604030504040204" pitchFamily="34" charset="0"/>
                <a:cs typeface="Verdana" panose="020B0604030504040204" pitchFamily="34" charset="0"/>
              </a:rPr>
              <a:t>TRANSFERENCIA</a:t>
            </a:r>
            <a:endParaRPr lang="es-ES_tradnl" altLang="es-PE" sz="4000" b="1">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53603" name="TextBox 1">
            <a:extLst>
              <a:ext uri="{FF2B5EF4-FFF2-40B4-BE49-F238E27FC236}">
                <a16:creationId xmlns:a16="http://schemas.microsoft.com/office/drawing/2014/main" id="{29E857D3-19B3-EF3A-3FCF-646889D6F808}"/>
              </a:ext>
            </a:extLst>
          </p:cNvPr>
          <p:cNvSpPr txBox="1">
            <a:spLocks noChangeArrowheads="1"/>
          </p:cNvSpPr>
          <p:nvPr/>
        </p:nvSpPr>
        <p:spPr bwMode="auto">
          <a:xfrm>
            <a:off x="381000" y="487363"/>
            <a:ext cx="503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20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ítulo 1">
            <a:extLst>
              <a:ext uri="{FF2B5EF4-FFF2-40B4-BE49-F238E27FC236}">
                <a16:creationId xmlns:a16="http://schemas.microsoft.com/office/drawing/2014/main" id="{00C6D90B-268A-981E-8B73-0280DBCFB6BE}"/>
              </a:ext>
            </a:extLst>
          </p:cNvPr>
          <p:cNvSpPr txBox="1">
            <a:spLocks/>
          </p:cNvSpPr>
          <p:nvPr/>
        </p:nvSpPr>
        <p:spPr bwMode="auto">
          <a:xfrm>
            <a:off x="1214438" y="2540000"/>
            <a:ext cx="98726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s-PE" altLang="es-PE" sz="4000" b="1">
                <a:solidFill>
                  <a:srgbClr val="FFFFFF"/>
                </a:solidFill>
                <a:latin typeface="Verdana" panose="020B0604030504040204" pitchFamily="34" charset="0"/>
                <a:ea typeface="Verdana" panose="020B0604030504040204" pitchFamily="34" charset="0"/>
                <a:cs typeface="Verdana" panose="020B0604030504040204" pitchFamily="34" charset="0"/>
              </a:rPr>
              <a:t>CIERRE</a:t>
            </a:r>
            <a:endParaRPr lang="es-ES_tradnl" altLang="es-PE" sz="4000" b="1">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55651" name="TextBox 1">
            <a:extLst>
              <a:ext uri="{FF2B5EF4-FFF2-40B4-BE49-F238E27FC236}">
                <a16:creationId xmlns:a16="http://schemas.microsoft.com/office/drawing/2014/main" id="{E357FB48-3FD1-F9E8-A3B3-AE8DBD8321E2}"/>
              </a:ext>
            </a:extLst>
          </p:cNvPr>
          <p:cNvSpPr txBox="1">
            <a:spLocks noChangeArrowheads="1"/>
          </p:cNvSpPr>
          <p:nvPr/>
        </p:nvSpPr>
        <p:spPr bwMode="auto">
          <a:xfrm>
            <a:off x="381000" y="487363"/>
            <a:ext cx="503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20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1;p17">
            <a:extLst>
              <a:ext uri="{FF2B5EF4-FFF2-40B4-BE49-F238E27FC236}">
                <a16:creationId xmlns:a16="http://schemas.microsoft.com/office/drawing/2014/main" id="{FDC65F5B-5BF3-7F41-4036-5CCB195D699C}"/>
              </a:ext>
            </a:extLst>
          </p:cNvPr>
          <p:cNvSpPr txBox="1">
            <a:spLocks noGrp="1"/>
          </p:cNvSpPr>
          <p:nvPr>
            <p:ph type="title"/>
          </p:nvPr>
        </p:nvSpPr>
        <p:spPr>
          <a:xfrm>
            <a:off x="2640013" y="449263"/>
            <a:ext cx="6477000" cy="889000"/>
          </a:xfrm>
        </p:spPr>
        <p:txBody>
          <a:bodyPr lIns="121900" tIns="121900" rIns="121900" bIns="121900" rtlCol="0" anchor="t"/>
          <a:lstStyle/>
          <a:p>
            <a:pPr>
              <a:defRPr/>
            </a:pPr>
            <a:r>
              <a:rPr lang="es-ES" sz="3733" dirty="0">
                <a:solidFill>
                  <a:srgbClr val="FE9B03"/>
                </a:solidFill>
                <a:latin typeface="Tahoma"/>
                <a:ea typeface="Tahoma"/>
                <a:cs typeface="Tahoma"/>
                <a:sym typeface="Tahoma"/>
              </a:rPr>
              <a:t>Actividad de cierre</a:t>
            </a:r>
            <a:endParaRPr sz="3733" dirty="0"/>
          </a:p>
        </p:txBody>
      </p:sp>
      <p:sp>
        <p:nvSpPr>
          <p:cNvPr id="4" name="TextBox 5">
            <a:extLst>
              <a:ext uri="{FF2B5EF4-FFF2-40B4-BE49-F238E27FC236}">
                <a16:creationId xmlns:a16="http://schemas.microsoft.com/office/drawing/2014/main" id="{96B4B630-6B0D-C322-A0B6-7CC9DA6B94B5}"/>
              </a:ext>
            </a:extLst>
          </p:cNvPr>
          <p:cNvSpPr txBox="1"/>
          <p:nvPr/>
        </p:nvSpPr>
        <p:spPr>
          <a:xfrm>
            <a:off x="649288" y="1908175"/>
            <a:ext cx="5807075" cy="3108543"/>
          </a:xfrm>
          <a:prstGeom prst="rect">
            <a:avLst/>
          </a:prstGeom>
          <a:noFill/>
        </p:spPr>
        <p:txBody>
          <a:bodyPr>
            <a:spAutoFit/>
          </a:bodyPr>
          <a:lstStyle/>
          <a:p>
            <a:pPr>
              <a:lnSpc>
                <a:spcPct val="150000"/>
              </a:lnSpc>
              <a:defRPr/>
            </a:pPr>
            <a:r>
              <a:rPr lang="en-US" sz="2800" dirty="0"/>
              <a:t>Se </a:t>
            </a:r>
            <a:r>
              <a:rPr lang="en-US" sz="2800" dirty="0" err="1"/>
              <a:t>evalúa</a:t>
            </a:r>
            <a:r>
              <a:rPr lang="en-US" sz="2800" dirty="0"/>
              <a:t> lo  </a:t>
            </a:r>
            <a:r>
              <a:rPr lang="en-US" sz="2800" dirty="0" err="1"/>
              <a:t>aprendido</a:t>
            </a:r>
            <a:r>
              <a:rPr lang="en-US" sz="2800" dirty="0"/>
              <a:t> </a:t>
            </a:r>
            <a:r>
              <a:rPr lang="en-US" sz="2800" dirty="0" err="1"/>
              <a:t>por</a:t>
            </a:r>
            <a:r>
              <a:rPr lang="en-US" sz="2800" dirty="0"/>
              <a:t> medio:</a:t>
            </a:r>
          </a:p>
          <a:p>
            <a:pPr marL="342900" indent="-342900">
              <a:lnSpc>
                <a:spcPct val="150000"/>
              </a:lnSpc>
              <a:buFont typeface="Arial" panose="020B0604020202020204" pitchFamily="34" charset="0"/>
              <a:buChar char="•"/>
              <a:defRPr/>
            </a:pPr>
            <a:r>
              <a:rPr lang="en-US" sz="2800" dirty="0"/>
              <a:t>De </a:t>
            </a:r>
            <a:r>
              <a:rPr lang="en-US" sz="2800" dirty="0" err="1"/>
              <a:t>comentarios</a:t>
            </a:r>
            <a:r>
              <a:rPr lang="en-US" sz="2800" dirty="0"/>
              <a:t> de </a:t>
            </a:r>
            <a:r>
              <a:rPr lang="en-US" sz="2800" dirty="0" err="1"/>
              <a:t>noticias</a:t>
            </a:r>
            <a:r>
              <a:rPr lang="en-US" sz="2800" dirty="0"/>
              <a:t> de la </a:t>
            </a:r>
            <a:r>
              <a:rPr lang="en-US" sz="2800" dirty="0" err="1"/>
              <a:t>actualidad</a:t>
            </a:r>
            <a:r>
              <a:rPr lang="en-US" sz="2800" dirty="0"/>
              <a:t> </a:t>
            </a:r>
            <a:r>
              <a:rPr lang="en-US" sz="2800" dirty="0" err="1"/>
              <a:t>relacionados</a:t>
            </a:r>
            <a:r>
              <a:rPr lang="en-US" sz="2800" dirty="0"/>
              <a:t> a la </a:t>
            </a:r>
            <a:r>
              <a:rPr lang="en-US" sz="2800" dirty="0" err="1"/>
              <a:t>economía</a:t>
            </a:r>
            <a:r>
              <a:rPr lang="en-US" sz="2800" dirty="0"/>
              <a:t> </a:t>
            </a:r>
            <a:r>
              <a:rPr lang="en-US" sz="2800" dirty="0" err="1"/>
              <a:t>abierta</a:t>
            </a:r>
            <a:endParaRPr lang="en-US" sz="2800" dirty="0"/>
          </a:p>
          <a:p>
            <a:pPr marL="342900" indent="-342900">
              <a:buFont typeface="Arial" panose="020B0604020202020204" pitchFamily="34" charset="0"/>
              <a:buChar char="•"/>
              <a:defRPr/>
            </a:pPr>
            <a:endParaRPr lang="en-US" sz="2800" dirty="0"/>
          </a:p>
        </p:txBody>
      </p:sp>
      <p:pic>
        <p:nvPicPr>
          <p:cNvPr id="156676" name="Imagen 4">
            <a:extLst>
              <a:ext uri="{FF2B5EF4-FFF2-40B4-BE49-F238E27FC236}">
                <a16:creationId xmlns:a16="http://schemas.microsoft.com/office/drawing/2014/main" id="{1874DCA3-177E-8DB3-2373-3623A49A1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1143000"/>
            <a:ext cx="3749675" cy="509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iseño predeterminado">
  <a:themeElements>
    <a:clrScheme name="Diseño predeterminad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iseño predeterminad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s-ES" sz="27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s-ES" sz="2700" b="0" i="0" u="none" strike="noStrike" cap="none" normalizeH="0" baseline="0" smtClean="0">
            <a:ln>
              <a:noFill/>
            </a:ln>
            <a:solidFill>
              <a:schemeClr val="tx1"/>
            </a:solidFill>
            <a:effectLst/>
            <a:latin typeface="Arial" charset="0"/>
          </a:defRPr>
        </a:defPPr>
      </a:lstStyle>
    </a:lnDef>
  </a:objectDefaults>
  <a:extraClrSchemeLst>
    <a:extraClrScheme>
      <a:clrScheme name="Diseño predeterminado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iseño predeterminad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iseño predeterminad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7397</TotalTime>
  <Words>3301</Words>
  <Application>Microsoft Office PowerPoint</Application>
  <PresentationFormat>Panorámica</PresentationFormat>
  <Paragraphs>178</Paragraphs>
  <Slides>40</Slides>
  <Notes>3</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40</vt:i4>
      </vt:variant>
    </vt:vector>
  </HeadingPairs>
  <TitlesOfParts>
    <vt:vector size="50" baseType="lpstr">
      <vt:lpstr>Abril Fatface</vt:lpstr>
      <vt:lpstr>Arial</vt:lpstr>
      <vt:lpstr>Calibri</vt:lpstr>
      <vt:lpstr>Cambria Math</vt:lpstr>
      <vt:lpstr>Palatino Linotype</vt:lpstr>
      <vt:lpstr>Tahoma</vt:lpstr>
      <vt:lpstr>Times New Roman</vt:lpstr>
      <vt:lpstr>Verdana</vt:lpstr>
      <vt:lpstr>Wingdings</vt:lpstr>
      <vt:lpstr>Diseño predeterminado</vt:lpstr>
      <vt:lpstr>UN MODELO MACROECONÓMICO y POLITICA MONETARIA (Sesion 8 Parte 1)</vt:lpstr>
      <vt:lpstr>Presentación de PowerPoint</vt:lpstr>
      <vt:lpstr>Logro de aprendizaje: </vt:lpstr>
      <vt:lpstr>CONTENIDO DETALLADO</vt:lpstr>
      <vt:lpstr>Presentación de PowerPoint</vt:lpstr>
      <vt:lpstr>Presentación de PowerPoint</vt:lpstr>
      <vt:lpstr>Presentación de PowerPoint</vt:lpstr>
      <vt:lpstr>¿Qué hay detrás de la oferta agregada?: El mercado del trabajo</vt:lpstr>
      <vt:lpstr>¿Qué hay detrás de la oferta agregada?: El mercado del trabajo</vt:lpstr>
      <vt:lpstr>¿Qué hay detrás de la oferta agregada?: El mercado del trabajo</vt:lpstr>
      <vt:lpstr>¿Qué hay detrás de la oferta agregada?: El mercado del trabajo</vt:lpstr>
      <vt:lpstr>¿Qué hay detrás de la oferta agregada?: El mercado del trabajo</vt:lpstr>
      <vt:lpstr>¿Qué hay detrás de la oferta agregada?: El mercado del trabajo</vt:lpstr>
      <vt:lpstr>¿Qué hay detrás de la oferta agregada?: El mercado del trabajo</vt:lpstr>
      <vt:lpstr>¿Qué hay detrás de la oferta agregada?: El mercado del trabajo</vt:lpstr>
      <vt:lpstr>¿Qué hay detrás de la oferta agregada?: El mercado del trabajo</vt:lpstr>
      <vt:lpstr>La oferta agregada</vt:lpstr>
      <vt:lpstr>La oferta agregada</vt:lpstr>
      <vt:lpstr>La oferta agregada</vt:lpstr>
      <vt:lpstr>La oferta agregada</vt:lpstr>
      <vt:lpstr>La oferta agregada</vt:lpstr>
      <vt:lpstr>La oferta agregada</vt:lpstr>
      <vt:lpstr>La oferta agregada: Shocks</vt:lpstr>
      <vt:lpstr>La Demanda Agregada</vt:lpstr>
      <vt:lpstr>La Demanda Agregada</vt:lpstr>
      <vt:lpstr>Equilibrio Monetario</vt:lpstr>
      <vt:lpstr>Equilibrio Monetario</vt:lpstr>
      <vt:lpstr>Equilibrio del modelo</vt:lpstr>
      <vt:lpstr>Equilibrio del modelo</vt:lpstr>
      <vt:lpstr>Shocks al modelos</vt:lpstr>
      <vt:lpstr>Shocks al modelos</vt:lpstr>
      <vt:lpstr>Shocks al modelos</vt:lpstr>
      <vt:lpstr>Shocks al modelos</vt:lpstr>
      <vt:lpstr>Shocks al modelos</vt:lpstr>
      <vt:lpstr>Shocks al modelos</vt:lpstr>
      <vt:lpstr>Shocks al modelos</vt:lpstr>
      <vt:lpstr>Shocks al modelos</vt:lpstr>
      <vt:lpstr>Presentación de PowerPoint</vt:lpstr>
      <vt:lpstr>Presentación de PowerPoint</vt:lpstr>
      <vt:lpstr>Actividad de cierre</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Nora</dc:creator>
  <cp:lastModifiedBy>Azanero Saona, Jose  Manuel</cp:lastModifiedBy>
  <cp:revision>245</cp:revision>
  <dcterms:created xsi:type="dcterms:W3CDTF">2006-01-31T21:31:19Z</dcterms:created>
  <dcterms:modified xsi:type="dcterms:W3CDTF">2025-10-28T17:36:17Z</dcterms:modified>
</cp:coreProperties>
</file>