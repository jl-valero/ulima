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277_BE24ABF3.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38" r:id="rId1"/>
  </p:sldMasterIdLst>
  <p:notesMasterIdLst>
    <p:notesMasterId r:id="rId61"/>
  </p:notesMasterIdLst>
  <p:handoutMasterIdLst>
    <p:handoutMasterId r:id="rId62"/>
  </p:handoutMasterIdLst>
  <p:sldIdLst>
    <p:sldId id="256" r:id="rId2"/>
    <p:sldId id="569" r:id="rId3"/>
    <p:sldId id="399" r:id="rId4"/>
    <p:sldId id="307" r:id="rId5"/>
    <p:sldId id="607" r:id="rId6"/>
    <p:sldId id="608" r:id="rId7"/>
    <p:sldId id="609" r:id="rId8"/>
    <p:sldId id="660" r:id="rId9"/>
    <p:sldId id="610" r:id="rId10"/>
    <p:sldId id="611" r:id="rId11"/>
    <p:sldId id="651" r:id="rId12"/>
    <p:sldId id="612" r:id="rId13"/>
    <p:sldId id="613" r:id="rId14"/>
    <p:sldId id="615" r:id="rId15"/>
    <p:sldId id="652" r:id="rId16"/>
    <p:sldId id="616" r:id="rId17"/>
    <p:sldId id="653" r:id="rId18"/>
    <p:sldId id="617" r:id="rId19"/>
    <p:sldId id="654" r:id="rId20"/>
    <p:sldId id="655" r:id="rId21"/>
    <p:sldId id="618" r:id="rId22"/>
    <p:sldId id="619" r:id="rId23"/>
    <p:sldId id="656" r:id="rId24"/>
    <p:sldId id="620" r:id="rId25"/>
    <p:sldId id="657" r:id="rId26"/>
    <p:sldId id="621" r:id="rId27"/>
    <p:sldId id="622" r:id="rId28"/>
    <p:sldId id="623" r:id="rId29"/>
    <p:sldId id="658" r:id="rId30"/>
    <p:sldId id="624" r:id="rId31"/>
    <p:sldId id="659" r:id="rId32"/>
    <p:sldId id="626" r:id="rId33"/>
    <p:sldId id="625" r:id="rId34"/>
    <p:sldId id="627" r:id="rId35"/>
    <p:sldId id="628" r:id="rId36"/>
    <p:sldId id="629" r:id="rId37"/>
    <p:sldId id="630" r:id="rId38"/>
    <p:sldId id="631" r:id="rId39"/>
    <p:sldId id="661" r:id="rId40"/>
    <p:sldId id="632" r:id="rId41"/>
    <p:sldId id="639" r:id="rId42"/>
    <p:sldId id="640" r:id="rId43"/>
    <p:sldId id="662" r:id="rId44"/>
    <p:sldId id="663" r:id="rId45"/>
    <p:sldId id="644" r:id="rId46"/>
    <p:sldId id="645" r:id="rId47"/>
    <p:sldId id="646" r:id="rId48"/>
    <p:sldId id="647" r:id="rId49"/>
    <p:sldId id="664" r:id="rId50"/>
    <p:sldId id="648" r:id="rId51"/>
    <p:sldId id="649" r:id="rId52"/>
    <p:sldId id="665" r:id="rId53"/>
    <p:sldId id="544" r:id="rId54"/>
    <p:sldId id="334" r:id="rId55"/>
    <p:sldId id="551" r:id="rId56"/>
    <p:sldId id="570" r:id="rId57"/>
    <p:sldId id="264" r:id="rId58"/>
    <p:sldId id="571" r:id="rId59"/>
    <p:sldId id="401" r:id="rId60"/>
  </p:sldIdLst>
  <p:sldSz cx="12192000" cy="6858000"/>
  <p:notesSz cx="6889750" cy="10021888"/>
  <p:defaultTextStyle>
    <a:defPPr>
      <a:defRPr lang="es-E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Sección predeterminada" id="{F2BC76EB-3AE8-4CB1-8E09-1D17B2ACCE16}">
          <p14:sldIdLst>
            <p14:sldId id="256"/>
          </p14:sldIdLst>
        </p14:section>
        <p14:section name="IMPACTO" id="{02D12366-C454-4177-9040-64585DE89E1E}">
          <p14:sldIdLst>
            <p14:sldId id="569"/>
          </p14:sldIdLst>
        </p14:section>
        <p14:section name="Logro del Aprendizaje" id="{C05FA2BF-8577-4C57-A2AE-357A0843E586}">
          <p14:sldIdLst>
            <p14:sldId id="399"/>
          </p14:sldIdLst>
        </p14:section>
        <p14:section name="Contenido Detallado" id="{9D2CF210-996B-4269-8B0B-777849BBED89}">
          <p14:sldIdLst>
            <p14:sldId id="307"/>
            <p14:sldId id="607"/>
            <p14:sldId id="608"/>
            <p14:sldId id="609"/>
          </p14:sldIdLst>
        </p14:section>
        <p14:section name="T de Int : Mcdo Competencia Perfecta" id="{E06E02EE-9616-4586-A2DE-4F2B21BB2D8D}">
          <p14:sldIdLst>
            <p14:sldId id="660"/>
            <p14:sldId id="610"/>
            <p14:sldId id="611"/>
            <p14:sldId id="651"/>
            <p14:sldId id="612"/>
          </p14:sldIdLst>
        </p14:section>
        <p14:section name="Creditos" id="{732A0925-2210-4E3B-A8E7-73CAAFB92CEA}">
          <p14:sldIdLst>
            <p14:sldId id="613"/>
            <p14:sldId id="615"/>
            <p14:sldId id="652"/>
          </p14:sldIdLst>
        </p14:section>
        <p14:section name="Depositos" id="{46E84ED3-B6AE-48D6-B013-2B83DBE7165F}">
          <p14:sldIdLst>
            <p14:sldId id="616"/>
            <p14:sldId id="653"/>
            <p14:sldId id="617"/>
            <p14:sldId id="654"/>
            <p14:sldId id="655"/>
            <p14:sldId id="618"/>
            <p14:sldId id="619"/>
            <p14:sldId id="656"/>
            <p14:sldId id="620"/>
            <p14:sldId id="657"/>
            <p14:sldId id="621"/>
            <p14:sldId id="622"/>
            <p14:sldId id="623"/>
            <p14:sldId id="658"/>
            <p14:sldId id="624"/>
            <p14:sldId id="659"/>
          </p14:sldIdLst>
        </p14:section>
        <p14:section name="Determinación Competencia Monopolistica" id="{395B5C59-6FAF-49B8-B384-6E47E88465F7}">
          <p14:sldIdLst>
            <p14:sldId id="626"/>
            <p14:sldId id="625"/>
            <p14:sldId id="627"/>
            <p14:sldId id="628"/>
            <p14:sldId id="629"/>
            <p14:sldId id="630"/>
            <p14:sldId id="631"/>
            <p14:sldId id="661"/>
            <p14:sldId id="632"/>
            <p14:sldId id="639"/>
          </p14:sldIdLst>
        </p14:section>
        <p14:section name="Comp Monopolist Depositos" id="{A5F1D600-0457-423B-9751-D4ADA13A01EC}">
          <p14:sldIdLst>
            <p14:sldId id="640"/>
            <p14:sldId id="662"/>
            <p14:sldId id="663"/>
            <p14:sldId id="644"/>
          </p14:sldIdLst>
        </p14:section>
        <p14:section name="Conclusiones" id="{56C69262-B687-4112-955E-C0888581BC30}">
          <p14:sldIdLst>
            <p14:sldId id="645"/>
            <p14:sldId id="646"/>
          </p14:sldIdLst>
        </p14:section>
        <p14:section name="Efectividad de Polit Monetaria" id="{87C11B4F-1C29-4A38-B972-900EDB547FE1}">
          <p14:sldIdLst>
            <p14:sldId id="647"/>
            <p14:sldId id="664"/>
            <p14:sldId id="648"/>
            <p14:sldId id="649"/>
            <p14:sldId id="665"/>
          </p14:sldIdLst>
        </p14:section>
        <p14:section name="Bases Teóricas" id="{799450E8-B4B3-4BCC-A1DF-8998175AB7ED}">
          <p14:sldIdLst>
            <p14:sldId id="544"/>
            <p14:sldId id="334"/>
            <p14:sldId id="551"/>
          </p14:sldIdLst>
        </p14:section>
        <p14:section name="Aplicaciones" id="{98D950DD-60EC-4E19-8632-EDFA52E55613}">
          <p14:sldIdLst>
            <p14:sldId id="570"/>
            <p14:sldId id="264"/>
          </p14:sldIdLst>
        </p14:section>
        <p14:section name="Actividades de Cierre" id="{F8B690E5-A2A7-40B5-B696-50B7305016F2}">
          <p14:sldIdLst>
            <p14:sldId id="571"/>
            <p14:sldId id="40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157">
          <p15:clr>
            <a:srgbClr val="A4A3A4"/>
          </p15:clr>
        </p15:guide>
        <p15:guide id="2" pos="217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9F5D84-DB87-42A1-62BD-5D2652CB3C14}" name="Azanero Saona, Jose  Manuel" initials="JA" userId="S::jose.azanero@bcrp.gob.pe::8a77e18d-4437-4c84-a4fb-0524c77d8bb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E84706"/>
    <a:srgbClr val="FFFFFF"/>
    <a:srgbClr val="F8F8F8"/>
    <a:srgbClr val="CCFFCC"/>
    <a:srgbClr val="33CC33"/>
    <a:srgbClr val="CCFF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64" autoAdjust="0"/>
    <p:restoredTop sz="93464" autoAdjust="0"/>
  </p:normalViewPr>
  <p:slideViewPr>
    <p:cSldViewPr>
      <p:cViewPr>
        <p:scale>
          <a:sx n="70" d="100"/>
          <a:sy n="70" d="100"/>
        </p:scale>
        <p:origin x="1234" y="250"/>
      </p:cViewPr>
      <p:guideLst>
        <p:guide orient="horz" pos="2160"/>
        <p:guide pos="3840"/>
      </p:guideLst>
    </p:cSldViewPr>
  </p:slideViewPr>
  <p:outlineViewPr>
    <p:cViewPr>
      <p:scale>
        <a:sx n="33" d="100"/>
        <a:sy n="33" d="100"/>
      </p:scale>
      <p:origin x="0" y="-8971"/>
    </p:cViewPr>
  </p:outlineViewPr>
  <p:notesTextViewPr>
    <p:cViewPr>
      <p:scale>
        <a:sx n="100" d="100"/>
        <a:sy n="100" d="100"/>
      </p:scale>
      <p:origin x="0" y="0"/>
    </p:cViewPr>
  </p:notesTextViewPr>
  <p:sorterViewPr>
    <p:cViewPr>
      <p:scale>
        <a:sx n="140" d="100"/>
        <a:sy n="140" d="100"/>
      </p:scale>
      <p:origin x="0" y="-27120"/>
    </p:cViewPr>
  </p:sorterViewPr>
  <p:notesViewPr>
    <p:cSldViewPr>
      <p:cViewPr varScale="1">
        <p:scale>
          <a:sx n="59" d="100"/>
          <a:sy n="59" d="100"/>
        </p:scale>
        <p:origin x="2323" y="72"/>
      </p:cViewPr>
      <p:guideLst>
        <p:guide orient="horz" pos="3157"/>
        <p:guide pos="217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277_BE24ABF3.xml><?xml version="1.0" encoding="utf-8"?>
<p188:cmLst xmlns:a="http://schemas.openxmlformats.org/drawingml/2006/main" xmlns:r="http://schemas.openxmlformats.org/officeDocument/2006/relationships" xmlns:p188="http://schemas.microsoft.com/office/powerpoint/2018/8/main">
  <p188:cm id="{A9ABAC86-E21F-4E06-B244-33D3F689069D}" authorId="{D29F5D84-DB87-42A1-62BD-5D2652CB3C14}" created="2025-06-16T17:23:02.358">
    <pc:sldMkLst xmlns:pc="http://schemas.microsoft.com/office/powerpoint/2013/main/command">
      <pc:docMk/>
      <pc:sldMk cId="3190074355" sldId="631"/>
    </pc:sldMkLst>
    <p188:txBody>
      <a:bodyPr/>
      <a:lstStyle/>
      <a:p>
        <a:r>
          <a:rPr lang="es-PE"/>
          <a:t>Se asume que el banco A se endeuda para prestar --&gt; M es una deuda</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20" name="Rectangle 4">
            <a:extLst>
              <a:ext uri="{FF2B5EF4-FFF2-40B4-BE49-F238E27FC236}">
                <a16:creationId xmlns:a16="http://schemas.microsoft.com/office/drawing/2014/main" id="{24F082F9-59C7-AB60-D213-A451814EBD30}"/>
              </a:ext>
            </a:extLst>
          </p:cNvPr>
          <p:cNvSpPr>
            <a:spLocks noGrp="1" noChangeArrowheads="1"/>
          </p:cNvSpPr>
          <p:nvPr>
            <p:ph type="ftr" sz="quarter" idx="2"/>
          </p:nvPr>
        </p:nvSpPr>
        <p:spPr bwMode="auto">
          <a:xfrm>
            <a:off x="0" y="9518650"/>
            <a:ext cx="2984500" cy="501650"/>
          </a:xfrm>
          <a:prstGeom prst="rect">
            <a:avLst/>
          </a:prstGeom>
          <a:noFill/>
          <a:ln w="9525">
            <a:noFill/>
            <a:miter lim="800000"/>
            <a:headEnd/>
            <a:tailEnd/>
          </a:ln>
          <a:effectLst/>
        </p:spPr>
        <p:txBody>
          <a:bodyPr vert="horz" wrap="square" lIns="93168" tIns="46584" rIns="93168" bIns="46584" numCol="1" anchor="b" anchorCtr="0" compatLnSpc="1">
            <a:prstTxWarp prst="textNoShape">
              <a:avLst/>
            </a:prstTxWarp>
          </a:bodyPr>
          <a:lstStyle>
            <a:lvl1pPr algn="l" eaLnBrk="1" hangingPunct="1">
              <a:spcBef>
                <a:spcPct val="0"/>
              </a:spcBef>
              <a:defRPr sz="1200">
                <a:latin typeface="Times New Roman" pitchFamily="18" charset="0"/>
              </a:defRPr>
            </a:lvl1pPr>
          </a:lstStyle>
          <a:p>
            <a:pPr>
              <a:defRPr/>
            </a:pPr>
            <a:endParaRPr lang="es-ES"/>
          </a:p>
        </p:txBody>
      </p:sp>
      <p:sp>
        <p:nvSpPr>
          <p:cNvPr id="60421" name="Rectangle 5">
            <a:extLst>
              <a:ext uri="{FF2B5EF4-FFF2-40B4-BE49-F238E27FC236}">
                <a16:creationId xmlns:a16="http://schemas.microsoft.com/office/drawing/2014/main" id="{7F7D5EC9-3C05-AAB2-E798-5873C1210824}"/>
              </a:ext>
            </a:extLst>
          </p:cNvPr>
          <p:cNvSpPr>
            <a:spLocks noGrp="1" noChangeArrowheads="1"/>
          </p:cNvSpPr>
          <p:nvPr>
            <p:ph type="sldNum" sz="quarter" idx="3"/>
          </p:nvPr>
        </p:nvSpPr>
        <p:spPr bwMode="auto">
          <a:xfrm>
            <a:off x="3903663" y="9518650"/>
            <a:ext cx="2984500" cy="501650"/>
          </a:xfrm>
          <a:prstGeom prst="rect">
            <a:avLst/>
          </a:prstGeom>
          <a:noFill/>
          <a:ln w="9525">
            <a:noFill/>
            <a:miter lim="800000"/>
            <a:headEnd/>
            <a:tailEnd/>
          </a:ln>
          <a:effectLst/>
        </p:spPr>
        <p:txBody>
          <a:bodyPr vert="horz" wrap="square" lIns="93168" tIns="46584" rIns="93168" bIns="46584" numCol="1" anchor="b" anchorCtr="0" compatLnSpc="1">
            <a:prstTxWarp prst="textNoShape">
              <a:avLst/>
            </a:prstTxWarp>
          </a:bodyPr>
          <a:lstStyle>
            <a:lvl1pPr algn="r" eaLnBrk="1" hangingPunct="1">
              <a:defRPr sz="1000">
                <a:latin typeface="Times New Roman" panose="02020603050405020304" pitchFamily="18" charset="0"/>
              </a:defRPr>
            </a:lvl1pPr>
          </a:lstStyle>
          <a:p>
            <a:pPr>
              <a:defRPr/>
            </a:pPr>
            <a:fld id="{5933F690-987B-48DE-A18B-471B5D26D24A}" type="slidenum">
              <a:rPr lang="es-ES" altLang="es-PE"/>
              <a:pPr>
                <a:defRPr/>
              </a:pPr>
              <a:t>‹Nº›</a:t>
            </a:fld>
            <a:endParaRPr lang="es-ES" altLang="es-PE"/>
          </a:p>
        </p:txBody>
      </p:sp>
      <p:sp>
        <p:nvSpPr>
          <p:cNvPr id="60423" name="Rectangle 7">
            <a:extLst>
              <a:ext uri="{FF2B5EF4-FFF2-40B4-BE49-F238E27FC236}">
                <a16:creationId xmlns:a16="http://schemas.microsoft.com/office/drawing/2014/main" id="{1B6542B1-F7AE-9289-691F-5AF0E43C049B}"/>
              </a:ext>
            </a:extLst>
          </p:cNvPr>
          <p:cNvSpPr>
            <a:spLocks noGrp="1" noChangeArrowheads="1"/>
          </p:cNvSpPr>
          <p:nvPr>
            <p:ph type="hdr" sz="quarter"/>
          </p:nvPr>
        </p:nvSpPr>
        <p:spPr bwMode="auto">
          <a:xfrm>
            <a:off x="406400" y="327025"/>
            <a:ext cx="3835400" cy="501650"/>
          </a:xfrm>
          <a:prstGeom prst="rect">
            <a:avLst/>
          </a:prstGeom>
          <a:noFill/>
          <a:ln w="9525">
            <a:noFill/>
            <a:miter lim="800000"/>
            <a:headEnd/>
            <a:tailEnd/>
          </a:ln>
          <a:effectLst/>
        </p:spPr>
        <p:txBody>
          <a:bodyPr vert="horz" wrap="square" lIns="93168" tIns="46584" rIns="93168" bIns="46584" numCol="1" anchor="t" anchorCtr="0" compatLnSpc="1">
            <a:prstTxWarp prst="textNoShape">
              <a:avLst/>
            </a:prstTxWarp>
          </a:bodyPr>
          <a:lstStyle>
            <a:lvl1pPr algn="l" eaLnBrk="1" hangingPunct="1">
              <a:spcBef>
                <a:spcPct val="0"/>
              </a:spcBef>
              <a:defRPr sz="900" i="1">
                <a:latin typeface="Arial" charset="0"/>
              </a:defRPr>
            </a:lvl1pPr>
          </a:lstStyle>
          <a:p>
            <a:pPr>
              <a:defRPr/>
            </a:pPr>
            <a:r>
              <a:rPr lang="es-PE"/>
              <a:t>MEDICIÓN DE ALGUNOS AGREGADOS MACROECNÓMICOS</a:t>
            </a:r>
          </a:p>
        </p:txBody>
      </p:sp>
      <p:sp>
        <p:nvSpPr>
          <p:cNvPr id="31749" name="Line 8">
            <a:extLst>
              <a:ext uri="{FF2B5EF4-FFF2-40B4-BE49-F238E27FC236}">
                <a16:creationId xmlns:a16="http://schemas.microsoft.com/office/drawing/2014/main" id="{8657A121-39FC-C926-152D-18831E9527CD}"/>
              </a:ext>
            </a:extLst>
          </p:cNvPr>
          <p:cNvSpPr>
            <a:spLocks noChangeShapeType="1"/>
          </p:cNvSpPr>
          <p:nvPr/>
        </p:nvSpPr>
        <p:spPr bwMode="auto">
          <a:xfrm>
            <a:off x="498475" y="550863"/>
            <a:ext cx="6073775"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wrap="none" lIns="93168" tIns="46584" rIns="93168" bIns="46584" anchor="ctr">
            <a:spAutoFit/>
          </a:bodyPr>
          <a:lstStyle/>
          <a:p>
            <a:endParaRPr lang="es-P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5" name="Rectangle 3">
            <a:extLst>
              <a:ext uri="{FF2B5EF4-FFF2-40B4-BE49-F238E27FC236}">
                <a16:creationId xmlns:a16="http://schemas.microsoft.com/office/drawing/2014/main" id="{D761BE1C-B045-6F0B-AEA4-584E2236529B}"/>
              </a:ext>
            </a:extLst>
          </p:cNvPr>
          <p:cNvSpPr>
            <a:spLocks noGrp="1" noChangeArrowheads="1"/>
          </p:cNvSpPr>
          <p:nvPr>
            <p:ph type="dt" idx="1"/>
          </p:nvPr>
        </p:nvSpPr>
        <p:spPr bwMode="auto">
          <a:xfrm>
            <a:off x="3903663" y="0"/>
            <a:ext cx="2984500" cy="501650"/>
          </a:xfrm>
          <a:prstGeom prst="rect">
            <a:avLst/>
          </a:prstGeom>
          <a:noFill/>
          <a:ln w="9525">
            <a:noFill/>
            <a:miter lim="800000"/>
            <a:headEnd/>
            <a:tailEnd/>
          </a:ln>
          <a:effectLst/>
        </p:spPr>
        <p:txBody>
          <a:bodyPr vert="horz" wrap="square" lIns="93168" tIns="46584" rIns="93168" bIns="46584" numCol="1" anchor="t" anchorCtr="0" compatLnSpc="1">
            <a:prstTxWarp prst="textNoShape">
              <a:avLst/>
            </a:prstTxWarp>
          </a:bodyPr>
          <a:lstStyle>
            <a:lvl1pPr algn="r" eaLnBrk="1" hangingPunct="1">
              <a:spcBef>
                <a:spcPct val="0"/>
              </a:spcBef>
              <a:defRPr sz="1200">
                <a:latin typeface="Times New Roman" pitchFamily="18" charset="0"/>
              </a:defRPr>
            </a:lvl1pPr>
          </a:lstStyle>
          <a:p>
            <a:pPr>
              <a:defRPr/>
            </a:pPr>
            <a:endParaRPr lang="es-ES"/>
          </a:p>
        </p:txBody>
      </p:sp>
      <p:sp>
        <p:nvSpPr>
          <p:cNvPr id="30723" name="Rectangle 4">
            <a:extLst>
              <a:ext uri="{FF2B5EF4-FFF2-40B4-BE49-F238E27FC236}">
                <a16:creationId xmlns:a16="http://schemas.microsoft.com/office/drawing/2014/main" id="{18E8F9F7-0FE0-607B-D9A0-93F4B326472A}"/>
              </a:ext>
            </a:extLst>
          </p:cNvPr>
          <p:cNvSpPr>
            <a:spLocks noGrp="1" noRot="1" noChangeAspect="1" noChangeArrowheads="1" noTextEdit="1"/>
          </p:cNvSpPr>
          <p:nvPr>
            <p:ph type="sldImg" idx="2"/>
          </p:nvPr>
        </p:nvSpPr>
        <p:spPr bwMode="auto">
          <a:xfrm>
            <a:off x="103188" y="750888"/>
            <a:ext cx="6683375" cy="3759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7" name="Rectangle 5">
            <a:extLst>
              <a:ext uri="{FF2B5EF4-FFF2-40B4-BE49-F238E27FC236}">
                <a16:creationId xmlns:a16="http://schemas.microsoft.com/office/drawing/2014/main" id="{6F58775B-834D-8ABF-D20F-BD7BB4487C1E}"/>
              </a:ext>
            </a:extLst>
          </p:cNvPr>
          <p:cNvSpPr>
            <a:spLocks noGrp="1" noChangeArrowheads="1"/>
          </p:cNvSpPr>
          <p:nvPr>
            <p:ph type="body" sz="quarter" idx="3"/>
          </p:nvPr>
        </p:nvSpPr>
        <p:spPr bwMode="auto">
          <a:xfrm>
            <a:off x="688975" y="4760913"/>
            <a:ext cx="5511800" cy="4510087"/>
          </a:xfrm>
          <a:prstGeom prst="rect">
            <a:avLst/>
          </a:prstGeom>
          <a:noFill/>
          <a:ln w="9525">
            <a:noFill/>
            <a:miter lim="800000"/>
            <a:headEnd/>
            <a:tailEnd/>
          </a:ln>
          <a:effectLst/>
        </p:spPr>
        <p:txBody>
          <a:bodyPr vert="horz" wrap="square" lIns="93168" tIns="46584" rIns="93168" bIns="46584"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4518" name="Rectangle 6">
            <a:extLst>
              <a:ext uri="{FF2B5EF4-FFF2-40B4-BE49-F238E27FC236}">
                <a16:creationId xmlns:a16="http://schemas.microsoft.com/office/drawing/2014/main" id="{FC2488DD-B7E7-707B-60A4-5FCA6C9E758E}"/>
              </a:ext>
            </a:extLst>
          </p:cNvPr>
          <p:cNvSpPr>
            <a:spLocks noGrp="1" noChangeArrowheads="1"/>
          </p:cNvSpPr>
          <p:nvPr>
            <p:ph type="ftr" sz="quarter" idx="4"/>
          </p:nvPr>
        </p:nvSpPr>
        <p:spPr bwMode="auto">
          <a:xfrm>
            <a:off x="0" y="9518650"/>
            <a:ext cx="2984500" cy="501650"/>
          </a:xfrm>
          <a:prstGeom prst="rect">
            <a:avLst/>
          </a:prstGeom>
          <a:noFill/>
          <a:ln w="9525">
            <a:noFill/>
            <a:miter lim="800000"/>
            <a:headEnd/>
            <a:tailEnd/>
          </a:ln>
          <a:effectLst/>
        </p:spPr>
        <p:txBody>
          <a:bodyPr vert="horz" wrap="square" lIns="93168" tIns="46584" rIns="93168" bIns="46584" numCol="1" anchor="b" anchorCtr="0" compatLnSpc="1">
            <a:prstTxWarp prst="textNoShape">
              <a:avLst/>
            </a:prstTxWarp>
          </a:bodyPr>
          <a:lstStyle>
            <a:lvl1pPr algn="l" eaLnBrk="1" hangingPunct="1">
              <a:spcBef>
                <a:spcPct val="0"/>
              </a:spcBef>
              <a:defRPr sz="1200">
                <a:latin typeface="Times New Roman" pitchFamily="18" charset="0"/>
              </a:defRPr>
            </a:lvl1pPr>
          </a:lstStyle>
          <a:p>
            <a:pPr>
              <a:defRPr/>
            </a:pPr>
            <a:endParaRPr lang="es-ES"/>
          </a:p>
        </p:txBody>
      </p:sp>
      <p:sp>
        <p:nvSpPr>
          <p:cNvPr id="64519" name="Rectangle 7">
            <a:extLst>
              <a:ext uri="{FF2B5EF4-FFF2-40B4-BE49-F238E27FC236}">
                <a16:creationId xmlns:a16="http://schemas.microsoft.com/office/drawing/2014/main" id="{4D91AA3C-6C5C-0B71-CB7A-86C00AAEDD67}"/>
              </a:ext>
            </a:extLst>
          </p:cNvPr>
          <p:cNvSpPr>
            <a:spLocks noGrp="1" noChangeArrowheads="1"/>
          </p:cNvSpPr>
          <p:nvPr>
            <p:ph type="sldNum" sz="quarter" idx="5"/>
          </p:nvPr>
        </p:nvSpPr>
        <p:spPr bwMode="auto">
          <a:xfrm>
            <a:off x="3903663" y="9518650"/>
            <a:ext cx="2984500" cy="501650"/>
          </a:xfrm>
          <a:prstGeom prst="rect">
            <a:avLst/>
          </a:prstGeom>
          <a:noFill/>
          <a:ln w="9525">
            <a:noFill/>
            <a:miter lim="800000"/>
            <a:headEnd/>
            <a:tailEnd/>
          </a:ln>
          <a:effectLst/>
        </p:spPr>
        <p:txBody>
          <a:bodyPr vert="horz" wrap="square" lIns="93168" tIns="46584" rIns="93168" bIns="46584"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A6B56DB8-13C8-47F4-AAD3-8A215483D5E4}" type="slidenum">
              <a:rPr lang="es-ES" altLang="es-PE"/>
              <a:pPr>
                <a:defRPr/>
              </a:pPr>
              <a:t>‹Nº›</a:t>
            </a:fld>
            <a:endParaRPr lang="es-ES" altLang="es-PE"/>
          </a:p>
        </p:txBody>
      </p:sp>
      <p:sp>
        <p:nvSpPr>
          <p:cNvPr id="3" name="Marcador de encabezado 2">
            <a:extLst>
              <a:ext uri="{FF2B5EF4-FFF2-40B4-BE49-F238E27FC236}">
                <a16:creationId xmlns:a16="http://schemas.microsoft.com/office/drawing/2014/main" id="{747D111B-10EF-7C8A-1DC6-3B18114088B2}"/>
              </a:ext>
            </a:extLst>
          </p:cNvPr>
          <p:cNvSpPr>
            <a:spLocks noGrp="1"/>
          </p:cNvSpPr>
          <p:nvPr>
            <p:ph type="hdr" sz="quarter"/>
          </p:nvPr>
        </p:nvSpPr>
        <p:spPr>
          <a:xfrm>
            <a:off x="0" y="0"/>
            <a:ext cx="2984500" cy="503238"/>
          </a:xfrm>
          <a:prstGeom prst="rect">
            <a:avLst/>
          </a:prstGeom>
        </p:spPr>
        <p:txBody>
          <a:bodyPr vert="horz" lIns="93168" tIns="46584" rIns="93168" bIns="46584" rtlCol="0"/>
          <a:lstStyle>
            <a:lvl1pPr algn="l">
              <a:defRPr sz="1200"/>
            </a:lvl1pPr>
          </a:lstStyle>
          <a:p>
            <a:pPr>
              <a:defRPr/>
            </a:pPr>
            <a:endParaRPr lang="es-PE"/>
          </a:p>
        </p:txBody>
      </p:sp>
    </p:spTree>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Google Shape;196;p1:notes">
            <a:extLst>
              <a:ext uri="{FF2B5EF4-FFF2-40B4-BE49-F238E27FC236}">
                <a16:creationId xmlns:a16="http://schemas.microsoft.com/office/drawing/2014/main" id="{21B8F38F-0A8D-DE8C-F71C-19BF8F53CF7B}"/>
              </a:ext>
            </a:extLst>
          </p:cNvPr>
          <p:cNvSpPr>
            <a:spLocks noGrp="1" noRot="1" noChangeAspect="1" noTextEdit="1"/>
          </p:cNvSpPr>
          <p:nvPr>
            <p:ph type="sldImg" idx="2"/>
          </p:nvPr>
        </p:nvSpPr>
        <p:spPr>
          <a:xfrm>
            <a:off x="466725" y="692150"/>
            <a:ext cx="6151563" cy="346075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33795" name="Google Shape;197;p1:notes">
            <a:extLst>
              <a:ext uri="{FF2B5EF4-FFF2-40B4-BE49-F238E27FC236}">
                <a16:creationId xmlns:a16="http://schemas.microsoft.com/office/drawing/2014/main" id="{8BF3E4B7-7CE0-7AE1-3E94-A0885064C968}"/>
              </a:ext>
            </a:extLst>
          </p:cNvPr>
          <p:cNvSpPr>
            <a:spLocks noGrp="1" noChangeArrowheads="1"/>
          </p:cNvSpPr>
          <p:nvPr>
            <p:ph type="body" idx="1"/>
          </p:nvPr>
        </p:nvSpPr>
        <p:spPr>
          <a:xfrm>
            <a:off x="708025" y="4384675"/>
            <a:ext cx="566896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3" tIns="93153" rIns="93153" bIns="93153"/>
          <a:lstStyle/>
          <a:p>
            <a:pPr>
              <a:spcBef>
                <a:spcPct val="0"/>
              </a:spcBef>
              <a:buSzPts val="1100"/>
            </a:pPr>
            <a:endParaRPr lang="es-PE" altLang="es-P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pPr>
              <a:defRPr/>
            </a:pPr>
            <a:fld id="{A6B56DB8-13C8-47F4-AAD3-8A215483D5E4}" type="slidenum">
              <a:rPr lang="es-ES" altLang="es-PE" smtClean="0"/>
              <a:pPr>
                <a:defRPr/>
              </a:pPr>
              <a:t>4</a:t>
            </a:fld>
            <a:endParaRPr lang="es-ES" altLang="es-PE"/>
          </a:p>
        </p:txBody>
      </p:sp>
      <p:sp>
        <p:nvSpPr>
          <p:cNvPr id="5" name="Marcador de encabezado 4"/>
          <p:cNvSpPr>
            <a:spLocks noGrp="1"/>
          </p:cNvSpPr>
          <p:nvPr>
            <p:ph type="hdr" sz="quarter"/>
          </p:nvPr>
        </p:nvSpPr>
        <p:spPr/>
        <p:txBody>
          <a:bodyPr/>
          <a:lstStyle/>
          <a:p>
            <a:pPr>
              <a:defRPr/>
            </a:pPr>
            <a:endParaRPr lang="es-PE"/>
          </a:p>
        </p:txBody>
      </p:sp>
    </p:spTree>
    <p:extLst>
      <p:ext uri="{BB962C8B-B14F-4D97-AF65-F5344CB8AC3E}">
        <p14:creationId xmlns:p14="http://schemas.microsoft.com/office/powerpoint/2010/main" val="810889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ADC7E-EE7D-96D9-2F4F-840171F802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5F7CD4-7D32-8542-9373-1ACAB43C79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D05AB7B-1CD2-BCDD-2637-6BADDE64D13E}"/>
              </a:ext>
            </a:extLst>
          </p:cNvPr>
          <p:cNvSpPr>
            <a:spLocks noGrp="1"/>
          </p:cNvSpPr>
          <p:nvPr>
            <p:ph type="body" idx="1"/>
          </p:nvPr>
        </p:nvSpPr>
        <p:spPr/>
        <p:txBody>
          <a:bodyPr/>
          <a:lstStyle/>
          <a:p>
            <a:endParaRPr lang="es-PE" dirty="0"/>
          </a:p>
        </p:txBody>
      </p:sp>
      <p:sp>
        <p:nvSpPr>
          <p:cNvPr id="4" name="Marcador de número de diapositiva 3">
            <a:extLst>
              <a:ext uri="{FF2B5EF4-FFF2-40B4-BE49-F238E27FC236}">
                <a16:creationId xmlns:a16="http://schemas.microsoft.com/office/drawing/2014/main" id="{8DD0EBED-DDF0-C22D-F26A-F58241C917E0}"/>
              </a:ext>
            </a:extLst>
          </p:cNvPr>
          <p:cNvSpPr>
            <a:spLocks noGrp="1"/>
          </p:cNvSpPr>
          <p:nvPr>
            <p:ph type="sldNum" sz="quarter" idx="5"/>
          </p:nvPr>
        </p:nvSpPr>
        <p:spPr/>
        <p:txBody>
          <a:bodyPr/>
          <a:lstStyle/>
          <a:p>
            <a:pPr>
              <a:defRPr/>
            </a:pPr>
            <a:fld id="{A6B56DB8-13C8-47F4-AAD3-8A215483D5E4}" type="slidenum">
              <a:rPr lang="es-ES" altLang="es-PE" smtClean="0"/>
              <a:pPr>
                <a:defRPr/>
              </a:pPr>
              <a:t>8</a:t>
            </a:fld>
            <a:endParaRPr lang="es-ES" altLang="es-PE"/>
          </a:p>
        </p:txBody>
      </p:sp>
      <p:sp>
        <p:nvSpPr>
          <p:cNvPr id="5" name="Marcador de encabezado 4">
            <a:extLst>
              <a:ext uri="{FF2B5EF4-FFF2-40B4-BE49-F238E27FC236}">
                <a16:creationId xmlns:a16="http://schemas.microsoft.com/office/drawing/2014/main" id="{FA9646BD-FDB0-A20B-C24A-F8FB6AE1BD44}"/>
              </a:ext>
            </a:extLst>
          </p:cNvPr>
          <p:cNvSpPr>
            <a:spLocks noGrp="1"/>
          </p:cNvSpPr>
          <p:nvPr>
            <p:ph type="hdr" sz="quarter"/>
          </p:nvPr>
        </p:nvSpPr>
        <p:spPr/>
        <p:txBody>
          <a:bodyPr/>
          <a:lstStyle/>
          <a:p>
            <a:pPr>
              <a:defRPr/>
            </a:pPr>
            <a:endParaRPr lang="es-PE"/>
          </a:p>
        </p:txBody>
      </p:sp>
    </p:spTree>
    <p:extLst>
      <p:ext uri="{BB962C8B-B14F-4D97-AF65-F5344CB8AC3E}">
        <p14:creationId xmlns:p14="http://schemas.microsoft.com/office/powerpoint/2010/main" val="1434171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D7494-6867-3374-8708-36A50BB9790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D10FE4-65C7-CA78-FCDB-F2C0D31D74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89B6800-7729-E064-8FF5-0D779CFD9D34}"/>
              </a:ext>
            </a:extLst>
          </p:cNvPr>
          <p:cNvSpPr>
            <a:spLocks noGrp="1"/>
          </p:cNvSpPr>
          <p:nvPr>
            <p:ph type="body" idx="1"/>
          </p:nvPr>
        </p:nvSpPr>
        <p:spPr/>
        <p:txBody>
          <a:bodyPr/>
          <a:lstStyle/>
          <a:p>
            <a:endParaRPr lang="es-PE" dirty="0"/>
          </a:p>
        </p:txBody>
      </p:sp>
      <p:sp>
        <p:nvSpPr>
          <p:cNvPr id="4" name="Marcador de número de diapositiva 3">
            <a:extLst>
              <a:ext uri="{FF2B5EF4-FFF2-40B4-BE49-F238E27FC236}">
                <a16:creationId xmlns:a16="http://schemas.microsoft.com/office/drawing/2014/main" id="{31FB3661-A27A-3E5A-B924-32B33629F18C}"/>
              </a:ext>
            </a:extLst>
          </p:cNvPr>
          <p:cNvSpPr>
            <a:spLocks noGrp="1"/>
          </p:cNvSpPr>
          <p:nvPr>
            <p:ph type="sldNum" sz="quarter" idx="5"/>
          </p:nvPr>
        </p:nvSpPr>
        <p:spPr/>
        <p:txBody>
          <a:bodyPr/>
          <a:lstStyle/>
          <a:p>
            <a:pPr>
              <a:defRPr/>
            </a:pPr>
            <a:fld id="{A6B56DB8-13C8-47F4-AAD3-8A215483D5E4}" type="slidenum">
              <a:rPr lang="es-ES" altLang="es-PE" smtClean="0"/>
              <a:pPr>
                <a:defRPr/>
              </a:pPr>
              <a:t>32</a:t>
            </a:fld>
            <a:endParaRPr lang="es-ES" altLang="es-PE"/>
          </a:p>
        </p:txBody>
      </p:sp>
      <p:sp>
        <p:nvSpPr>
          <p:cNvPr id="5" name="Marcador de encabezado 4">
            <a:extLst>
              <a:ext uri="{FF2B5EF4-FFF2-40B4-BE49-F238E27FC236}">
                <a16:creationId xmlns:a16="http://schemas.microsoft.com/office/drawing/2014/main" id="{AF115C62-714D-E4A4-D735-2DC15DE97B04}"/>
              </a:ext>
            </a:extLst>
          </p:cNvPr>
          <p:cNvSpPr>
            <a:spLocks noGrp="1"/>
          </p:cNvSpPr>
          <p:nvPr>
            <p:ph type="hdr" sz="quarter"/>
          </p:nvPr>
        </p:nvSpPr>
        <p:spPr/>
        <p:txBody>
          <a:bodyPr/>
          <a:lstStyle/>
          <a:p>
            <a:pPr>
              <a:defRPr/>
            </a:pPr>
            <a:endParaRPr lang="es-PE"/>
          </a:p>
        </p:txBody>
      </p:sp>
    </p:spTree>
    <p:extLst>
      <p:ext uri="{BB962C8B-B14F-4D97-AF65-F5344CB8AC3E}">
        <p14:creationId xmlns:p14="http://schemas.microsoft.com/office/powerpoint/2010/main" val="2960649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9791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3442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2511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4690" name="Google Shape;226;p5:notes">
            <a:extLst>
              <a:ext uri="{FF2B5EF4-FFF2-40B4-BE49-F238E27FC236}">
                <a16:creationId xmlns:a16="http://schemas.microsoft.com/office/drawing/2014/main" id="{820BDFAA-EEE0-2326-BF07-C3EAAE63306B}"/>
              </a:ext>
            </a:extLst>
          </p:cNvPr>
          <p:cNvSpPr>
            <a:spLocks noGrp="1" noRot="1" noChangeAspect="1" noTextEdit="1"/>
          </p:cNvSpPr>
          <p:nvPr>
            <p:ph type="sldImg" idx="2"/>
          </p:nvPr>
        </p:nvSpPr>
        <p:spPr>
          <a:xfrm>
            <a:off x="466725" y="692150"/>
            <a:ext cx="6151563" cy="346075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114691" name="Google Shape;227;p5:notes">
            <a:extLst>
              <a:ext uri="{FF2B5EF4-FFF2-40B4-BE49-F238E27FC236}">
                <a16:creationId xmlns:a16="http://schemas.microsoft.com/office/drawing/2014/main" id="{23B55297-81B1-349F-B3CB-5A328D017E55}"/>
              </a:ext>
            </a:extLst>
          </p:cNvPr>
          <p:cNvSpPr>
            <a:spLocks noGrp="1" noChangeArrowheads="1"/>
          </p:cNvSpPr>
          <p:nvPr>
            <p:ph type="body" idx="1"/>
          </p:nvPr>
        </p:nvSpPr>
        <p:spPr>
          <a:xfrm>
            <a:off x="708025" y="4384675"/>
            <a:ext cx="566896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3" tIns="93153" rIns="93153" bIns="93153"/>
          <a:lstStyle/>
          <a:p>
            <a:pPr>
              <a:spcBef>
                <a:spcPct val="0"/>
              </a:spcBef>
              <a:buSzPts val="1100"/>
            </a:pPr>
            <a:endParaRPr lang="es-PE" altLang="es-PE"/>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53A2DA5C-D437-027B-DCF4-917B0175834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dirty="0"/>
          </a:p>
        </p:txBody>
      </p:sp>
      <p:sp>
        <p:nvSpPr>
          <p:cNvPr id="5" name="Date Placeholder 3">
            <a:extLst>
              <a:ext uri="{FF2B5EF4-FFF2-40B4-BE49-F238E27FC236}">
                <a16:creationId xmlns:a16="http://schemas.microsoft.com/office/drawing/2014/main" id="{E2253C85-4E9D-347A-5035-F1D6C50B9268}"/>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99477D3C-5E98-5A3C-C5FD-2A30C78D1FB2}"/>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5959A324-6E69-DDB8-A342-D2CB96E7ED91}"/>
              </a:ext>
            </a:extLst>
          </p:cNvPr>
          <p:cNvSpPr>
            <a:spLocks noGrp="1"/>
          </p:cNvSpPr>
          <p:nvPr>
            <p:ph type="sldNum" sz="quarter" idx="12"/>
          </p:nvPr>
        </p:nvSpPr>
        <p:spPr>
          <a:xfrm>
            <a:off x="9178925" y="6356350"/>
            <a:ext cx="2743200" cy="365125"/>
          </a:xfrm>
        </p:spPr>
        <p:txBody>
          <a:bodyPr/>
          <a:lstStyle>
            <a:lvl1pPr>
              <a:defRPr/>
            </a:lvl1pPr>
          </a:lstStyle>
          <a:p>
            <a:pPr>
              <a:defRPr/>
            </a:pPr>
            <a:fld id="{7BF26608-AF33-4FFA-90AC-390B5519ABAC}" type="slidenum">
              <a:rPr lang="es-ES" altLang="es-PE"/>
              <a:pPr>
                <a:defRPr/>
              </a:pPr>
              <a:t>‹Nº›</a:t>
            </a:fld>
            <a:endParaRPr lang="es-ES" altLang="es-PE"/>
          </a:p>
        </p:txBody>
      </p:sp>
    </p:spTree>
    <p:extLst>
      <p:ext uri="{BB962C8B-B14F-4D97-AF65-F5344CB8AC3E}">
        <p14:creationId xmlns:p14="http://schemas.microsoft.com/office/powerpoint/2010/main" val="3497208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8263CB5D-6E6E-7DB9-985F-45DFA4FDE1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3">
            <a:extLst>
              <a:ext uri="{FF2B5EF4-FFF2-40B4-BE49-F238E27FC236}">
                <a16:creationId xmlns:a16="http://schemas.microsoft.com/office/drawing/2014/main" id="{42B6D90E-FB7E-AE80-1DA8-63F5280A4EA8}"/>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EACFE7F5-3F69-28AB-AFDD-79F600E9DED2}"/>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75DDD806-9E56-8FA4-284F-3D87296EA0C2}"/>
              </a:ext>
            </a:extLst>
          </p:cNvPr>
          <p:cNvSpPr>
            <a:spLocks noGrp="1"/>
          </p:cNvSpPr>
          <p:nvPr>
            <p:ph type="sldNum" sz="quarter" idx="12"/>
          </p:nvPr>
        </p:nvSpPr>
        <p:spPr/>
        <p:txBody>
          <a:bodyPr/>
          <a:lstStyle>
            <a:lvl1pPr>
              <a:defRPr/>
            </a:lvl1pPr>
          </a:lstStyle>
          <a:p>
            <a:pPr>
              <a:defRPr/>
            </a:pPr>
            <a:fld id="{8E639104-18EF-4017-8EC8-89CC3800080B}" type="slidenum">
              <a:rPr lang="es-PE" altLang="es-PE"/>
              <a:pPr>
                <a:defRPr/>
              </a:pPr>
              <a:t>‹Nº›</a:t>
            </a:fld>
            <a:endParaRPr lang="es-PE" altLang="es-PE"/>
          </a:p>
        </p:txBody>
      </p:sp>
    </p:spTree>
    <p:extLst>
      <p:ext uri="{BB962C8B-B14F-4D97-AF65-F5344CB8AC3E}">
        <p14:creationId xmlns:p14="http://schemas.microsoft.com/office/powerpoint/2010/main" val="1232805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9F5FD84B-455E-D860-880D-1ADCBAC5D14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5" name="Date Placeholder 3">
            <a:extLst>
              <a:ext uri="{FF2B5EF4-FFF2-40B4-BE49-F238E27FC236}">
                <a16:creationId xmlns:a16="http://schemas.microsoft.com/office/drawing/2014/main" id="{FF2B4AB6-74E0-DC02-A256-64B47F4E382A}"/>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CA1FA4CA-06A2-A6AB-98C0-4F5120AD1F63}"/>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B9FA2803-C4A2-3D3D-2AAF-3F0C7C1ED7C8}"/>
              </a:ext>
            </a:extLst>
          </p:cNvPr>
          <p:cNvSpPr>
            <a:spLocks noGrp="1"/>
          </p:cNvSpPr>
          <p:nvPr>
            <p:ph type="sldNum" sz="quarter" idx="12"/>
          </p:nvPr>
        </p:nvSpPr>
        <p:spPr/>
        <p:txBody>
          <a:bodyPr/>
          <a:lstStyle>
            <a:lvl1pPr>
              <a:defRPr/>
            </a:lvl1pPr>
          </a:lstStyle>
          <a:p>
            <a:pPr>
              <a:defRPr/>
            </a:pPr>
            <a:fld id="{6AE9A4C8-39F6-41EB-8684-F978523BC4BF}" type="slidenum">
              <a:rPr lang="es-PE" altLang="es-PE"/>
              <a:pPr>
                <a:defRPr/>
              </a:pPr>
              <a:t>‹Nº›</a:t>
            </a:fld>
            <a:endParaRPr lang="es-PE" altLang="es-PE"/>
          </a:p>
        </p:txBody>
      </p:sp>
    </p:spTree>
    <p:extLst>
      <p:ext uri="{BB962C8B-B14F-4D97-AF65-F5344CB8AC3E}">
        <p14:creationId xmlns:p14="http://schemas.microsoft.com/office/powerpoint/2010/main" val="200578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5" name="Imagen 6">
            <a:extLst>
              <a:ext uri="{FF2B5EF4-FFF2-40B4-BE49-F238E27FC236}">
                <a16:creationId xmlns:a16="http://schemas.microsoft.com/office/drawing/2014/main" id="{F08AD305-3131-938C-A82C-25FAB8C873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3">
            <a:extLst>
              <a:ext uri="{FF2B5EF4-FFF2-40B4-BE49-F238E27FC236}">
                <a16:creationId xmlns:a16="http://schemas.microsoft.com/office/drawing/2014/main" id="{6BC70A5C-5195-312F-0D11-2A36080A0613}"/>
              </a:ext>
            </a:extLst>
          </p:cNvPr>
          <p:cNvSpPr>
            <a:spLocks noGrp="1"/>
          </p:cNvSpPr>
          <p:nvPr>
            <p:ph type="dt" sz="half" idx="10"/>
          </p:nvPr>
        </p:nvSpPr>
        <p:spPr/>
        <p:txBody>
          <a:bodyPr/>
          <a:lstStyle>
            <a:lvl1pPr>
              <a:defRPr/>
            </a:lvl1pPr>
          </a:lstStyle>
          <a:p>
            <a:pPr>
              <a:defRPr/>
            </a:pPr>
            <a:endParaRPr lang="es-ES"/>
          </a:p>
        </p:txBody>
      </p:sp>
      <p:sp>
        <p:nvSpPr>
          <p:cNvPr id="7" name="Footer Placeholder 4">
            <a:extLst>
              <a:ext uri="{FF2B5EF4-FFF2-40B4-BE49-F238E27FC236}">
                <a16:creationId xmlns:a16="http://schemas.microsoft.com/office/drawing/2014/main" id="{E72E41FC-A43B-CB12-10BD-37D05353E34A}"/>
              </a:ext>
            </a:extLst>
          </p:cNvPr>
          <p:cNvSpPr>
            <a:spLocks noGrp="1"/>
          </p:cNvSpPr>
          <p:nvPr>
            <p:ph type="ftr" sz="quarter" idx="11"/>
          </p:nvPr>
        </p:nvSpPr>
        <p:spPr/>
        <p:txBody>
          <a:bodyPr/>
          <a:lstStyle>
            <a:lvl1pPr>
              <a:defRPr/>
            </a:lvl1pPr>
          </a:lstStyle>
          <a:p>
            <a:pPr>
              <a:defRPr/>
            </a:pPr>
            <a:endParaRPr lang="es-ES"/>
          </a:p>
        </p:txBody>
      </p:sp>
      <p:sp>
        <p:nvSpPr>
          <p:cNvPr id="8" name="Slide Number Placeholder 5">
            <a:extLst>
              <a:ext uri="{FF2B5EF4-FFF2-40B4-BE49-F238E27FC236}">
                <a16:creationId xmlns:a16="http://schemas.microsoft.com/office/drawing/2014/main" id="{F2E72A5A-7077-1149-6395-6D1B5FCD8B4E}"/>
              </a:ext>
            </a:extLst>
          </p:cNvPr>
          <p:cNvSpPr>
            <a:spLocks noGrp="1"/>
          </p:cNvSpPr>
          <p:nvPr>
            <p:ph type="sldNum" sz="quarter" idx="12"/>
          </p:nvPr>
        </p:nvSpPr>
        <p:spPr/>
        <p:txBody>
          <a:bodyPr/>
          <a:lstStyle>
            <a:lvl1pPr>
              <a:defRPr/>
            </a:lvl1pPr>
          </a:lstStyle>
          <a:p>
            <a:pPr>
              <a:defRPr/>
            </a:pPr>
            <a:fld id="{AB69ADA8-AA6B-441D-9CC4-385D61BC9163}" type="slidenum">
              <a:rPr lang="es-PE" altLang="es-PE"/>
              <a:pPr>
                <a:defRPr/>
              </a:pPr>
              <a:t>‹Nº›</a:t>
            </a:fld>
            <a:endParaRPr lang="es-PE" altLang="es-PE"/>
          </a:p>
        </p:txBody>
      </p:sp>
    </p:spTree>
    <p:extLst>
      <p:ext uri="{BB962C8B-B14F-4D97-AF65-F5344CB8AC3E}">
        <p14:creationId xmlns:p14="http://schemas.microsoft.com/office/powerpoint/2010/main" val="446009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7" name="Imagen 1">
            <a:extLst>
              <a:ext uri="{FF2B5EF4-FFF2-40B4-BE49-F238E27FC236}">
                <a16:creationId xmlns:a16="http://schemas.microsoft.com/office/drawing/2014/main" id="{C2F6939F-4E48-EE83-AAD3-0475A11566B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3">
            <a:extLst>
              <a:ext uri="{FF2B5EF4-FFF2-40B4-BE49-F238E27FC236}">
                <a16:creationId xmlns:a16="http://schemas.microsoft.com/office/drawing/2014/main" id="{940D1B83-405F-62B2-4F3F-93E7E8B7CB93}"/>
              </a:ext>
            </a:extLst>
          </p:cNvPr>
          <p:cNvSpPr>
            <a:spLocks noGrp="1"/>
          </p:cNvSpPr>
          <p:nvPr>
            <p:ph type="dt" sz="half" idx="10"/>
          </p:nvPr>
        </p:nvSpPr>
        <p:spPr/>
        <p:txBody>
          <a:bodyPr/>
          <a:lstStyle>
            <a:lvl1pPr>
              <a:defRPr/>
            </a:lvl1pPr>
          </a:lstStyle>
          <a:p>
            <a:pPr>
              <a:defRPr/>
            </a:pPr>
            <a:endParaRPr lang="es-ES"/>
          </a:p>
        </p:txBody>
      </p:sp>
      <p:sp>
        <p:nvSpPr>
          <p:cNvPr id="9" name="Footer Placeholder 4">
            <a:extLst>
              <a:ext uri="{FF2B5EF4-FFF2-40B4-BE49-F238E27FC236}">
                <a16:creationId xmlns:a16="http://schemas.microsoft.com/office/drawing/2014/main" id="{EECE5D62-1F29-D6A4-0B26-1A4234382CBD}"/>
              </a:ext>
            </a:extLst>
          </p:cNvPr>
          <p:cNvSpPr>
            <a:spLocks noGrp="1"/>
          </p:cNvSpPr>
          <p:nvPr>
            <p:ph type="ftr" sz="quarter" idx="11"/>
          </p:nvPr>
        </p:nvSpPr>
        <p:spPr/>
        <p:txBody>
          <a:bodyPr/>
          <a:lstStyle>
            <a:lvl1pPr>
              <a:defRPr/>
            </a:lvl1pPr>
          </a:lstStyle>
          <a:p>
            <a:pPr>
              <a:defRPr/>
            </a:pPr>
            <a:endParaRPr lang="es-ES"/>
          </a:p>
        </p:txBody>
      </p:sp>
      <p:sp>
        <p:nvSpPr>
          <p:cNvPr id="10" name="Slide Number Placeholder 5">
            <a:extLst>
              <a:ext uri="{FF2B5EF4-FFF2-40B4-BE49-F238E27FC236}">
                <a16:creationId xmlns:a16="http://schemas.microsoft.com/office/drawing/2014/main" id="{C8D71913-C923-154F-0A82-BD7E5B878D26}"/>
              </a:ext>
            </a:extLst>
          </p:cNvPr>
          <p:cNvSpPr>
            <a:spLocks noGrp="1"/>
          </p:cNvSpPr>
          <p:nvPr>
            <p:ph type="sldNum" sz="quarter" idx="12"/>
          </p:nvPr>
        </p:nvSpPr>
        <p:spPr/>
        <p:txBody>
          <a:bodyPr/>
          <a:lstStyle>
            <a:lvl1pPr>
              <a:defRPr/>
            </a:lvl1pPr>
          </a:lstStyle>
          <a:p>
            <a:pPr>
              <a:defRPr/>
            </a:pPr>
            <a:fld id="{0BC22ACB-C149-4B74-B84A-204A7D7D2869}" type="slidenum">
              <a:rPr lang="es-PE" altLang="es-PE"/>
              <a:pPr>
                <a:defRPr/>
              </a:pPr>
              <a:t>‹Nº›</a:t>
            </a:fld>
            <a:endParaRPr lang="es-PE" altLang="es-PE"/>
          </a:p>
        </p:txBody>
      </p:sp>
    </p:spTree>
    <p:extLst>
      <p:ext uri="{BB962C8B-B14F-4D97-AF65-F5344CB8AC3E}">
        <p14:creationId xmlns:p14="http://schemas.microsoft.com/office/powerpoint/2010/main" val="171709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3" name="Imagen 6">
            <a:extLst>
              <a:ext uri="{FF2B5EF4-FFF2-40B4-BE49-F238E27FC236}">
                <a16:creationId xmlns:a16="http://schemas.microsoft.com/office/drawing/2014/main" id="{F72149B0-BAE8-798F-78F3-900087058BF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4" name="Date Placeholder 3">
            <a:extLst>
              <a:ext uri="{FF2B5EF4-FFF2-40B4-BE49-F238E27FC236}">
                <a16:creationId xmlns:a16="http://schemas.microsoft.com/office/drawing/2014/main" id="{4C7848FE-560C-0168-7161-FF3426A3E50E}"/>
              </a:ext>
            </a:extLst>
          </p:cNvPr>
          <p:cNvSpPr>
            <a:spLocks noGrp="1"/>
          </p:cNvSpPr>
          <p:nvPr>
            <p:ph type="dt" sz="half" idx="10"/>
          </p:nvPr>
        </p:nvSpPr>
        <p:spPr/>
        <p:txBody>
          <a:bodyPr/>
          <a:lstStyle>
            <a:lvl1pPr>
              <a:defRPr/>
            </a:lvl1pPr>
          </a:lstStyle>
          <a:p>
            <a:pPr>
              <a:defRPr/>
            </a:pPr>
            <a:endParaRPr lang="es-ES"/>
          </a:p>
        </p:txBody>
      </p:sp>
      <p:sp>
        <p:nvSpPr>
          <p:cNvPr id="5" name="Footer Placeholder 4">
            <a:extLst>
              <a:ext uri="{FF2B5EF4-FFF2-40B4-BE49-F238E27FC236}">
                <a16:creationId xmlns:a16="http://schemas.microsoft.com/office/drawing/2014/main" id="{5CD4D77D-6691-A738-AC1C-026F2E77B647}"/>
              </a:ext>
            </a:extLst>
          </p:cNvPr>
          <p:cNvSpPr>
            <a:spLocks noGrp="1"/>
          </p:cNvSpPr>
          <p:nvPr>
            <p:ph type="ftr" sz="quarter" idx="11"/>
          </p:nvPr>
        </p:nvSpPr>
        <p:spPr/>
        <p:txBody>
          <a:bodyPr/>
          <a:lstStyle>
            <a:lvl1pPr>
              <a:defRPr/>
            </a:lvl1pPr>
          </a:lstStyle>
          <a:p>
            <a:pPr>
              <a:defRPr/>
            </a:pPr>
            <a:endParaRPr lang="es-ES"/>
          </a:p>
        </p:txBody>
      </p:sp>
      <p:sp>
        <p:nvSpPr>
          <p:cNvPr id="6" name="Slide Number Placeholder 5">
            <a:extLst>
              <a:ext uri="{FF2B5EF4-FFF2-40B4-BE49-F238E27FC236}">
                <a16:creationId xmlns:a16="http://schemas.microsoft.com/office/drawing/2014/main" id="{9432E71B-9EB4-335B-756D-E3F3FC5FA6DB}"/>
              </a:ext>
            </a:extLst>
          </p:cNvPr>
          <p:cNvSpPr>
            <a:spLocks noGrp="1"/>
          </p:cNvSpPr>
          <p:nvPr>
            <p:ph type="sldNum" sz="quarter" idx="12"/>
          </p:nvPr>
        </p:nvSpPr>
        <p:spPr/>
        <p:txBody>
          <a:bodyPr/>
          <a:lstStyle>
            <a:lvl1pPr>
              <a:defRPr/>
            </a:lvl1pPr>
          </a:lstStyle>
          <a:p>
            <a:pPr>
              <a:defRPr/>
            </a:pPr>
            <a:fld id="{371542AE-E0E7-4EA6-984B-B2F2ADF99AA5}" type="slidenum">
              <a:rPr lang="es-PE" altLang="es-PE"/>
              <a:pPr>
                <a:defRPr/>
              </a:pPr>
              <a:t>‹Nº›</a:t>
            </a:fld>
            <a:endParaRPr lang="es-PE" altLang="es-PE"/>
          </a:p>
        </p:txBody>
      </p:sp>
    </p:spTree>
    <p:extLst>
      <p:ext uri="{BB962C8B-B14F-4D97-AF65-F5344CB8AC3E}">
        <p14:creationId xmlns:p14="http://schemas.microsoft.com/office/powerpoint/2010/main" val="2345068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pic>
        <p:nvPicPr>
          <p:cNvPr id="2" name="Imagen 6">
            <a:extLst>
              <a:ext uri="{FF2B5EF4-FFF2-40B4-BE49-F238E27FC236}">
                <a16:creationId xmlns:a16="http://schemas.microsoft.com/office/drawing/2014/main" id="{9881EA49-1F6D-2371-5D64-B9EF0C2CC90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id="{764492D8-6820-A8DE-AEDB-2F4749307A51}"/>
              </a:ext>
            </a:extLst>
          </p:cNvPr>
          <p:cNvSpPr>
            <a:spLocks noGrp="1"/>
          </p:cNvSpPr>
          <p:nvPr>
            <p:ph type="dt" sz="half" idx="10"/>
          </p:nvPr>
        </p:nvSpPr>
        <p:spPr/>
        <p:txBody>
          <a:bodyPr/>
          <a:lstStyle>
            <a:lvl1pPr>
              <a:defRPr/>
            </a:lvl1pPr>
          </a:lstStyle>
          <a:p>
            <a:pPr>
              <a:defRPr/>
            </a:pPr>
            <a:endParaRPr lang="es-ES"/>
          </a:p>
        </p:txBody>
      </p:sp>
      <p:sp>
        <p:nvSpPr>
          <p:cNvPr id="4" name="Footer Placeholder 4">
            <a:extLst>
              <a:ext uri="{FF2B5EF4-FFF2-40B4-BE49-F238E27FC236}">
                <a16:creationId xmlns:a16="http://schemas.microsoft.com/office/drawing/2014/main" id="{30F638DA-02D7-72D4-71F9-D54241C1F1EC}"/>
              </a:ext>
            </a:extLst>
          </p:cNvPr>
          <p:cNvSpPr>
            <a:spLocks noGrp="1"/>
          </p:cNvSpPr>
          <p:nvPr>
            <p:ph type="ftr" sz="quarter" idx="11"/>
          </p:nvPr>
        </p:nvSpPr>
        <p:spPr/>
        <p:txBody>
          <a:bodyPr/>
          <a:lstStyle>
            <a:lvl1pPr>
              <a:defRPr/>
            </a:lvl1pPr>
          </a:lstStyle>
          <a:p>
            <a:pPr>
              <a:defRPr/>
            </a:pPr>
            <a:endParaRPr lang="es-ES"/>
          </a:p>
        </p:txBody>
      </p:sp>
      <p:sp>
        <p:nvSpPr>
          <p:cNvPr id="5" name="Slide Number Placeholder 5">
            <a:extLst>
              <a:ext uri="{FF2B5EF4-FFF2-40B4-BE49-F238E27FC236}">
                <a16:creationId xmlns:a16="http://schemas.microsoft.com/office/drawing/2014/main" id="{F28B9456-B87D-71C2-D51B-2D934AA43385}"/>
              </a:ext>
            </a:extLst>
          </p:cNvPr>
          <p:cNvSpPr>
            <a:spLocks noGrp="1"/>
          </p:cNvSpPr>
          <p:nvPr>
            <p:ph type="sldNum" sz="quarter" idx="12"/>
          </p:nvPr>
        </p:nvSpPr>
        <p:spPr/>
        <p:txBody>
          <a:bodyPr/>
          <a:lstStyle>
            <a:lvl1pPr>
              <a:defRPr/>
            </a:lvl1pPr>
          </a:lstStyle>
          <a:p>
            <a:pPr>
              <a:defRPr/>
            </a:pPr>
            <a:fld id="{E3D61048-3D9D-45EC-AB63-0A18BF5540D8}" type="slidenum">
              <a:rPr lang="es-PE" altLang="es-PE"/>
              <a:pPr>
                <a:defRPr/>
              </a:pPr>
              <a:t>‹Nº›</a:t>
            </a:fld>
            <a:endParaRPr lang="es-PE" altLang="es-PE"/>
          </a:p>
        </p:txBody>
      </p:sp>
    </p:spTree>
    <p:extLst>
      <p:ext uri="{BB962C8B-B14F-4D97-AF65-F5344CB8AC3E}">
        <p14:creationId xmlns:p14="http://schemas.microsoft.com/office/powerpoint/2010/main" val="3671054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5" name="Imagen 6">
            <a:extLst>
              <a:ext uri="{FF2B5EF4-FFF2-40B4-BE49-F238E27FC236}">
                <a16:creationId xmlns:a16="http://schemas.microsoft.com/office/drawing/2014/main" id="{95D835EC-F8E8-A6E8-A625-AD556F08492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6" name="Date Placeholder 3">
            <a:extLst>
              <a:ext uri="{FF2B5EF4-FFF2-40B4-BE49-F238E27FC236}">
                <a16:creationId xmlns:a16="http://schemas.microsoft.com/office/drawing/2014/main" id="{808720AE-C245-9DB6-079D-144EE37BE95E}"/>
              </a:ext>
            </a:extLst>
          </p:cNvPr>
          <p:cNvSpPr>
            <a:spLocks noGrp="1"/>
          </p:cNvSpPr>
          <p:nvPr>
            <p:ph type="dt" sz="half" idx="10"/>
          </p:nvPr>
        </p:nvSpPr>
        <p:spPr/>
        <p:txBody>
          <a:bodyPr/>
          <a:lstStyle>
            <a:lvl1pPr>
              <a:defRPr/>
            </a:lvl1pPr>
          </a:lstStyle>
          <a:p>
            <a:pPr>
              <a:defRPr/>
            </a:pPr>
            <a:endParaRPr lang="es-ES"/>
          </a:p>
        </p:txBody>
      </p:sp>
      <p:sp>
        <p:nvSpPr>
          <p:cNvPr id="7" name="Footer Placeholder 4">
            <a:extLst>
              <a:ext uri="{FF2B5EF4-FFF2-40B4-BE49-F238E27FC236}">
                <a16:creationId xmlns:a16="http://schemas.microsoft.com/office/drawing/2014/main" id="{DD30D8F3-AF85-EF9B-A720-077F1FCD36F7}"/>
              </a:ext>
            </a:extLst>
          </p:cNvPr>
          <p:cNvSpPr>
            <a:spLocks noGrp="1"/>
          </p:cNvSpPr>
          <p:nvPr>
            <p:ph type="ftr" sz="quarter" idx="11"/>
          </p:nvPr>
        </p:nvSpPr>
        <p:spPr/>
        <p:txBody>
          <a:bodyPr/>
          <a:lstStyle>
            <a:lvl1pPr>
              <a:defRPr/>
            </a:lvl1pPr>
          </a:lstStyle>
          <a:p>
            <a:pPr>
              <a:defRPr/>
            </a:pPr>
            <a:endParaRPr lang="es-ES"/>
          </a:p>
        </p:txBody>
      </p:sp>
      <p:sp>
        <p:nvSpPr>
          <p:cNvPr id="8" name="Slide Number Placeholder 5">
            <a:extLst>
              <a:ext uri="{FF2B5EF4-FFF2-40B4-BE49-F238E27FC236}">
                <a16:creationId xmlns:a16="http://schemas.microsoft.com/office/drawing/2014/main" id="{51C22E62-5506-9191-8E76-981DF521ECD9}"/>
              </a:ext>
            </a:extLst>
          </p:cNvPr>
          <p:cNvSpPr>
            <a:spLocks noGrp="1"/>
          </p:cNvSpPr>
          <p:nvPr>
            <p:ph type="sldNum" sz="quarter" idx="12"/>
          </p:nvPr>
        </p:nvSpPr>
        <p:spPr/>
        <p:txBody>
          <a:bodyPr/>
          <a:lstStyle>
            <a:lvl1pPr>
              <a:defRPr/>
            </a:lvl1pPr>
          </a:lstStyle>
          <a:p>
            <a:pPr>
              <a:defRPr/>
            </a:pPr>
            <a:fld id="{6E7B3B45-3365-4277-9E04-1D00011744D0}" type="slidenum">
              <a:rPr lang="es-PE" altLang="es-PE"/>
              <a:pPr>
                <a:defRPr/>
              </a:pPr>
              <a:t>‹Nº›</a:t>
            </a:fld>
            <a:endParaRPr lang="es-PE" altLang="es-PE"/>
          </a:p>
        </p:txBody>
      </p:sp>
    </p:spTree>
    <p:extLst>
      <p:ext uri="{BB962C8B-B14F-4D97-AF65-F5344CB8AC3E}">
        <p14:creationId xmlns:p14="http://schemas.microsoft.com/office/powerpoint/2010/main" val="1011499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5" name="Imagen 6">
            <a:extLst>
              <a:ext uri="{FF2B5EF4-FFF2-40B4-BE49-F238E27FC236}">
                <a16:creationId xmlns:a16="http://schemas.microsoft.com/office/drawing/2014/main" id="{9A243640-7DEB-76D1-0370-9F3E2F14541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6" name="Date Placeholder 3">
            <a:extLst>
              <a:ext uri="{FF2B5EF4-FFF2-40B4-BE49-F238E27FC236}">
                <a16:creationId xmlns:a16="http://schemas.microsoft.com/office/drawing/2014/main" id="{0814BE7F-7F5C-BD65-4CB1-2C616A1889DD}"/>
              </a:ext>
            </a:extLst>
          </p:cNvPr>
          <p:cNvSpPr>
            <a:spLocks noGrp="1"/>
          </p:cNvSpPr>
          <p:nvPr>
            <p:ph type="dt" sz="half" idx="10"/>
          </p:nvPr>
        </p:nvSpPr>
        <p:spPr/>
        <p:txBody>
          <a:bodyPr/>
          <a:lstStyle>
            <a:lvl1pPr>
              <a:defRPr/>
            </a:lvl1pPr>
          </a:lstStyle>
          <a:p>
            <a:pPr>
              <a:defRPr/>
            </a:pPr>
            <a:endParaRPr lang="es-ES"/>
          </a:p>
        </p:txBody>
      </p:sp>
      <p:sp>
        <p:nvSpPr>
          <p:cNvPr id="7" name="Footer Placeholder 4">
            <a:extLst>
              <a:ext uri="{FF2B5EF4-FFF2-40B4-BE49-F238E27FC236}">
                <a16:creationId xmlns:a16="http://schemas.microsoft.com/office/drawing/2014/main" id="{4661234C-EF78-8381-6B16-784245DB3CFF}"/>
              </a:ext>
            </a:extLst>
          </p:cNvPr>
          <p:cNvSpPr>
            <a:spLocks noGrp="1"/>
          </p:cNvSpPr>
          <p:nvPr>
            <p:ph type="ftr" sz="quarter" idx="11"/>
          </p:nvPr>
        </p:nvSpPr>
        <p:spPr/>
        <p:txBody>
          <a:bodyPr/>
          <a:lstStyle>
            <a:lvl1pPr>
              <a:defRPr/>
            </a:lvl1pPr>
          </a:lstStyle>
          <a:p>
            <a:pPr>
              <a:defRPr/>
            </a:pPr>
            <a:endParaRPr lang="es-ES"/>
          </a:p>
        </p:txBody>
      </p:sp>
      <p:sp>
        <p:nvSpPr>
          <p:cNvPr id="8" name="Slide Number Placeholder 5">
            <a:extLst>
              <a:ext uri="{FF2B5EF4-FFF2-40B4-BE49-F238E27FC236}">
                <a16:creationId xmlns:a16="http://schemas.microsoft.com/office/drawing/2014/main" id="{508DB979-886E-DEEB-474C-2824E9D2ADB1}"/>
              </a:ext>
            </a:extLst>
          </p:cNvPr>
          <p:cNvSpPr>
            <a:spLocks noGrp="1"/>
          </p:cNvSpPr>
          <p:nvPr>
            <p:ph type="sldNum" sz="quarter" idx="12"/>
          </p:nvPr>
        </p:nvSpPr>
        <p:spPr/>
        <p:txBody>
          <a:bodyPr/>
          <a:lstStyle>
            <a:lvl1pPr>
              <a:defRPr/>
            </a:lvl1pPr>
          </a:lstStyle>
          <a:p>
            <a:pPr>
              <a:defRPr/>
            </a:pPr>
            <a:fld id="{7D0A27C8-72B9-4FDB-B5D7-3C8C07C4B812}" type="slidenum">
              <a:rPr lang="es-PE" altLang="es-PE"/>
              <a:pPr>
                <a:defRPr/>
              </a:pPr>
              <a:t>‹Nº›</a:t>
            </a:fld>
            <a:endParaRPr lang="es-PE" altLang="es-PE"/>
          </a:p>
        </p:txBody>
      </p:sp>
    </p:spTree>
    <p:extLst>
      <p:ext uri="{BB962C8B-B14F-4D97-AF65-F5344CB8AC3E}">
        <p14:creationId xmlns:p14="http://schemas.microsoft.com/office/powerpoint/2010/main" val="35015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3500F91A-607C-4309-1585-C00F8DE0E7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3">
            <a:extLst>
              <a:ext uri="{FF2B5EF4-FFF2-40B4-BE49-F238E27FC236}">
                <a16:creationId xmlns:a16="http://schemas.microsoft.com/office/drawing/2014/main" id="{E9D005B2-E2F0-366E-A541-12E9AA147454}"/>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21A85EDA-3176-0DC7-7336-052AA4E966EA}"/>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7790BC8D-A7C2-506C-6E27-E1E5545C0FDF}"/>
              </a:ext>
            </a:extLst>
          </p:cNvPr>
          <p:cNvSpPr>
            <a:spLocks noGrp="1"/>
          </p:cNvSpPr>
          <p:nvPr>
            <p:ph type="sldNum" sz="quarter" idx="12"/>
          </p:nvPr>
        </p:nvSpPr>
        <p:spPr/>
        <p:txBody>
          <a:bodyPr/>
          <a:lstStyle>
            <a:lvl1pPr>
              <a:defRPr/>
            </a:lvl1pPr>
          </a:lstStyle>
          <a:p>
            <a:pPr>
              <a:defRPr/>
            </a:pPr>
            <a:fld id="{A1CD69CA-E9EA-4C17-B1EC-0A5B2523D554}" type="slidenum">
              <a:rPr lang="es-PE" altLang="es-PE"/>
              <a:pPr>
                <a:defRPr/>
              </a:pPr>
              <a:t>‹Nº›</a:t>
            </a:fld>
            <a:endParaRPr lang="es-PE" altLang="es-PE"/>
          </a:p>
        </p:txBody>
      </p:sp>
    </p:spTree>
    <p:extLst>
      <p:ext uri="{BB962C8B-B14F-4D97-AF65-F5344CB8AC3E}">
        <p14:creationId xmlns:p14="http://schemas.microsoft.com/office/powerpoint/2010/main" val="3109001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166377C5-A7D1-E087-776B-A57A68D9594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34550" y="150813"/>
            <a:ext cx="21748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3">
            <a:extLst>
              <a:ext uri="{FF2B5EF4-FFF2-40B4-BE49-F238E27FC236}">
                <a16:creationId xmlns:a16="http://schemas.microsoft.com/office/drawing/2014/main" id="{4B6C197A-886C-8778-3729-487CB71B515B}"/>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102C9B3A-5E2E-A6A5-501F-C8A107BD7BA7}"/>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0E730B77-D557-D46E-ED81-14035ECACBE3}"/>
              </a:ext>
            </a:extLst>
          </p:cNvPr>
          <p:cNvSpPr>
            <a:spLocks noGrp="1"/>
          </p:cNvSpPr>
          <p:nvPr>
            <p:ph type="sldNum" sz="quarter" idx="12"/>
          </p:nvPr>
        </p:nvSpPr>
        <p:spPr/>
        <p:txBody>
          <a:bodyPr/>
          <a:lstStyle>
            <a:lvl1pPr>
              <a:defRPr/>
            </a:lvl1pPr>
          </a:lstStyle>
          <a:p>
            <a:pPr>
              <a:defRPr/>
            </a:pPr>
            <a:fld id="{6A8E8C5D-CB98-4F98-96E1-A46CA8A5D2FC}" type="slidenum">
              <a:rPr lang="es-PE" altLang="es-PE"/>
              <a:pPr>
                <a:defRPr/>
              </a:pPr>
              <a:t>‹Nº›</a:t>
            </a:fld>
            <a:endParaRPr lang="es-PE" altLang="es-PE"/>
          </a:p>
        </p:txBody>
      </p:sp>
    </p:spTree>
    <p:extLst>
      <p:ext uri="{BB962C8B-B14F-4D97-AF65-F5344CB8AC3E}">
        <p14:creationId xmlns:p14="http://schemas.microsoft.com/office/powerpoint/2010/main" val="2195529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slide">
  <p:cSld name="Main slide">
    <p:bg>
      <p:bgPr>
        <a:solidFill>
          <a:srgbClr val="FFFFFF"/>
        </a:solidFill>
        <a:effectLst/>
      </p:bgPr>
    </p:bg>
    <p:spTree>
      <p:nvGrpSpPr>
        <p:cNvPr id="1" name="Shape 8"/>
        <p:cNvGrpSpPr/>
        <p:nvPr/>
      </p:nvGrpSpPr>
      <p:grpSpPr>
        <a:xfrm>
          <a:off x="0" y="0"/>
          <a:ext cx="0" cy="0"/>
          <a:chOff x="0" y="0"/>
          <a:chExt cx="0" cy="0"/>
        </a:xfrm>
      </p:grpSpPr>
      <p:pic>
        <p:nvPicPr>
          <p:cNvPr id="2" name="Imagen 1">
            <a:extLst>
              <a:ext uri="{FF2B5EF4-FFF2-40B4-BE49-F238E27FC236}">
                <a16:creationId xmlns:a16="http://schemas.microsoft.com/office/drawing/2014/main" id="{4FB7E514-D667-6A94-41FE-7EF68186A76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2088" y="188913"/>
            <a:ext cx="18669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Google Shape;12;p2"/>
          <p:cNvSpPr txBox="1">
            <a:spLocks noGrp="1"/>
          </p:cNvSpPr>
          <p:nvPr>
            <p:ph type="ctrTitle"/>
          </p:nvPr>
        </p:nvSpPr>
        <p:spPr>
          <a:xfrm>
            <a:off x="1633200" y="2304591"/>
            <a:ext cx="8925600" cy="1419600"/>
          </a:xfrm>
          <a:prstGeom prst="rect">
            <a:avLst/>
          </a:prstGeom>
          <a:noFill/>
          <a:ln>
            <a:noFill/>
          </a:ln>
        </p:spPr>
        <p:txBody>
          <a:bodyPr spcFirstLastPara="1" lIns="91425" tIns="91425" rIns="91425" bIns="91425">
            <a:noAutofit/>
          </a:bodyPr>
          <a:lstStyle>
            <a:lvl1pPr lvl="0" algn="ctr">
              <a:lnSpc>
                <a:spcPct val="100000"/>
              </a:lnSpc>
              <a:spcBef>
                <a:spcPts val="0"/>
              </a:spcBef>
              <a:spcAft>
                <a:spcPts val="0"/>
              </a:spcAft>
              <a:buClr>
                <a:srgbClr val="434343"/>
              </a:buClr>
              <a:buSzPts val="2800"/>
              <a:buNone/>
              <a:defRPr sz="4267" b="1"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a:lnSpc>
                <a:spcPct val="100000"/>
              </a:lnSpc>
              <a:spcBef>
                <a:spcPts val="0"/>
              </a:spcBef>
              <a:spcAft>
                <a:spcPts val="0"/>
              </a:spcAft>
              <a:buClr>
                <a:srgbClr val="7F8D99"/>
              </a:buClr>
              <a:buSzPts val="2800"/>
              <a:buNone/>
              <a:defRPr>
                <a:solidFill>
                  <a:srgbClr val="7F8D99"/>
                </a:solidFill>
              </a:defRPr>
            </a:lvl2pPr>
            <a:lvl3pPr lvl="2" algn="ctr">
              <a:lnSpc>
                <a:spcPct val="100000"/>
              </a:lnSpc>
              <a:spcBef>
                <a:spcPts val="0"/>
              </a:spcBef>
              <a:spcAft>
                <a:spcPts val="0"/>
              </a:spcAft>
              <a:buClr>
                <a:srgbClr val="7F8D99"/>
              </a:buClr>
              <a:buSzPts val="2800"/>
              <a:buNone/>
              <a:defRPr>
                <a:solidFill>
                  <a:srgbClr val="7F8D99"/>
                </a:solidFill>
              </a:defRPr>
            </a:lvl3pPr>
            <a:lvl4pPr lvl="3" algn="ctr">
              <a:lnSpc>
                <a:spcPct val="100000"/>
              </a:lnSpc>
              <a:spcBef>
                <a:spcPts val="0"/>
              </a:spcBef>
              <a:spcAft>
                <a:spcPts val="0"/>
              </a:spcAft>
              <a:buClr>
                <a:srgbClr val="7F8D99"/>
              </a:buClr>
              <a:buSzPts val="2800"/>
              <a:buNone/>
              <a:defRPr>
                <a:solidFill>
                  <a:srgbClr val="7F8D99"/>
                </a:solidFill>
              </a:defRPr>
            </a:lvl4pPr>
            <a:lvl5pPr lvl="4" algn="ctr">
              <a:lnSpc>
                <a:spcPct val="100000"/>
              </a:lnSpc>
              <a:spcBef>
                <a:spcPts val="0"/>
              </a:spcBef>
              <a:spcAft>
                <a:spcPts val="0"/>
              </a:spcAft>
              <a:buClr>
                <a:srgbClr val="7F8D99"/>
              </a:buClr>
              <a:buSzPts val="2800"/>
              <a:buNone/>
              <a:defRPr>
                <a:solidFill>
                  <a:srgbClr val="7F8D99"/>
                </a:solidFill>
              </a:defRPr>
            </a:lvl5pPr>
            <a:lvl6pPr lvl="5" algn="ctr">
              <a:lnSpc>
                <a:spcPct val="100000"/>
              </a:lnSpc>
              <a:spcBef>
                <a:spcPts val="0"/>
              </a:spcBef>
              <a:spcAft>
                <a:spcPts val="0"/>
              </a:spcAft>
              <a:buClr>
                <a:srgbClr val="7F8D99"/>
              </a:buClr>
              <a:buSzPts val="2800"/>
              <a:buNone/>
              <a:defRPr>
                <a:solidFill>
                  <a:srgbClr val="7F8D99"/>
                </a:solidFill>
              </a:defRPr>
            </a:lvl6pPr>
            <a:lvl7pPr lvl="6" algn="ctr">
              <a:lnSpc>
                <a:spcPct val="100000"/>
              </a:lnSpc>
              <a:spcBef>
                <a:spcPts val="0"/>
              </a:spcBef>
              <a:spcAft>
                <a:spcPts val="0"/>
              </a:spcAft>
              <a:buClr>
                <a:srgbClr val="7F8D99"/>
              </a:buClr>
              <a:buSzPts val="2800"/>
              <a:buNone/>
              <a:defRPr>
                <a:solidFill>
                  <a:srgbClr val="7F8D99"/>
                </a:solidFill>
              </a:defRPr>
            </a:lvl7pPr>
            <a:lvl8pPr lvl="7" algn="ctr">
              <a:lnSpc>
                <a:spcPct val="100000"/>
              </a:lnSpc>
              <a:spcBef>
                <a:spcPts val="0"/>
              </a:spcBef>
              <a:spcAft>
                <a:spcPts val="0"/>
              </a:spcAft>
              <a:buClr>
                <a:srgbClr val="7F8D99"/>
              </a:buClr>
              <a:buSzPts val="2800"/>
              <a:buNone/>
              <a:defRPr>
                <a:solidFill>
                  <a:srgbClr val="7F8D99"/>
                </a:solidFill>
              </a:defRPr>
            </a:lvl8pPr>
            <a:lvl9pPr lvl="8" algn="ctr">
              <a:lnSpc>
                <a:spcPct val="100000"/>
              </a:lnSpc>
              <a:spcBef>
                <a:spcPts val="0"/>
              </a:spcBef>
              <a:spcAft>
                <a:spcPts val="0"/>
              </a:spcAft>
              <a:buClr>
                <a:srgbClr val="7F8D99"/>
              </a:buClr>
              <a:buSzPts val="2800"/>
              <a:buNone/>
              <a:defRPr>
                <a:solidFill>
                  <a:srgbClr val="7F8D99"/>
                </a:solidFill>
              </a:defRPr>
            </a:lvl9pPr>
          </a:lstStyle>
          <a:p>
            <a:endParaRPr dirty="0"/>
          </a:p>
        </p:txBody>
      </p:sp>
      <p:sp>
        <p:nvSpPr>
          <p:cNvPr id="13" name="Google Shape;13;p2"/>
          <p:cNvSpPr txBox="1">
            <a:spLocks noGrp="1"/>
          </p:cNvSpPr>
          <p:nvPr>
            <p:ph type="ctrTitle" idx="2"/>
          </p:nvPr>
        </p:nvSpPr>
        <p:spPr>
          <a:xfrm>
            <a:off x="1633200" y="3934776"/>
            <a:ext cx="8925600" cy="965200"/>
          </a:xfrm>
          <a:prstGeom prst="rect">
            <a:avLst/>
          </a:prstGeom>
          <a:noFill/>
          <a:ln>
            <a:noFill/>
          </a:ln>
        </p:spPr>
        <p:txBody>
          <a:bodyPr spcFirstLastPara="1" lIns="91425" tIns="91425" rIns="91425" bIns="91425" anchor="t">
            <a:noAutofit/>
          </a:bodyPr>
          <a:lstStyle>
            <a:lvl1pPr lvl="0" algn="ctr">
              <a:lnSpc>
                <a:spcPct val="100000"/>
              </a:lnSpc>
              <a:spcBef>
                <a:spcPts val="0"/>
              </a:spcBef>
              <a:spcAft>
                <a:spcPts val="0"/>
              </a:spcAft>
              <a:buClr>
                <a:srgbClr val="434343"/>
              </a:buClr>
              <a:buSzPts val="1800"/>
              <a:buNone/>
              <a:defRPr sz="21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a:lnSpc>
                <a:spcPct val="100000"/>
              </a:lnSpc>
              <a:spcBef>
                <a:spcPts val="0"/>
              </a:spcBef>
              <a:spcAft>
                <a:spcPts val="0"/>
              </a:spcAft>
              <a:buClr>
                <a:srgbClr val="7F8D99"/>
              </a:buClr>
              <a:buSzPts val="1800"/>
              <a:buNone/>
              <a:defRPr sz="2400">
                <a:solidFill>
                  <a:srgbClr val="7F8D99"/>
                </a:solidFill>
              </a:defRPr>
            </a:lvl2pPr>
            <a:lvl3pPr lvl="2" algn="ctr">
              <a:lnSpc>
                <a:spcPct val="100000"/>
              </a:lnSpc>
              <a:spcBef>
                <a:spcPts val="0"/>
              </a:spcBef>
              <a:spcAft>
                <a:spcPts val="0"/>
              </a:spcAft>
              <a:buClr>
                <a:srgbClr val="7F8D99"/>
              </a:buClr>
              <a:buSzPts val="1800"/>
              <a:buNone/>
              <a:defRPr sz="2400">
                <a:solidFill>
                  <a:srgbClr val="7F8D99"/>
                </a:solidFill>
              </a:defRPr>
            </a:lvl3pPr>
            <a:lvl4pPr lvl="3" algn="ctr">
              <a:lnSpc>
                <a:spcPct val="100000"/>
              </a:lnSpc>
              <a:spcBef>
                <a:spcPts val="0"/>
              </a:spcBef>
              <a:spcAft>
                <a:spcPts val="0"/>
              </a:spcAft>
              <a:buClr>
                <a:srgbClr val="7F8D99"/>
              </a:buClr>
              <a:buSzPts val="1800"/>
              <a:buNone/>
              <a:defRPr sz="2400">
                <a:solidFill>
                  <a:srgbClr val="7F8D99"/>
                </a:solidFill>
              </a:defRPr>
            </a:lvl4pPr>
            <a:lvl5pPr lvl="4" algn="ctr">
              <a:lnSpc>
                <a:spcPct val="100000"/>
              </a:lnSpc>
              <a:spcBef>
                <a:spcPts val="0"/>
              </a:spcBef>
              <a:spcAft>
                <a:spcPts val="0"/>
              </a:spcAft>
              <a:buClr>
                <a:srgbClr val="7F8D99"/>
              </a:buClr>
              <a:buSzPts val="1800"/>
              <a:buNone/>
              <a:defRPr sz="2400">
                <a:solidFill>
                  <a:srgbClr val="7F8D99"/>
                </a:solidFill>
              </a:defRPr>
            </a:lvl5pPr>
            <a:lvl6pPr lvl="5" algn="ctr">
              <a:lnSpc>
                <a:spcPct val="100000"/>
              </a:lnSpc>
              <a:spcBef>
                <a:spcPts val="0"/>
              </a:spcBef>
              <a:spcAft>
                <a:spcPts val="0"/>
              </a:spcAft>
              <a:buClr>
                <a:srgbClr val="7F8D99"/>
              </a:buClr>
              <a:buSzPts val="1800"/>
              <a:buNone/>
              <a:defRPr sz="2400">
                <a:solidFill>
                  <a:srgbClr val="7F8D99"/>
                </a:solidFill>
              </a:defRPr>
            </a:lvl6pPr>
            <a:lvl7pPr lvl="6" algn="ctr">
              <a:lnSpc>
                <a:spcPct val="100000"/>
              </a:lnSpc>
              <a:spcBef>
                <a:spcPts val="0"/>
              </a:spcBef>
              <a:spcAft>
                <a:spcPts val="0"/>
              </a:spcAft>
              <a:buClr>
                <a:srgbClr val="7F8D99"/>
              </a:buClr>
              <a:buSzPts val="1800"/>
              <a:buNone/>
              <a:defRPr sz="2400">
                <a:solidFill>
                  <a:srgbClr val="7F8D99"/>
                </a:solidFill>
              </a:defRPr>
            </a:lvl7pPr>
            <a:lvl8pPr lvl="7" algn="ctr">
              <a:lnSpc>
                <a:spcPct val="100000"/>
              </a:lnSpc>
              <a:spcBef>
                <a:spcPts val="0"/>
              </a:spcBef>
              <a:spcAft>
                <a:spcPts val="0"/>
              </a:spcAft>
              <a:buClr>
                <a:srgbClr val="7F8D99"/>
              </a:buClr>
              <a:buSzPts val="1800"/>
              <a:buNone/>
              <a:defRPr sz="2400">
                <a:solidFill>
                  <a:srgbClr val="7F8D99"/>
                </a:solidFill>
              </a:defRPr>
            </a:lvl8pPr>
            <a:lvl9pPr lvl="8" algn="ctr">
              <a:lnSpc>
                <a:spcPct val="100000"/>
              </a:lnSpc>
              <a:spcBef>
                <a:spcPts val="0"/>
              </a:spcBef>
              <a:spcAft>
                <a:spcPts val="0"/>
              </a:spcAft>
              <a:buClr>
                <a:srgbClr val="7F8D99"/>
              </a:buClr>
              <a:buSzPts val="1800"/>
              <a:buNone/>
              <a:defRPr sz="2400">
                <a:solidFill>
                  <a:srgbClr val="7F8D99"/>
                </a:solidFill>
              </a:defRPr>
            </a:lvl9pPr>
          </a:lstStyle>
          <a:p>
            <a:endParaRPr dirty="0"/>
          </a:p>
        </p:txBody>
      </p:sp>
    </p:spTree>
    <p:extLst>
      <p:ext uri="{BB962C8B-B14F-4D97-AF65-F5344CB8AC3E}">
        <p14:creationId xmlns:p14="http://schemas.microsoft.com/office/powerpoint/2010/main" val="10711081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with title 1">
  <p:cSld name="Text slide with title 1">
    <p:spTree>
      <p:nvGrpSpPr>
        <p:cNvPr id="1" name="Shape 23"/>
        <p:cNvGrpSpPr/>
        <p:nvPr/>
      </p:nvGrpSpPr>
      <p:grpSpPr>
        <a:xfrm>
          <a:off x="0" y="0"/>
          <a:ext cx="0" cy="0"/>
          <a:chOff x="0" y="0"/>
          <a:chExt cx="0" cy="0"/>
        </a:xfrm>
      </p:grpSpPr>
      <p:pic>
        <p:nvPicPr>
          <p:cNvPr id="2" name="Imagen 8">
            <a:extLst>
              <a:ext uri="{FF2B5EF4-FFF2-40B4-BE49-F238E27FC236}">
                <a16:creationId xmlns:a16="http://schemas.microsoft.com/office/drawing/2014/main" id="{F4E89367-4D92-04F6-F5E4-FE9401B3307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V="1">
            <a:off x="11741150" y="149225"/>
            <a:ext cx="3000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Google Shape;28;p4"/>
          <p:cNvSpPr txBox="1">
            <a:spLocks noGrp="1"/>
          </p:cNvSpPr>
          <p:nvPr>
            <p:ph type="title"/>
          </p:nvPr>
        </p:nvSpPr>
        <p:spPr>
          <a:xfrm>
            <a:off x="529767" y="1392400"/>
            <a:ext cx="11360800" cy="763600"/>
          </a:xfrm>
          <a:prstGeom prst="rect">
            <a:avLst/>
          </a:prstGeom>
          <a:noFill/>
          <a:ln>
            <a:noFill/>
          </a:ln>
        </p:spPr>
        <p:txBody>
          <a:bodyPr spcFirstLastPara="1" lIns="91425" tIns="91425" rIns="91425" bIns="91425" anchor="b">
            <a:noAutofit/>
          </a:bodyPr>
          <a:lstStyle>
            <a:lvl1pPr lvl="0" rtl="0">
              <a:lnSpc>
                <a:spcPct val="100000"/>
              </a:lnSpc>
              <a:spcBef>
                <a:spcPts val="0"/>
              </a:spcBef>
              <a:spcAft>
                <a:spcPts val="0"/>
              </a:spcAft>
              <a:buClr>
                <a:srgbClr val="434343"/>
              </a:buClr>
              <a:buSzPts val="2800"/>
              <a:buNone/>
              <a:defRPr b="1"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rtl="0">
              <a:lnSpc>
                <a:spcPct val="100000"/>
              </a:lnSpc>
              <a:spcBef>
                <a:spcPts val="0"/>
              </a:spcBef>
              <a:spcAft>
                <a:spcPts val="0"/>
              </a:spcAft>
              <a:buSzPts val="2800"/>
              <a:buNone/>
              <a:defRPr/>
            </a:lvl2pPr>
            <a:lvl3pPr lvl="2" algn="ctr" rtl="0">
              <a:lnSpc>
                <a:spcPct val="100000"/>
              </a:lnSpc>
              <a:spcBef>
                <a:spcPts val="0"/>
              </a:spcBef>
              <a:spcAft>
                <a:spcPts val="0"/>
              </a:spcAft>
              <a:buSzPts val="2800"/>
              <a:buNone/>
              <a:defRPr/>
            </a:lvl3pPr>
            <a:lvl4pPr lvl="3" algn="ctr" rtl="0">
              <a:lnSpc>
                <a:spcPct val="100000"/>
              </a:lnSpc>
              <a:spcBef>
                <a:spcPts val="0"/>
              </a:spcBef>
              <a:spcAft>
                <a:spcPts val="0"/>
              </a:spcAft>
              <a:buSzPts val="2800"/>
              <a:buNone/>
              <a:defRPr/>
            </a:lvl4pPr>
            <a:lvl5pPr lvl="4" algn="ctr" rtl="0">
              <a:lnSpc>
                <a:spcPct val="100000"/>
              </a:lnSpc>
              <a:spcBef>
                <a:spcPts val="0"/>
              </a:spcBef>
              <a:spcAft>
                <a:spcPts val="0"/>
              </a:spcAft>
              <a:buSzPts val="2800"/>
              <a:buNone/>
              <a:defRPr/>
            </a:lvl5pPr>
            <a:lvl6pPr lvl="5" algn="ctr" rtl="0">
              <a:lnSpc>
                <a:spcPct val="100000"/>
              </a:lnSpc>
              <a:spcBef>
                <a:spcPts val="0"/>
              </a:spcBef>
              <a:spcAft>
                <a:spcPts val="0"/>
              </a:spcAft>
              <a:buSzPts val="2800"/>
              <a:buNone/>
              <a:defRPr/>
            </a:lvl6pPr>
            <a:lvl7pPr lvl="6" algn="ctr" rtl="0">
              <a:lnSpc>
                <a:spcPct val="100000"/>
              </a:lnSpc>
              <a:spcBef>
                <a:spcPts val="0"/>
              </a:spcBef>
              <a:spcAft>
                <a:spcPts val="0"/>
              </a:spcAft>
              <a:buSzPts val="2800"/>
              <a:buNone/>
              <a:defRPr/>
            </a:lvl7pPr>
            <a:lvl8pPr lvl="7" algn="ctr" rtl="0">
              <a:lnSpc>
                <a:spcPct val="100000"/>
              </a:lnSpc>
              <a:spcBef>
                <a:spcPts val="0"/>
              </a:spcBef>
              <a:spcAft>
                <a:spcPts val="0"/>
              </a:spcAft>
              <a:buSzPts val="2800"/>
              <a:buNone/>
              <a:defRPr/>
            </a:lvl8pPr>
            <a:lvl9pPr lvl="8" algn="ctr" rtl="0">
              <a:lnSpc>
                <a:spcPct val="100000"/>
              </a:lnSpc>
              <a:spcBef>
                <a:spcPts val="0"/>
              </a:spcBef>
              <a:spcAft>
                <a:spcPts val="0"/>
              </a:spcAft>
              <a:buSzPts val="2800"/>
              <a:buNone/>
              <a:defRPr/>
            </a:lvl9pPr>
          </a:lstStyle>
          <a:p>
            <a:endParaRPr dirty="0"/>
          </a:p>
        </p:txBody>
      </p:sp>
      <p:sp>
        <p:nvSpPr>
          <p:cNvPr id="29" name="Google Shape;29;p4"/>
          <p:cNvSpPr txBox="1">
            <a:spLocks noGrp="1"/>
          </p:cNvSpPr>
          <p:nvPr>
            <p:ph type="body" idx="1"/>
          </p:nvPr>
        </p:nvSpPr>
        <p:spPr>
          <a:xfrm>
            <a:off x="529779" y="2170933"/>
            <a:ext cx="8196800" cy="2504000"/>
          </a:xfrm>
          <a:prstGeom prst="rect">
            <a:avLst/>
          </a:prstGeom>
          <a:noFill/>
          <a:ln>
            <a:noFill/>
          </a:ln>
        </p:spPr>
        <p:txBody>
          <a:bodyPr spcFirstLastPara="1" lIns="91425" tIns="91425" rIns="91425" bIns="91425">
            <a:noAutofit/>
          </a:bodyPr>
          <a:lstStyle>
            <a:lvl1pPr marL="609585" lvl="0" indent="-423323" algn="l" rtl="0">
              <a:lnSpc>
                <a:spcPct val="100000"/>
              </a:lnSpc>
              <a:spcBef>
                <a:spcPts val="0"/>
              </a:spcBef>
              <a:spcAft>
                <a:spcPts val="0"/>
              </a:spcAft>
              <a:buClr>
                <a:srgbClr val="FF3A00"/>
              </a:buClr>
              <a:buSzPts val="1400"/>
              <a:buChar cha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1219170" lvl="1" indent="-406390" algn="l" rtl="0">
              <a:lnSpc>
                <a:spcPct val="100000"/>
              </a:lnSpc>
              <a:spcBef>
                <a:spcPts val="0"/>
              </a:spcBef>
              <a:spcAft>
                <a:spcPts val="0"/>
              </a:spcAft>
              <a:buClr>
                <a:srgbClr val="999999"/>
              </a:buClr>
              <a:buSzPts val="1200"/>
              <a:buChar char="○"/>
              <a:defRPr sz="1600">
                <a:solidFill>
                  <a:srgbClr val="999999"/>
                </a:solidFill>
              </a:defRPr>
            </a:lvl2pPr>
            <a:lvl3pPr marL="1828754" lvl="2" indent="-406390" algn="l" rtl="0">
              <a:lnSpc>
                <a:spcPct val="100000"/>
              </a:lnSpc>
              <a:spcBef>
                <a:spcPts val="0"/>
              </a:spcBef>
              <a:spcAft>
                <a:spcPts val="0"/>
              </a:spcAft>
              <a:buClr>
                <a:srgbClr val="999999"/>
              </a:buClr>
              <a:buSzPts val="1200"/>
              <a:buChar char="■"/>
              <a:defRPr sz="1600">
                <a:solidFill>
                  <a:srgbClr val="999999"/>
                </a:solidFill>
              </a:defRPr>
            </a:lvl3pPr>
            <a:lvl4pPr marL="2438339" lvl="3" indent="-406390" algn="l" rtl="0">
              <a:lnSpc>
                <a:spcPct val="100000"/>
              </a:lnSpc>
              <a:spcBef>
                <a:spcPts val="0"/>
              </a:spcBef>
              <a:spcAft>
                <a:spcPts val="0"/>
              </a:spcAft>
              <a:buClr>
                <a:srgbClr val="999999"/>
              </a:buClr>
              <a:buSzPts val="1200"/>
              <a:buChar char="●"/>
              <a:defRPr sz="1600">
                <a:solidFill>
                  <a:srgbClr val="999999"/>
                </a:solidFill>
              </a:defRPr>
            </a:lvl4pPr>
            <a:lvl5pPr marL="3047924" lvl="4" indent="-406390" algn="l" rtl="0">
              <a:lnSpc>
                <a:spcPct val="100000"/>
              </a:lnSpc>
              <a:spcBef>
                <a:spcPts val="0"/>
              </a:spcBef>
              <a:spcAft>
                <a:spcPts val="0"/>
              </a:spcAft>
              <a:buClr>
                <a:srgbClr val="999999"/>
              </a:buClr>
              <a:buSzPts val="1200"/>
              <a:buChar char="○"/>
              <a:defRPr sz="1600">
                <a:solidFill>
                  <a:srgbClr val="999999"/>
                </a:solidFill>
              </a:defRPr>
            </a:lvl5pPr>
            <a:lvl6pPr marL="3657509" lvl="5" indent="-406390" algn="l" rtl="0">
              <a:lnSpc>
                <a:spcPct val="100000"/>
              </a:lnSpc>
              <a:spcBef>
                <a:spcPts val="0"/>
              </a:spcBef>
              <a:spcAft>
                <a:spcPts val="0"/>
              </a:spcAft>
              <a:buClr>
                <a:srgbClr val="999999"/>
              </a:buClr>
              <a:buSzPts val="1200"/>
              <a:buChar char="■"/>
              <a:defRPr sz="1600">
                <a:solidFill>
                  <a:srgbClr val="999999"/>
                </a:solidFill>
              </a:defRPr>
            </a:lvl6pPr>
            <a:lvl7pPr marL="4267093" lvl="6" indent="-406390" algn="l" rtl="0">
              <a:lnSpc>
                <a:spcPct val="100000"/>
              </a:lnSpc>
              <a:spcBef>
                <a:spcPts val="0"/>
              </a:spcBef>
              <a:spcAft>
                <a:spcPts val="0"/>
              </a:spcAft>
              <a:buClr>
                <a:srgbClr val="999999"/>
              </a:buClr>
              <a:buSzPts val="1200"/>
              <a:buChar char="●"/>
              <a:defRPr sz="1600">
                <a:solidFill>
                  <a:srgbClr val="999999"/>
                </a:solidFill>
              </a:defRPr>
            </a:lvl7pPr>
            <a:lvl8pPr marL="4876678" lvl="7" indent="-406390" algn="l" rtl="0">
              <a:lnSpc>
                <a:spcPct val="100000"/>
              </a:lnSpc>
              <a:spcBef>
                <a:spcPts val="0"/>
              </a:spcBef>
              <a:spcAft>
                <a:spcPts val="0"/>
              </a:spcAft>
              <a:buClr>
                <a:srgbClr val="999999"/>
              </a:buClr>
              <a:buSzPts val="1200"/>
              <a:buChar char="○"/>
              <a:defRPr sz="1600">
                <a:solidFill>
                  <a:srgbClr val="999999"/>
                </a:solidFill>
              </a:defRPr>
            </a:lvl8pPr>
            <a:lvl9pPr marL="5486263" lvl="8" indent="-406390" algn="l" rtl="0">
              <a:lnSpc>
                <a:spcPct val="100000"/>
              </a:lnSpc>
              <a:spcBef>
                <a:spcPts val="0"/>
              </a:spcBef>
              <a:spcAft>
                <a:spcPts val="0"/>
              </a:spcAft>
              <a:buClr>
                <a:srgbClr val="999999"/>
              </a:buClr>
              <a:buSzPts val="1200"/>
              <a:buChar char="■"/>
              <a:defRPr sz="1600">
                <a:solidFill>
                  <a:srgbClr val="999999"/>
                </a:solidFill>
              </a:defRPr>
            </a:lvl9pPr>
          </a:lstStyle>
          <a:p>
            <a:endParaRPr dirty="0"/>
          </a:p>
        </p:txBody>
      </p:sp>
    </p:spTree>
    <p:extLst>
      <p:ext uri="{BB962C8B-B14F-4D97-AF65-F5344CB8AC3E}">
        <p14:creationId xmlns:p14="http://schemas.microsoft.com/office/powerpoint/2010/main" val="1805066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47EA2F6-4754-A008-6A7D-6473C368287C}"/>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PE"/>
              <a:t>Haga clic para modificar el estilo de título del patrón</a:t>
            </a:r>
            <a:endParaRPr lang="en-US" altLang="es-PE"/>
          </a:p>
        </p:txBody>
      </p:sp>
      <p:sp>
        <p:nvSpPr>
          <p:cNvPr id="1027" name="Text Placeholder 2">
            <a:extLst>
              <a:ext uri="{FF2B5EF4-FFF2-40B4-BE49-F238E27FC236}">
                <a16:creationId xmlns:a16="http://schemas.microsoft.com/office/drawing/2014/main" id="{ECC9E05C-8257-236B-C839-BED11D43C2E2}"/>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PE"/>
              <a:t>Editar el estilo de texto del patrón</a:t>
            </a:r>
          </a:p>
          <a:p>
            <a:pPr lvl="1"/>
            <a:r>
              <a:rPr lang="es-ES" altLang="es-PE"/>
              <a:t>Segundo nivel</a:t>
            </a:r>
          </a:p>
          <a:p>
            <a:pPr lvl="2"/>
            <a:r>
              <a:rPr lang="es-ES" altLang="es-PE"/>
              <a:t>Tercer nivel</a:t>
            </a:r>
          </a:p>
          <a:p>
            <a:pPr lvl="3"/>
            <a:r>
              <a:rPr lang="es-ES" altLang="es-PE"/>
              <a:t>Cuarto nivel</a:t>
            </a:r>
          </a:p>
          <a:p>
            <a:pPr lvl="4"/>
            <a:r>
              <a:rPr lang="es-ES" altLang="es-PE"/>
              <a:t>Quinto nivel</a:t>
            </a:r>
            <a:endParaRPr lang="en-US" altLang="es-PE"/>
          </a:p>
        </p:txBody>
      </p:sp>
      <p:sp>
        <p:nvSpPr>
          <p:cNvPr id="4" name="Date Placeholder 3">
            <a:extLst>
              <a:ext uri="{FF2B5EF4-FFF2-40B4-BE49-F238E27FC236}">
                <a16:creationId xmlns:a16="http://schemas.microsoft.com/office/drawing/2014/main" id="{221A7707-60E2-63CE-DB23-172F116343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s-ES"/>
          </a:p>
        </p:txBody>
      </p:sp>
      <p:sp>
        <p:nvSpPr>
          <p:cNvPr id="5" name="Footer Placeholder 4">
            <a:extLst>
              <a:ext uri="{FF2B5EF4-FFF2-40B4-BE49-F238E27FC236}">
                <a16:creationId xmlns:a16="http://schemas.microsoft.com/office/drawing/2014/main" id="{AAF368E5-F402-0206-198A-4F601AD68F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s-ES"/>
          </a:p>
        </p:txBody>
      </p:sp>
      <p:sp>
        <p:nvSpPr>
          <p:cNvPr id="6" name="Slide Number Placeholder 5">
            <a:extLst>
              <a:ext uri="{FF2B5EF4-FFF2-40B4-BE49-F238E27FC236}">
                <a16:creationId xmlns:a16="http://schemas.microsoft.com/office/drawing/2014/main" id="{A35277BD-E0E3-278A-885F-48575420DE6C}"/>
              </a:ext>
            </a:extLst>
          </p:cNvPr>
          <p:cNvSpPr>
            <a:spLocks noGrp="1"/>
          </p:cNvSpPr>
          <p:nvPr>
            <p:ph type="sldNum" sz="quarter" idx="4"/>
          </p:nvPr>
        </p:nvSpPr>
        <p:spPr>
          <a:xfrm>
            <a:off x="9264650" y="6373813"/>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6D1C8E5D-FE42-4EAE-89CC-4282ED39BFF2}" type="slidenum">
              <a:rPr lang="es-PE" altLang="es-PE"/>
              <a:pPr>
                <a:defRPr/>
              </a:pPr>
              <a:t>‹Nº›</a:t>
            </a:fld>
            <a:endParaRPr lang="es-PE" altLang="es-PE"/>
          </a:p>
        </p:txBody>
      </p:sp>
    </p:spTree>
  </p:cSld>
  <p:clrMap bg1="lt1" tx1="dk1" bg2="lt2" tx2="dk2" accent1="accent1" accent2="accent2" accent3="accent3" accent4="accent4" accent5="accent5" accent6="accent6" hlink="hlink" folHlink="folHlink"/>
  <p:sldLayoutIdLst>
    <p:sldLayoutId id="2147485406" r:id="rId1"/>
    <p:sldLayoutId id="2147485407" r:id="rId2"/>
    <p:sldLayoutId id="2147485408" r:id="rId3"/>
    <p:sldLayoutId id="2147485409" r:id="rId4"/>
    <p:sldLayoutId id="2147485410" r:id="rId5"/>
    <p:sldLayoutId id="2147485411" r:id="rId6"/>
    <p:sldLayoutId id="2147485412" r:id="rId7"/>
    <p:sldLayoutId id="2147485413" r:id="rId8"/>
    <p:sldLayoutId id="2147485414" r:id="rId9"/>
    <p:sldLayoutId id="2147485415" r:id="rId10"/>
    <p:sldLayoutId id="2147485416" r:id="rId11"/>
    <p:sldLayoutId id="2147485419" r:id="rId12"/>
    <p:sldLayoutId id="2147485420" r:id="rId13"/>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277_BE24ABF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ítulo 8">
            <a:extLst>
              <a:ext uri="{FF2B5EF4-FFF2-40B4-BE49-F238E27FC236}">
                <a16:creationId xmlns:a16="http://schemas.microsoft.com/office/drawing/2014/main" id="{E39994CF-768F-5D00-CB30-95FFE3A571EA}"/>
              </a:ext>
            </a:extLst>
          </p:cNvPr>
          <p:cNvSpPr>
            <a:spLocks noGrp="1" noChangeArrowheads="1"/>
          </p:cNvSpPr>
          <p:nvPr>
            <p:ph type="ctrTitle"/>
          </p:nvPr>
        </p:nvSpPr>
        <p:spPr>
          <a:xfrm>
            <a:off x="1565275" y="3933056"/>
            <a:ext cx="9499600" cy="1872433"/>
          </a:xfrm>
        </p:spPr>
        <p:txBody>
          <a:bodyPr/>
          <a:lstStyle/>
          <a:p>
            <a:pPr marL="112395" marR="798830">
              <a:spcBef>
                <a:spcPts val="470"/>
              </a:spcBef>
              <a:spcAft>
                <a:spcPts val="0"/>
              </a:spcAft>
              <a:tabLst>
                <a:tab pos="4814570" algn="l"/>
              </a:tabLst>
            </a:pPr>
            <a:r>
              <a:rPr lang="es-PE" sz="2800" cap="all" dirty="0"/>
              <a:t>POLITICA MONETARIA</a:t>
            </a:r>
            <a:endParaRPr lang="es-ES_tradnl" altLang="es-PE" sz="2800" cap="all" dirty="0"/>
          </a:p>
        </p:txBody>
      </p:sp>
      <p:sp>
        <p:nvSpPr>
          <p:cNvPr id="32771" name="CuadroTexto 11">
            <a:extLst>
              <a:ext uri="{FF2B5EF4-FFF2-40B4-BE49-F238E27FC236}">
                <a16:creationId xmlns:a16="http://schemas.microsoft.com/office/drawing/2014/main" id="{5857CE26-C16D-4CA0-A412-0B0DBE736FF5}"/>
              </a:ext>
            </a:extLst>
          </p:cNvPr>
          <p:cNvSpPr txBox="1">
            <a:spLocks noChangeArrowheads="1"/>
          </p:cNvSpPr>
          <p:nvPr/>
        </p:nvSpPr>
        <p:spPr bwMode="auto">
          <a:xfrm>
            <a:off x="8585200" y="6026150"/>
            <a:ext cx="184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s-PE" altLang="es-PE" sz="3200">
              <a:latin typeface="Arial" panose="020B0604020202020204" pitchFamily="34" charset="0"/>
            </a:endParaRPr>
          </a:p>
        </p:txBody>
      </p:sp>
      <p:sp>
        <p:nvSpPr>
          <p:cNvPr id="2" name="TextBox 1">
            <a:extLst>
              <a:ext uri="{FF2B5EF4-FFF2-40B4-BE49-F238E27FC236}">
                <a16:creationId xmlns:a16="http://schemas.microsoft.com/office/drawing/2014/main" id="{E47C2278-2B26-A772-E588-9477437355F1}"/>
              </a:ext>
            </a:extLst>
          </p:cNvPr>
          <p:cNvSpPr txBox="1">
            <a:spLocks noChangeArrowheads="1"/>
          </p:cNvSpPr>
          <p:nvPr/>
        </p:nvSpPr>
        <p:spPr bwMode="auto">
          <a:xfrm>
            <a:off x="5338763" y="322263"/>
            <a:ext cx="6707187" cy="544512"/>
          </a:xfrm>
          <a:prstGeom prst="rect">
            <a:avLst/>
          </a:prstGeom>
          <a:noFill/>
          <a:ln>
            <a:noFill/>
          </a:ln>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s-ES_tradnl" altLang="es-PE" sz="1467" b="1" dirty="0">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algn="r" eaLnBrk="1" hangingPunct="1">
              <a:spcBef>
                <a:spcPct val="0"/>
              </a:spcBef>
              <a:buFontTx/>
              <a:buNone/>
              <a:defRPr/>
            </a:pPr>
            <a:r>
              <a:rPr lang="es-ES_tradnl" altLang="es-PE" sz="1467" b="1" dirty="0">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467" b="1" dirty="0">
              <a:latin typeface="Verdana" panose="020B0604030504040204" pitchFamily="34" charset="0"/>
              <a:ea typeface="Verdana" panose="020B0604030504040204" pitchFamily="34" charset="0"/>
              <a:cs typeface="Verdana" panose="020B0604030504040204" pitchFamily="34" charset="0"/>
            </a:endParaRPr>
          </a:p>
        </p:txBody>
      </p:sp>
      <p:sp>
        <p:nvSpPr>
          <p:cNvPr id="32773" name="Google Shape;102;p1">
            <a:extLst>
              <a:ext uri="{FF2B5EF4-FFF2-40B4-BE49-F238E27FC236}">
                <a16:creationId xmlns:a16="http://schemas.microsoft.com/office/drawing/2014/main" id="{6E328A6A-5D8A-1B80-EFE4-A4091FADF886}"/>
              </a:ext>
            </a:extLst>
          </p:cNvPr>
          <p:cNvSpPr txBox="1">
            <a:spLocks noChangeArrowheads="1"/>
          </p:cNvSpPr>
          <p:nvPr/>
        </p:nvSpPr>
        <p:spPr bwMode="auto">
          <a:xfrm>
            <a:off x="1565275" y="2133600"/>
            <a:ext cx="9334500"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62533" tIns="162533" rIns="162533" bIns="162533"/>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Clr>
                <a:srgbClr val="434343"/>
              </a:buClr>
              <a:buSzPts val="1800"/>
              <a:buFont typeface="Abril Fatface" panose="02000503000000020003" pitchFamily="2" charset="0"/>
              <a:buNone/>
            </a:pPr>
            <a:r>
              <a:rPr lang="es-ES" altLang="es-PE" sz="3600" b="1" dirty="0">
                <a:solidFill>
                  <a:srgbClr val="FF3A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TEORIA Y POLITICA MONETARIA</a:t>
            </a:r>
          </a:p>
        </p:txBody>
      </p:sp>
      <p:sp>
        <p:nvSpPr>
          <p:cNvPr id="32774" name="CuadroTexto 7">
            <a:extLst>
              <a:ext uri="{FF2B5EF4-FFF2-40B4-BE49-F238E27FC236}">
                <a16:creationId xmlns:a16="http://schemas.microsoft.com/office/drawing/2014/main" id="{F38040BD-5CA7-F14D-C009-AA9B13ADA79B}"/>
              </a:ext>
            </a:extLst>
          </p:cNvPr>
          <p:cNvSpPr txBox="1">
            <a:spLocks noChangeArrowheads="1"/>
          </p:cNvSpPr>
          <p:nvPr/>
        </p:nvSpPr>
        <p:spPr bwMode="auto">
          <a:xfrm>
            <a:off x="5232400" y="6240463"/>
            <a:ext cx="2311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s-PE" sz="1800">
                <a:solidFill>
                  <a:srgbClr val="FF3A00"/>
                </a:solidFill>
                <a:latin typeface="Arial" panose="020B0604020202020204" pitchFamily="34" charset="0"/>
              </a:rPr>
              <a:t>Metodología IATC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Shape 119"/>
        <p:cNvGrpSpPr/>
        <p:nvPr/>
      </p:nvGrpSpPr>
      <p:grpSpPr>
        <a:xfrm>
          <a:off x="0" y="0"/>
          <a:ext cx="0" cy="0"/>
          <a:chOff x="0" y="0"/>
          <a:chExt cx="0" cy="0"/>
        </a:xfrm>
      </p:grpSpPr>
      <p:sp>
        <p:nvSpPr>
          <p:cNvPr id="120" name="Google Shape;120;p4"/>
          <p:cNvSpPr txBox="1">
            <a:spLocks noGrp="1"/>
          </p:cNvSpPr>
          <p:nvPr>
            <p:ph type="ctrTitle"/>
          </p:nvPr>
        </p:nvSpPr>
        <p:spPr>
          <a:xfrm>
            <a:off x="2698111" y="3070084"/>
            <a:ext cx="6795778" cy="717835"/>
          </a:xfrm>
          <a:prstGeom prst="rect">
            <a:avLst/>
          </a:prstGeom>
          <a:noFill/>
          <a:ln>
            <a:noFill/>
          </a:ln>
        </p:spPr>
        <p:txBody>
          <a:bodyPr spcFirstLastPara="1" vert="horz" wrap="square" lIns="91425" tIns="91425" rIns="91425" bIns="91425" numCol="1" anchor="t" anchorCtr="0" compatLnSpc="1">
            <a:prstTxWarp prst="textNoShape">
              <a:avLst/>
            </a:prstTxWarp>
            <a:noAutofit/>
          </a:bodyPr>
          <a:lstStyle/>
          <a:p>
            <a:r>
              <a:rPr lang="es-ES" sz="6000" dirty="0"/>
              <a:t>IMPACTO</a:t>
            </a:r>
            <a:br>
              <a:rPr lang="es-ES" sz="6000" dirty="0"/>
            </a:br>
            <a:r>
              <a:rPr lang="es-ES" sz="6000" dirty="0"/>
              <a:t>(IATC)</a:t>
            </a:r>
            <a:endParaRPr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Google Shape;109;p2">
            <a:extLst>
              <a:ext uri="{FF2B5EF4-FFF2-40B4-BE49-F238E27FC236}">
                <a16:creationId xmlns:a16="http://schemas.microsoft.com/office/drawing/2014/main" id="{49D1396B-967A-7DB0-B16B-BC61CEA05197}"/>
              </a:ext>
            </a:extLst>
          </p:cNvPr>
          <p:cNvSpPr>
            <a:spLocks noGrp="1"/>
          </p:cNvSpPr>
          <p:nvPr>
            <p:ph type="ctrTitle"/>
          </p:nvPr>
        </p:nvSpPr>
        <p:spPr>
          <a:xfrm>
            <a:off x="192088" y="917575"/>
            <a:ext cx="11369675" cy="1039813"/>
          </a:xfrm>
        </p:spPr>
        <p:txBody>
          <a:bodyPr lIns="162533" tIns="162533" rIns="162533" bIns="162533"/>
          <a:lstStyle/>
          <a:p>
            <a:pPr algn="l">
              <a:spcBef>
                <a:spcPct val="0"/>
              </a:spcBef>
              <a:spcAft>
                <a:spcPct val="0"/>
              </a:spcAft>
            </a:pPr>
            <a:r>
              <a:rPr lang="es-ES" altLang="es-PE" sz="4400">
                <a:solidFill>
                  <a:srgbClr val="FFC000"/>
                </a:solidFill>
              </a:rPr>
              <a:t>Logro de aprendizaje: </a:t>
            </a:r>
            <a:endParaRPr lang="es-PE" altLang="es-PE" sz="4400"/>
          </a:p>
        </p:txBody>
      </p:sp>
      <p:sp>
        <p:nvSpPr>
          <p:cNvPr id="35843" name="CuadroTexto 9">
            <a:extLst>
              <a:ext uri="{FF2B5EF4-FFF2-40B4-BE49-F238E27FC236}">
                <a16:creationId xmlns:a16="http://schemas.microsoft.com/office/drawing/2014/main" id="{881B3B00-675C-C87D-3FBA-5E53226B79E7}"/>
              </a:ext>
            </a:extLst>
          </p:cNvPr>
          <p:cNvSpPr txBox="1">
            <a:spLocks noChangeArrowheads="1"/>
          </p:cNvSpPr>
          <p:nvPr/>
        </p:nvSpPr>
        <p:spPr bwMode="auto">
          <a:xfrm>
            <a:off x="1084263" y="2276475"/>
            <a:ext cx="104775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20000"/>
              </a:spcBef>
              <a:buFontTx/>
              <a:buNone/>
            </a:pPr>
            <a:r>
              <a:rPr lang="es-PE" altLang="es-PE" dirty="0">
                <a:latin typeface="Arial" panose="020B0604020202020204" pitchFamily="34" charset="0"/>
                <a:cs typeface="Calibri" panose="020F0502020204030204" pitchFamily="34" charset="0"/>
              </a:rPr>
              <a:t>Determinación de las tasas de interes activas, pasivas e interbancarias</a:t>
            </a:r>
            <a:endParaRPr lang="es-PE" altLang="es-PE" dirty="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Google Shape;114;p3">
            <a:extLst>
              <a:ext uri="{FF2B5EF4-FFF2-40B4-BE49-F238E27FC236}">
                <a16:creationId xmlns:a16="http://schemas.microsoft.com/office/drawing/2014/main" id="{195605CC-16B3-E283-5E6B-70BBCDB8DB9C}"/>
              </a:ext>
            </a:extLst>
          </p:cNvPr>
          <p:cNvSpPr>
            <a:spLocks noGrp="1"/>
          </p:cNvSpPr>
          <p:nvPr>
            <p:ph type="ctrTitle"/>
          </p:nvPr>
        </p:nvSpPr>
        <p:spPr>
          <a:xfrm>
            <a:off x="125413" y="908050"/>
            <a:ext cx="11941175" cy="1008063"/>
          </a:xfrm>
        </p:spPr>
        <p:txBody>
          <a:bodyPr lIns="162533" tIns="162533" rIns="162533" bIns="162533"/>
          <a:lstStyle/>
          <a:p>
            <a:pPr>
              <a:spcBef>
                <a:spcPct val="0"/>
              </a:spcBef>
              <a:spcAft>
                <a:spcPct val="0"/>
              </a:spcAft>
            </a:pPr>
            <a:r>
              <a:rPr lang="es-ES" altLang="es-PE" sz="5600">
                <a:solidFill>
                  <a:srgbClr val="000000"/>
                </a:solidFill>
              </a:rPr>
              <a:t>CONTENIDO DETALLADO</a:t>
            </a:r>
            <a:endParaRPr lang="es-PE" altLang="es-PE" sz="5600">
              <a:solidFill>
                <a:srgbClr val="000000"/>
              </a:solidFill>
            </a:endParaRPr>
          </a:p>
        </p:txBody>
      </p:sp>
      <p:sp>
        <p:nvSpPr>
          <p:cNvPr id="36867" name="CuadroTexto 7">
            <a:extLst>
              <a:ext uri="{FF2B5EF4-FFF2-40B4-BE49-F238E27FC236}">
                <a16:creationId xmlns:a16="http://schemas.microsoft.com/office/drawing/2014/main" id="{458BA948-35BA-2184-0A3A-11FDA3EE5A21}"/>
              </a:ext>
            </a:extLst>
          </p:cNvPr>
          <p:cNvSpPr txBox="1">
            <a:spLocks noChangeArrowheads="1"/>
          </p:cNvSpPr>
          <p:nvPr/>
        </p:nvSpPr>
        <p:spPr bwMode="auto">
          <a:xfrm>
            <a:off x="2279576" y="2132856"/>
            <a:ext cx="8202612" cy="2470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nSpc>
                <a:spcPct val="150000"/>
              </a:lnSpc>
              <a:spcBef>
                <a:spcPts val="600"/>
              </a:spcBef>
              <a:buNone/>
            </a:pPr>
            <a:r>
              <a:rPr lang="es-ES" altLang="es-PE" sz="2400" b="1" dirty="0">
                <a:latin typeface="Arial" panose="020B0604020202020204" pitchFamily="34" charset="0"/>
                <a:cs typeface="Arial" panose="020B0604020202020204" pitchFamily="34" charset="0"/>
              </a:rPr>
              <a:t>Determinación de tasas de interés</a:t>
            </a:r>
          </a:p>
          <a:p>
            <a:pPr>
              <a:lnSpc>
                <a:spcPct val="150000"/>
              </a:lnSpc>
              <a:spcBef>
                <a:spcPts val="600"/>
              </a:spcBef>
            </a:pPr>
            <a:r>
              <a:rPr lang="es-ES" altLang="es-PE" sz="2400" b="1" dirty="0">
                <a:latin typeface="Arial" panose="020B0604020202020204" pitchFamily="34" charset="0"/>
                <a:cs typeface="Arial" panose="020B0604020202020204" pitchFamily="34" charset="0"/>
              </a:rPr>
              <a:t>Mercado de competencia perfecta</a:t>
            </a:r>
          </a:p>
          <a:p>
            <a:pPr>
              <a:lnSpc>
                <a:spcPct val="150000"/>
              </a:lnSpc>
              <a:spcBef>
                <a:spcPts val="600"/>
              </a:spcBef>
            </a:pPr>
            <a:r>
              <a:rPr lang="es-ES" altLang="es-PE" sz="2400" b="1" dirty="0">
                <a:latin typeface="Arial" panose="020B0604020202020204" pitchFamily="34" charset="0"/>
                <a:cs typeface="Arial" panose="020B0604020202020204" pitchFamily="34" charset="0"/>
              </a:rPr>
              <a:t>Mercado de competencia monopolística</a:t>
            </a:r>
          </a:p>
          <a:p>
            <a:pPr>
              <a:lnSpc>
                <a:spcPct val="150000"/>
              </a:lnSpc>
              <a:spcBef>
                <a:spcPts val="600"/>
              </a:spcBef>
            </a:pPr>
            <a:r>
              <a:rPr lang="es-ES" altLang="es-PE" sz="2400" b="1" dirty="0">
                <a:latin typeface="Arial" panose="020B0604020202020204" pitchFamily="34" charset="0"/>
                <a:cs typeface="Arial" panose="020B0604020202020204" pitchFamily="34" charset="0"/>
              </a:rPr>
              <a:t>Otros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02D854-53F2-BE1E-D93A-50106C3E9F73}"/>
              </a:ext>
            </a:extLst>
          </p:cNvPr>
          <p:cNvSpPr>
            <a:spLocks noGrp="1"/>
          </p:cNvSpPr>
          <p:nvPr>
            <p:ph type="title"/>
          </p:nvPr>
        </p:nvSpPr>
        <p:spPr/>
        <p:txBody>
          <a:bodyPr/>
          <a:lstStyle/>
          <a:p>
            <a:r>
              <a:rPr lang="es-ES" altLang="es-PE" b="1" dirty="0">
                <a:latin typeface="Arial" panose="020B0604020202020204" pitchFamily="34" charset="0"/>
                <a:cs typeface="Arial" panose="020B0604020202020204" pitchFamily="34" charset="0"/>
              </a:rPr>
              <a:t>Determinación de tasas de interés</a:t>
            </a:r>
            <a:endParaRPr lang="es-PE" dirty="0"/>
          </a:p>
        </p:txBody>
      </p:sp>
      <p:sp>
        <p:nvSpPr>
          <p:cNvPr id="3" name="Marcador de contenido 2">
            <a:extLst>
              <a:ext uri="{FF2B5EF4-FFF2-40B4-BE49-F238E27FC236}">
                <a16:creationId xmlns:a16="http://schemas.microsoft.com/office/drawing/2014/main" id="{4F69740A-0A38-A411-3D36-BD1FCAABBF53}"/>
              </a:ext>
            </a:extLst>
          </p:cNvPr>
          <p:cNvSpPr>
            <a:spLocks noGrp="1"/>
          </p:cNvSpPr>
          <p:nvPr>
            <p:ph idx="1"/>
          </p:nvPr>
        </p:nvSpPr>
        <p:spPr>
          <a:xfrm>
            <a:off x="911424" y="1690688"/>
            <a:ext cx="10442376" cy="4351338"/>
          </a:xfrm>
        </p:spPr>
        <p:txBody>
          <a:bodyPr/>
          <a:lstStyle/>
          <a:p>
            <a:pPr>
              <a:lnSpc>
                <a:spcPct val="150000"/>
              </a:lnSpc>
            </a:pPr>
            <a:r>
              <a:rPr lang="es-PE" dirty="0"/>
              <a:t>Los bancos realizan intermediación financiera a través de operaciones activas (créditos) y operaciones pasivas (depósitos).</a:t>
            </a:r>
          </a:p>
          <a:p>
            <a:pPr>
              <a:lnSpc>
                <a:spcPct val="150000"/>
              </a:lnSpc>
            </a:pPr>
            <a:r>
              <a:rPr lang="es-PE" dirty="0"/>
              <a:t>Los bancos realizan también procesos operativos </a:t>
            </a:r>
          </a:p>
          <a:p>
            <a:pPr lvl="1">
              <a:lnSpc>
                <a:spcPct val="150000"/>
              </a:lnSpc>
              <a:buFont typeface="Wingdings" panose="05000000000000000000" pitchFamily="2" charset="2"/>
              <a:buChar char="§"/>
            </a:pPr>
            <a:r>
              <a:rPr lang="es-PE" dirty="0"/>
              <a:t>Atención en ventanilla</a:t>
            </a:r>
          </a:p>
          <a:p>
            <a:pPr lvl="1">
              <a:lnSpc>
                <a:spcPct val="150000"/>
              </a:lnSpc>
              <a:buFont typeface="Wingdings" panose="05000000000000000000" pitchFamily="2" charset="2"/>
              <a:buChar char="§"/>
            </a:pPr>
            <a:r>
              <a:rPr lang="es-PE" dirty="0"/>
              <a:t>Evaluación de créditos</a:t>
            </a:r>
          </a:p>
          <a:p>
            <a:pPr lvl="1">
              <a:lnSpc>
                <a:spcPct val="150000"/>
              </a:lnSpc>
              <a:buFont typeface="Wingdings" panose="05000000000000000000" pitchFamily="2" charset="2"/>
              <a:buChar char="§"/>
            </a:pPr>
            <a:r>
              <a:rPr lang="es-PE" dirty="0"/>
              <a:t>Contratación de personal que maneja las cuentas</a:t>
            </a:r>
          </a:p>
          <a:p>
            <a:pPr>
              <a:lnSpc>
                <a:spcPct val="150000"/>
              </a:lnSpc>
            </a:pPr>
            <a:endParaRPr lang="es-PE" dirty="0"/>
          </a:p>
        </p:txBody>
      </p:sp>
      <p:sp>
        <p:nvSpPr>
          <p:cNvPr id="4" name="Marcador de número de diapositiva 3">
            <a:extLst>
              <a:ext uri="{FF2B5EF4-FFF2-40B4-BE49-F238E27FC236}">
                <a16:creationId xmlns:a16="http://schemas.microsoft.com/office/drawing/2014/main" id="{2BE787BA-3193-399D-3A4C-A308622F8B1C}"/>
              </a:ext>
            </a:extLst>
          </p:cNvPr>
          <p:cNvSpPr>
            <a:spLocks noGrp="1"/>
          </p:cNvSpPr>
          <p:nvPr>
            <p:ph type="sldNum" sz="quarter" idx="12"/>
          </p:nvPr>
        </p:nvSpPr>
        <p:spPr/>
        <p:txBody>
          <a:bodyPr/>
          <a:lstStyle/>
          <a:p>
            <a:pPr>
              <a:defRPr/>
            </a:pPr>
            <a:fld id="{8E639104-18EF-4017-8EC8-89CC3800080B}" type="slidenum">
              <a:rPr lang="es-PE" altLang="es-PE" smtClean="0"/>
              <a:pPr>
                <a:defRPr/>
              </a:pPr>
              <a:t>5</a:t>
            </a:fld>
            <a:endParaRPr lang="es-PE" altLang="es-PE"/>
          </a:p>
        </p:txBody>
      </p:sp>
    </p:spTree>
    <p:extLst>
      <p:ext uri="{BB962C8B-B14F-4D97-AF65-F5344CB8AC3E}">
        <p14:creationId xmlns:p14="http://schemas.microsoft.com/office/powerpoint/2010/main" val="118520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46207-B3F7-C28E-BFD6-B8E2A0CC23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663814-FB2A-338C-D1BC-C0CD76896D3E}"/>
              </a:ext>
            </a:extLst>
          </p:cNvPr>
          <p:cNvSpPr>
            <a:spLocks noGrp="1"/>
          </p:cNvSpPr>
          <p:nvPr>
            <p:ph type="title"/>
          </p:nvPr>
        </p:nvSpPr>
        <p:spPr/>
        <p:txBody>
          <a:bodyPr/>
          <a:lstStyle/>
          <a:p>
            <a:r>
              <a:rPr lang="es-ES" altLang="es-PE" b="1" dirty="0">
                <a:latin typeface="Arial" panose="020B0604020202020204" pitchFamily="34" charset="0"/>
                <a:cs typeface="Arial" panose="020B0604020202020204" pitchFamily="34" charset="0"/>
              </a:rPr>
              <a:t>Determinación de tasas de interés</a:t>
            </a:r>
            <a:endParaRPr lang="es-PE" dirty="0"/>
          </a:p>
        </p:txBody>
      </p:sp>
      <p:sp>
        <p:nvSpPr>
          <p:cNvPr id="3" name="Marcador de contenido 2">
            <a:extLst>
              <a:ext uri="{FF2B5EF4-FFF2-40B4-BE49-F238E27FC236}">
                <a16:creationId xmlns:a16="http://schemas.microsoft.com/office/drawing/2014/main" id="{100AAC02-4664-18B2-BC29-0DA163B8CC01}"/>
              </a:ext>
            </a:extLst>
          </p:cNvPr>
          <p:cNvSpPr>
            <a:spLocks noGrp="1"/>
          </p:cNvSpPr>
          <p:nvPr>
            <p:ph idx="1"/>
          </p:nvPr>
        </p:nvSpPr>
        <p:spPr>
          <a:xfrm>
            <a:off x="838200" y="1484783"/>
            <a:ext cx="10515600" cy="4889029"/>
          </a:xfrm>
        </p:spPr>
        <p:txBody>
          <a:bodyPr/>
          <a:lstStyle/>
          <a:p>
            <a:pPr>
              <a:lnSpc>
                <a:spcPct val="150000"/>
              </a:lnSpc>
            </a:pPr>
            <a:r>
              <a:rPr lang="es-PE" dirty="0"/>
              <a:t>La hoja de balance de un banco reporta los resultados económicos generados por sus operaciones activas que generan ingresos financieros por cobro de la tasa de interés por créditos y sus operaciones pasivas que generan egresos financieros (pago de tasas de interés por depósitos).</a:t>
            </a:r>
          </a:p>
          <a:p>
            <a:pPr>
              <a:lnSpc>
                <a:spcPct val="150000"/>
              </a:lnSpc>
            </a:pPr>
            <a:r>
              <a:rPr lang="es-PE" dirty="0"/>
              <a:t>Adicionalmente, los bancos consideran los costos por procesos operativos: pago de sueldos a los operadores de créditos.</a:t>
            </a:r>
          </a:p>
        </p:txBody>
      </p:sp>
      <p:sp>
        <p:nvSpPr>
          <p:cNvPr id="4" name="Marcador de número de diapositiva 3">
            <a:extLst>
              <a:ext uri="{FF2B5EF4-FFF2-40B4-BE49-F238E27FC236}">
                <a16:creationId xmlns:a16="http://schemas.microsoft.com/office/drawing/2014/main" id="{088B8B3A-E50F-5218-1189-EFE57FFB56D8}"/>
              </a:ext>
            </a:extLst>
          </p:cNvPr>
          <p:cNvSpPr>
            <a:spLocks noGrp="1"/>
          </p:cNvSpPr>
          <p:nvPr>
            <p:ph type="sldNum" sz="quarter" idx="12"/>
          </p:nvPr>
        </p:nvSpPr>
        <p:spPr/>
        <p:txBody>
          <a:bodyPr/>
          <a:lstStyle/>
          <a:p>
            <a:pPr>
              <a:defRPr/>
            </a:pPr>
            <a:fld id="{8E639104-18EF-4017-8EC8-89CC3800080B}" type="slidenum">
              <a:rPr lang="es-PE" altLang="es-PE" smtClean="0"/>
              <a:pPr>
                <a:defRPr/>
              </a:pPr>
              <a:t>6</a:t>
            </a:fld>
            <a:endParaRPr lang="es-PE" altLang="es-PE"/>
          </a:p>
        </p:txBody>
      </p:sp>
    </p:spTree>
    <p:extLst>
      <p:ext uri="{BB962C8B-B14F-4D97-AF65-F5344CB8AC3E}">
        <p14:creationId xmlns:p14="http://schemas.microsoft.com/office/powerpoint/2010/main" val="2290838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88AF9-2DE7-A311-7A30-AB7269CDBE4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283C22-6B58-3A16-ACFA-9BE990780251}"/>
              </a:ext>
            </a:extLst>
          </p:cNvPr>
          <p:cNvSpPr>
            <a:spLocks noGrp="1"/>
          </p:cNvSpPr>
          <p:nvPr>
            <p:ph type="title"/>
          </p:nvPr>
        </p:nvSpPr>
        <p:spPr/>
        <p:txBody>
          <a:bodyPr/>
          <a:lstStyle/>
          <a:p>
            <a:r>
              <a:rPr lang="es-ES" altLang="es-PE" b="1" dirty="0">
                <a:latin typeface="Arial" panose="020B0604020202020204" pitchFamily="34" charset="0"/>
                <a:cs typeface="Arial" panose="020B0604020202020204" pitchFamily="34" charset="0"/>
              </a:rPr>
              <a:t>Determinación de tasas de interés</a:t>
            </a:r>
            <a:endParaRPr lang="es-PE" dirty="0"/>
          </a:p>
        </p:txBody>
      </p:sp>
      <p:sp>
        <p:nvSpPr>
          <p:cNvPr id="3" name="Marcador de contenido 2">
            <a:extLst>
              <a:ext uri="{FF2B5EF4-FFF2-40B4-BE49-F238E27FC236}">
                <a16:creationId xmlns:a16="http://schemas.microsoft.com/office/drawing/2014/main" id="{E94D6CDC-43CD-6BDE-7847-D93F6188DCF2}"/>
              </a:ext>
            </a:extLst>
          </p:cNvPr>
          <p:cNvSpPr>
            <a:spLocks noGrp="1"/>
          </p:cNvSpPr>
          <p:nvPr>
            <p:ph idx="1"/>
          </p:nvPr>
        </p:nvSpPr>
        <p:spPr/>
        <p:txBody>
          <a:bodyPr/>
          <a:lstStyle/>
          <a:p>
            <a:pPr marL="0" indent="0">
              <a:lnSpc>
                <a:spcPct val="150000"/>
              </a:lnSpc>
              <a:buNone/>
            </a:pPr>
            <a:r>
              <a:rPr lang="es-PE" dirty="0"/>
              <a:t>La racionalidad de los bancos:</a:t>
            </a:r>
          </a:p>
          <a:p>
            <a:pPr>
              <a:lnSpc>
                <a:spcPct val="150000"/>
              </a:lnSpc>
            </a:pPr>
            <a:r>
              <a:rPr lang="es-PE" dirty="0"/>
              <a:t>Maximizar los ingresos netos de sus egresos financieros y sus costos.</a:t>
            </a:r>
          </a:p>
          <a:p>
            <a:pPr>
              <a:lnSpc>
                <a:spcPct val="150000"/>
              </a:lnSpc>
            </a:pPr>
            <a:r>
              <a:rPr lang="es-PE" dirty="0"/>
              <a:t>Como los ingresos y egresos están determinados por la tasa de interés se puede ver la importancia de la determinación de las tasas de interés.</a:t>
            </a:r>
          </a:p>
        </p:txBody>
      </p:sp>
      <p:sp>
        <p:nvSpPr>
          <p:cNvPr id="4" name="Marcador de número de diapositiva 3">
            <a:extLst>
              <a:ext uri="{FF2B5EF4-FFF2-40B4-BE49-F238E27FC236}">
                <a16:creationId xmlns:a16="http://schemas.microsoft.com/office/drawing/2014/main" id="{5D19396C-7F8C-8EB5-81E8-175E1D907442}"/>
              </a:ext>
            </a:extLst>
          </p:cNvPr>
          <p:cNvSpPr>
            <a:spLocks noGrp="1"/>
          </p:cNvSpPr>
          <p:nvPr>
            <p:ph type="sldNum" sz="quarter" idx="12"/>
          </p:nvPr>
        </p:nvSpPr>
        <p:spPr/>
        <p:txBody>
          <a:bodyPr/>
          <a:lstStyle/>
          <a:p>
            <a:pPr>
              <a:defRPr/>
            </a:pPr>
            <a:fld id="{8E639104-18EF-4017-8EC8-89CC3800080B}" type="slidenum">
              <a:rPr lang="es-PE" altLang="es-PE" smtClean="0"/>
              <a:pPr>
                <a:defRPr/>
              </a:pPr>
              <a:t>7</a:t>
            </a:fld>
            <a:endParaRPr lang="es-PE" altLang="es-PE"/>
          </a:p>
        </p:txBody>
      </p:sp>
    </p:spTree>
    <p:extLst>
      <p:ext uri="{BB962C8B-B14F-4D97-AF65-F5344CB8AC3E}">
        <p14:creationId xmlns:p14="http://schemas.microsoft.com/office/powerpoint/2010/main" val="330065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B9ED3-E3CF-EFE7-559B-89934733BB0A}"/>
            </a:ext>
          </a:extLst>
        </p:cNvPr>
        <p:cNvGrpSpPr/>
        <p:nvPr/>
      </p:nvGrpSpPr>
      <p:grpSpPr>
        <a:xfrm>
          <a:off x="0" y="0"/>
          <a:ext cx="0" cy="0"/>
          <a:chOff x="0" y="0"/>
          <a:chExt cx="0" cy="0"/>
        </a:xfrm>
      </p:grpSpPr>
      <p:sp>
        <p:nvSpPr>
          <p:cNvPr id="36866" name="Google Shape;114;p3">
            <a:extLst>
              <a:ext uri="{FF2B5EF4-FFF2-40B4-BE49-F238E27FC236}">
                <a16:creationId xmlns:a16="http://schemas.microsoft.com/office/drawing/2014/main" id="{44B8EDAB-79D6-A70A-2C0D-F1171820397A}"/>
              </a:ext>
            </a:extLst>
          </p:cNvPr>
          <p:cNvSpPr>
            <a:spLocks noGrp="1"/>
          </p:cNvSpPr>
          <p:nvPr>
            <p:ph type="ctrTitle"/>
          </p:nvPr>
        </p:nvSpPr>
        <p:spPr>
          <a:xfrm>
            <a:off x="125413" y="908050"/>
            <a:ext cx="11941175" cy="1008063"/>
          </a:xfrm>
        </p:spPr>
        <p:txBody>
          <a:bodyPr lIns="162533" tIns="162533" rIns="162533" bIns="162533"/>
          <a:lstStyle/>
          <a:p>
            <a:pPr>
              <a:spcBef>
                <a:spcPct val="0"/>
              </a:spcBef>
              <a:spcAft>
                <a:spcPct val="0"/>
              </a:spcAft>
            </a:pPr>
            <a:r>
              <a:rPr lang="es-ES" altLang="es-PE" sz="5600" dirty="0">
                <a:solidFill>
                  <a:srgbClr val="000000"/>
                </a:solidFill>
              </a:rPr>
              <a:t>CONTENIDO DETALLADO</a:t>
            </a:r>
            <a:endParaRPr lang="es-PE" altLang="es-PE" sz="5600" dirty="0">
              <a:solidFill>
                <a:srgbClr val="000000"/>
              </a:solidFill>
            </a:endParaRPr>
          </a:p>
        </p:txBody>
      </p:sp>
      <p:sp>
        <p:nvSpPr>
          <p:cNvPr id="36867" name="CuadroTexto 7">
            <a:extLst>
              <a:ext uri="{FF2B5EF4-FFF2-40B4-BE49-F238E27FC236}">
                <a16:creationId xmlns:a16="http://schemas.microsoft.com/office/drawing/2014/main" id="{9C68DD77-203E-D3C9-BE63-839B34A1F507}"/>
              </a:ext>
            </a:extLst>
          </p:cNvPr>
          <p:cNvSpPr txBox="1">
            <a:spLocks noChangeArrowheads="1"/>
          </p:cNvSpPr>
          <p:nvPr/>
        </p:nvSpPr>
        <p:spPr bwMode="auto">
          <a:xfrm>
            <a:off x="1127448" y="2132856"/>
            <a:ext cx="10297144" cy="155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nSpc>
                <a:spcPct val="150000"/>
              </a:lnSpc>
              <a:spcBef>
                <a:spcPts val="600"/>
              </a:spcBef>
              <a:buNone/>
            </a:pPr>
            <a:r>
              <a:rPr lang="es-ES" altLang="es-PE" sz="3200" b="1" dirty="0">
                <a:latin typeface="Arial" panose="020B0604020202020204" pitchFamily="34" charset="0"/>
                <a:cs typeface="Arial" panose="020B0604020202020204" pitchFamily="34" charset="0"/>
              </a:rPr>
              <a:t>Determinación de tasas de interés</a:t>
            </a:r>
          </a:p>
          <a:p>
            <a:pPr>
              <a:lnSpc>
                <a:spcPct val="150000"/>
              </a:lnSpc>
              <a:spcBef>
                <a:spcPts val="600"/>
              </a:spcBef>
            </a:pPr>
            <a:r>
              <a:rPr lang="es-ES" altLang="es-PE" sz="3200" b="1" dirty="0">
                <a:latin typeface="Arial" panose="020B0604020202020204" pitchFamily="34" charset="0"/>
                <a:cs typeface="Arial" panose="020B0604020202020204" pitchFamily="34" charset="0"/>
              </a:rPr>
              <a:t>Mercado de competencia perfecta</a:t>
            </a:r>
          </a:p>
        </p:txBody>
      </p:sp>
    </p:spTree>
    <p:extLst>
      <p:ext uri="{BB962C8B-B14F-4D97-AF65-F5344CB8AC3E}">
        <p14:creationId xmlns:p14="http://schemas.microsoft.com/office/powerpoint/2010/main" val="771337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853DB-C8B6-D6F5-2E95-BCD3D60FA9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14AFCA-810B-ADD4-448A-7373733E8AF4}"/>
              </a:ext>
            </a:extLst>
          </p:cNvPr>
          <p:cNvSpPr>
            <a:spLocks noGrp="1"/>
          </p:cNvSpPr>
          <p:nvPr>
            <p:ph type="title"/>
          </p:nvPr>
        </p:nvSpPr>
        <p:spPr>
          <a:xfrm>
            <a:off x="838200" y="0"/>
            <a:ext cx="10515600" cy="1325563"/>
          </a:xfrm>
        </p:spPr>
        <p:txBody>
          <a:bodyPr/>
          <a:lstStyle/>
          <a:p>
            <a:r>
              <a:rPr lang="es-ES" altLang="es-PE" b="1" dirty="0">
                <a:latin typeface="Arial" panose="020B0604020202020204" pitchFamily="34" charset="0"/>
                <a:cs typeface="Arial" panose="020B0604020202020204" pitchFamily="34" charset="0"/>
              </a:rPr>
              <a:t>Determinación de tasas de interés</a:t>
            </a:r>
            <a:endParaRPr lang="es-PE" dirty="0"/>
          </a:p>
        </p:txBody>
      </p:sp>
      <p:sp>
        <p:nvSpPr>
          <p:cNvPr id="3" name="Marcador de contenido 2">
            <a:extLst>
              <a:ext uri="{FF2B5EF4-FFF2-40B4-BE49-F238E27FC236}">
                <a16:creationId xmlns:a16="http://schemas.microsoft.com/office/drawing/2014/main" id="{E12C414D-714A-5EFF-5B4F-EBD45F6A5357}"/>
              </a:ext>
            </a:extLst>
          </p:cNvPr>
          <p:cNvSpPr>
            <a:spLocks noGrp="1"/>
          </p:cNvSpPr>
          <p:nvPr>
            <p:ph idx="1"/>
          </p:nvPr>
        </p:nvSpPr>
        <p:spPr>
          <a:xfrm>
            <a:off x="842928" y="1253330"/>
            <a:ext cx="10515600" cy="4911973"/>
          </a:xfrm>
        </p:spPr>
        <p:txBody>
          <a:bodyPr/>
          <a:lstStyle/>
          <a:p>
            <a:pPr>
              <a:lnSpc>
                <a:spcPct val="150000"/>
              </a:lnSpc>
            </a:pPr>
            <a:r>
              <a:rPr lang="es-PE" dirty="0"/>
              <a:t>La oferta de los créditos está determinada por el costo marginal.</a:t>
            </a:r>
          </a:p>
          <a:p>
            <a:pPr>
              <a:lnSpc>
                <a:spcPct val="150000"/>
              </a:lnSpc>
            </a:pPr>
            <a:r>
              <a:rPr lang="es-PE" dirty="0"/>
              <a:t>De la S y D se determina el volumen del crédito en el mercado de competencia perfecta y el precio (la tasa de interés).</a:t>
            </a:r>
          </a:p>
          <a:p>
            <a:pPr>
              <a:lnSpc>
                <a:spcPct val="150000"/>
              </a:lnSpc>
            </a:pPr>
            <a:r>
              <a:rPr lang="es-PE" dirty="0"/>
              <a:t>Los bancos toman el precio y determinan cuál será su participación en el mercado.</a:t>
            </a:r>
          </a:p>
          <a:p>
            <a:pPr>
              <a:lnSpc>
                <a:spcPct val="150000"/>
              </a:lnSpc>
            </a:pPr>
            <a:r>
              <a:rPr lang="es-PE" dirty="0"/>
              <a:t>El banco A define la demanda que enfrenta y en base a ello, dado el precio, determina cuál será su participación de la cantidad total.</a:t>
            </a:r>
          </a:p>
        </p:txBody>
      </p:sp>
      <p:sp>
        <p:nvSpPr>
          <p:cNvPr id="4" name="Marcador de número de diapositiva 3">
            <a:extLst>
              <a:ext uri="{FF2B5EF4-FFF2-40B4-BE49-F238E27FC236}">
                <a16:creationId xmlns:a16="http://schemas.microsoft.com/office/drawing/2014/main" id="{B2914037-2492-025C-57D2-F2FE4C48505F}"/>
              </a:ext>
            </a:extLst>
          </p:cNvPr>
          <p:cNvSpPr>
            <a:spLocks noGrp="1"/>
          </p:cNvSpPr>
          <p:nvPr>
            <p:ph type="sldNum" sz="quarter" idx="12"/>
          </p:nvPr>
        </p:nvSpPr>
        <p:spPr/>
        <p:txBody>
          <a:bodyPr/>
          <a:lstStyle/>
          <a:p>
            <a:pPr>
              <a:defRPr/>
            </a:pPr>
            <a:fld id="{8E639104-18EF-4017-8EC8-89CC3800080B}" type="slidenum">
              <a:rPr lang="es-PE" altLang="es-PE" smtClean="0"/>
              <a:pPr>
                <a:defRPr/>
              </a:pPr>
              <a:t>9</a:t>
            </a:fld>
            <a:endParaRPr lang="es-PE" altLang="es-PE"/>
          </a:p>
        </p:txBody>
      </p:sp>
    </p:spTree>
    <p:extLst>
      <p:ext uri="{BB962C8B-B14F-4D97-AF65-F5344CB8AC3E}">
        <p14:creationId xmlns:p14="http://schemas.microsoft.com/office/powerpoint/2010/main" val="3853231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AE2-5C23-DF2D-A3B4-1819DF62F3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3692AF-4463-7B79-9F3F-E118DF7D66B1}"/>
              </a:ext>
            </a:extLst>
          </p:cNvPr>
          <p:cNvSpPr>
            <a:spLocks noGrp="1"/>
          </p:cNvSpPr>
          <p:nvPr>
            <p:ph type="title"/>
          </p:nvPr>
        </p:nvSpPr>
        <p:spPr>
          <a:xfrm>
            <a:off x="813152" y="119062"/>
            <a:ext cx="10515600" cy="1325563"/>
          </a:xfrm>
        </p:spPr>
        <p:txBody>
          <a:bodyPr/>
          <a:lstStyle/>
          <a:p>
            <a:r>
              <a:rPr lang="es-ES" altLang="es-PE" b="1" dirty="0">
                <a:latin typeface="Arial" panose="020B0604020202020204" pitchFamily="34" charset="0"/>
                <a:cs typeface="Arial" panose="020B0604020202020204" pitchFamily="34" charset="0"/>
              </a:rPr>
              <a:t>Determinación de tasas de interés</a:t>
            </a:r>
            <a:endParaRPr lang="es-PE" dirty="0"/>
          </a:p>
        </p:txBody>
      </p:sp>
      <p:sp>
        <p:nvSpPr>
          <p:cNvPr id="3" name="Marcador de contenido 2">
            <a:extLst>
              <a:ext uri="{FF2B5EF4-FFF2-40B4-BE49-F238E27FC236}">
                <a16:creationId xmlns:a16="http://schemas.microsoft.com/office/drawing/2014/main" id="{0B94DA8B-AD58-EE1A-59CC-488C1F4B87F5}"/>
              </a:ext>
            </a:extLst>
          </p:cNvPr>
          <p:cNvSpPr>
            <a:spLocks noGrp="1"/>
          </p:cNvSpPr>
          <p:nvPr>
            <p:ph idx="1"/>
          </p:nvPr>
        </p:nvSpPr>
        <p:spPr>
          <a:xfrm>
            <a:off x="838200" y="1124744"/>
            <a:ext cx="10515600" cy="5112568"/>
          </a:xfrm>
        </p:spPr>
        <p:txBody>
          <a:bodyPr/>
          <a:lstStyle/>
          <a:p>
            <a:pPr marL="0" indent="0">
              <a:lnSpc>
                <a:spcPct val="150000"/>
              </a:lnSpc>
              <a:buNone/>
            </a:pPr>
            <a:r>
              <a:rPr lang="es-PE" dirty="0"/>
              <a:t>El problema de maximización</a:t>
            </a:r>
          </a:p>
          <a:p>
            <a:pPr>
              <a:lnSpc>
                <a:spcPct val="150000"/>
              </a:lnSpc>
            </a:pPr>
            <a:r>
              <a:rPr lang="es-PE" dirty="0"/>
              <a:t>El banco buscar maximizar beneficios/utilidades/ganancias.</a:t>
            </a:r>
          </a:p>
          <a:p>
            <a:pPr>
              <a:lnSpc>
                <a:spcPct val="150000"/>
              </a:lnSpc>
            </a:pPr>
            <a:r>
              <a:rPr lang="es-PE" dirty="0"/>
              <a:t>Los bancos prestan a las personas y se prestan entre si constituyendo lo que se llama operaciones interbancarias lo que en neto les queda.</a:t>
            </a:r>
          </a:p>
          <a:p>
            <a:pPr>
              <a:lnSpc>
                <a:spcPct val="150000"/>
              </a:lnSpc>
            </a:pPr>
            <a:r>
              <a:rPr lang="es-PE" dirty="0"/>
              <a:t>La posición interbancaria neta (M) puede ser positiva o negativa, es decir, posición acreedora o deudora.</a:t>
            </a:r>
          </a:p>
        </p:txBody>
      </p:sp>
      <p:sp>
        <p:nvSpPr>
          <p:cNvPr id="4" name="Marcador de número de diapositiva 3">
            <a:extLst>
              <a:ext uri="{FF2B5EF4-FFF2-40B4-BE49-F238E27FC236}">
                <a16:creationId xmlns:a16="http://schemas.microsoft.com/office/drawing/2014/main" id="{7E7B9AE4-315C-80BE-EBBF-398DA4952B01}"/>
              </a:ext>
            </a:extLst>
          </p:cNvPr>
          <p:cNvSpPr>
            <a:spLocks noGrp="1"/>
          </p:cNvSpPr>
          <p:nvPr>
            <p:ph type="sldNum" sz="quarter" idx="12"/>
          </p:nvPr>
        </p:nvSpPr>
        <p:spPr/>
        <p:txBody>
          <a:bodyPr/>
          <a:lstStyle/>
          <a:p>
            <a:pPr>
              <a:defRPr/>
            </a:pPr>
            <a:fld id="{8E639104-18EF-4017-8EC8-89CC3800080B}" type="slidenum">
              <a:rPr lang="es-PE" altLang="es-PE" smtClean="0"/>
              <a:pPr>
                <a:defRPr/>
              </a:pPr>
              <a:t>10</a:t>
            </a:fld>
            <a:endParaRPr lang="es-PE" altLang="es-PE"/>
          </a:p>
        </p:txBody>
      </p:sp>
    </p:spTree>
    <p:extLst>
      <p:ext uri="{BB962C8B-B14F-4D97-AF65-F5344CB8AC3E}">
        <p14:creationId xmlns:p14="http://schemas.microsoft.com/office/powerpoint/2010/main" val="1546459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71DA-7674-D123-A32B-AF9EF860EF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3A1E26-3CC1-D18F-40AE-E6851C0EE22A}"/>
              </a:ext>
            </a:extLst>
          </p:cNvPr>
          <p:cNvSpPr>
            <a:spLocks noGrp="1"/>
          </p:cNvSpPr>
          <p:nvPr>
            <p:ph type="title"/>
          </p:nvPr>
        </p:nvSpPr>
        <p:spPr/>
        <p:txBody>
          <a:bodyPr/>
          <a:lstStyle/>
          <a:p>
            <a:r>
              <a:rPr lang="es-ES" altLang="es-PE" b="1" dirty="0">
                <a:latin typeface="Arial" panose="020B0604020202020204" pitchFamily="34" charset="0"/>
                <a:cs typeface="Arial" panose="020B0604020202020204" pitchFamily="34" charset="0"/>
              </a:rPr>
              <a:t>Determinación de tasas de interés</a:t>
            </a:r>
            <a:endParaRPr lang="es-PE" dirty="0"/>
          </a:p>
        </p:txBody>
      </p:sp>
      <p:sp>
        <p:nvSpPr>
          <p:cNvPr id="3" name="Marcador de contenido 2">
            <a:extLst>
              <a:ext uri="{FF2B5EF4-FFF2-40B4-BE49-F238E27FC236}">
                <a16:creationId xmlns:a16="http://schemas.microsoft.com/office/drawing/2014/main" id="{98F7AE3E-11D7-B6C2-5381-713339D05C62}"/>
              </a:ext>
            </a:extLst>
          </p:cNvPr>
          <p:cNvSpPr>
            <a:spLocks noGrp="1"/>
          </p:cNvSpPr>
          <p:nvPr>
            <p:ph idx="1"/>
          </p:nvPr>
        </p:nvSpPr>
        <p:spPr>
          <a:xfrm>
            <a:off x="863248" y="1484784"/>
            <a:ext cx="10515600" cy="4351338"/>
          </a:xfrm>
        </p:spPr>
        <p:txBody>
          <a:bodyPr/>
          <a:lstStyle/>
          <a:p>
            <a:pPr marL="0" indent="0">
              <a:lnSpc>
                <a:spcPct val="150000"/>
              </a:lnSpc>
              <a:buNone/>
            </a:pPr>
            <a:r>
              <a:rPr lang="es-PE" dirty="0"/>
              <a:t>El problema de maximización</a:t>
            </a:r>
          </a:p>
          <a:p>
            <a:pPr>
              <a:lnSpc>
                <a:spcPct val="150000"/>
              </a:lnSpc>
            </a:pPr>
            <a:r>
              <a:rPr lang="es-PE" dirty="0"/>
              <a:t>Los ingresos financieros provienen de lo que les cobran a las empresas no financieras; personas y a los otros bancos.</a:t>
            </a:r>
          </a:p>
          <a:p>
            <a:pPr>
              <a:lnSpc>
                <a:spcPct val="150000"/>
              </a:lnSpc>
            </a:pPr>
            <a:r>
              <a:rPr lang="es-PE" dirty="0"/>
              <a:t>Los costos financieros: tasa de interés de depósitos y costos operativos.</a:t>
            </a:r>
          </a:p>
        </p:txBody>
      </p:sp>
      <p:sp>
        <p:nvSpPr>
          <p:cNvPr id="4" name="Marcador de número de diapositiva 3">
            <a:extLst>
              <a:ext uri="{FF2B5EF4-FFF2-40B4-BE49-F238E27FC236}">
                <a16:creationId xmlns:a16="http://schemas.microsoft.com/office/drawing/2014/main" id="{C4EF3CF1-C676-938C-4CB0-71AE417332DB}"/>
              </a:ext>
            </a:extLst>
          </p:cNvPr>
          <p:cNvSpPr>
            <a:spLocks noGrp="1"/>
          </p:cNvSpPr>
          <p:nvPr>
            <p:ph type="sldNum" sz="quarter" idx="12"/>
          </p:nvPr>
        </p:nvSpPr>
        <p:spPr/>
        <p:txBody>
          <a:bodyPr/>
          <a:lstStyle/>
          <a:p>
            <a:pPr>
              <a:defRPr/>
            </a:pPr>
            <a:fld id="{8E639104-18EF-4017-8EC8-89CC3800080B}" type="slidenum">
              <a:rPr lang="es-PE" altLang="es-PE" smtClean="0"/>
              <a:pPr>
                <a:defRPr/>
              </a:pPr>
              <a:t>11</a:t>
            </a:fld>
            <a:endParaRPr lang="es-PE" altLang="es-PE"/>
          </a:p>
        </p:txBody>
      </p:sp>
    </p:spTree>
    <p:extLst>
      <p:ext uri="{BB962C8B-B14F-4D97-AF65-F5344CB8AC3E}">
        <p14:creationId xmlns:p14="http://schemas.microsoft.com/office/powerpoint/2010/main" val="1009935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737CB-C340-7149-6171-10FC03BB92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C66188-6C38-32A3-DD15-B26388A9380B}"/>
              </a:ext>
            </a:extLst>
          </p:cNvPr>
          <p:cNvSpPr>
            <a:spLocks noGrp="1"/>
          </p:cNvSpPr>
          <p:nvPr>
            <p:ph type="title"/>
          </p:nvPr>
        </p:nvSpPr>
        <p:spPr/>
        <p:txBody>
          <a:bodyPr/>
          <a:lstStyle/>
          <a:p>
            <a:r>
              <a:rPr lang="es-ES" altLang="es-PE" b="1" dirty="0">
                <a:latin typeface="Arial" panose="020B0604020202020204" pitchFamily="34" charset="0"/>
                <a:cs typeface="Arial" panose="020B0604020202020204" pitchFamily="34" charset="0"/>
              </a:rPr>
              <a:t>Determinación de tasas de interés</a:t>
            </a:r>
            <a:endParaRPr lang="es-PE" dirty="0"/>
          </a:p>
        </p:txBody>
      </p:sp>
      <p:sp>
        <p:nvSpPr>
          <p:cNvPr id="3" name="Marcador de contenido 2">
            <a:extLst>
              <a:ext uri="{FF2B5EF4-FFF2-40B4-BE49-F238E27FC236}">
                <a16:creationId xmlns:a16="http://schemas.microsoft.com/office/drawing/2014/main" id="{AE072887-A518-1BFA-A926-AA8A3A3AD95F}"/>
              </a:ext>
            </a:extLst>
          </p:cNvPr>
          <p:cNvSpPr>
            <a:spLocks noGrp="1"/>
          </p:cNvSpPr>
          <p:nvPr>
            <p:ph idx="1"/>
          </p:nvPr>
        </p:nvSpPr>
        <p:spPr/>
        <p:txBody>
          <a:bodyPr/>
          <a:lstStyle/>
          <a:p>
            <a:pPr marL="0" indent="0">
              <a:lnSpc>
                <a:spcPct val="150000"/>
              </a:lnSpc>
              <a:buNone/>
            </a:pPr>
            <a:r>
              <a:rPr lang="es-PE" dirty="0"/>
              <a:t>El problema de maximización</a:t>
            </a:r>
          </a:p>
          <a:p>
            <a:pPr>
              <a:lnSpc>
                <a:spcPct val="150000"/>
              </a:lnSpc>
            </a:pPr>
            <a:r>
              <a:rPr lang="es-PE" dirty="0"/>
              <a:t>Un banco le presta a otros bancos: M sobre la base de los depósitos luego del encaje:</a:t>
            </a:r>
          </a:p>
          <a:p>
            <a:pPr>
              <a:lnSpc>
                <a:spcPct val="150000"/>
              </a:lnSpc>
            </a:pPr>
            <a:r>
              <a:rPr lang="es-PE" dirty="0"/>
              <a:t>M = (1-</a:t>
            </a:r>
            <a:r>
              <a:rPr lang="el-GR" dirty="0">
                <a:latin typeface="Sylfaen" panose="010A0502050306030303" pitchFamily="18" charset="0"/>
              </a:rPr>
              <a:t>θ</a:t>
            </a:r>
            <a:r>
              <a:rPr lang="es-PE" dirty="0"/>
              <a:t>)D – L</a:t>
            </a:r>
          </a:p>
          <a:p>
            <a:pPr>
              <a:lnSpc>
                <a:spcPct val="150000"/>
              </a:lnSpc>
            </a:pPr>
            <a:r>
              <a:rPr lang="es-PE" dirty="0"/>
              <a:t>El problema del banco es:</a:t>
            </a:r>
          </a:p>
          <a:p>
            <a:pPr>
              <a:lnSpc>
                <a:spcPct val="150000"/>
              </a:lnSpc>
            </a:pPr>
            <a:r>
              <a:rPr lang="es-PE" dirty="0"/>
              <a:t>Max </a:t>
            </a:r>
            <a:r>
              <a:rPr lang="es-PE" dirty="0">
                <a:latin typeface="Arial" panose="020B0604020202020204" pitchFamily="34" charset="0"/>
                <a:cs typeface="Arial" panose="020B0604020202020204" pitchFamily="34" charset="0"/>
              </a:rPr>
              <a:t>π</a:t>
            </a:r>
            <a:r>
              <a:rPr lang="es-PE" baseline="-25000" dirty="0">
                <a:latin typeface="Arial" panose="020B0604020202020204" pitchFamily="34" charset="0"/>
                <a:cs typeface="Arial" panose="020B0604020202020204" pitchFamily="34" charset="0"/>
              </a:rPr>
              <a:t>L,D</a:t>
            </a:r>
            <a:r>
              <a:rPr lang="es-PE" dirty="0">
                <a:latin typeface="Arial" panose="020B0604020202020204" pitchFamily="34" charset="0"/>
                <a:cs typeface="Arial" panose="020B0604020202020204" pitchFamily="34" charset="0"/>
              </a:rPr>
              <a:t> = R</a:t>
            </a:r>
            <a:r>
              <a:rPr lang="es-PE" baseline="-25000" dirty="0">
                <a:latin typeface="Arial" panose="020B0604020202020204" pitchFamily="34" charset="0"/>
                <a:cs typeface="Arial" panose="020B0604020202020204" pitchFamily="34" charset="0"/>
              </a:rPr>
              <a:t>L</a:t>
            </a:r>
            <a:r>
              <a:rPr lang="es-PE" dirty="0">
                <a:latin typeface="Arial" panose="020B0604020202020204" pitchFamily="34" charset="0"/>
                <a:cs typeface="Arial" panose="020B0604020202020204" pitchFamily="34" charset="0"/>
              </a:rPr>
              <a:t>L + R</a:t>
            </a:r>
            <a:r>
              <a:rPr lang="es-PE" sz="1100" dirty="0">
                <a:latin typeface="Palatino Linotype" panose="02040502050505030304" pitchFamily="18" charset="0"/>
                <a:cs typeface="Arial" panose="020B0604020202020204" pitchFamily="34" charset="0"/>
              </a:rPr>
              <a:t>•</a:t>
            </a:r>
            <a:r>
              <a:rPr lang="es-PE" dirty="0">
                <a:latin typeface="Arial" panose="020B0604020202020204" pitchFamily="34" charset="0"/>
                <a:cs typeface="Arial" panose="020B0604020202020204" pitchFamily="34" charset="0"/>
              </a:rPr>
              <a:t>M – R</a:t>
            </a:r>
            <a:r>
              <a:rPr lang="es-PE" baseline="-25000" dirty="0">
                <a:latin typeface="Arial" panose="020B0604020202020204" pitchFamily="34" charset="0"/>
                <a:cs typeface="Arial" panose="020B0604020202020204" pitchFamily="34" charset="0"/>
              </a:rPr>
              <a:t>D</a:t>
            </a:r>
            <a:r>
              <a:rPr lang="es-PE" dirty="0">
                <a:latin typeface="Arial" panose="020B0604020202020204" pitchFamily="34" charset="0"/>
                <a:cs typeface="Arial" panose="020B0604020202020204" pitchFamily="34" charset="0"/>
              </a:rPr>
              <a:t>D – C(L,D)</a:t>
            </a:r>
            <a:endParaRPr lang="es-PE" dirty="0"/>
          </a:p>
        </p:txBody>
      </p:sp>
      <p:sp>
        <p:nvSpPr>
          <p:cNvPr id="4" name="Marcador de número de diapositiva 3">
            <a:extLst>
              <a:ext uri="{FF2B5EF4-FFF2-40B4-BE49-F238E27FC236}">
                <a16:creationId xmlns:a16="http://schemas.microsoft.com/office/drawing/2014/main" id="{BE6D1CFF-D9B2-6A59-A248-BBCAD2A3FA31}"/>
              </a:ext>
            </a:extLst>
          </p:cNvPr>
          <p:cNvSpPr>
            <a:spLocks noGrp="1"/>
          </p:cNvSpPr>
          <p:nvPr>
            <p:ph type="sldNum" sz="quarter" idx="12"/>
          </p:nvPr>
        </p:nvSpPr>
        <p:spPr/>
        <p:txBody>
          <a:bodyPr/>
          <a:lstStyle/>
          <a:p>
            <a:pPr>
              <a:defRPr/>
            </a:pPr>
            <a:fld id="{8E639104-18EF-4017-8EC8-89CC3800080B}" type="slidenum">
              <a:rPr lang="es-PE" altLang="es-PE" smtClean="0"/>
              <a:pPr>
                <a:defRPr/>
              </a:pPr>
              <a:t>12</a:t>
            </a:fld>
            <a:endParaRPr lang="es-PE" altLang="es-PE"/>
          </a:p>
        </p:txBody>
      </p:sp>
    </p:spTree>
    <p:extLst>
      <p:ext uri="{BB962C8B-B14F-4D97-AF65-F5344CB8AC3E}">
        <p14:creationId xmlns:p14="http://schemas.microsoft.com/office/powerpoint/2010/main" val="1483649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3120E-B7DE-75D8-F0C7-0BA1213299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17A3FF-E8E1-0311-3107-51581C36DE7E}"/>
              </a:ext>
            </a:extLst>
          </p:cNvPr>
          <p:cNvSpPr>
            <a:spLocks noGrp="1"/>
          </p:cNvSpPr>
          <p:nvPr>
            <p:ph type="title"/>
          </p:nvPr>
        </p:nvSpPr>
        <p:spPr>
          <a:xfrm>
            <a:off x="819056" y="119063"/>
            <a:ext cx="10515600" cy="1077690"/>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7CA6DB1B-6F59-CA8B-667B-9584A7BD7478}"/>
              </a:ext>
            </a:extLst>
          </p:cNvPr>
          <p:cNvSpPr>
            <a:spLocks noGrp="1"/>
          </p:cNvSpPr>
          <p:nvPr>
            <p:ph idx="1"/>
          </p:nvPr>
        </p:nvSpPr>
        <p:spPr>
          <a:xfrm>
            <a:off x="819056" y="1191568"/>
            <a:ext cx="10821560" cy="5117751"/>
          </a:xfrm>
        </p:spPr>
        <p:txBody>
          <a:bodyPr/>
          <a:lstStyle/>
          <a:p>
            <a:pPr marL="0" indent="0">
              <a:lnSpc>
                <a:spcPct val="150000"/>
              </a:lnSpc>
              <a:buNone/>
            </a:pPr>
            <a:r>
              <a:rPr lang="es-PE" b="1" dirty="0"/>
              <a:t>Proceso de optimización : Créditos</a:t>
            </a:r>
          </a:p>
          <a:p>
            <a:pPr>
              <a:lnSpc>
                <a:spcPct val="150000"/>
              </a:lnSpc>
            </a:pPr>
            <a:r>
              <a:rPr lang="es-PE" dirty="0"/>
              <a:t>Supongamos que a un banco se le pide un préstamo fuera de hora de negociación.</a:t>
            </a:r>
          </a:p>
          <a:p>
            <a:pPr>
              <a:lnSpc>
                <a:spcPct val="150000"/>
              </a:lnSpc>
            </a:pPr>
            <a:r>
              <a:rPr lang="es-PE" dirty="0"/>
              <a:t>Por ese préstamo se cobra la tasa de interés R</a:t>
            </a:r>
            <a:r>
              <a:rPr lang="es-PE" baseline="-25000" dirty="0"/>
              <a:t>L</a:t>
            </a:r>
          </a:p>
          <a:p>
            <a:pPr>
              <a:lnSpc>
                <a:spcPct val="150000"/>
              </a:lnSpc>
            </a:pPr>
            <a:r>
              <a:rPr lang="es-PE" dirty="0"/>
              <a:t>El préstamo se financia con un préstamo interbancario de otro banco (</a:t>
            </a:r>
            <a:r>
              <a:rPr lang="es-PE" dirty="0" err="1"/>
              <a:t>p.e</a:t>
            </a:r>
            <a:r>
              <a:rPr lang="es-PE" dirty="0"/>
              <a:t> B) por que se pagará una tasa de interés R</a:t>
            </a:r>
          </a:p>
        </p:txBody>
      </p:sp>
      <p:sp>
        <p:nvSpPr>
          <p:cNvPr id="4" name="Marcador de número de diapositiva 3">
            <a:extLst>
              <a:ext uri="{FF2B5EF4-FFF2-40B4-BE49-F238E27FC236}">
                <a16:creationId xmlns:a16="http://schemas.microsoft.com/office/drawing/2014/main" id="{4EF11B9B-7936-8AC1-81EA-31E6DBEAFC03}"/>
              </a:ext>
            </a:extLst>
          </p:cNvPr>
          <p:cNvSpPr>
            <a:spLocks noGrp="1"/>
          </p:cNvSpPr>
          <p:nvPr>
            <p:ph type="sldNum" sz="quarter" idx="12"/>
          </p:nvPr>
        </p:nvSpPr>
        <p:spPr/>
        <p:txBody>
          <a:bodyPr/>
          <a:lstStyle/>
          <a:p>
            <a:pPr>
              <a:defRPr/>
            </a:pPr>
            <a:fld id="{8E639104-18EF-4017-8EC8-89CC3800080B}" type="slidenum">
              <a:rPr lang="es-PE" altLang="es-PE" smtClean="0"/>
              <a:pPr>
                <a:defRPr/>
              </a:pPr>
              <a:t>13</a:t>
            </a:fld>
            <a:endParaRPr lang="es-PE" altLang="es-PE"/>
          </a:p>
        </p:txBody>
      </p:sp>
    </p:spTree>
    <p:extLst>
      <p:ext uri="{BB962C8B-B14F-4D97-AF65-F5344CB8AC3E}">
        <p14:creationId xmlns:p14="http://schemas.microsoft.com/office/powerpoint/2010/main" val="3118805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9E4BE-0D45-EE2B-F61A-063AE342DD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BFC846-BCED-EA9F-73FB-3315308767F3}"/>
              </a:ext>
            </a:extLst>
          </p:cNvPr>
          <p:cNvSpPr>
            <a:spLocks noGrp="1"/>
          </p:cNvSpPr>
          <p:nvPr>
            <p:ph type="title"/>
          </p:nvPr>
        </p:nvSpPr>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A3C4617C-5B9F-3402-B55D-C27A3CE24725}"/>
              </a:ext>
            </a:extLst>
          </p:cNvPr>
          <p:cNvSpPr>
            <a:spLocks noGrp="1"/>
          </p:cNvSpPr>
          <p:nvPr>
            <p:ph idx="1"/>
          </p:nvPr>
        </p:nvSpPr>
        <p:spPr/>
        <p:txBody>
          <a:bodyPr/>
          <a:lstStyle/>
          <a:p>
            <a:pPr>
              <a:lnSpc>
                <a:spcPct val="150000"/>
              </a:lnSpc>
            </a:pPr>
            <a:r>
              <a:rPr lang="es-ES" sz="2400" b="1" dirty="0"/>
              <a:t>El proceso de optimización: Créditos (CPO de L) </a:t>
            </a:r>
            <a:endParaRPr lang="es-ES" sz="2400" dirty="0"/>
          </a:p>
          <a:p>
            <a:pPr marL="457200" lvl="1" indent="0">
              <a:lnSpc>
                <a:spcPct val="150000"/>
              </a:lnSpc>
              <a:buNone/>
            </a:pPr>
            <a:r>
              <a:rPr lang="es-PE" dirty="0"/>
              <a:t>Max </a:t>
            </a:r>
            <a:r>
              <a:rPr lang="es-PE" dirty="0">
                <a:latin typeface="Arial" panose="020B0604020202020204" pitchFamily="34" charset="0"/>
                <a:cs typeface="Arial" panose="020B0604020202020204" pitchFamily="34" charset="0"/>
              </a:rPr>
              <a:t>π</a:t>
            </a:r>
            <a:r>
              <a:rPr lang="es-PE" baseline="-25000" dirty="0">
                <a:latin typeface="Arial" panose="020B0604020202020204" pitchFamily="34" charset="0"/>
                <a:cs typeface="Arial" panose="020B0604020202020204" pitchFamily="34" charset="0"/>
              </a:rPr>
              <a:t>L,D</a:t>
            </a:r>
            <a:r>
              <a:rPr lang="es-PE" dirty="0">
                <a:latin typeface="Arial" panose="020B0604020202020204" pitchFamily="34" charset="0"/>
                <a:cs typeface="Arial" panose="020B0604020202020204" pitchFamily="34" charset="0"/>
              </a:rPr>
              <a:t> = R</a:t>
            </a:r>
            <a:r>
              <a:rPr lang="es-PE" baseline="-25000" dirty="0">
                <a:latin typeface="Arial" panose="020B0604020202020204" pitchFamily="34" charset="0"/>
                <a:cs typeface="Arial" panose="020B0604020202020204" pitchFamily="34" charset="0"/>
              </a:rPr>
              <a:t>L</a:t>
            </a:r>
            <a:r>
              <a:rPr lang="es-PE" dirty="0">
                <a:latin typeface="Arial" panose="020B0604020202020204" pitchFamily="34" charset="0"/>
                <a:cs typeface="Arial" panose="020B0604020202020204" pitchFamily="34" charset="0"/>
              </a:rPr>
              <a:t>L + RM – R</a:t>
            </a:r>
            <a:r>
              <a:rPr lang="es-PE" baseline="-25000" dirty="0">
                <a:latin typeface="Arial" panose="020B0604020202020204" pitchFamily="34" charset="0"/>
                <a:cs typeface="Arial" panose="020B0604020202020204" pitchFamily="34" charset="0"/>
              </a:rPr>
              <a:t>D</a:t>
            </a:r>
            <a:r>
              <a:rPr lang="es-PE" dirty="0">
                <a:latin typeface="Arial" panose="020B0604020202020204" pitchFamily="34" charset="0"/>
                <a:cs typeface="Arial" panose="020B0604020202020204" pitchFamily="34" charset="0"/>
              </a:rPr>
              <a:t>D – C(L,D)</a:t>
            </a:r>
            <a:endParaRPr lang="es-PE" dirty="0"/>
          </a:p>
          <a:p>
            <a:pPr marL="457200" lvl="1" indent="0">
              <a:lnSpc>
                <a:spcPct val="150000"/>
              </a:lnSpc>
              <a:buNone/>
            </a:pPr>
            <a:r>
              <a:rPr lang="es-PE" dirty="0"/>
              <a:t>𝜕𝜋𝜕𝐿=𝑅</a:t>
            </a:r>
            <a:r>
              <a:rPr lang="es-PE" baseline="-25000" dirty="0"/>
              <a:t>𝐿</a:t>
            </a:r>
            <a:r>
              <a:rPr lang="es-PE" dirty="0"/>
              <a:t>−𝑅−𝐶</a:t>
            </a:r>
            <a:r>
              <a:rPr lang="es-PE" baseline="-25000" dirty="0"/>
              <a:t>𝐿</a:t>
            </a:r>
            <a:r>
              <a:rPr lang="es-PE" dirty="0"/>
              <a:t>(𝐿,𝐷)=0 </a:t>
            </a:r>
          </a:p>
          <a:p>
            <a:pPr marL="457200" lvl="1" indent="0">
              <a:lnSpc>
                <a:spcPct val="150000"/>
              </a:lnSpc>
              <a:buNone/>
            </a:pPr>
            <a:r>
              <a:rPr lang="es-ES" dirty="0"/>
              <a:t>𝑅</a:t>
            </a:r>
            <a:r>
              <a:rPr lang="es-ES" baseline="-25000" dirty="0"/>
              <a:t>𝐿</a:t>
            </a:r>
            <a:r>
              <a:rPr lang="es-ES" dirty="0"/>
              <a:t>=𝑅+𝐶</a:t>
            </a:r>
            <a:r>
              <a:rPr lang="es-ES" baseline="-25000" dirty="0"/>
              <a:t>𝐿</a:t>
            </a:r>
            <a:r>
              <a:rPr lang="es-ES" dirty="0"/>
              <a:t>(𝐿,𝐷) </a:t>
            </a:r>
          </a:p>
          <a:p>
            <a:pPr>
              <a:lnSpc>
                <a:spcPct val="150000"/>
              </a:lnSpc>
            </a:pPr>
            <a:r>
              <a:rPr lang="es-ES" sz="2400" dirty="0"/>
              <a:t>El banco va a seguir prestando hasta que la tasa de interés de los créditos determinado por el mercado sea equivalente a la tasa interbancaria más el costo marginal de operar esos créditos.</a:t>
            </a:r>
          </a:p>
        </p:txBody>
      </p:sp>
      <p:sp>
        <p:nvSpPr>
          <p:cNvPr id="4" name="Marcador de número de diapositiva 3">
            <a:extLst>
              <a:ext uri="{FF2B5EF4-FFF2-40B4-BE49-F238E27FC236}">
                <a16:creationId xmlns:a16="http://schemas.microsoft.com/office/drawing/2014/main" id="{65CB9977-8F6B-354E-E87D-6655A36C3AB5}"/>
              </a:ext>
            </a:extLst>
          </p:cNvPr>
          <p:cNvSpPr>
            <a:spLocks noGrp="1"/>
          </p:cNvSpPr>
          <p:nvPr>
            <p:ph type="sldNum" sz="quarter" idx="12"/>
          </p:nvPr>
        </p:nvSpPr>
        <p:spPr/>
        <p:txBody>
          <a:bodyPr/>
          <a:lstStyle/>
          <a:p>
            <a:pPr>
              <a:defRPr/>
            </a:pPr>
            <a:fld id="{8E639104-18EF-4017-8EC8-89CC3800080B}" type="slidenum">
              <a:rPr lang="es-PE" altLang="es-PE" smtClean="0"/>
              <a:pPr>
                <a:defRPr/>
              </a:pPr>
              <a:t>14</a:t>
            </a:fld>
            <a:endParaRPr lang="es-PE" altLang="es-PE"/>
          </a:p>
        </p:txBody>
      </p:sp>
    </p:spTree>
    <p:extLst>
      <p:ext uri="{BB962C8B-B14F-4D97-AF65-F5344CB8AC3E}">
        <p14:creationId xmlns:p14="http://schemas.microsoft.com/office/powerpoint/2010/main" val="139608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E9660-2EBF-8364-7C37-2246AF426D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9AF35F-A9BA-62F0-F742-3963A05F6D22}"/>
              </a:ext>
            </a:extLst>
          </p:cNvPr>
          <p:cNvSpPr>
            <a:spLocks noGrp="1"/>
          </p:cNvSpPr>
          <p:nvPr>
            <p:ph type="title"/>
          </p:nvPr>
        </p:nvSpPr>
        <p:spPr/>
        <p:txBody>
          <a:bodyPr/>
          <a:lstStyle/>
          <a:p>
            <a:r>
              <a:rPr lang="es-ES" altLang="es-PE" b="1" dirty="0">
                <a:latin typeface="Arial" panose="020B0604020202020204" pitchFamily="34" charset="0"/>
                <a:cs typeface="Arial" panose="020B0604020202020204" pitchFamily="34" charset="0"/>
              </a:rPr>
              <a:t>Determinación de tasas de interés</a:t>
            </a:r>
            <a:endParaRPr lang="es-PE" dirty="0"/>
          </a:p>
        </p:txBody>
      </p:sp>
      <p:sp>
        <p:nvSpPr>
          <p:cNvPr id="3" name="Marcador de contenido 2">
            <a:extLst>
              <a:ext uri="{FF2B5EF4-FFF2-40B4-BE49-F238E27FC236}">
                <a16:creationId xmlns:a16="http://schemas.microsoft.com/office/drawing/2014/main" id="{B04F6EA7-6E6C-5EB5-75B1-2627DFC42CC7}"/>
              </a:ext>
            </a:extLst>
          </p:cNvPr>
          <p:cNvSpPr>
            <a:spLocks noGrp="1"/>
          </p:cNvSpPr>
          <p:nvPr>
            <p:ph idx="1"/>
          </p:nvPr>
        </p:nvSpPr>
        <p:spPr/>
        <p:txBody>
          <a:bodyPr/>
          <a:lstStyle/>
          <a:p>
            <a:pPr>
              <a:lnSpc>
                <a:spcPct val="150000"/>
              </a:lnSpc>
            </a:pPr>
            <a:r>
              <a:rPr lang="es-ES" sz="2400" b="1" dirty="0"/>
              <a:t>El proceso de optimización: Créditos (CPO de L) </a:t>
            </a:r>
            <a:endParaRPr lang="es-ES" sz="2400" dirty="0"/>
          </a:p>
          <a:p>
            <a:pPr marL="457200" lvl="1" indent="0">
              <a:lnSpc>
                <a:spcPct val="150000"/>
              </a:lnSpc>
              <a:buNone/>
            </a:pPr>
            <a:r>
              <a:rPr lang="es-PE" i="1" dirty="0">
                <a:latin typeface="Times New Roman" panose="02020603050405020304" pitchFamily="18" charset="0"/>
                <a:cs typeface="Times New Roman" panose="02020603050405020304" pitchFamily="18" charset="0"/>
              </a:rPr>
              <a:t>Max π</a:t>
            </a:r>
            <a:r>
              <a:rPr lang="es-PE" i="1" baseline="-25000" dirty="0">
                <a:latin typeface="Times New Roman" panose="02020603050405020304" pitchFamily="18" charset="0"/>
                <a:cs typeface="Times New Roman" panose="02020603050405020304" pitchFamily="18" charset="0"/>
              </a:rPr>
              <a:t>L,D</a:t>
            </a:r>
            <a:r>
              <a:rPr lang="es-PE" i="1" dirty="0">
                <a:latin typeface="Times New Roman" panose="02020603050405020304" pitchFamily="18" charset="0"/>
                <a:cs typeface="Times New Roman" panose="02020603050405020304" pitchFamily="18" charset="0"/>
              </a:rPr>
              <a:t> = R</a:t>
            </a:r>
            <a:r>
              <a:rPr lang="es-PE" i="1" baseline="-25000" dirty="0">
                <a:latin typeface="Times New Roman" panose="02020603050405020304" pitchFamily="18" charset="0"/>
                <a:cs typeface="Times New Roman" panose="02020603050405020304" pitchFamily="18" charset="0"/>
              </a:rPr>
              <a:t>L</a:t>
            </a:r>
            <a:r>
              <a:rPr lang="es-PE" i="1" dirty="0">
                <a:latin typeface="Times New Roman" panose="02020603050405020304" pitchFamily="18" charset="0"/>
                <a:cs typeface="Times New Roman" panose="02020603050405020304" pitchFamily="18" charset="0"/>
              </a:rPr>
              <a:t>L + RM – R</a:t>
            </a:r>
            <a:r>
              <a:rPr lang="es-PE" i="1" baseline="-25000" dirty="0">
                <a:latin typeface="Times New Roman" panose="02020603050405020304" pitchFamily="18" charset="0"/>
                <a:cs typeface="Times New Roman" panose="02020603050405020304" pitchFamily="18" charset="0"/>
              </a:rPr>
              <a:t>D</a:t>
            </a:r>
            <a:r>
              <a:rPr lang="es-PE" i="1" dirty="0">
                <a:latin typeface="Times New Roman" panose="02020603050405020304" pitchFamily="18" charset="0"/>
                <a:cs typeface="Times New Roman" panose="02020603050405020304" pitchFamily="18" charset="0"/>
              </a:rPr>
              <a:t>D – C(L,D)</a:t>
            </a:r>
          </a:p>
          <a:p>
            <a:pPr marL="457200" lvl="1" indent="0">
              <a:lnSpc>
                <a:spcPct val="150000"/>
              </a:lnSpc>
              <a:buNone/>
            </a:pPr>
            <a:r>
              <a:rPr lang="es-PE" dirty="0"/>
              <a:t>𝜕𝜋𝜕𝐿=𝑅</a:t>
            </a:r>
            <a:r>
              <a:rPr lang="es-PE" baseline="-25000" dirty="0"/>
              <a:t>𝐿</a:t>
            </a:r>
            <a:r>
              <a:rPr lang="es-PE" dirty="0"/>
              <a:t>−𝑅−𝐶</a:t>
            </a:r>
            <a:r>
              <a:rPr lang="es-PE" baseline="-25000" dirty="0"/>
              <a:t>𝐿</a:t>
            </a:r>
            <a:r>
              <a:rPr lang="es-PE" dirty="0"/>
              <a:t>(𝐿,𝐷)=0 </a:t>
            </a:r>
          </a:p>
          <a:p>
            <a:pPr marL="457200" lvl="1" indent="0">
              <a:lnSpc>
                <a:spcPct val="150000"/>
              </a:lnSpc>
              <a:buNone/>
            </a:pPr>
            <a:r>
              <a:rPr lang="es-ES" dirty="0"/>
              <a:t>𝑅</a:t>
            </a:r>
            <a:r>
              <a:rPr lang="es-ES" baseline="-25000" dirty="0"/>
              <a:t>𝐿</a:t>
            </a:r>
            <a:r>
              <a:rPr lang="es-ES" dirty="0"/>
              <a:t>=𝑅+𝐶</a:t>
            </a:r>
            <a:r>
              <a:rPr lang="es-ES" baseline="-25000" dirty="0"/>
              <a:t>𝐿</a:t>
            </a:r>
            <a:r>
              <a:rPr lang="es-ES" dirty="0"/>
              <a:t>(𝐿,𝐷) </a:t>
            </a:r>
          </a:p>
          <a:p>
            <a:pPr>
              <a:lnSpc>
                <a:spcPct val="150000"/>
              </a:lnSpc>
            </a:pPr>
            <a:r>
              <a:rPr lang="es-ES" sz="2400" dirty="0"/>
              <a:t>El banco determina su volumen, pero no el precio, pues el precio está dado, y el volumen de créditos lo determina su costo marginal (oferta es el costo marginal).</a:t>
            </a:r>
          </a:p>
        </p:txBody>
      </p:sp>
      <p:sp>
        <p:nvSpPr>
          <p:cNvPr id="4" name="Marcador de número de diapositiva 3">
            <a:extLst>
              <a:ext uri="{FF2B5EF4-FFF2-40B4-BE49-F238E27FC236}">
                <a16:creationId xmlns:a16="http://schemas.microsoft.com/office/drawing/2014/main" id="{20F8A4DF-EA4F-EA19-30B4-AD058FBFF8BF}"/>
              </a:ext>
            </a:extLst>
          </p:cNvPr>
          <p:cNvSpPr>
            <a:spLocks noGrp="1"/>
          </p:cNvSpPr>
          <p:nvPr>
            <p:ph type="sldNum" sz="quarter" idx="12"/>
          </p:nvPr>
        </p:nvSpPr>
        <p:spPr/>
        <p:txBody>
          <a:bodyPr/>
          <a:lstStyle/>
          <a:p>
            <a:pPr>
              <a:defRPr/>
            </a:pPr>
            <a:fld id="{8E639104-18EF-4017-8EC8-89CC3800080B}" type="slidenum">
              <a:rPr lang="es-PE" altLang="es-PE" smtClean="0"/>
              <a:pPr>
                <a:defRPr/>
              </a:pPr>
              <a:t>15</a:t>
            </a:fld>
            <a:endParaRPr lang="es-PE" altLang="es-PE"/>
          </a:p>
        </p:txBody>
      </p:sp>
    </p:spTree>
    <p:extLst>
      <p:ext uri="{BB962C8B-B14F-4D97-AF65-F5344CB8AC3E}">
        <p14:creationId xmlns:p14="http://schemas.microsoft.com/office/powerpoint/2010/main" val="2111367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3BE8F-C252-B66B-83BF-583698AAF1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E05DAA-57AC-86A7-C9BA-A4821806640F}"/>
              </a:ext>
            </a:extLst>
          </p:cNvPr>
          <p:cNvSpPr>
            <a:spLocks noGrp="1"/>
          </p:cNvSpPr>
          <p:nvPr>
            <p:ph type="title"/>
          </p:nvPr>
        </p:nvSpPr>
        <p:spPr>
          <a:xfrm>
            <a:off x="838200" y="85958"/>
            <a:ext cx="10515600" cy="1325563"/>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4EC39C67-E3C1-89F0-276C-AD1E78F87019}"/>
              </a:ext>
            </a:extLst>
          </p:cNvPr>
          <p:cNvSpPr>
            <a:spLocks noGrp="1"/>
          </p:cNvSpPr>
          <p:nvPr>
            <p:ph idx="1"/>
          </p:nvPr>
        </p:nvSpPr>
        <p:spPr>
          <a:xfrm>
            <a:off x="983432" y="1124744"/>
            <a:ext cx="10515600" cy="5112568"/>
          </a:xfrm>
        </p:spPr>
        <p:txBody>
          <a:bodyPr/>
          <a:lstStyle/>
          <a:p>
            <a:pPr marL="0" indent="0">
              <a:lnSpc>
                <a:spcPct val="150000"/>
              </a:lnSpc>
              <a:buNone/>
            </a:pPr>
            <a:r>
              <a:rPr lang="es-ES" sz="2400" b="1" dirty="0"/>
              <a:t>El proceso de optimización: Depósitos (CPO de D)</a:t>
            </a:r>
          </a:p>
          <a:p>
            <a:pPr>
              <a:lnSpc>
                <a:spcPct val="150000"/>
              </a:lnSpc>
            </a:pPr>
            <a:r>
              <a:rPr lang="es-ES" sz="2400" dirty="0"/>
              <a:t>En un escenario de un banco recibe un depósito fuera de hora de negociación. </a:t>
            </a:r>
          </a:p>
          <a:p>
            <a:pPr>
              <a:lnSpc>
                <a:spcPct val="150000"/>
              </a:lnSpc>
            </a:pPr>
            <a:r>
              <a:rPr lang="es-ES" sz="2400" dirty="0"/>
              <a:t>Cual es el beneficio que puede obtener de ese recurso disponible (𝜕𝜋𝜕𝐷). </a:t>
            </a:r>
          </a:p>
          <a:p>
            <a:pPr>
              <a:lnSpc>
                <a:spcPct val="150000"/>
              </a:lnSpc>
            </a:pPr>
            <a:r>
              <a:rPr lang="es-ES" sz="2400" dirty="0"/>
              <a:t>Si se prestan los recursos del depósito recibido a otro banco se le pagará una tasa de interés (interbancaria) 𝑅. </a:t>
            </a:r>
          </a:p>
        </p:txBody>
      </p:sp>
      <p:sp>
        <p:nvSpPr>
          <p:cNvPr id="4" name="Marcador de número de diapositiva 3">
            <a:extLst>
              <a:ext uri="{FF2B5EF4-FFF2-40B4-BE49-F238E27FC236}">
                <a16:creationId xmlns:a16="http://schemas.microsoft.com/office/drawing/2014/main" id="{51FD7EFD-347F-ACD6-70CD-E93019927385}"/>
              </a:ext>
            </a:extLst>
          </p:cNvPr>
          <p:cNvSpPr>
            <a:spLocks noGrp="1"/>
          </p:cNvSpPr>
          <p:nvPr>
            <p:ph type="sldNum" sz="quarter" idx="12"/>
          </p:nvPr>
        </p:nvSpPr>
        <p:spPr/>
        <p:txBody>
          <a:bodyPr/>
          <a:lstStyle/>
          <a:p>
            <a:pPr>
              <a:defRPr/>
            </a:pPr>
            <a:fld id="{8E639104-18EF-4017-8EC8-89CC3800080B}" type="slidenum">
              <a:rPr lang="es-PE" altLang="es-PE" smtClean="0"/>
              <a:pPr>
                <a:defRPr/>
              </a:pPr>
              <a:t>16</a:t>
            </a:fld>
            <a:endParaRPr lang="es-PE" altLang="es-PE"/>
          </a:p>
        </p:txBody>
      </p:sp>
    </p:spTree>
    <p:extLst>
      <p:ext uri="{BB962C8B-B14F-4D97-AF65-F5344CB8AC3E}">
        <p14:creationId xmlns:p14="http://schemas.microsoft.com/office/powerpoint/2010/main" val="3893612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8B676-6966-5699-912C-4D578F6D81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33788A-ACA8-37C1-0CD3-5E921A957770}"/>
              </a:ext>
            </a:extLst>
          </p:cNvPr>
          <p:cNvSpPr>
            <a:spLocks noGrp="1"/>
          </p:cNvSpPr>
          <p:nvPr>
            <p:ph type="title"/>
          </p:nvPr>
        </p:nvSpPr>
        <p:spPr>
          <a:xfrm>
            <a:off x="838200" y="85958"/>
            <a:ext cx="10515600" cy="1325563"/>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8ACE9882-25AC-CDF7-2A16-06DABBF9FEAD}"/>
              </a:ext>
            </a:extLst>
          </p:cNvPr>
          <p:cNvSpPr>
            <a:spLocks noGrp="1"/>
          </p:cNvSpPr>
          <p:nvPr>
            <p:ph idx="1"/>
          </p:nvPr>
        </p:nvSpPr>
        <p:spPr>
          <a:xfrm>
            <a:off x="983432" y="1124744"/>
            <a:ext cx="10515600" cy="4351338"/>
          </a:xfrm>
        </p:spPr>
        <p:txBody>
          <a:bodyPr/>
          <a:lstStyle/>
          <a:p>
            <a:pPr marL="0" indent="0">
              <a:lnSpc>
                <a:spcPct val="150000"/>
              </a:lnSpc>
              <a:buNone/>
            </a:pPr>
            <a:r>
              <a:rPr lang="es-ES" sz="2400" b="1" dirty="0"/>
              <a:t>El proceso de optimización: Depósitos (CPO de D)</a:t>
            </a:r>
          </a:p>
          <a:p>
            <a:pPr>
              <a:lnSpc>
                <a:spcPct val="150000"/>
              </a:lnSpc>
            </a:pPr>
            <a:r>
              <a:rPr lang="es-ES" sz="2400" dirty="0"/>
              <a:t>Sin embargo, no se presta todo, ya que se tiene que guardar el encaje. </a:t>
            </a:r>
          </a:p>
          <a:p>
            <a:pPr>
              <a:lnSpc>
                <a:spcPct val="150000"/>
              </a:lnSpc>
            </a:pPr>
            <a:r>
              <a:rPr lang="es-ES" sz="2400" dirty="0"/>
              <a:t>Así, el préstamo no será por el total depositado sino que se debe encajar </a:t>
            </a:r>
            <a:r>
              <a:rPr lang="el-GR" sz="2400" dirty="0">
                <a:latin typeface="Sylfaen" panose="010A0502050306030303" pitchFamily="18" charset="0"/>
              </a:rPr>
              <a:t>θ</a:t>
            </a:r>
            <a:r>
              <a:rPr lang="es-PE" sz="2400" dirty="0">
                <a:latin typeface="Sylfaen" panose="010A0502050306030303" pitchFamily="18" charset="0"/>
              </a:rPr>
              <a:t> </a:t>
            </a:r>
            <a:r>
              <a:rPr lang="es-ES" sz="2400" dirty="0"/>
              <a:t>y se pagará la tasa de depósitos (𝑅</a:t>
            </a:r>
            <a:r>
              <a:rPr lang="es-ES" sz="2400" baseline="-25000" dirty="0"/>
              <a:t>𝐷</a:t>
            </a:r>
            <a:r>
              <a:rPr lang="es-ES" sz="2400" dirty="0"/>
              <a:t>)</a:t>
            </a:r>
          </a:p>
          <a:p>
            <a:pPr>
              <a:lnSpc>
                <a:spcPct val="150000"/>
              </a:lnSpc>
            </a:pPr>
            <a:r>
              <a:rPr lang="es-ES" sz="2400" dirty="0"/>
              <a:t>El préstamo requiere un análisis de las condiciones crediticias , y también le diremos a nuestro trabajador que analice a este señor, por lo que le pagaremos 𝐶(𝐿,𝐷).</a:t>
            </a:r>
          </a:p>
        </p:txBody>
      </p:sp>
      <p:sp>
        <p:nvSpPr>
          <p:cNvPr id="4" name="Marcador de número de diapositiva 3">
            <a:extLst>
              <a:ext uri="{FF2B5EF4-FFF2-40B4-BE49-F238E27FC236}">
                <a16:creationId xmlns:a16="http://schemas.microsoft.com/office/drawing/2014/main" id="{E462D534-8FE8-95AD-6345-CC3B236F1935}"/>
              </a:ext>
            </a:extLst>
          </p:cNvPr>
          <p:cNvSpPr>
            <a:spLocks noGrp="1"/>
          </p:cNvSpPr>
          <p:nvPr>
            <p:ph type="sldNum" sz="quarter" idx="12"/>
          </p:nvPr>
        </p:nvSpPr>
        <p:spPr/>
        <p:txBody>
          <a:bodyPr/>
          <a:lstStyle/>
          <a:p>
            <a:pPr>
              <a:defRPr/>
            </a:pPr>
            <a:fld id="{8E639104-18EF-4017-8EC8-89CC3800080B}" type="slidenum">
              <a:rPr lang="es-PE" altLang="es-PE" smtClean="0"/>
              <a:pPr>
                <a:defRPr/>
              </a:pPr>
              <a:t>17</a:t>
            </a:fld>
            <a:endParaRPr lang="es-PE" altLang="es-PE"/>
          </a:p>
        </p:txBody>
      </p:sp>
    </p:spTree>
    <p:extLst>
      <p:ext uri="{BB962C8B-B14F-4D97-AF65-F5344CB8AC3E}">
        <p14:creationId xmlns:p14="http://schemas.microsoft.com/office/powerpoint/2010/main" val="1858531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87226-EE83-8F25-C05D-7CA4159124C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E66F729-C30D-77E2-42C3-FB35BE9826C3}"/>
              </a:ext>
            </a:extLst>
          </p:cNvPr>
          <p:cNvSpPr>
            <a:spLocks noGrp="1"/>
          </p:cNvSpPr>
          <p:nvPr>
            <p:ph type="title"/>
          </p:nvPr>
        </p:nvSpPr>
        <p:spPr>
          <a:xfrm>
            <a:off x="911424" y="116438"/>
            <a:ext cx="10515600" cy="1325563"/>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8780028E-8CC8-6250-0DB6-124EDD8F74A8}"/>
              </a:ext>
            </a:extLst>
          </p:cNvPr>
          <p:cNvSpPr>
            <a:spLocks noGrp="1"/>
          </p:cNvSpPr>
          <p:nvPr>
            <p:ph idx="1"/>
          </p:nvPr>
        </p:nvSpPr>
        <p:spPr>
          <a:xfrm>
            <a:off x="911424" y="1556792"/>
            <a:ext cx="10515600" cy="4351338"/>
          </a:xfrm>
        </p:spPr>
        <p:txBody>
          <a:bodyPr/>
          <a:lstStyle/>
          <a:p>
            <a:pPr marL="0" indent="0">
              <a:lnSpc>
                <a:spcPct val="150000"/>
              </a:lnSpc>
              <a:buNone/>
            </a:pPr>
            <a:r>
              <a:rPr lang="es-ES" sz="2400" b="1" dirty="0"/>
              <a:t>El proceso de optimización: Depósitos (CPO de D)</a:t>
            </a:r>
          </a:p>
          <a:p>
            <a:pPr>
              <a:lnSpc>
                <a:spcPct val="150000"/>
              </a:lnSpc>
            </a:pPr>
            <a:r>
              <a:rPr lang="es-PE" sz="2400" dirty="0"/>
              <a:t>La maximización de beneficios para el Banco A (que recibió el depósito) es:</a:t>
            </a:r>
          </a:p>
          <a:p>
            <a:pPr marL="0" indent="0" algn="ctr">
              <a:lnSpc>
                <a:spcPct val="150000"/>
              </a:lnSpc>
              <a:buNone/>
            </a:pPr>
            <a:r>
              <a:rPr lang="es-PE" sz="2400" i="1" dirty="0">
                <a:latin typeface="Times New Roman" panose="02020603050405020304" pitchFamily="18" charset="0"/>
                <a:cs typeface="Times New Roman" panose="02020603050405020304" pitchFamily="18" charset="0"/>
              </a:rPr>
              <a:t>Max π</a:t>
            </a:r>
            <a:r>
              <a:rPr lang="es-PE" sz="2400" i="1" baseline="-25000" dirty="0">
                <a:latin typeface="Times New Roman" panose="02020603050405020304" pitchFamily="18" charset="0"/>
                <a:cs typeface="Times New Roman" panose="02020603050405020304" pitchFamily="18" charset="0"/>
              </a:rPr>
              <a:t>L,D</a:t>
            </a:r>
            <a:r>
              <a:rPr lang="es-PE" sz="2400" i="1" dirty="0">
                <a:latin typeface="Times New Roman" panose="02020603050405020304" pitchFamily="18" charset="0"/>
                <a:cs typeface="Times New Roman" panose="02020603050405020304" pitchFamily="18" charset="0"/>
              </a:rPr>
              <a:t> = R</a:t>
            </a:r>
            <a:r>
              <a:rPr lang="es-PE" sz="2400" i="1" baseline="-25000" dirty="0">
                <a:latin typeface="Times New Roman" panose="02020603050405020304" pitchFamily="18" charset="0"/>
                <a:cs typeface="Times New Roman" panose="02020603050405020304" pitchFamily="18" charset="0"/>
              </a:rPr>
              <a:t>L</a:t>
            </a:r>
            <a:r>
              <a:rPr lang="es-PE" sz="2400" i="1" dirty="0">
                <a:latin typeface="Times New Roman" panose="02020603050405020304" pitchFamily="18" charset="0"/>
                <a:cs typeface="Times New Roman" panose="02020603050405020304" pitchFamily="18" charset="0"/>
              </a:rPr>
              <a:t>L + R(1-</a:t>
            </a:r>
            <a:r>
              <a:rPr lang="el-GR" sz="2400" i="1" dirty="0">
                <a:latin typeface="Times New Roman" panose="02020603050405020304" pitchFamily="18" charset="0"/>
                <a:cs typeface="Times New Roman" panose="02020603050405020304" pitchFamily="18" charset="0"/>
              </a:rPr>
              <a:t>θ</a:t>
            </a:r>
            <a:r>
              <a:rPr lang="es-PE" sz="2400" i="1" dirty="0">
                <a:latin typeface="Times New Roman" panose="02020603050405020304" pitchFamily="18" charset="0"/>
                <a:cs typeface="Times New Roman" panose="02020603050405020304" pitchFamily="18" charset="0"/>
              </a:rPr>
              <a:t>)M – R</a:t>
            </a:r>
            <a:r>
              <a:rPr lang="es-PE" sz="2400" i="1" baseline="-25000" dirty="0">
                <a:latin typeface="Times New Roman" panose="02020603050405020304" pitchFamily="18" charset="0"/>
                <a:cs typeface="Times New Roman" panose="02020603050405020304" pitchFamily="18" charset="0"/>
              </a:rPr>
              <a:t>D</a:t>
            </a:r>
            <a:r>
              <a:rPr lang="es-PE" sz="2400" i="1" dirty="0">
                <a:latin typeface="Times New Roman" panose="02020603050405020304" pitchFamily="18" charset="0"/>
                <a:cs typeface="Times New Roman" panose="02020603050405020304" pitchFamily="18" charset="0"/>
              </a:rPr>
              <a:t>D – C(L,D)</a:t>
            </a:r>
            <a:endParaRPr lang="es-PE" sz="2400" dirty="0"/>
          </a:p>
          <a:p>
            <a:pPr marL="263525" indent="0" algn="just">
              <a:lnSpc>
                <a:spcPct val="150000"/>
              </a:lnSpc>
              <a:buNone/>
            </a:pPr>
            <a:r>
              <a:rPr lang="es-PE" sz="2400" dirty="0"/>
              <a:t>La CPO:</a:t>
            </a:r>
          </a:p>
          <a:p>
            <a:pPr marL="0" indent="0" algn="ctr">
              <a:lnSpc>
                <a:spcPct val="150000"/>
              </a:lnSpc>
              <a:buNone/>
            </a:pPr>
            <a:r>
              <a:rPr lang="es-PE" sz="2400" dirty="0"/>
              <a:t>𝜕𝜋/𝜕𝐷=(1−</a:t>
            </a:r>
            <a:r>
              <a:rPr lang="el-GR" sz="2400" dirty="0">
                <a:latin typeface="Sylfaen" panose="010A0502050306030303" pitchFamily="18" charset="0"/>
              </a:rPr>
              <a:t>θ</a:t>
            </a:r>
            <a:r>
              <a:rPr lang="es-PE" sz="2400" dirty="0"/>
              <a:t>)𝑅−𝑅</a:t>
            </a:r>
            <a:r>
              <a:rPr lang="es-PE" sz="2400" baseline="-25000" dirty="0"/>
              <a:t>𝐷</a:t>
            </a:r>
            <a:r>
              <a:rPr lang="es-PE" sz="2400" dirty="0"/>
              <a:t>− 𝜕𝐶 (𝐿,𝐷) /𝜕𝐷</a:t>
            </a:r>
            <a:r>
              <a:rPr lang="es-PE" sz="2400" i="1" dirty="0">
                <a:latin typeface="Times New Roman" panose="02020603050405020304" pitchFamily="18" charset="0"/>
                <a:cs typeface="Times New Roman" panose="02020603050405020304" pitchFamily="18" charset="0"/>
              </a:rPr>
              <a:t> = 0</a:t>
            </a:r>
            <a:r>
              <a:rPr lang="es-PE" sz="2400" dirty="0"/>
              <a:t> </a:t>
            </a:r>
          </a:p>
          <a:p>
            <a:pPr marL="0" indent="0" algn="ctr">
              <a:lnSpc>
                <a:spcPct val="150000"/>
              </a:lnSpc>
              <a:buNone/>
            </a:pPr>
            <a:r>
              <a:rPr lang="es-PE" sz="2400" dirty="0"/>
              <a:t>𝑅</a:t>
            </a:r>
            <a:r>
              <a:rPr lang="es-PE" sz="2400" baseline="-25000" dirty="0"/>
              <a:t>𝐷</a:t>
            </a:r>
            <a:r>
              <a:rPr lang="es-PE" sz="2400" dirty="0"/>
              <a:t>=(1−</a:t>
            </a:r>
            <a:r>
              <a:rPr lang="el-GR" sz="2400" dirty="0">
                <a:latin typeface="Sylfaen" panose="010A0502050306030303" pitchFamily="18" charset="0"/>
              </a:rPr>
              <a:t>θ</a:t>
            </a:r>
            <a:r>
              <a:rPr lang="es-PE" sz="2400" dirty="0"/>
              <a:t>)𝑅− 𝜕𝐶 (𝐿,𝐷) /𝜕𝐷</a:t>
            </a:r>
          </a:p>
        </p:txBody>
      </p:sp>
      <p:sp>
        <p:nvSpPr>
          <p:cNvPr id="4" name="Marcador de número de diapositiva 3">
            <a:extLst>
              <a:ext uri="{FF2B5EF4-FFF2-40B4-BE49-F238E27FC236}">
                <a16:creationId xmlns:a16="http://schemas.microsoft.com/office/drawing/2014/main" id="{AE4FDCE5-0DB5-0285-74DE-92FAD0AE7A4B}"/>
              </a:ext>
            </a:extLst>
          </p:cNvPr>
          <p:cNvSpPr>
            <a:spLocks noGrp="1"/>
          </p:cNvSpPr>
          <p:nvPr>
            <p:ph type="sldNum" sz="quarter" idx="12"/>
          </p:nvPr>
        </p:nvSpPr>
        <p:spPr/>
        <p:txBody>
          <a:bodyPr/>
          <a:lstStyle/>
          <a:p>
            <a:pPr>
              <a:defRPr/>
            </a:pPr>
            <a:fld id="{8E639104-18EF-4017-8EC8-89CC3800080B}" type="slidenum">
              <a:rPr lang="es-PE" altLang="es-PE" smtClean="0"/>
              <a:pPr>
                <a:defRPr/>
              </a:pPr>
              <a:t>18</a:t>
            </a:fld>
            <a:endParaRPr lang="es-PE" altLang="es-PE"/>
          </a:p>
        </p:txBody>
      </p:sp>
    </p:spTree>
    <p:extLst>
      <p:ext uri="{BB962C8B-B14F-4D97-AF65-F5344CB8AC3E}">
        <p14:creationId xmlns:p14="http://schemas.microsoft.com/office/powerpoint/2010/main" val="2696428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73959-F9B2-0EAE-0BAB-8FD5186BBF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3A9BFE-58C4-668E-5F12-57890B0E50DB}"/>
              </a:ext>
            </a:extLst>
          </p:cNvPr>
          <p:cNvSpPr>
            <a:spLocks noGrp="1"/>
          </p:cNvSpPr>
          <p:nvPr>
            <p:ph type="title"/>
          </p:nvPr>
        </p:nvSpPr>
        <p:spPr/>
        <p:txBody>
          <a:bodyPr/>
          <a:lstStyle/>
          <a:p>
            <a:r>
              <a:rPr lang="es-ES" altLang="es-PE" b="1" dirty="0">
                <a:latin typeface="Arial" panose="020B0604020202020204" pitchFamily="34" charset="0"/>
                <a:cs typeface="Arial" panose="020B0604020202020204" pitchFamily="34" charset="0"/>
              </a:rPr>
              <a:t>Determinación de tasas de interés</a:t>
            </a:r>
            <a:endParaRPr lang="es-PE" dirty="0"/>
          </a:p>
        </p:txBody>
      </p:sp>
      <p:sp>
        <p:nvSpPr>
          <p:cNvPr id="3" name="Marcador de contenido 2">
            <a:extLst>
              <a:ext uri="{FF2B5EF4-FFF2-40B4-BE49-F238E27FC236}">
                <a16:creationId xmlns:a16="http://schemas.microsoft.com/office/drawing/2014/main" id="{9807FF4A-1FF3-D0EC-1621-76441B66D5EB}"/>
              </a:ext>
            </a:extLst>
          </p:cNvPr>
          <p:cNvSpPr>
            <a:spLocks noGrp="1"/>
          </p:cNvSpPr>
          <p:nvPr>
            <p:ph idx="1"/>
          </p:nvPr>
        </p:nvSpPr>
        <p:spPr/>
        <p:txBody>
          <a:bodyPr/>
          <a:lstStyle/>
          <a:p>
            <a:pPr marL="0" indent="0">
              <a:lnSpc>
                <a:spcPct val="150000"/>
              </a:lnSpc>
              <a:buNone/>
            </a:pPr>
            <a:r>
              <a:rPr lang="es-ES" sz="2400" b="1" dirty="0"/>
              <a:t>El proceso de optimización: Depósitos (CPO de D)</a:t>
            </a:r>
          </a:p>
          <a:p>
            <a:pPr>
              <a:lnSpc>
                <a:spcPct val="150000"/>
              </a:lnSpc>
            </a:pPr>
            <a:r>
              <a:rPr lang="es-ES" sz="2400" dirty="0"/>
              <a:t>El banco recibirá depósitos hasta que la tasa de interés de los depósitos R</a:t>
            </a:r>
            <a:r>
              <a:rPr lang="es-ES" sz="2400" baseline="-25000" dirty="0"/>
              <a:t>D</a:t>
            </a:r>
            <a:r>
              <a:rPr lang="es-ES" sz="2400" dirty="0"/>
              <a:t> determinada por el mercado sea equivalente a la tasa de interés interbancaria R ajustada por el encaje descontada el costo marginal de la operación de este depósito.</a:t>
            </a:r>
          </a:p>
        </p:txBody>
      </p:sp>
      <p:sp>
        <p:nvSpPr>
          <p:cNvPr id="4" name="Marcador de número de diapositiva 3">
            <a:extLst>
              <a:ext uri="{FF2B5EF4-FFF2-40B4-BE49-F238E27FC236}">
                <a16:creationId xmlns:a16="http://schemas.microsoft.com/office/drawing/2014/main" id="{63BDE0F9-DBFF-B54C-5344-9ACD735A55B4}"/>
              </a:ext>
            </a:extLst>
          </p:cNvPr>
          <p:cNvSpPr>
            <a:spLocks noGrp="1"/>
          </p:cNvSpPr>
          <p:nvPr>
            <p:ph type="sldNum" sz="quarter" idx="12"/>
          </p:nvPr>
        </p:nvSpPr>
        <p:spPr/>
        <p:txBody>
          <a:bodyPr/>
          <a:lstStyle/>
          <a:p>
            <a:pPr>
              <a:defRPr/>
            </a:pPr>
            <a:fld id="{8E639104-18EF-4017-8EC8-89CC3800080B}" type="slidenum">
              <a:rPr lang="es-PE" altLang="es-PE" smtClean="0"/>
              <a:pPr>
                <a:defRPr/>
              </a:pPr>
              <a:t>19</a:t>
            </a:fld>
            <a:endParaRPr lang="es-PE" altLang="es-PE"/>
          </a:p>
        </p:txBody>
      </p:sp>
    </p:spTree>
    <p:extLst>
      <p:ext uri="{BB962C8B-B14F-4D97-AF65-F5344CB8AC3E}">
        <p14:creationId xmlns:p14="http://schemas.microsoft.com/office/powerpoint/2010/main" val="1605149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10949-5110-CC05-A2C9-FC493DF3C7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7FA6AA-68D0-7566-AB5C-85B0A5DCB5B9}"/>
              </a:ext>
            </a:extLst>
          </p:cNvPr>
          <p:cNvSpPr>
            <a:spLocks noGrp="1"/>
          </p:cNvSpPr>
          <p:nvPr>
            <p:ph type="title"/>
          </p:nvPr>
        </p:nvSpPr>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187DAA6D-CD09-93C1-2846-EAC3E62C0FAD}"/>
              </a:ext>
            </a:extLst>
          </p:cNvPr>
          <p:cNvSpPr>
            <a:spLocks noGrp="1"/>
          </p:cNvSpPr>
          <p:nvPr>
            <p:ph idx="1"/>
          </p:nvPr>
        </p:nvSpPr>
        <p:spPr/>
        <p:txBody>
          <a:bodyPr/>
          <a:lstStyle/>
          <a:p>
            <a:pPr marL="0" indent="0">
              <a:lnSpc>
                <a:spcPct val="150000"/>
              </a:lnSpc>
              <a:buNone/>
            </a:pPr>
            <a:r>
              <a:rPr lang="es-ES" sz="2400" b="1" dirty="0"/>
              <a:t>El proceso de optimización: Depósitos (CPO de D)</a:t>
            </a:r>
          </a:p>
          <a:p>
            <a:pPr>
              <a:lnSpc>
                <a:spcPct val="150000"/>
              </a:lnSpc>
            </a:pPr>
            <a:r>
              <a:rPr lang="es-ES" sz="2400" dirty="0"/>
              <a:t>Si </a:t>
            </a:r>
            <a:r>
              <a:rPr lang="es-ES" sz="2400" i="1" dirty="0">
                <a:latin typeface="Times New Roman" panose="02020603050405020304" pitchFamily="18" charset="0"/>
                <a:cs typeface="Times New Roman" panose="02020603050405020304" pitchFamily="18" charset="0"/>
              </a:rPr>
              <a:t>R</a:t>
            </a:r>
            <a:r>
              <a:rPr lang="es-ES" sz="2400" i="1" baseline="-25000" dirty="0">
                <a:latin typeface="Times New Roman" panose="02020603050405020304" pitchFamily="18" charset="0"/>
                <a:cs typeface="Times New Roman" panose="02020603050405020304" pitchFamily="18" charset="0"/>
              </a:rPr>
              <a:t>D</a:t>
            </a:r>
            <a:r>
              <a:rPr lang="es-ES" sz="2400" i="1" dirty="0">
                <a:latin typeface="Times New Roman" panose="02020603050405020304" pitchFamily="18" charset="0"/>
                <a:cs typeface="Times New Roman" panose="02020603050405020304" pitchFamily="18" charset="0"/>
              </a:rPr>
              <a:t> &gt; (1 – </a:t>
            </a:r>
            <a:r>
              <a:rPr lang="el-GR" sz="2400" i="1" dirty="0">
                <a:latin typeface="Times New Roman" panose="02020603050405020304" pitchFamily="18" charset="0"/>
                <a:cs typeface="Times New Roman" panose="02020603050405020304" pitchFamily="18" charset="0"/>
              </a:rPr>
              <a:t>θ</a:t>
            </a:r>
            <a:r>
              <a:rPr lang="es-PE" sz="2400" i="1" dirty="0">
                <a:latin typeface="Times New Roman" panose="02020603050405020304" pitchFamily="18" charset="0"/>
                <a:cs typeface="Times New Roman" panose="02020603050405020304" pitchFamily="18" charset="0"/>
              </a:rPr>
              <a:t>)R - 𝜕𝐶(𝐿,𝐷)/𝜕𝐷</a:t>
            </a:r>
            <a:r>
              <a:rPr lang="es-PE" sz="2400" dirty="0">
                <a:latin typeface="Sylfaen" panose="010A0502050306030303" pitchFamily="18" charset="0"/>
              </a:rPr>
              <a:t>  </a:t>
            </a:r>
            <a:r>
              <a:rPr lang="es-PE" sz="2400" dirty="0">
                <a:latin typeface="Sylfaen" panose="010A0502050306030303" pitchFamily="18" charset="0"/>
                <a:sym typeface="Wingdings" panose="05000000000000000000" pitchFamily="2" charset="2"/>
              </a:rPr>
              <a:t> </a:t>
            </a:r>
            <a:r>
              <a:rPr lang="es-PE" sz="2400" dirty="0">
                <a:sym typeface="Wingdings" panose="05000000000000000000" pitchFamily="2" charset="2"/>
              </a:rPr>
              <a:t>banco A prefiere no recibir depósitos</a:t>
            </a:r>
          </a:p>
          <a:p>
            <a:pPr>
              <a:lnSpc>
                <a:spcPct val="150000"/>
              </a:lnSpc>
            </a:pPr>
            <a:r>
              <a:rPr lang="es-PE" sz="2400" dirty="0">
                <a:sym typeface="Wingdings" panose="05000000000000000000" pitchFamily="2" charset="2"/>
              </a:rPr>
              <a:t>Si </a:t>
            </a:r>
            <a:r>
              <a:rPr lang="es-ES" sz="2400" i="1" dirty="0">
                <a:latin typeface="Times New Roman" panose="02020603050405020304" pitchFamily="18" charset="0"/>
                <a:cs typeface="Times New Roman" panose="02020603050405020304" pitchFamily="18" charset="0"/>
              </a:rPr>
              <a:t>R</a:t>
            </a:r>
            <a:r>
              <a:rPr lang="es-ES" sz="2400" i="1" baseline="-25000" dirty="0">
                <a:latin typeface="Times New Roman" panose="02020603050405020304" pitchFamily="18" charset="0"/>
                <a:cs typeface="Times New Roman" panose="02020603050405020304" pitchFamily="18" charset="0"/>
              </a:rPr>
              <a:t>D</a:t>
            </a:r>
            <a:r>
              <a:rPr lang="es-ES" sz="2400" i="1" dirty="0">
                <a:latin typeface="Times New Roman" panose="02020603050405020304" pitchFamily="18" charset="0"/>
                <a:cs typeface="Times New Roman" panose="02020603050405020304" pitchFamily="18" charset="0"/>
              </a:rPr>
              <a:t> &lt; (1 – </a:t>
            </a:r>
            <a:r>
              <a:rPr lang="el-GR" sz="2400" i="1" dirty="0">
                <a:latin typeface="Times New Roman" panose="02020603050405020304" pitchFamily="18" charset="0"/>
                <a:cs typeface="Times New Roman" panose="02020603050405020304" pitchFamily="18" charset="0"/>
              </a:rPr>
              <a:t>θ</a:t>
            </a:r>
            <a:r>
              <a:rPr lang="es-PE" sz="2400" i="1" dirty="0">
                <a:latin typeface="Times New Roman" panose="02020603050405020304" pitchFamily="18" charset="0"/>
                <a:cs typeface="Times New Roman" panose="02020603050405020304" pitchFamily="18" charset="0"/>
              </a:rPr>
              <a:t>)R - 𝜕𝐶(𝐿,𝐷)/𝜕𝐷</a:t>
            </a:r>
            <a:r>
              <a:rPr lang="es-PE" sz="2400" dirty="0">
                <a:latin typeface="Sylfaen" panose="010A0502050306030303" pitchFamily="18" charset="0"/>
              </a:rPr>
              <a:t>  </a:t>
            </a:r>
            <a:r>
              <a:rPr lang="es-PE" sz="2400" dirty="0">
                <a:sym typeface="Wingdings" panose="05000000000000000000" pitchFamily="2" charset="2"/>
              </a:rPr>
              <a:t> banco A prefiere recibir depósitos</a:t>
            </a:r>
            <a:endParaRPr lang="es-ES" sz="2400" dirty="0"/>
          </a:p>
        </p:txBody>
      </p:sp>
      <p:sp>
        <p:nvSpPr>
          <p:cNvPr id="4" name="Marcador de número de diapositiva 3">
            <a:extLst>
              <a:ext uri="{FF2B5EF4-FFF2-40B4-BE49-F238E27FC236}">
                <a16:creationId xmlns:a16="http://schemas.microsoft.com/office/drawing/2014/main" id="{1A326183-8BEF-DAB5-E0F6-F8DC76A9A517}"/>
              </a:ext>
            </a:extLst>
          </p:cNvPr>
          <p:cNvSpPr>
            <a:spLocks noGrp="1"/>
          </p:cNvSpPr>
          <p:nvPr>
            <p:ph type="sldNum" sz="quarter" idx="12"/>
          </p:nvPr>
        </p:nvSpPr>
        <p:spPr/>
        <p:txBody>
          <a:bodyPr/>
          <a:lstStyle/>
          <a:p>
            <a:pPr>
              <a:defRPr/>
            </a:pPr>
            <a:fld id="{8E639104-18EF-4017-8EC8-89CC3800080B}" type="slidenum">
              <a:rPr lang="es-PE" altLang="es-PE" smtClean="0"/>
              <a:pPr>
                <a:defRPr/>
              </a:pPr>
              <a:t>20</a:t>
            </a:fld>
            <a:endParaRPr lang="es-PE" altLang="es-PE"/>
          </a:p>
        </p:txBody>
      </p:sp>
    </p:spTree>
    <p:extLst>
      <p:ext uri="{BB962C8B-B14F-4D97-AF65-F5344CB8AC3E}">
        <p14:creationId xmlns:p14="http://schemas.microsoft.com/office/powerpoint/2010/main" val="3815549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B226E-9EFD-3530-F586-4FD081041F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FD9D2E-C495-62A8-8D91-9024711AFC60}"/>
              </a:ext>
            </a:extLst>
          </p:cNvPr>
          <p:cNvSpPr>
            <a:spLocks noGrp="1"/>
          </p:cNvSpPr>
          <p:nvPr>
            <p:ph type="title"/>
          </p:nvPr>
        </p:nvSpPr>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53F6AC93-A43F-4DD4-3A19-2C8465074117}"/>
              </a:ext>
            </a:extLst>
          </p:cNvPr>
          <p:cNvSpPr>
            <a:spLocks noGrp="1"/>
          </p:cNvSpPr>
          <p:nvPr>
            <p:ph idx="1"/>
          </p:nvPr>
        </p:nvSpPr>
        <p:spPr/>
        <p:txBody>
          <a:bodyPr/>
          <a:lstStyle/>
          <a:p>
            <a:r>
              <a:rPr lang="es-ES" b="1" dirty="0"/>
              <a:t>El proceso de optimización: Depósitos (CPO de D)</a:t>
            </a:r>
          </a:p>
          <a:p>
            <a:pPr marL="0" indent="0">
              <a:buNone/>
            </a:pPr>
            <a:r>
              <a:rPr lang="es-ES" dirty="0"/>
              <a:t>Si el mercado nos diera una 𝑅𝐷 de 10%, </a:t>
            </a:r>
          </a:p>
          <a:p>
            <a:pPr marL="0" indent="0">
              <a:buNone/>
            </a:pPr>
            <a:r>
              <a:rPr lang="es-ES" dirty="0"/>
              <a:t>(1−</a:t>
            </a:r>
            <a:r>
              <a:rPr lang="el-GR" dirty="0">
                <a:latin typeface="Sylfaen" panose="010A0502050306030303" pitchFamily="18" charset="0"/>
              </a:rPr>
              <a:t>θ</a:t>
            </a:r>
            <a:r>
              <a:rPr lang="es-ES" dirty="0"/>
              <a:t>)𝑅 fuera 10% y </a:t>
            </a:r>
          </a:p>
          <a:p>
            <a:pPr marL="0" indent="0">
              <a:buNone/>
            </a:pPr>
            <a:r>
              <a:rPr lang="es-ES" dirty="0"/>
              <a:t>𝐶𝐷(𝐿,𝐷) 4%, </a:t>
            </a:r>
          </a:p>
          <a:p>
            <a:pPr marL="0" indent="0">
              <a:buNone/>
            </a:pPr>
            <a:r>
              <a:rPr lang="es-ES" dirty="0"/>
              <a:t>𝑅𝐷 sería mayor, y como es tasa de depósitos prefiero ya no recibir más. </a:t>
            </a:r>
          </a:p>
          <a:p>
            <a:pPr marL="0" indent="0">
              <a:buNone/>
            </a:pPr>
            <a:r>
              <a:rPr lang="es-ES" dirty="0"/>
              <a:t>Si fuera 10%, 12% y 1%, ahí si seguiría dejando que entre el depósito </a:t>
            </a:r>
          </a:p>
        </p:txBody>
      </p:sp>
      <p:sp>
        <p:nvSpPr>
          <p:cNvPr id="4" name="Marcador de número de diapositiva 3">
            <a:extLst>
              <a:ext uri="{FF2B5EF4-FFF2-40B4-BE49-F238E27FC236}">
                <a16:creationId xmlns:a16="http://schemas.microsoft.com/office/drawing/2014/main" id="{97538183-5514-C6D4-5A74-FAFE55717F05}"/>
              </a:ext>
            </a:extLst>
          </p:cNvPr>
          <p:cNvSpPr>
            <a:spLocks noGrp="1"/>
          </p:cNvSpPr>
          <p:nvPr>
            <p:ph type="sldNum" sz="quarter" idx="12"/>
          </p:nvPr>
        </p:nvSpPr>
        <p:spPr/>
        <p:txBody>
          <a:bodyPr/>
          <a:lstStyle/>
          <a:p>
            <a:pPr>
              <a:defRPr/>
            </a:pPr>
            <a:fld id="{8E639104-18EF-4017-8EC8-89CC3800080B}" type="slidenum">
              <a:rPr lang="es-PE" altLang="es-PE" smtClean="0"/>
              <a:pPr>
                <a:defRPr/>
              </a:pPr>
              <a:t>21</a:t>
            </a:fld>
            <a:endParaRPr lang="es-PE" altLang="es-PE"/>
          </a:p>
        </p:txBody>
      </p:sp>
    </p:spTree>
    <p:extLst>
      <p:ext uri="{BB962C8B-B14F-4D97-AF65-F5344CB8AC3E}">
        <p14:creationId xmlns:p14="http://schemas.microsoft.com/office/powerpoint/2010/main" val="588427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57B0C-6C72-5210-7720-70267B4DE2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CC57FC-FFB9-09DF-C51C-CB539B4280C5}"/>
              </a:ext>
            </a:extLst>
          </p:cNvPr>
          <p:cNvSpPr>
            <a:spLocks noGrp="1"/>
          </p:cNvSpPr>
          <p:nvPr>
            <p:ph type="title"/>
          </p:nvPr>
        </p:nvSpPr>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2D87AB68-5815-4C87-DC14-143C48736D92}"/>
              </a:ext>
            </a:extLst>
          </p:cNvPr>
          <p:cNvSpPr>
            <a:spLocks noGrp="1"/>
          </p:cNvSpPr>
          <p:nvPr>
            <p:ph idx="1"/>
          </p:nvPr>
        </p:nvSpPr>
        <p:spPr>
          <a:xfrm>
            <a:off x="983432" y="1556792"/>
            <a:ext cx="10515600" cy="4351338"/>
          </a:xfrm>
        </p:spPr>
        <p:txBody>
          <a:bodyPr/>
          <a:lstStyle/>
          <a:p>
            <a:pPr>
              <a:lnSpc>
                <a:spcPct val="150000"/>
              </a:lnSpc>
            </a:pPr>
            <a:r>
              <a:rPr lang="es-ES" sz="2400" dirty="0"/>
              <a:t>La micro nos dice que todos los precios tienden a igualarse, y los precios son 𝑅</a:t>
            </a:r>
            <a:r>
              <a:rPr lang="es-ES" sz="2400" baseline="-25000" dirty="0"/>
              <a:t>𝐿</a:t>
            </a:r>
            <a:r>
              <a:rPr lang="es-ES" sz="2400" dirty="0"/>
              <a:t>,𝑅 𝑦 𝑅</a:t>
            </a:r>
            <a:r>
              <a:rPr lang="es-ES" sz="2400" baseline="-25000" dirty="0"/>
              <a:t>𝐷</a:t>
            </a:r>
            <a:r>
              <a:rPr lang="es-ES" sz="2400" dirty="0"/>
              <a:t>. </a:t>
            </a:r>
          </a:p>
          <a:p>
            <a:pPr>
              <a:lnSpc>
                <a:spcPct val="150000"/>
              </a:lnSpc>
            </a:pPr>
            <a:r>
              <a:rPr lang="es-ES" sz="2400" dirty="0"/>
              <a:t>¿Podrá la tasa de los créditos ser igual a la tasa interbancaria? </a:t>
            </a:r>
          </a:p>
          <a:p>
            <a:pPr marL="263525" indent="0">
              <a:lnSpc>
                <a:spcPct val="150000"/>
              </a:lnSpc>
              <a:buNone/>
            </a:pPr>
            <a:r>
              <a:rPr lang="es-ES" sz="2400" dirty="0"/>
              <a:t>Para ello, el costo marginal debería ser 0, y nadie va a aceptar un sueldo de 0, por lo que </a:t>
            </a:r>
            <a:r>
              <a:rPr lang="es-ES" sz="2400" b="1" dirty="0"/>
              <a:t>la tasa de interés de los créditos siempre será mayor que la interbancaria.</a:t>
            </a:r>
            <a:endParaRPr lang="es-ES" sz="2400" dirty="0"/>
          </a:p>
        </p:txBody>
      </p:sp>
      <p:sp>
        <p:nvSpPr>
          <p:cNvPr id="4" name="Marcador de número de diapositiva 3">
            <a:extLst>
              <a:ext uri="{FF2B5EF4-FFF2-40B4-BE49-F238E27FC236}">
                <a16:creationId xmlns:a16="http://schemas.microsoft.com/office/drawing/2014/main" id="{A0A0B2F1-630C-551A-398E-5D4BEF0293DB}"/>
              </a:ext>
            </a:extLst>
          </p:cNvPr>
          <p:cNvSpPr>
            <a:spLocks noGrp="1"/>
          </p:cNvSpPr>
          <p:nvPr>
            <p:ph type="sldNum" sz="quarter" idx="12"/>
          </p:nvPr>
        </p:nvSpPr>
        <p:spPr/>
        <p:txBody>
          <a:bodyPr/>
          <a:lstStyle/>
          <a:p>
            <a:pPr>
              <a:defRPr/>
            </a:pPr>
            <a:fld id="{8E639104-18EF-4017-8EC8-89CC3800080B}" type="slidenum">
              <a:rPr lang="es-PE" altLang="es-PE" smtClean="0"/>
              <a:pPr>
                <a:defRPr/>
              </a:pPr>
              <a:t>22</a:t>
            </a:fld>
            <a:endParaRPr lang="es-PE" altLang="es-PE"/>
          </a:p>
        </p:txBody>
      </p:sp>
    </p:spTree>
    <p:extLst>
      <p:ext uri="{BB962C8B-B14F-4D97-AF65-F5344CB8AC3E}">
        <p14:creationId xmlns:p14="http://schemas.microsoft.com/office/powerpoint/2010/main" val="1845928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C2408-C6DD-B9DA-F079-86F8DA3ED5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64B8FF-EC5D-9A0C-A413-7AFFF49E68CD}"/>
              </a:ext>
            </a:extLst>
          </p:cNvPr>
          <p:cNvSpPr>
            <a:spLocks noGrp="1"/>
          </p:cNvSpPr>
          <p:nvPr>
            <p:ph type="title"/>
          </p:nvPr>
        </p:nvSpPr>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6DD072B7-5FDF-5BE8-3CC7-1C5FF64AEDC4}"/>
              </a:ext>
            </a:extLst>
          </p:cNvPr>
          <p:cNvSpPr>
            <a:spLocks noGrp="1"/>
          </p:cNvSpPr>
          <p:nvPr>
            <p:ph idx="1"/>
          </p:nvPr>
        </p:nvSpPr>
        <p:spPr>
          <a:xfrm>
            <a:off x="911424" y="1556791"/>
            <a:ext cx="10515600" cy="4047877"/>
          </a:xfrm>
        </p:spPr>
        <p:txBody>
          <a:bodyPr/>
          <a:lstStyle/>
          <a:p>
            <a:pPr marL="0" indent="0">
              <a:lnSpc>
                <a:spcPct val="150000"/>
              </a:lnSpc>
              <a:buNone/>
            </a:pPr>
            <a:r>
              <a:rPr lang="es-ES" sz="2400" dirty="0"/>
              <a:t>¿Podrá la tasa interbancaria ser igual a la tasa de depósitos? </a:t>
            </a:r>
          </a:p>
          <a:p>
            <a:pPr>
              <a:lnSpc>
                <a:spcPct val="150000"/>
              </a:lnSpc>
            </a:pPr>
            <a:r>
              <a:rPr lang="es-ES" sz="2400" dirty="0"/>
              <a:t>Esto solo ocurriría </a:t>
            </a:r>
            <a:r>
              <a:rPr lang="es-ES" sz="2400" b="1" dirty="0"/>
              <a:t>si la tasa de encaje es igual a 0</a:t>
            </a:r>
            <a:r>
              <a:rPr lang="es-ES" sz="2400" dirty="0"/>
              <a:t>, o el costo marginal de operar será igual a 0. </a:t>
            </a:r>
          </a:p>
          <a:p>
            <a:pPr>
              <a:lnSpc>
                <a:spcPct val="150000"/>
              </a:lnSpc>
            </a:pPr>
            <a:r>
              <a:rPr lang="es-ES" sz="2400" dirty="0"/>
              <a:t>Por lo tanto, </a:t>
            </a:r>
            <a:r>
              <a:rPr lang="es-ES" sz="2400" b="1" dirty="0"/>
              <a:t>la tasa interbancaria será mayor que la tasa de depósito </a:t>
            </a:r>
            <a:endParaRPr lang="es-ES" sz="2400" dirty="0"/>
          </a:p>
          <a:p>
            <a:pPr>
              <a:lnSpc>
                <a:spcPct val="150000"/>
              </a:lnSpc>
            </a:pPr>
            <a:r>
              <a:rPr lang="es-ES" sz="2400" dirty="0"/>
              <a:t>Entonces, se concluye: 𝑹</a:t>
            </a:r>
            <a:r>
              <a:rPr lang="es-ES" sz="2400" baseline="-25000" dirty="0"/>
              <a:t>𝑳</a:t>
            </a:r>
            <a:r>
              <a:rPr lang="es-ES" sz="2400" dirty="0"/>
              <a:t>&gt;𝑹&gt;𝑹</a:t>
            </a:r>
            <a:r>
              <a:rPr lang="es-ES" sz="2400" baseline="-25000" dirty="0"/>
              <a:t>𝑫</a:t>
            </a:r>
            <a:r>
              <a:rPr lang="es-ES" sz="2400" dirty="0"/>
              <a:t> </a:t>
            </a:r>
          </a:p>
        </p:txBody>
      </p:sp>
      <p:sp>
        <p:nvSpPr>
          <p:cNvPr id="4" name="Marcador de número de diapositiva 3">
            <a:extLst>
              <a:ext uri="{FF2B5EF4-FFF2-40B4-BE49-F238E27FC236}">
                <a16:creationId xmlns:a16="http://schemas.microsoft.com/office/drawing/2014/main" id="{F22131C7-5726-419E-665B-B47C7D9629AE}"/>
              </a:ext>
            </a:extLst>
          </p:cNvPr>
          <p:cNvSpPr>
            <a:spLocks noGrp="1"/>
          </p:cNvSpPr>
          <p:nvPr>
            <p:ph type="sldNum" sz="quarter" idx="12"/>
          </p:nvPr>
        </p:nvSpPr>
        <p:spPr/>
        <p:txBody>
          <a:bodyPr/>
          <a:lstStyle/>
          <a:p>
            <a:pPr>
              <a:defRPr/>
            </a:pPr>
            <a:fld id="{8E639104-18EF-4017-8EC8-89CC3800080B}" type="slidenum">
              <a:rPr lang="es-PE" altLang="es-PE" smtClean="0"/>
              <a:pPr>
                <a:defRPr/>
              </a:pPr>
              <a:t>23</a:t>
            </a:fld>
            <a:endParaRPr lang="es-PE" altLang="es-PE"/>
          </a:p>
        </p:txBody>
      </p:sp>
    </p:spTree>
    <p:extLst>
      <p:ext uri="{BB962C8B-B14F-4D97-AF65-F5344CB8AC3E}">
        <p14:creationId xmlns:p14="http://schemas.microsoft.com/office/powerpoint/2010/main" val="3186638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4D883-AF41-1167-D81C-C1E77CBA86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675964-0F27-E6E7-3B8E-7B91AD9C006D}"/>
              </a:ext>
            </a:extLst>
          </p:cNvPr>
          <p:cNvSpPr>
            <a:spLocks noGrp="1"/>
          </p:cNvSpPr>
          <p:nvPr>
            <p:ph type="title"/>
          </p:nvPr>
        </p:nvSpPr>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085AAD9D-7B4D-699C-4C18-ECC07B09FA6E}"/>
              </a:ext>
            </a:extLst>
          </p:cNvPr>
          <p:cNvSpPr>
            <a:spLocks noGrp="1"/>
          </p:cNvSpPr>
          <p:nvPr>
            <p:ph idx="1"/>
          </p:nvPr>
        </p:nvSpPr>
        <p:spPr/>
        <p:txBody>
          <a:bodyPr/>
          <a:lstStyle/>
          <a:p>
            <a:pPr>
              <a:lnSpc>
                <a:spcPct val="150000"/>
              </a:lnSpc>
            </a:pPr>
            <a:r>
              <a:rPr lang="es-ES" dirty="0"/>
              <a:t>Asimismo, incluso en competencia perfecta, sin haber incorporado riesgos, </a:t>
            </a:r>
            <a:r>
              <a:rPr lang="es-ES" b="1" dirty="0"/>
              <a:t>habrá un spread de tasas de interés </a:t>
            </a:r>
            <a:r>
              <a:rPr lang="es-ES" dirty="0"/>
              <a:t>𝑹</a:t>
            </a:r>
            <a:r>
              <a:rPr lang="es-ES" baseline="-25000" dirty="0"/>
              <a:t>𝑳</a:t>
            </a:r>
            <a:r>
              <a:rPr lang="es-ES" dirty="0"/>
              <a:t>−𝑹</a:t>
            </a:r>
            <a:r>
              <a:rPr lang="es-ES" baseline="-25000" dirty="0"/>
              <a:t>𝑫</a:t>
            </a:r>
            <a:r>
              <a:rPr lang="es-ES" dirty="0"/>
              <a:t>&gt;𝟎</a:t>
            </a:r>
            <a:r>
              <a:rPr lang="es-ES" b="1" dirty="0"/>
              <a:t>, </a:t>
            </a:r>
            <a:r>
              <a:rPr lang="es-ES" dirty="0"/>
              <a:t>debido a la existencia de costos marginales, pues la ganancia del banco está en ese spread </a:t>
            </a:r>
          </a:p>
        </p:txBody>
      </p:sp>
      <p:sp>
        <p:nvSpPr>
          <p:cNvPr id="4" name="Marcador de número de diapositiva 3">
            <a:extLst>
              <a:ext uri="{FF2B5EF4-FFF2-40B4-BE49-F238E27FC236}">
                <a16:creationId xmlns:a16="http://schemas.microsoft.com/office/drawing/2014/main" id="{76176602-0959-2A77-E2CA-3C9499036AC8}"/>
              </a:ext>
            </a:extLst>
          </p:cNvPr>
          <p:cNvSpPr>
            <a:spLocks noGrp="1"/>
          </p:cNvSpPr>
          <p:nvPr>
            <p:ph type="sldNum" sz="quarter" idx="12"/>
          </p:nvPr>
        </p:nvSpPr>
        <p:spPr/>
        <p:txBody>
          <a:bodyPr/>
          <a:lstStyle/>
          <a:p>
            <a:pPr>
              <a:defRPr/>
            </a:pPr>
            <a:fld id="{8E639104-18EF-4017-8EC8-89CC3800080B}" type="slidenum">
              <a:rPr lang="es-PE" altLang="es-PE" smtClean="0"/>
              <a:pPr>
                <a:defRPr/>
              </a:pPr>
              <a:t>24</a:t>
            </a:fld>
            <a:endParaRPr lang="es-PE" altLang="es-PE"/>
          </a:p>
        </p:txBody>
      </p:sp>
    </p:spTree>
    <p:extLst>
      <p:ext uri="{BB962C8B-B14F-4D97-AF65-F5344CB8AC3E}">
        <p14:creationId xmlns:p14="http://schemas.microsoft.com/office/powerpoint/2010/main" val="1406499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AB8DE-EAD3-69CD-D159-A43FEEFB911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6D43EB-C11C-7778-FBA5-BAF2B7A97B85}"/>
              </a:ext>
            </a:extLst>
          </p:cNvPr>
          <p:cNvSpPr>
            <a:spLocks noGrp="1"/>
          </p:cNvSpPr>
          <p:nvPr>
            <p:ph type="title"/>
          </p:nvPr>
        </p:nvSpPr>
        <p:spPr>
          <a:xfrm>
            <a:off x="838200" y="106278"/>
            <a:ext cx="10515600" cy="1325563"/>
          </a:xfrm>
        </p:spPr>
        <p:txBody>
          <a:bodyPr/>
          <a:lstStyle/>
          <a:p>
            <a:r>
              <a:rPr lang="es-ES" altLang="es-PE" sz="3600" b="1" dirty="0">
                <a:latin typeface="Arial" panose="020B0604020202020204" pitchFamily="34" charset="0"/>
                <a:cs typeface="Arial" panose="020B0604020202020204" pitchFamily="34" charset="0"/>
              </a:rPr>
              <a:t>Determinación de tasas de interés</a:t>
            </a:r>
            <a:endParaRPr lang="es-PE" sz="3600" dirty="0"/>
          </a:p>
        </p:txBody>
      </p:sp>
      <p:sp>
        <p:nvSpPr>
          <p:cNvPr id="3" name="Marcador de contenido 2">
            <a:extLst>
              <a:ext uri="{FF2B5EF4-FFF2-40B4-BE49-F238E27FC236}">
                <a16:creationId xmlns:a16="http://schemas.microsoft.com/office/drawing/2014/main" id="{8CA8F40D-4AFE-0CA7-3094-F010C5652D0B}"/>
              </a:ext>
            </a:extLst>
          </p:cNvPr>
          <p:cNvSpPr>
            <a:spLocks noGrp="1"/>
          </p:cNvSpPr>
          <p:nvPr>
            <p:ph idx="1"/>
          </p:nvPr>
        </p:nvSpPr>
        <p:spPr>
          <a:xfrm>
            <a:off x="838200" y="1124743"/>
            <a:ext cx="10515600" cy="5249069"/>
          </a:xfrm>
        </p:spPr>
        <p:txBody>
          <a:bodyPr/>
          <a:lstStyle/>
          <a:p>
            <a:pPr marL="0" indent="0">
              <a:lnSpc>
                <a:spcPct val="150000"/>
              </a:lnSpc>
              <a:buNone/>
            </a:pPr>
            <a:r>
              <a:rPr lang="es-ES" b="1" dirty="0"/>
              <a:t>Efectividad de la política monetaria</a:t>
            </a:r>
            <a:endParaRPr lang="es-ES" dirty="0"/>
          </a:p>
          <a:p>
            <a:pPr>
              <a:lnSpc>
                <a:spcPct val="150000"/>
              </a:lnSpc>
            </a:pPr>
            <a:r>
              <a:rPr lang="es-ES" dirty="0"/>
              <a:t>Un banco central busca la estabilidad de precios (baja inflación), lo que se consigue a través del mercado desde la tasa de interés de política tiene que obtener como resultado la menor inflación.</a:t>
            </a:r>
          </a:p>
          <a:p>
            <a:pPr>
              <a:lnSpc>
                <a:spcPct val="150000"/>
              </a:lnSpc>
            </a:pPr>
            <a:r>
              <a:rPr lang="es-ES" dirty="0"/>
              <a:t>Hay dos canales de transmisión de la política monetaria al logro de una baja inflación</a:t>
            </a:r>
          </a:p>
        </p:txBody>
      </p:sp>
      <p:sp>
        <p:nvSpPr>
          <p:cNvPr id="4" name="Marcador de número de diapositiva 3">
            <a:extLst>
              <a:ext uri="{FF2B5EF4-FFF2-40B4-BE49-F238E27FC236}">
                <a16:creationId xmlns:a16="http://schemas.microsoft.com/office/drawing/2014/main" id="{A854B16E-7D6D-C585-C63A-C7B10FBCB7EC}"/>
              </a:ext>
            </a:extLst>
          </p:cNvPr>
          <p:cNvSpPr>
            <a:spLocks noGrp="1"/>
          </p:cNvSpPr>
          <p:nvPr>
            <p:ph type="sldNum" sz="quarter" idx="12"/>
          </p:nvPr>
        </p:nvSpPr>
        <p:spPr/>
        <p:txBody>
          <a:bodyPr/>
          <a:lstStyle/>
          <a:p>
            <a:pPr>
              <a:defRPr/>
            </a:pPr>
            <a:fld id="{8E639104-18EF-4017-8EC8-89CC3800080B}" type="slidenum">
              <a:rPr lang="es-PE" altLang="es-PE" smtClean="0"/>
              <a:pPr>
                <a:defRPr/>
              </a:pPr>
              <a:t>25</a:t>
            </a:fld>
            <a:endParaRPr lang="es-PE" altLang="es-PE"/>
          </a:p>
        </p:txBody>
      </p:sp>
    </p:spTree>
    <p:extLst>
      <p:ext uri="{BB962C8B-B14F-4D97-AF65-F5344CB8AC3E}">
        <p14:creationId xmlns:p14="http://schemas.microsoft.com/office/powerpoint/2010/main" val="1591367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504FB-C780-9AD8-205E-40B972FB1E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D05E93-51F3-2AC8-7E57-36F9D322F7D0}"/>
              </a:ext>
            </a:extLst>
          </p:cNvPr>
          <p:cNvSpPr>
            <a:spLocks noGrp="1"/>
          </p:cNvSpPr>
          <p:nvPr>
            <p:ph type="title"/>
          </p:nvPr>
        </p:nvSpPr>
        <p:spPr>
          <a:xfrm>
            <a:off x="551384" y="106278"/>
            <a:ext cx="10515600" cy="942768"/>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67B0C817-1178-9733-C7F6-D77535EAB128}"/>
              </a:ext>
            </a:extLst>
          </p:cNvPr>
          <p:cNvSpPr>
            <a:spLocks noGrp="1"/>
          </p:cNvSpPr>
          <p:nvPr>
            <p:ph idx="1"/>
          </p:nvPr>
        </p:nvSpPr>
        <p:spPr>
          <a:xfrm>
            <a:off x="634388" y="1124744"/>
            <a:ext cx="10923224" cy="5249069"/>
          </a:xfrm>
        </p:spPr>
        <p:txBody>
          <a:bodyPr/>
          <a:lstStyle/>
          <a:p>
            <a:pPr marL="0" indent="0">
              <a:lnSpc>
                <a:spcPct val="150000"/>
              </a:lnSpc>
              <a:buNone/>
            </a:pPr>
            <a:r>
              <a:rPr lang="es-ES" sz="2400" b="1" dirty="0"/>
              <a:t>1. El canal crediticio: usa la tasa de interés de los créditos: </a:t>
            </a:r>
            <a:r>
              <a:rPr lang="es-ES" sz="2400" dirty="0"/>
              <a:t>𝑹</a:t>
            </a:r>
            <a:r>
              <a:rPr lang="es-ES" sz="2400" baseline="-25000" dirty="0"/>
              <a:t>𝑳</a:t>
            </a:r>
            <a:r>
              <a:rPr lang="es-ES" sz="2400" dirty="0"/>
              <a:t>=𝑹+𝑪(𝑳,𝑫)</a:t>
            </a:r>
            <a:r>
              <a:rPr lang="es-ES" sz="2400" b="1" dirty="0"/>
              <a:t> </a:t>
            </a:r>
            <a:endParaRPr lang="es-ES" sz="2400" dirty="0"/>
          </a:p>
          <a:p>
            <a:pPr>
              <a:lnSpc>
                <a:spcPct val="150000"/>
              </a:lnSpc>
            </a:pPr>
            <a:r>
              <a:rPr lang="es-ES" sz="2400" dirty="0"/>
              <a:t>Si hay inflación, el BC sube la tasa de interés de referencia, que guía a los bancos en el mercado interbancario.</a:t>
            </a:r>
          </a:p>
          <a:p>
            <a:pPr>
              <a:lnSpc>
                <a:spcPct val="150000"/>
              </a:lnSpc>
            </a:pPr>
            <a:r>
              <a:rPr lang="es-ES" sz="2400" dirty="0"/>
              <a:t>Además del anuncio del BC, el BC busca generar la escasez de recursos en el mercado de fondos interbancarios para que la tasa de interés interbancaria suba.</a:t>
            </a:r>
          </a:p>
          <a:p>
            <a:pPr>
              <a:lnSpc>
                <a:spcPct val="150000"/>
              </a:lnSpc>
            </a:pPr>
            <a:r>
              <a:rPr lang="es-ES" sz="2400" dirty="0"/>
              <a:t>Por lo tanto, el BC debe hacer OMA de retiro de liquidez mediante la venta de títulos, pues con ello disminuiría los fondos interbancarios, lo que subiría su precio y aumentaría la tasa de interés. </a:t>
            </a:r>
          </a:p>
        </p:txBody>
      </p:sp>
      <p:sp>
        <p:nvSpPr>
          <p:cNvPr id="4" name="Marcador de número de diapositiva 3">
            <a:extLst>
              <a:ext uri="{FF2B5EF4-FFF2-40B4-BE49-F238E27FC236}">
                <a16:creationId xmlns:a16="http://schemas.microsoft.com/office/drawing/2014/main" id="{65B37F38-6264-FBBA-2027-295619029566}"/>
              </a:ext>
            </a:extLst>
          </p:cNvPr>
          <p:cNvSpPr>
            <a:spLocks noGrp="1"/>
          </p:cNvSpPr>
          <p:nvPr>
            <p:ph type="sldNum" sz="quarter" idx="12"/>
          </p:nvPr>
        </p:nvSpPr>
        <p:spPr/>
        <p:txBody>
          <a:bodyPr/>
          <a:lstStyle/>
          <a:p>
            <a:pPr>
              <a:defRPr/>
            </a:pPr>
            <a:fld id="{8E639104-18EF-4017-8EC8-89CC3800080B}" type="slidenum">
              <a:rPr lang="es-PE" altLang="es-PE" smtClean="0"/>
              <a:pPr>
                <a:defRPr/>
              </a:pPr>
              <a:t>26</a:t>
            </a:fld>
            <a:endParaRPr lang="es-PE" altLang="es-PE"/>
          </a:p>
        </p:txBody>
      </p:sp>
    </p:spTree>
    <p:extLst>
      <p:ext uri="{BB962C8B-B14F-4D97-AF65-F5344CB8AC3E}">
        <p14:creationId xmlns:p14="http://schemas.microsoft.com/office/powerpoint/2010/main" val="3068900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2AD39-5C41-578F-4904-B9BEED533D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AE0328-9A56-D48D-CEAC-FAD7F7CEF61C}"/>
              </a:ext>
            </a:extLst>
          </p:cNvPr>
          <p:cNvSpPr>
            <a:spLocks noGrp="1"/>
          </p:cNvSpPr>
          <p:nvPr>
            <p:ph type="title"/>
          </p:nvPr>
        </p:nvSpPr>
        <p:spPr>
          <a:xfrm>
            <a:off x="832872" y="147806"/>
            <a:ext cx="10515600" cy="831627"/>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4437FE75-4F4C-E99A-FB43-25EB19BC2154}"/>
              </a:ext>
            </a:extLst>
          </p:cNvPr>
          <p:cNvSpPr>
            <a:spLocks noGrp="1"/>
          </p:cNvSpPr>
          <p:nvPr>
            <p:ph idx="1"/>
          </p:nvPr>
        </p:nvSpPr>
        <p:spPr>
          <a:xfrm>
            <a:off x="832872" y="836712"/>
            <a:ext cx="10515600" cy="5688632"/>
          </a:xfrm>
        </p:spPr>
        <p:txBody>
          <a:bodyPr/>
          <a:lstStyle/>
          <a:p>
            <a:pPr marL="0" indent="0">
              <a:lnSpc>
                <a:spcPct val="150000"/>
              </a:lnSpc>
              <a:buNone/>
            </a:pPr>
            <a:r>
              <a:rPr lang="es-ES" sz="2400" b="1" dirty="0"/>
              <a:t>1. El canal crediticio: usa la tasa de interés de los créditos: </a:t>
            </a:r>
            <a:r>
              <a:rPr lang="es-ES" sz="2400" dirty="0"/>
              <a:t>𝑹</a:t>
            </a:r>
            <a:r>
              <a:rPr lang="es-ES" sz="2400" baseline="-25000" dirty="0"/>
              <a:t>𝑳</a:t>
            </a:r>
            <a:r>
              <a:rPr lang="es-ES" sz="2400" dirty="0"/>
              <a:t>=𝑹+𝑪(𝑳,𝑫)</a:t>
            </a:r>
            <a:r>
              <a:rPr lang="es-ES" sz="2400" b="1" dirty="0"/>
              <a:t> </a:t>
            </a:r>
          </a:p>
          <a:p>
            <a:pPr>
              <a:lnSpc>
                <a:spcPct val="150000"/>
              </a:lnSpc>
            </a:pPr>
            <a:r>
              <a:rPr lang="es-ES" sz="2400" dirty="0"/>
              <a:t>La subida de la tasa interbancaria no aumenta la tasa de interés de los créditos automáticamente. </a:t>
            </a:r>
          </a:p>
          <a:p>
            <a:pPr>
              <a:lnSpc>
                <a:spcPct val="150000"/>
              </a:lnSpc>
            </a:pPr>
            <a:r>
              <a:rPr lang="es-ES" sz="2400" dirty="0"/>
              <a:t>Sin embargo cuando el BC hace OMA de venta </a:t>
            </a:r>
            <a:r>
              <a:rPr lang="es-ES" sz="2400" dirty="0">
                <a:sym typeface="Wingdings" panose="05000000000000000000" pitchFamily="2" charset="2"/>
              </a:rPr>
              <a:t> </a:t>
            </a:r>
            <a:r>
              <a:rPr lang="es-ES" sz="2400" dirty="0"/>
              <a:t>está quitando liquidez a los bancos </a:t>
            </a:r>
            <a:r>
              <a:rPr lang="es-ES" sz="2400" dirty="0">
                <a:sym typeface="Wingdings" panose="05000000000000000000" pitchFamily="2" charset="2"/>
              </a:rPr>
              <a:t> </a:t>
            </a:r>
            <a:r>
              <a:rPr lang="es-ES" sz="2400" dirty="0"/>
              <a:t>disminución de los fondos prestados de los bancos. </a:t>
            </a:r>
          </a:p>
          <a:p>
            <a:pPr>
              <a:lnSpc>
                <a:spcPct val="150000"/>
              </a:lnSpc>
            </a:pPr>
            <a:r>
              <a:rPr lang="es-ES" sz="2400" dirty="0"/>
              <a:t>Si bajan estos fondos </a:t>
            </a:r>
            <a:r>
              <a:rPr lang="es-ES" sz="2400" dirty="0">
                <a:sym typeface="Wingdings" panose="05000000000000000000" pitchFamily="2" charset="2"/>
              </a:rPr>
              <a:t> </a:t>
            </a:r>
            <a:r>
              <a:rPr lang="es-ES" sz="2400" dirty="0"/>
              <a:t>la oferta de créditos de los bancos cae </a:t>
            </a:r>
            <a:r>
              <a:rPr lang="es-ES" sz="2400" dirty="0">
                <a:sym typeface="Wingdings" panose="05000000000000000000" pitchFamily="2" charset="2"/>
              </a:rPr>
              <a:t> </a:t>
            </a:r>
            <a:r>
              <a:rPr lang="es-ES" sz="2400" dirty="0"/>
              <a:t>cae la oferta </a:t>
            </a:r>
            <a:r>
              <a:rPr lang="es-ES" sz="2400" dirty="0">
                <a:sym typeface="Wingdings" panose="05000000000000000000" pitchFamily="2" charset="2"/>
              </a:rPr>
              <a:t> e</a:t>
            </a:r>
            <a:r>
              <a:rPr lang="es-ES" sz="2400" dirty="0"/>
              <a:t>l precio sube es decir sube la tasa de interés. </a:t>
            </a:r>
          </a:p>
          <a:p>
            <a:pPr>
              <a:lnSpc>
                <a:spcPct val="150000"/>
              </a:lnSpc>
            </a:pPr>
            <a:r>
              <a:rPr lang="es-ES" sz="2400" dirty="0"/>
              <a:t>Así, los bancos </a:t>
            </a:r>
            <a:r>
              <a:rPr lang="es-ES" sz="2400" dirty="0">
                <a:sym typeface="Wingdings" panose="05000000000000000000" pitchFamily="2" charset="2"/>
              </a:rPr>
              <a:t> disminución de </a:t>
            </a:r>
            <a:r>
              <a:rPr lang="es-ES" sz="2400" dirty="0"/>
              <a:t>la demanda por créditos </a:t>
            </a:r>
            <a:r>
              <a:rPr lang="es-ES" sz="2400" dirty="0">
                <a:sym typeface="Wingdings" panose="05000000000000000000" pitchFamily="2" charset="2"/>
              </a:rPr>
              <a:t> menor gasto de </a:t>
            </a:r>
            <a:r>
              <a:rPr lang="es-ES" sz="2400" dirty="0"/>
              <a:t>la gente </a:t>
            </a:r>
            <a:r>
              <a:rPr lang="es-ES" sz="2400" dirty="0">
                <a:sym typeface="Wingdings" panose="05000000000000000000" pitchFamily="2" charset="2"/>
              </a:rPr>
              <a:t> </a:t>
            </a:r>
            <a:r>
              <a:rPr lang="es-ES" sz="2400" dirty="0"/>
              <a:t>baje la inflación </a:t>
            </a:r>
          </a:p>
        </p:txBody>
      </p:sp>
      <p:sp>
        <p:nvSpPr>
          <p:cNvPr id="4" name="Marcador de número de diapositiva 3">
            <a:extLst>
              <a:ext uri="{FF2B5EF4-FFF2-40B4-BE49-F238E27FC236}">
                <a16:creationId xmlns:a16="http://schemas.microsoft.com/office/drawing/2014/main" id="{24DB4D4B-A7B6-EEFD-C8B7-5B52051728BF}"/>
              </a:ext>
            </a:extLst>
          </p:cNvPr>
          <p:cNvSpPr>
            <a:spLocks noGrp="1"/>
          </p:cNvSpPr>
          <p:nvPr>
            <p:ph type="sldNum" sz="quarter" idx="12"/>
          </p:nvPr>
        </p:nvSpPr>
        <p:spPr/>
        <p:txBody>
          <a:bodyPr/>
          <a:lstStyle/>
          <a:p>
            <a:pPr>
              <a:defRPr/>
            </a:pPr>
            <a:fld id="{8E639104-18EF-4017-8EC8-89CC3800080B}" type="slidenum">
              <a:rPr lang="es-PE" altLang="es-PE" smtClean="0"/>
              <a:pPr>
                <a:defRPr/>
              </a:pPr>
              <a:t>27</a:t>
            </a:fld>
            <a:endParaRPr lang="es-PE" altLang="es-PE"/>
          </a:p>
        </p:txBody>
      </p:sp>
    </p:spTree>
    <p:extLst>
      <p:ext uri="{BB962C8B-B14F-4D97-AF65-F5344CB8AC3E}">
        <p14:creationId xmlns:p14="http://schemas.microsoft.com/office/powerpoint/2010/main" val="1604257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36524-7B3F-6445-3553-42ABAF1EA9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C7063E-F33E-FC1C-F37D-31316ADA88B7}"/>
              </a:ext>
            </a:extLst>
          </p:cNvPr>
          <p:cNvSpPr>
            <a:spLocks noGrp="1"/>
          </p:cNvSpPr>
          <p:nvPr>
            <p:ph type="title"/>
          </p:nvPr>
        </p:nvSpPr>
        <p:spPr>
          <a:xfrm>
            <a:off x="764976" y="87213"/>
            <a:ext cx="10515600" cy="1109539"/>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7A48DC00-3F51-D1F5-A263-C4205F4A5C94}"/>
              </a:ext>
            </a:extLst>
          </p:cNvPr>
          <p:cNvSpPr>
            <a:spLocks noGrp="1"/>
          </p:cNvSpPr>
          <p:nvPr>
            <p:ph idx="1"/>
          </p:nvPr>
        </p:nvSpPr>
        <p:spPr>
          <a:xfrm>
            <a:off x="895440" y="1196752"/>
            <a:ext cx="10817184" cy="4351338"/>
          </a:xfrm>
        </p:spPr>
        <p:txBody>
          <a:bodyPr/>
          <a:lstStyle/>
          <a:p>
            <a:pPr marL="0" indent="0">
              <a:lnSpc>
                <a:spcPct val="150000"/>
              </a:lnSpc>
              <a:buNone/>
            </a:pPr>
            <a:r>
              <a:rPr lang="es-ES" sz="2400" b="1" dirty="0"/>
              <a:t>2. El canal monetario o canal de tasa de interés: </a:t>
            </a:r>
            <a:r>
              <a:rPr lang="es-PE" sz="2400" dirty="0"/>
              <a:t>𝑹</a:t>
            </a:r>
            <a:r>
              <a:rPr lang="es-PE" sz="2400" baseline="-25000" dirty="0"/>
              <a:t>𝑫</a:t>
            </a:r>
            <a:r>
              <a:rPr lang="es-PE" sz="2400" dirty="0"/>
              <a:t>=(𝟏−</a:t>
            </a:r>
            <a:r>
              <a:rPr lang="el-GR" sz="2400" dirty="0">
                <a:latin typeface="Sylfaen" panose="010A0502050306030303" pitchFamily="18" charset="0"/>
              </a:rPr>
              <a:t>θ</a:t>
            </a:r>
            <a:r>
              <a:rPr lang="es-PE" sz="2400" dirty="0"/>
              <a:t>)𝑹−𝑪 (𝑳,𝑫) </a:t>
            </a:r>
          </a:p>
          <a:p>
            <a:pPr>
              <a:lnSpc>
                <a:spcPct val="150000"/>
              </a:lnSpc>
            </a:pPr>
            <a:r>
              <a:rPr lang="es-ES" sz="2400" dirty="0"/>
              <a:t>Si el BC sube la tasa de referencia, y realiza OMA de venta para reducir la liquidez y aumentar las tasas. </a:t>
            </a:r>
          </a:p>
          <a:p>
            <a:pPr>
              <a:lnSpc>
                <a:spcPct val="150000"/>
              </a:lnSpc>
            </a:pPr>
            <a:r>
              <a:rPr lang="es-ES" sz="2400" dirty="0"/>
              <a:t>Esto hizo que subiese la tasa interbancaria, pero eso no significa que automáticamente vaya a subir la tasa de los depósitos.</a:t>
            </a:r>
          </a:p>
        </p:txBody>
      </p:sp>
      <p:sp>
        <p:nvSpPr>
          <p:cNvPr id="4" name="Marcador de número de diapositiva 3">
            <a:extLst>
              <a:ext uri="{FF2B5EF4-FFF2-40B4-BE49-F238E27FC236}">
                <a16:creationId xmlns:a16="http://schemas.microsoft.com/office/drawing/2014/main" id="{CA857CE8-2E15-5FAF-7312-CFBA1CD4D780}"/>
              </a:ext>
            </a:extLst>
          </p:cNvPr>
          <p:cNvSpPr>
            <a:spLocks noGrp="1"/>
          </p:cNvSpPr>
          <p:nvPr>
            <p:ph type="sldNum" sz="quarter" idx="12"/>
          </p:nvPr>
        </p:nvSpPr>
        <p:spPr/>
        <p:txBody>
          <a:bodyPr/>
          <a:lstStyle/>
          <a:p>
            <a:pPr>
              <a:defRPr/>
            </a:pPr>
            <a:fld id="{8E639104-18EF-4017-8EC8-89CC3800080B}" type="slidenum">
              <a:rPr lang="es-PE" altLang="es-PE" smtClean="0"/>
              <a:pPr>
                <a:defRPr/>
              </a:pPr>
              <a:t>28</a:t>
            </a:fld>
            <a:endParaRPr lang="es-PE" altLang="es-PE"/>
          </a:p>
        </p:txBody>
      </p:sp>
    </p:spTree>
    <p:extLst>
      <p:ext uri="{BB962C8B-B14F-4D97-AF65-F5344CB8AC3E}">
        <p14:creationId xmlns:p14="http://schemas.microsoft.com/office/powerpoint/2010/main" val="956606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413C8-1A3D-4D0C-1672-4DC7B6F73F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4F3869-10D4-E347-D33D-F17402CADFBE}"/>
              </a:ext>
            </a:extLst>
          </p:cNvPr>
          <p:cNvSpPr>
            <a:spLocks noGrp="1"/>
          </p:cNvSpPr>
          <p:nvPr>
            <p:ph type="title"/>
          </p:nvPr>
        </p:nvSpPr>
        <p:spPr>
          <a:xfrm>
            <a:off x="764976" y="87213"/>
            <a:ext cx="10515600" cy="1109539"/>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7935A9C6-2F8D-B40D-EB82-F0C0130DAD48}"/>
              </a:ext>
            </a:extLst>
          </p:cNvPr>
          <p:cNvSpPr>
            <a:spLocks noGrp="1"/>
          </p:cNvSpPr>
          <p:nvPr>
            <p:ph idx="1"/>
          </p:nvPr>
        </p:nvSpPr>
        <p:spPr>
          <a:xfrm>
            <a:off x="895440" y="1196752"/>
            <a:ext cx="10817184" cy="4351338"/>
          </a:xfrm>
        </p:spPr>
        <p:txBody>
          <a:bodyPr/>
          <a:lstStyle/>
          <a:p>
            <a:pPr marL="0" indent="0">
              <a:lnSpc>
                <a:spcPct val="150000"/>
              </a:lnSpc>
              <a:buNone/>
            </a:pPr>
            <a:r>
              <a:rPr lang="es-ES" sz="2400" b="1" dirty="0"/>
              <a:t>2. El canal monetario o canal de tasa de interés: </a:t>
            </a:r>
            <a:r>
              <a:rPr lang="es-PE" sz="2400" dirty="0"/>
              <a:t>𝑹</a:t>
            </a:r>
            <a:r>
              <a:rPr lang="es-PE" sz="2400" baseline="-25000" dirty="0"/>
              <a:t>𝑫</a:t>
            </a:r>
            <a:r>
              <a:rPr lang="es-PE" sz="2400" dirty="0"/>
              <a:t>=(𝟏−</a:t>
            </a:r>
            <a:r>
              <a:rPr lang="el-GR" sz="2400" dirty="0">
                <a:latin typeface="Sylfaen" panose="010A0502050306030303" pitchFamily="18" charset="0"/>
              </a:rPr>
              <a:t>θ</a:t>
            </a:r>
            <a:r>
              <a:rPr lang="es-PE" sz="2400" dirty="0"/>
              <a:t>)𝑹−𝑪 (𝑳,𝑫) </a:t>
            </a:r>
          </a:p>
          <a:p>
            <a:pPr>
              <a:lnSpc>
                <a:spcPct val="150000"/>
              </a:lnSpc>
            </a:pPr>
            <a:r>
              <a:rPr lang="es-ES" sz="2400" dirty="0"/>
              <a:t>¿Qué debe pasar para que la R</a:t>
            </a:r>
            <a:r>
              <a:rPr lang="es-ES" sz="2400" baseline="-25000" dirty="0"/>
              <a:t>D</a:t>
            </a:r>
            <a:r>
              <a:rPr lang="es-ES" sz="2400" dirty="0"/>
              <a:t> suba?.</a:t>
            </a:r>
          </a:p>
          <a:p>
            <a:pPr>
              <a:lnSpc>
                <a:spcPct val="150000"/>
              </a:lnSpc>
            </a:pPr>
            <a:r>
              <a:rPr lang="es-ES" sz="2400" dirty="0"/>
              <a:t>Los bancos hacen ganancias sobre el spread de tasas de interés.</a:t>
            </a:r>
          </a:p>
          <a:p>
            <a:pPr>
              <a:lnSpc>
                <a:spcPct val="150000"/>
              </a:lnSpc>
            </a:pPr>
            <a:r>
              <a:rPr lang="es-ES" sz="2400" dirty="0"/>
              <a:t>Si la RL sube van a hacer ganancias, pero no pueden porque el BC retiró liquidez con la OMA de venta.</a:t>
            </a:r>
          </a:p>
          <a:p>
            <a:pPr>
              <a:lnSpc>
                <a:spcPct val="150000"/>
              </a:lnSpc>
            </a:pPr>
            <a:r>
              <a:rPr lang="es-ES" sz="2400" dirty="0"/>
              <a:t>Para prestar el BC va a incentivar al público a que aumenten los depósitos y para ello aumentan la tasa de interés de depósitos</a:t>
            </a:r>
          </a:p>
        </p:txBody>
      </p:sp>
      <p:sp>
        <p:nvSpPr>
          <p:cNvPr id="4" name="Marcador de número de diapositiva 3">
            <a:extLst>
              <a:ext uri="{FF2B5EF4-FFF2-40B4-BE49-F238E27FC236}">
                <a16:creationId xmlns:a16="http://schemas.microsoft.com/office/drawing/2014/main" id="{6976AF00-2943-0EA6-CF01-9FBC578D3354}"/>
              </a:ext>
            </a:extLst>
          </p:cNvPr>
          <p:cNvSpPr>
            <a:spLocks noGrp="1"/>
          </p:cNvSpPr>
          <p:nvPr>
            <p:ph type="sldNum" sz="quarter" idx="12"/>
          </p:nvPr>
        </p:nvSpPr>
        <p:spPr/>
        <p:txBody>
          <a:bodyPr/>
          <a:lstStyle/>
          <a:p>
            <a:pPr>
              <a:defRPr/>
            </a:pPr>
            <a:fld id="{8E639104-18EF-4017-8EC8-89CC3800080B}" type="slidenum">
              <a:rPr lang="es-PE" altLang="es-PE" smtClean="0"/>
              <a:pPr>
                <a:defRPr/>
              </a:pPr>
              <a:t>29</a:t>
            </a:fld>
            <a:endParaRPr lang="es-PE" altLang="es-PE"/>
          </a:p>
        </p:txBody>
      </p:sp>
    </p:spTree>
    <p:extLst>
      <p:ext uri="{BB962C8B-B14F-4D97-AF65-F5344CB8AC3E}">
        <p14:creationId xmlns:p14="http://schemas.microsoft.com/office/powerpoint/2010/main" val="571394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42E07-D521-1CC3-D32F-990047EBF0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95EC7E-BA29-0E22-32D8-26ECDAC3D240}"/>
              </a:ext>
            </a:extLst>
          </p:cNvPr>
          <p:cNvSpPr>
            <a:spLocks noGrp="1"/>
          </p:cNvSpPr>
          <p:nvPr>
            <p:ph type="title"/>
          </p:nvPr>
        </p:nvSpPr>
        <p:spPr>
          <a:xfrm>
            <a:off x="767408" y="18255"/>
            <a:ext cx="10515600" cy="1325563"/>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2EBD73E-6CF8-9CA9-7827-11F273EF7BFD}"/>
                  </a:ext>
                </a:extLst>
              </p:cNvPr>
              <p:cNvSpPr>
                <a:spLocks noGrp="1"/>
              </p:cNvSpPr>
              <p:nvPr>
                <p:ph idx="1"/>
              </p:nvPr>
            </p:nvSpPr>
            <p:spPr>
              <a:xfrm>
                <a:off x="838200" y="1052736"/>
                <a:ext cx="10515600" cy="5112568"/>
              </a:xfrm>
            </p:spPr>
            <p:txBody>
              <a:bodyPr/>
              <a:lstStyle/>
              <a:p>
                <a:pPr marL="0" indent="0">
                  <a:lnSpc>
                    <a:spcPct val="150000"/>
                  </a:lnSpc>
                  <a:buNone/>
                </a:pPr>
                <a:r>
                  <a:rPr lang="es-ES" sz="2400" b="1" dirty="0"/>
                  <a:t>2. El </a:t>
                </a:r>
                <a:r>
                  <a:rPr lang="es-ES" sz="2400" b="1" u="sng" dirty="0"/>
                  <a:t>canal monetario</a:t>
                </a:r>
                <a:r>
                  <a:rPr lang="es-ES" sz="2400" b="1" dirty="0"/>
                  <a:t> o canal de tasa de interés: </a:t>
                </a:r>
                <a:r>
                  <a:rPr lang="es-PE" sz="2400" dirty="0"/>
                  <a:t>𝑹</a:t>
                </a:r>
                <a:r>
                  <a:rPr lang="es-PE" sz="2400" baseline="-25000" dirty="0"/>
                  <a:t>𝑫</a:t>
                </a:r>
                <a:r>
                  <a:rPr lang="es-PE" sz="2400" dirty="0"/>
                  <a:t>=(𝟏−</a:t>
                </a:r>
                <a:r>
                  <a:rPr lang="el-GR" sz="2400" dirty="0">
                    <a:latin typeface="Sylfaen" panose="010A0502050306030303" pitchFamily="18" charset="0"/>
                  </a:rPr>
                  <a:t>θ</a:t>
                </a:r>
                <a:r>
                  <a:rPr lang="es-PE" sz="2400" dirty="0"/>
                  <a:t>)𝑹−𝑪 (𝑳,𝑫)</a:t>
                </a:r>
                <a:endParaRPr lang="es-ES" sz="2400" dirty="0"/>
              </a:p>
              <a:p>
                <a:pPr>
                  <a:lnSpc>
                    <a:spcPct val="150000"/>
                  </a:lnSpc>
                </a:pPr>
                <a:r>
                  <a:rPr lang="es-ES" sz="2400" dirty="0"/>
                  <a:t>De la </a:t>
                </a:r>
                <a:r>
                  <a:rPr lang="es-ES" sz="2400" dirty="0" err="1"/>
                  <a:t>Ec</a:t>
                </a:r>
                <a:r>
                  <a:rPr lang="es-ES" sz="2400" dirty="0"/>
                  <a:t> de Euler:</a:t>
                </a:r>
              </a:p>
              <a:p>
                <a:pPr marL="0" indent="0" algn="ctr">
                  <a:lnSpc>
                    <a:spcPct val="150000"/>
                  </a:lnSpc>
                  <a:buNone/>
                </a:pPr>
                <a14:m>
                  <m:oMath xmlns:m="http://schemas.openxmlformats.org/officeDocument/2006/math">
                    <m:f>
                      <m:fPr>
                        <m:ctrlPr>
                          <a:rPr lang="es-PE" sz="2400" i="1">
                            <a:latin typeface="Cambria Math" panose="02040503050406030204" pitchFamily="18" charset="0"/>
                            <a:cs typeface="Tunga" panose="020B0502040204020203" pitchFamily="34" charset="0"/>
                          </a:rPr>
                        </m:ctrlPr>
                      </m:fPr>
                      <m:num>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𝑈</m:t>
                            </m:r>
                          </m:e>
                          <m:sub>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𝑐</m:t>
                                </m:r>
                              </m:e>
                              <m:sub>
                                <m:r>
                                  <a:rPr lang="es-PE" sz="2400" i="1">
                                    <a:latin typeface="Cambria Math" panose="02040503050406030204" pitchFamily="18" charset="0"/>
                                    <a:cs typeface="Tunga" panose="020B0502040204020203" pitchFamily="34" charset="0"/>
                                  </a:rPr>
                                  <m:t>𝑡</m:t>
                                </m:r>
                              </m:sub>
                            </m:sSub>
                          </m:sub>
                        </m:sSub>
                        <m:d>
                          <m:dPr>
                            <m:ctrlPr>
                              <a:rPr lang="es-PE" sz="2400" i="1">
                                <a:latin typeface="Cambria Math" panose="02040503050406030204" pitchFamily="18" charset="0"/>
                                <a:cs typeface="Tunga" panose="020B0502040204020203" pitchFamily="34" charset="0"/>
                              </a:rPr>
                            </m:ctrlPr>
                          </m:dPr>
                          <m:e>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𝑐</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𝑚</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sSub>
                              <m:sSubPr>
                                <m:ctrlPr>
                                  <a:rPr lang="es-PE" sz="2400" i="1">
                                    <a:latin typeface="Cambria Math" panose="02040503050406030204" pitchFamily="18" charset="0"/>
                                    <a:cs typeface="Tunga" panose="020B0502040204020203" pitchFamily="34" charset="0"/>
                                  </a:rPr>
                                </m:ctrlPr>
                              </m:sSubPr>
                              <m:e>
                                <m:r>
                                  <m:rPr>
                                    <m:nor/>
                                  </m:rPr>
                                  <a:rPr lang="el-GR" sz="2400" dirty="0">
                                    <a:latin typeface="Calibri" panose="020F0502020204030204" pitchFamily="34" charset="0"/>
                                    <a:ea typeface="Calibri" panose="020F0502020204030204" pitchFamily="34" charset="0"/>
                                    <a:cs typeface="Calibri" panose="020F0502020204030204" pitchFamily="34" charset="0"/>
                                  </a:rPr>
                                  <m:t>ε</m:t>
                                </m:r>
                              </m:e>
                              <m:sub>
                                <m:r>
                                  <a:rPr lang="es-PE" sz="2400" i="1">
                                    <a:latin typeface="Cambria Math" panose="02040503050406030204" pitchFamily="18" charset="0"/>
                                    <a:cs typeface="Tunga" panose="020B0502040204020203" pitchFamily="34" charset="0"/>
                                  </a:rPr>
                                  <m:t>𝑡</m:t>
                                </m:r>
                              </m:sub>
                            </m:sSub>
                          </m:e>
                        </m:d>
                      </m:num>
                      <m:den>
                        <m:sSub>
                          <m:sSubPr>
                            <m:ctrlPr>
                              <a:rPr lang="es-PE" sz="2400" i="1">
                                <a:latin typeface="Cambria Math" panose="02040503050406030204" pitchFamily="18" charset="0"/>
                                <a:cs typeface="Tunga" panose="020B0502040204020203" pitchFamily="34" charset="0"/>
                              </a:rPr>
                            </m:ctrlPr>
                          </m:sSubPr>
                          <m:e>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ea typeface="Cambria Math" panose="02040503050406030204" pitchFamily="18" charset="0"/>
                                    <a:cs typeface="Tunga" panose="020B0502040204020203" pitchFamily="34" charset="0"/>
                                  </a:rPr>
                                  <m:t>𝛽</m:t>
                                </m:r>
                                <m:r>
                                  <a:rPr lang="es-PE" sz="2400" i="1">
                                    <a:latin typeface="Cambria Math" panose="02040503050406030204" pitchFamily="18" charset="0"/>
                                    <a:cs typeface="Tunga" panose="020B0502040204020203" pitchFamily="34" charset="0"/>
                                  </a:rPr>
                                  <m:t>𝐸</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r>
                              <a:rPr lang="es-PE" sz="2400" i="1">
                                <a:latin typeface="Cambria Math" panose="02040503050406030204" pitchFamily="18" charset="0"/>
                                <a:cs typeface="Tunga" panose="020B0502040204020203" pitchFamily="34" charset="0"/>
                              </a:rPr>
                              <m:t>𝑈</m:t>
                            </m:r>
                          </m:e>
                          <m:sub>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𝑐</m:t>
                                </m:r>
                              </m:e>
                              <m:sub>
                                <m:r>
                                  <a:rPr lang="es-PE" sz="2400" i="1">
                                    <a:latin typeface="Cambria Math" panose="02040503050406030204" pitchFamily="18" charset="0"/>
                                    <a:cs typeface="Tunga" panose="020B0502040204020203" pitchFamily="34" charset="0"/>
                                  </a:rPr>
                                  <m:t>𝑡</m:t>
                                </m:r>
                                <m:r>
                                  <a:rPr lang="es-PE" sz="2400" i="1">
                                    <a:latin typeface="Cambria Math" panose="02040503050406030204" pitchFamily="18" charset="0"/>
                                    <a:cs typeface="Tunga" panose="020B0502040204020203" pitchFamily="34" charset="0"/>
                                  </a:rPr>
                                  <m:t>+1</m:t>
                                </m:r>
                              </m:sub>
                            </m:sSub>
                          </m:sub>
                        </m:sSub>
                        <m:d>
                          <m:dPr>
                            <m:ctrlPr>
                              <a:rPr lang="es-PE" sz="2400" i="1">
                                <a:latin typeface="Cambria Math" panose="02040503050406030204" pitchFamily="18" charset="0"/>
                                <a:cs typeface="Tunga" panose="020B0502040204020203" pitchFamily="34" charset="0"/>
                              </a:rPr>
                            </m:ctrlPr>
                          </m:dPr>
                          <m:e>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𝑐</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𝑚</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sSub>
                              <m:sSubPr>
                                <m:ctrlPr>
                                  <a:rPr lang="es-PE" sz="2400" i="1">
                                    <a:latin typeface="Cambria Math" panose="02040503050406030204" pitchFamily="18" charset="0"/>
                                    <a:cs typeface="Tunga" panose="020B0502040204020203" pitchFamily="34" charset="0"/>
                                  </a:rPr>
                                </m:ctrlPr>
                              </m:sSubPr>
                              <m:e>
                                <m:r>
                                  <m:rPr>
                                    <m:nor/>
                                  </m:rPr>
                                  <a:rPr lang="el-GR" sz="2400" dirty="0">
                                    <a:latin typeface="Calibri" panose="020F0502020204030204" pitchFamily="34" charset="0"/>
                                    <a:ea typeface="Calibri" panose="020F0502020204030204" pitchFamily="34" charset="0"/>
                                    <a:cs typeface="Calibri" panose="020F0502020204030204" pitchFamily="34" charset="0"/>
                                  </a:rPr>
                                  <m:t>ε</m:t>
                                </m:r>
                              </m:e>
                              <m:sub>
                                <m:r>
                                  <a:rPr lang="es-PE" sz="2400" i="1">
                                    <a:latin typeface="Cambria Math" panose="02040503050406030204" pitchFamily="18" charset="0"/>
                                    <a:cs typeface="Tunga" panose="020B0502040204020203" pitchFamily="34" charset="0"/>
                                  </a:rPr>
                                  <m:t>𝑡</m:t>
                                </m:r>
                              </m:sub>
                            </m:sSub>
                          </m:e>
                        </m:d>
                        <m:r>
                          <a:rPr lang="es-PE" sz="2400" i="1">
                            <a:latin typeface="Cambria Math" panose="02040503050406030204" pitchFamily="18" charset="0"/>
                            <a:cs typeface="Tunga" panose="020B0502040204020203" pitchFamily="34" charset="0"/>
                          </a:rPr>
                          <m:t>]</m:t>
                        </m:r>
                      </m:den>
                    </m:f>
                    <m:r>
                      <a:rPr lang="es-PE" sz="2400" i="1">
                        <a:latin typeface="Cambria Math" panose="02040503050406030204" pitchFamily="18" charset="0"/>
                        <a:cs typeface="Tunga" panose="020B0502040204020203" pitchFamily="34" charset="0"/>
                      </a:rPr>
                      <m:t>=</m:t>
                    </m:r>
                    <m:f>
                      <m:fPr>
                        <m:ctrlPr>
                          <a:rPr lang="es-PE" sz="2400" i="1">
                            <a:latin typeface="Cambria Math" panose="02040503050406030204" pitchFamily="18" charset="0"/>
                            <a:cs typeface="Tunga" panose="020B0502040204020203" pitchFamily="34" charset="0"/>
                          </a:rPr>
                        </m:ctrlPr>
                      </m:fPr>
                      <m:num>
                        <m:r>
                          <a:rPr lang="es-PE" sz="2400" i="1">
                            <a:latin typeface="Cambria Math" panose="02040503050406030204" pitchFamily="18" charset="0"/>
                            <a:cs typeface="Tunga" panose="020B0502040204020203" pitchFamily="34" charset="0"/>
                          </a:rPr>
                          <m:t> (1+</m:t>
                        </m:r>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𝑅</m:t>
                            </m:r>
                          </m:e>
                          <m:sub>
                            <m:r>
                              <a:rPr lang="es-PE" sz="2400" b="0" i="1" smtClean="0">
                                <a:latin typeface="Cambria Math" panose="02040503050406030204" pitchFamily="18" charset="0"/>
                                <a:cs typeface="Tunga" panose="020B0502040204020203" pitchFamily="34" charset="0"/>
                              </a:rPr>
                              <m:t>𝐷</m:t>
                            </m:r>
                          </m:sub>
                        </m:sSub>
                        <m:r>
                          <a:rPr lang="es-PE" sz="2400" i="1">
                            <a:latin typeface="Cambria Math" panose="02040503050406030204" pitchFamily="18" charset="0"/>
                            <a:cs typeface="Tunga" panose="020B0502040204020203" pitchFamily="34" charset="0"/>
                          </a:rPr>
                          <m:t>)</m:t>
                        </m:r>
                      </m:num>
                      <m:den>
                        <m:r>
                          <a:rPr lang="es-PE" sz="2400" i="1">
                            <a:latin typeface="Cambria Math" panose="02040503050406030204" pitchFamily="18" charset="0"/>
                            <a:cs typeface="Tunga" panose="020B0502040204020203" pitchFamily="34" charset="0"/>
                          </a:rPr>
                          <m:t>(1+</m:t>
                        </m:r>
                        <m:sSup>
                          <m:sSupPr>
                            <m:ctrlPr>
                              <a:rPr lang="es-PE" sz="2400" i="1">
                                <a:latin typeface="Cambria Math" panose="02040503050406030204" pitchFamily="18" charset="0"/>
                                <a:cs typeface="Tunga" panose="020B0502040204020203" pitchFamily="34" charset="0"/>
                              </a:rPr>
                            </m:ctrlPr>
                          </m:sSupPr>
                          <m:e>
                            <m:r>
                              <a:rPr lang="es-PE" sz="2400" i="1">
                                <a:latin typeface="Cambria Math" panose="02040503050406030204" pitchFamily="18" charset="0"/>
                                <a:ea typeface="Cambria Math" panose="02040503050406030204" pitchFamily="18" charset="0"/>
                                <a:cs typeface="Tunga" panose="020B0502040204020203" pitchFamily="34" charset="0"/>
                              </a:rPr>
                              <m:t>𝜋</m:t>
                            </m:r>
                          </m:e>
                          <m:sup>
                            <m:r>
                              <a:rPr lang="es-PE" sz="2400" i="1">
                                <a:latin typeface="Cambria Math" panose="02040503050406030204" pitchFamily="18" charset="0"/>
                                <a:cs typeface="Tunga" panose="020B0502040204020203" pitchFamily="34" charset="0"/>
                              </a:rPr>
                              <m:t>𝑒</m:t>
                            </m:r>
                          </m:sup>
                        </m:sSup>
                        <m:r>
                          <a:rPr lang="es-PE" sz="2400" i="1">
                            <a:latin typeface="Cambria Math" panose="02040503050406030204" pitchFamily="18" charset="0"/>
                            <a:cs typeface="Tunga" panose="020B0502040204020203" pitchFamily="34" charset="0"/>
                          </a:rPr>
                          <m:t>)</m:t>
                        </m:r>
                      </m:den>
                    </m:f>
                    <m:r>
                      <a:rPr lang="es-PE" sz="2400" i="1" smtClean="0">
                        <a:latin typeface="Cambria Math" panose="02040503050406030204" pitchFamily="18" charset="0"/>
                        <a:ea typeface="Cambria Math" panose="02040503050406030204" pitchFamily="18" charset="0"/>
                        <a:cs typeface="Tunga" panose="020B0502040204020203" pitchFamily="34" charset="0"/>
                      </a:rPr>
                      <m:t>≈</m:t>
                    </m:r>
                  </m:oMath>
                </a14:m>
                <a:r>
                  <a:rPr lang="es-PE" sz="2400" dirty="0">
                    <a:cs typeface="Tunga" panose="020B0502040204020203" pitchFamily="34" charset="0"/>
                  </a:rPr>
                  <a:t> </a:t>
                </a:r>
                <a14:m>
                  <m:oMath xmlns:m="http://schemas.openxmlformats.org/officeDocument/2006/math">
                    <m:r>
                      <a:rPr lang="es-PE" sz="1800" i="1">
                        <a:latin typeface="Cambria Math" panose="02040503050406030204" pitchFamily="18" charset="0"/>
                        <a:cs typeface="Tunga" panose="020B0502040204020203" pitchFamily="34" charset="0"/>
                      </a:rPr>
                      <m:t>1+</m:t>
                    </m:r>
                    <m:sSub>
                      <m:sSubPr>
                        <m:ctrlPr>
                          <a:rPr lang="es-PE" sz="1800" i="1">
                            <a:latin typeface="Cambria Math" panose="02040503050406030204" pitchFamily="18" charset="0"/>
                            <a:cs typeface="Tunga" panose="020B0502040204020203" pitchFamily="34" charset="0"/>
                          </a:rPr>
                        </m:ctrlPr>
                      </m:sSubPr>
                      <m:e>
                        <m:r>
                          <a:rPr lang="es-PE" sz="1800" i="1">
                            <a:latin typeface="Cambria Math" panose="02040503050406030204" pitchFamily="18" charset="0"/>
                            <a:cs typeface="Tunga" panose="020B0502040204020203" pitchFamily="34" charset="0"/>
                          </a:rPr>
                          <m:t>𝑅</m:t>
                        </m:r>
                      </m:e>
                      <m:sub>
                        <m:r>
                          <a:rPr lang="es-PE" sz="1800" b="0" i="1" smtClean="0">
                            <a:latin typeface="Cambria Math" panose="02040503050406030204" pitchFamily="18" charset="0"/>
                            <a:cs typeface="Tunga" panose="020B0502040204020203" pitchFamily="34" charset="0"/>
                          </a:rPr>
                          <m:t>𝐷</m:t>
                        </m:r>
                      </m:sub>
                    </m:sSub>
                  </m:oMath>
                </a14:m>
                <a:endParaRPr lang="es-ES" sz="2400" dirty="0"/>
              </a:p>
              <a:p>
                <a:pPr>
                  <a:lnSpc>
                    <a:spcPct val="150000"/>
                  </a:lnSpc>
                </a:pPr>
                <a:r>
                  <a:rPr lang="es-ES" sz="2400" dirty="0"/>
                  <a:t>Si </a:t>
                </a:r>
                <a:r>
                  <a:rPr lang="es-ES" sz="2400" dirty="0">
                    <a:latin typeface="Arial" panose="020B0604020202020204" pitchFamily="34" charset="0"/>
                    <a:cs typeface="Arial" panose="020B0604020202020204" pitchFamily="34" charset="0"/>
                  </a:rPr>
                  <a:t>↑</a:t>
                </a:r>
                <a:r>
                  <a:rPr lang="es-ES" sz="2400" dirty="0"/>
                  <a:t> la tasa de interés de los depósitos </a:t>
                </a:r>
                <a:r>
                  <a:rPr lang="es-ES" sz="2400" dirty="0">
                    <a:sym typeface="Wingdings" panose="05000000000000000000" pitchFamily="2" charset="2"/>
                  </a:rPr>
                  <a:t> </a:t>
                </a:r>
                <a:r>
                  <a:rPr lang="es-ES" sz="2400" dirty="0"/>
                  <a:t>la tasa de interés real </a:t>
                </a:r>
                <a:r>
                  <a:rPr lang="es-ES" sz="2400" dirty="0">
                    <a:latin typeface="Arial" panose="020B0604020202020204" pitchFamily="34" charset="0"/>
                    <a:cs typeface="Arial" panose="020B0604020202020204" pitchFamily="34" charset="0"/>
                  </a:rPr>
                  <a:t>↑ (</a:t>
                </a:r>
                <a:r>
                  <a:rPr lang="es-ES" sz="2400" dirty="0"/>
                  <a:t>se quiebra la condición de comportamiento de Euler </a:t>
                </a:r>
                <a:r>
                  <a:rPr lang="es-ES" sz="2400" dirty="0">
                    <a:sym typeface="Wingdings" panose="05000000000000000000" pitchFamily="2" charset="2"/>
                  </a:rPr>
                  <a:t> </a:t>
                </a:r>
                <a:r>
                  <a:rPr lang="es-ES" sz="2400" dirty="0"/>
                  <a:t>el término de la izquierda debe subir, por lo que debe aumentar la </a:t>
                </a:r>
                <a:r>
                  <a:rPr lang="es-ES" sz="2400" dirty="0" err="1"/>
                  <a:t>UMgC</a:t>
                </a:r>
                <a:r>
                  <a:rPr lang="es-ES" sz="2400" dirty="0"/>
                  <a:t>, es decir debe disminuir el consumo.</a:t>
                </a:r>
              </a:p>
              <a:p>
                <a:pPr>
                  <a:lnSpc>
                    <a:spcPct val="150000"/>
                  </a:lnSpc>
                </a:pPr>
                <a:r>
                  <a:rPr lang="es-ES" sz="2400" dirty="0"/>
                  <a:t>Como la gente disminuye su consumo </a:t>
                </a:r>
                <a:r>
                  <a:rPr lang="es-ES" sz="2400" dirty="0">
                    <a:sym typeface="Wingdings" panose="05000000000000000000" pitchFamily="2" charset="2"/>
                  </a:rPr>
                  <a:t> </a:t>
                </a:r>
                <a:r>
                  <a:rPr lang="es-ES" sz="2400" dirty="0"/>
                  <a:t>baja la inflación. </a:t>
                </a:r>
              </a:p>
            </p:txBody>
          </p:sp>
        </mc:Choice>
        <mc:Fallback xmlns="">
          <p:sp>
            <p:nvSpPr>
              <p:cNvPr id="3" name="Marcador de contenido 2">
                <a:extLst>
                  <a:ext uri="{FF2B5EF4-FFF2-40B4-BE49-F238E27FC236}">
                    <a16:creationId xmlns:a16="http://schemas.microsoft.com/office/drawing/2014/main" id="{A2EBD73E-6CF8-9CA9-7827-11F273EF7BFD}"/>
                  </a:ext>
                </a:extLst>
              </p:cNvPr>
              <p:cNvSpPr>
                <a:spLocks noGrp="1" noRot="1" noChangeAspect="1" noMove="1" noResize="1" noEditPoints="1" noAdjustHandles="1" noChangeArrowheads="1" noChangeShapeType="1" noTextEdit="1"/>
              </p:cNvSpPr>
              <p:nvPr>
                <p:ph idx="1"/>
              </p:nvPr>
            </p:nvSpPr>
            <p:spPr>
              <a:xfrm>
                <a:off x="838200" y="1052736"/>
                <a:ext cx="10515600" cy="5112568"/>
              </a:xfrm>
              <a:blipFill>
                <a:blip r:embed="rId2"/>
                <a:stretch>
                  <a:fillRect l="-928"/>
                </a:stretch>
              </a:blipFill>
            </p:spPr>
            <p:txBody>
              <a:bodyPr/>
              <a:lstStyle/>
              <a:p>
                <a:r>
                  <a:rPr lang="es-PE">
                    <a:noFill/>
                  </a:rPr>
                  <a:t> </a:t>
                </a:r>
              </a:p>
            </p:txBody>
          </p:sp>
        </mc:Fallback>
      </mc:AlternateContent>
      <p:sp>
        <p:nvSpPr>
          <p:cNvPr id="4" name="Marcador de número de diapositiva 3">
            <a:extLst>
              <a:ext uri="{FF2B5EF4-FFF2-40B4-BE49-F238E27FC236}">
                <a16:creationId xmlns:a16="http://schemas.microsoft.com/office/drawing/2014/main" id="{EC14747B-F430-94D1-E143-60329F61DCCF}"/>
              </a:ext>
            </a:extLst>
          </p:cNvPr>
          <p:cNvSpPr>
            <a:spLocks noGrp="1"/>
          </p:cNvSpPr>
          <p:nvPr>
            <p:ph type="sldNum" sz="quarter" idx="12"/>
          </p:nvPr>
        </p:nvSpPr>
        <p:spPr/>
        <p:txBody>
          <a:bodyPr/>
          <a:lstStyle/>
          <a:p>
            <a:pPr>
              <a:defRPr/>
            </a:pPr>
            <a:fld id="{8E639104-18EF-4017-8EC8-89CC3800080B}" type="slidenum">
              <a:rPr lang="es-PE" altLang="es-PE" smtClean="0"/>
              <a:pPr>
                <a:defRPr/>
              </a:pPr>
              <a:t>30</a:t>
            </a:fld>
            <a:endParaRPr lang="es-PE" altLang="es-PE"/>
          </a:p>
        </p:txBody>
      </p:sp>
    </p:spTree>
    <p:extLst>
      <p:ext uri="{BB962C8B-B14F-4D97-AF65-F5344CB8AC3E}">
        <p14:creationId xmlns:p14="http://schemas.microsoft.com/office/powerpoint/2010/main" val="37544801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43A42-AD77-8397-07EE-4F4D32FE31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A917DE-49A7-496E-B363-A6D310907816}"/>
              </a:ext>
            </a:extLst>
          </p:cNvPr>
          <p:cNvSpPr>
            <a:spLocks noGrp="1"/>
          </p:cNvSpPr>
          <p:nvPr>
            <p:ph type="title"/>
          </p:nvPr>
        </p:nvSpPr>
        <p:spPr>
          <a:xfrm>
            <a:off x="767408" y="18255"/>
            <a:ext cx="10515600" cy="1325563"/>
          </a:xfrm>
        </p:spPr>
        <p:txBody>
          <a:bodyPr/>
          <a:lstStyle/>
          <a:p>
            <a:r>
              <a:rPr lang="es-ES" altLang="es-PE" sz="4000" b="1" dirty="0">
                <a:latin typeface="Arial" panose="020B0604020202020204" pitchFamily="34" charset="0"/>
                <a:cs typeface="Arial" panose="020B0604020202020204" pitchFamily="34" charset="0"/>
              </a:rPr>
              <a:t>Determinación de tasas de interés</a:t>
            </a:r>
            <a:endParaRPr lang="es-PE" sz="4000" dirty="0"/>
          </a:p>
        </p:txBody>
      </p:sp>
      <p:sp>
        <p:nvSpPr>
          <p:cNvPr id="3" name="Marcador de contenido 2">
            <a:extLst>
              <a:ext uri="{FF2B5EF4-FFF2-40B4-BE49-F238E27FC236}">
                <a16:creationId xmlns:a16="http://schemas.microsoft.com/office/drawing/2014/main" id="{C711F6E5-1600-3D4A-6C4C-D16A1B153B83}"/>
              </a:ext>
            </a:extLst>
          </p:cNvPr>
          <p:cNvSpPr>
            <a:spLocks noGrp="1"/>
          </p:cNvSpPr>
          <p:nvPr>
            <p:ph idx="1"/>
          </p:nvPr>
        </p:nvSpPr>
        <p:spPr>
          <a:xfrm>
            <a:off x="838200" y="1052736"/>
            <a:ext cx="10515600" cy="4351338"/>
          </a:xfrm>
        </p:spPr>
        <p:txBody>
          <a:bodyPr/>
          <a:lstStyle/>
          <a:p>
            <a:pPr marL="0" indent="0">
              <a:lnSpc>
                <a:spcPct val="150000"/>
              </a:lnSpc>
              <a:buNone/>
            </a:pPr>
            <a:r>
              <a:rPr lang="es-PE" sz="2400" b="1" dirty="0"/>
              <a:t>Efectividad de la politica monetaria</a:t>
            </a:r>
            <a:endParaRPr lang="es-ES" sz="2400" dirty="0"/>
          </a:p>
          <a:p>
            <a:pPr>
              <a:lnSpc>
                <a:spcPct val="150000"/>
              </a:lnSpc>
            </a:pPr>
            <a:r>
              <a:rPr lang="es-ES" sz="2400" dirty="0"/>
              <a:t>La política monetaria será efectiva por ambos canales</a:t>
            </a:r>
          </a:p>
          <a:p>
            <a:pPr>
              <a:lnSpc>
                <a:spcPct val="150000"/>
              </a:lnSpc>
            </a:pPr>
            <a:r>
              <a:rPr lang="es-ES" sz="2400" dirty="0"/>
              <a:t>Ambos canales existen simultáneamente y se complementan, porque son dos tipos de agentes económicos distintos: los que se prestan son los que necesitan recursos, y los que depositan tienen muchos recursos</a:t>
            </a:r>
          </a:p>
          <a:p>
            <a:pPr>
              <a:lnSpc>
                <a:spcPct val="150000"/>
              </a:lnSpc>
            </a:pPr>
            <a:r>
              <a:rPr lang="es-ES" sz="2400" dirty="0"/>
              <a:t>Y ambos reaccionarán a esta política, así que se activarán ambos canales e irían en la dirección de la efectividad de la política monetaria.</a:t>
            </a:r>
          </a:p>
        </p:txBody>
      </p:sp>
      <p:sp>
        <p:nvSpPr>
          <p:cNvPr id="4" name="Marcador de número de diapositiva 3">
            <a:extLst>
              <a:ext uri="{FF2B5EF4-FFF2-40B4-BE49-F238E27FC236}">
                <a16:creationId xmlns:a16="http://schemas.microsoft.com/office/drawing/2014/main" id="{BCD97E66-6F73-CCC7-7541-F6A24302004D}"/>
              </a:ext>
            </a:extLst>
          </p:cNvPr>
          <p:cNvSpPr>
            <a:spLocks noGrp="1"/>
          </p:cNvSpPr>
          <p:nvPr>
            <p:ph type="sldNum" sz="quarter" idx="12"/>
          </p:nvPr>
        </p:nvSpPr>
        <p:spPr/>
        <p:txBody>
          <a:bodyPr/>
          <a:lstStyle/>
          <a:p>
            <a:pPr>
              <a:defRPr/>
            </a:pPr>
            <a:fld id="{8E639104-18EF-4017-8EC8-89CC3800080B}" type="slidenum">
              <a:rPr lang="es-PE" altLang="es-PE" smtClean="0"/>
              <a:pPr>
                <a:defRPr/>
              </a:pPr>
              <a:t>31</a:t>
            </a:fld>
            <a:endParaRPr lang="es-PE" altLang="es-PE"/>
          </a:p>
        </p:txBody>
      </p:sp>
    </p:spTree>
    <p:extLst>
      <p:ext uri="{BB962C8B-B14F-4D97-AF65-F5344CB8AC3E}">
        <p14:creationId xmlns:p14="http://schemas.microsoft.com/office/powerpoint/2010/main" val="2844448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73A0-B64E-C5DC-452C-310D8F9C7695}"/>
            </a:ext>
          </a:extLst>
        </p:cNvPr>
        <p:cNvGrpSpPr/>
        <p:nvPr/>
      </p:nvGrpSpPr>
      <p:grpSpPr>
        <a:xfrm>
          <a:off x="0" y="0"/>
          <a:ext cx="0" cy="0"/>
          <a:chOff x="0" y="0"/>
          <a:chExt cx="0" cy="0"/>
        </a:xfrm>
      </p:grpSpPr>
      <p:sp>
        <p:nvSpPr>
          <p:cNvPr id="36866" name="Google Shape;114;p3">
            <a:extLst>
              <a:ext uri="{FF2B5EF4-FFF2-40B4-BE49-F238E27FC236}">
                <a16:creationId xmlns:a16="http://schemas.microsoft.com/office/drawing/2014/main" id="{5FE91594-CF19-A71F-4331-B7BC24CD5ECD}"/>
              </a:ext>
            </a:extLst>
          </p:cNvPr>
          <p:cNvSpPr>
            <a:spLocks noGrp="1"/>
          </p:cNvSpPr>
          <p:nvPr>
            <p:ph type="ctrTitle"/>
          </p:nvPr>
        </p:nvSpPr>
        <p:spPr>
          <a:xfrm>
            <a:off x="125413" y="908050"/>
            <a:ext cx="11941175" cy="1008063"/>
          </a:xfrm>
        </p:spPr>
        <p:txBody>
          <a:bodyPr lIns="162533" tIns="162533" rIns="162533" bIns="162533"/>
          <a:lstStyle/>
          <a:p>
            <a:pPr>
              <a:spcBef>
                <a:spcPct val="0"/>
              </a:spcBef>
              <a:spcAft>
                <a:spcPct val="0"/>
              </a:spcAft>
            </a:pPr>
            <a:r>
              <a:rPr lang="es-ES" altLang="es-PE" sz="5600">
                <a:solidFill>
                  <a:srgbClr val="000000"/>
                </a:solidFill>
              </a:rPr>
              <a:t>CONTENIDO DETALLADO</a:t>
            </a:r>
            <a:endParaRPr lang="es-PE" altLang="es-PE" sz="5600">
              <a:solidFill>
                <a:srgbClr val="000000"/>
              </a:solidFill>
            </a:endParaRPr>
          </a:p>
        </p:txBody>
      </p:sp>
      <p:sp>
        <p:nvSpPr>
          <p:cNvPr id="36867" name="CuadroTexto 7">
            <a:extLst>
              <a:ext uri="{FF2B5EF4-FFF2-40B4-BE49-F238E27FC236}">
                <a16:creationId xmlns:a16="http://schemas.microsoft.com/office/drawing/2014/main" id="{B8FCAEE5-63DF-0553-CFA2-9993FAE95FF4}"/>
              </a:ext>
            </a:extLst>
          </p:cNvPr>
          <p:cNvSpPr txBox="1">
            <a:spLocks noChangeArrowheads="1"/>
          </p:cNvSpPr>
          <p:nvPr/>
        </p:nvSpPr>
        <p:spPr bwMode="auto">
          <a:xfrm>
            <a:off x="1343472" y="2348880"/>
            <a:ext cx="8202612" cy="155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nSpc>
                <a:spcPct val="150000"/>
              </a:lnSpc>
              <a:spcBef>
                <a:spcPts val="600"/>
              </a:spcBef>
              <a:buNone/>
            </a:pPr>
            <a:r>
              <a:rPr lang="es-ES" altLang="es-PE" sz="3200" b="1" dirty="0">
                <a:latin typeface="Arial" panose="020B0604020202020204" pitchFamily="34" charset="0"/>
                <a:cs typeface="Arial" panose="020B0604020202020204" pitchFamily="34" charset="0"/>
              </a:rPr>
              <a:t>Determinación de tasas de interés</a:t>
            </a:r>
          </a:p>
          <a:p>
            <a:pPr>
              <a:lnSpc>
                <a:spcPct val="150000"/>
              </a:lnSpc>
              <a:spcBef>
                <a:spcPts val="600"/>
              </a:spcBef>
            </a:pPr>
            <a:r>
              <a:rPr lang="es-ES" altLang="es-PE" sz="3200" b="1" dirty="0">
                <a:latin typeface="Arial" panose="020B0604020202020204" pitchFamily="34" charset="0"/>
                <a:cs typeface="Arial" panose="020B0604020202020204" pitchFamily="34" charset="0"/>
              </a:rPr>
              <a:t>Mercado de competencia monopolística</a:t>
            </a:r>
          </a:p>
        </p:txBody>
      </p:sp>
    </p:spTree>
    <p:extLst>
      <p:ext uri="{BB962C8B-B14F-4D97-AF65-F5344CB8AC3E}">
        <p14:creationId xmlns:p14="http://schemas.microsoft.com/office/powerpoint/2010/main" val="123949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8565F-31CB-1093-93E3-7E2F7FCBED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739210-A42C-4D9E-8A28-DDBB8B6DD07E}"/>
              </a:ext>
            </a:extLst>
          </p:cNvPr>
          <p:cNvSpPr>
            <a:spLocks noGrp="1"/>
          </p:cNvSpPr>
          <p:nvPr>
            <p:ph type="title"/>
          </p:nvPr>
        </p:nvSpPr>
        <p:spPr>
          <a:xfrm>
            <a:off x="479376" y="242528"/>
            <a:ext cx="10515600" cy="1325563"/>
          </a:xfrm>
        </p:spPr>
        <p:txBody>
          <a:bodyPr/>
          <a:lstStyle/>
          <a:p>
            <a:r>
              <a:rPr lang="es-PE" sz="4000" b="1" dirty="0"/>
              <a:t>Determinación de T. de Interés: </a:t>
            </a:r>
            <a:br>
              <a:rPr lang="es-PE" sz="4000" b="1" dirty="0"/>
            </a:br>
            <a:r>
              <a:rPr lang="es-PE" sz="4000" b="1" dirty="0"/>
              <a:t>Competencia Monopolística</a:t>
            </a:r>
          </a:p>
        </p:txBody>
      </p:sp>
      <p:sp>
        <p:nvSpPr>
          <p:cNvPr id="3" name="Marcador de contenido 2">
            <a:extLst>
              <a:ext uri="{FF2B5EF4-FFF2-40B4-BE49-F238E27FC236}">
                <a16:creationId xmlns:a16="http://schemas.microsoft.com/office/drawing/2014/main" id="{23691D5F-1E37-7C04-5E5E-131E6870E474}"/>
              </a:ext>
            </a:extLst>
          </p:cNvPr>
          <p:cNvSpPr>
            <a:spLocks noGrp="1"/>
          </p:cNvSpPr>
          <p:nvPr>
            <p:ph idx="1"/>
          </p:nvPr>
        </p:nvSpPr>
        <p:spPr>
          <a:xfrm>
            <a:off x="767408" y="1628800"/>
            <a:ext cx="10515600" cy="4351338"/>
          </a:xfrm>
        </p:spPr>
        <p:txBody>
          <a:bodyPr/>
          <a:lstStyle/>
          <a:p>
            <a:pPr marL="0" indent="0">
              <a:lnSpc>
                <a:spcPct val="150000"/>
              </a:lnSpc>
              <a:buNone/>
            </a:pPr>
            <a:r>
              <a:rPr lang="es-ES" b="1" dirty="0"/>
              <a:t>¿Qué pasaría si no hubiera competencia perfecta? </a:t>
            </a:r>
          </a:p>
          <a:p>
            <a:pPr>
              <a:lnSpc>
                <a:spcPct val="150000"/>
              </a:lnSpc>
            </a:pPr>
            <a:r>
              <a:rPr lang="es-ES" dirty="0"/>
              <a:t>La empresa en competencia monopolista utiliza el ingreso marginal como función de demanda y con ella determina el volumen y el precio.</a:t>
            </a:r>
          </a:p>
          <a:p>
            <a:pPr>
              <a:lnSpc>
                <a:spcPct val="150000"/>
              </a:lnSpc>
            </a:pPr>
            <a:r>
              <a:rPr lang="es-ES" dirty="0"/>
              <a:t>Así, el banco determina su participación y la tasa de interés.</a:t>
            </a:r>
          </a:p>
        </p:txBody>
      </p:sp>
      <p:sp>
        <p:nvSpPr>
          <p:cNvPr id="4" name="Marcador de número de diapositiva 3">
            <a:extLst>
              <a:ext uri="{FF2B5EF4-FFF2-40B4-BE49-F238E27FC236}">
                <a16:creationId xmlns:a16="http://schemas.microsoft.com/office/drawing/2014/main" id="{F8F9C7C5-C369-B919-667B-678223D2895D}"/>
              </a:ext>
            </a:extLst>
          </p:cNvPr>
          <p:cNvSpPr>
            <a:spLocks noGrp="1"/>
          </p:cNvSpPr>
          <p:nvPr>
            <p:ph type="sldNum" sz="quarter" idx="12"/>
          </p:nvPr>
        </p:nvSpPr>
        <p:spPr/>
        <p:txBody>
          <a:bodyPr/>
          <a:lstStyle/>
          <a:p>
            <a:pPr>
              <a:defRPr/>
            </a:pPr>
            <a:fld id="{8E639104-18EF-4017-8EC8-89CC3800080B}" type="slidenum">
              <a:rPr lang="es-PE" altLang="es-PE" smtClean="0"/>
              <a:pPr>
                <a:defRPr/>
              </a:pPr>
              <a:t>33</a:t>
            </a:fld>
            <a:endParaRPr lang="es-PE" altLang="es-PE"/>
          </a:p>
        </p:txBody>
      </p:sp>
    </p:spTree>
    <p:extLst>
      <p:ext uri="{BB962C8B-B14F-4D97-AF65-F5344CB8AC3E}">
        <p14:creationId xmlns:p14="http://schemas.microsoft.com/office/powerpoint/2010/main" val="1204851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3FBBA-91F6-AC28-6306-086DC44140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94E563-9913-6047-3BA2-12FBFD46445C}"/>
              </a:ext>
            </a:extLst>
          </p:cNvPr>
          <p:cNvSpPr>
            <a:spLocks noGrp="1"/>
          </p:cNvSpPr>
          <p:nvPr>
            <p:ph type="title"/>
          </p:nvPr>
        </p:nvSpPr>
        <p:spPr/>
        <p:txBody>
          <a:bodyPr/>
          <a:lstStyle/>
          <a:p>
            <a:r>
              <a:rPr lang="es-PE" sz="4000" b="1" dirty="0"/>
              <a:t>Determinación de T. de Interés: </a:t>
            </a:r>
            <a:br>
              <a:rPr lang="es-PE" sz="4000" b="1" dirty="0"/>
            </a:br>
            <a:r>
              <a:rPr lang="es-PE" sz="4000" b="1" dirty="0"/>
              <a:t>Competencia Monopolística</a:t>
            </a:r>
            <a:endParaRPr lang="es-PE" sz="4000" dirty="0"/>
          </a:p>
        </p:txBody>
      </p:sp>
      <p:sp>
        <p:nvSpPr>
          <p:cNvPr id="3" name="Marcador de contenido 2">
            <a:extLst>
              <a:ext uri="{FF2B5EF4-FFF2-40B4-BE49-F238E27FC236}">
                <a16:creationId xmlns:a16="http://schemas.microsoft.com/office/drawing/2014/main" id="{F9DB4BF5-EFAC-4DD9-DE98-0612C7B7212F}"/>
              </a:ext>
            </a:extLst>
          </p:cNvPr>
          <p:cNvSpPr>
            <a:spLocks noGrp="1"/>
          </p:cNvSpPr>
          <p:nvPr>
            <p:ph idx="1"/>
          </p:nvPr>
        </p:nvSpPr>
        <p:spPr/>
        <p:txBody>
          <a:bodyPr/>
          <a:lstStyle/>
          <a:p>
            <a:r>
              <a:rPr lang="es-ES" dirty="0"/>
              <a:t>Ahora las tasas de interés de crédito y depósito son endógenas.</a:t>
            </a:r>
          </a:p>
        </p:txBody>
      </p:sp>
      <p:sp>
        <p:nvSpPr>
          <p:cNvPr id="4" name="Marcador de número de diapositiva 3">
            <a:extLst>
              <a:ext uri="{FF2B5EF4-FFF2-40B4-BE49-F238E27FC236}">
                <a16:creationId xmlns:a16="http://schemas.microsoft.com/office/drawing/2014/main" id="{4371ADC6-AAC1-B5E1-BB2A-8EC62DA91123}"/>
              </a:ext>
            </a:extLst>
          </p:cNvPr>
          <p:cNvSpPr>
            <a:spLocks noGrp="1"/>
          </p:cNvSpPr>
          <p:nvPr>
            <p:ph type="sldNum" sz="quarter" idx="12"/>
          </p:nvPr>
        </p:nvSpPr>
        <p:spPr/>
        <p:txBody>
          <a:bodyPr/>
          <a:lstStyle/>
          <a:p>
            <a:pPr>
              <a:defRPr/>
            </a:pPr>
            <a:fld id="{8E639104-18EF-4017-8EC8-89CC3800080B}" type="slidenum">
              <a:rPr lang="es-PE" altLang="es-PE" smtClean="0"/>
              <a:pPr>
                <a:defRPr/>
              </a:pPr>
              <a:t>34</a:t>
            </a:fld>
            <a:endParaRPr lang="es-PE" altLang="es-PE"/>
          </a:p>
        </p:txBody>
      </p:sp>
      <p:pic>
        <p:nvPicPr>
          <p:cNvPr id="6" name="Imagen 5">
            <a:extLst>
              <a:ext uri="{FF2B5EF4-FFF2-40B4-BE49-F238E27FC236}">
                <a16:creationId xmlns:a16="http://schemas.microsoft.com/office/drawing/2014/main" id="{398791AF-942B-4AF3-DA3D-79C1C4FF9AAD}"/>
              </a:ext>
            </a:extLst>
          </p:cNvPr>
          <p:cNvPicPr>
            <a:picLocks noChangeAspect="1"/>
          </p:cNvPicPr>
          <p:nvPr/>
        </p:nvPicPr>
        <p:blipFill>
          <a:blip r:embed="rId2"/>
          <a:srcRect l="1776"/>
          <a:stretch>
            <a:fillRect/>
          </a:stretch>
        </p:blipFill>
        <p:spPr>
          <a:xfrm>
            <a:off x="3863752" y="2564903"/>
            <a:ext cx="4342223" cy="3747659"/>
          </a:xfrm>
          <a:prstGeom prst="rect">
            <a:avLst/>
          </a:prstGeom>
        </p:spPr>
      </p:pic>
    </p:spTree>
    <p:extLst>
      <p:ext uri="{BB962C8B-B14F-4D97-AF65-F5344CB8AC3E}">
        <p14:creationId xmlns:p14="http://schemas.microsoft.com/office/powerpoint/2010/main" val="2196222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64919-D20B-F8D8-FDA6-4F47DB434B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F6CB1A-3B96-2E04-85EB-5FBE76C42231}"/>
              </a:ext>
            </a:extLst>
          </p:cNvPr>
          <p:cNvSpPr>
            <a:spLocks noGrp="1"/>
          </p:cNvSpPr>
          <p:nvPr>
            <p:ph type="title"/>
          </p:nvPr>
        </p:nvSpPr>
        <p:spPr/>
        <p:txBody>
          <a:bodyPr/>
          <a:lstStyle/>
          <a:p>
            <a:r>
              <a:rPr lang="es-PE" sz="4000" b="1" dirty="0"/>
              <a:t>Determinación de T. de Interés: </a:t>
            </a:r>
            <a:br>
              <a:rPr lang="es-PE" sz="4000" b="1" dirty="0"/>
            </a:br>
            <a:r>
              <a:rPr lang="es-PE" sz="4000" b="1" dirty="0"/>
              <a:t>Competencia Monopolística</a:t>
            </a:r>
            <a:endParaRPr lang="es-PE" sz="4000" dirty="0"/>
          </a:p>
        </p:txBody>
      </p:sp>
      <p:sp>
        <p:nvSpPr>
          <p:cNvPr id="3" name="Marcador de contenido 2">
            <a:extLst>
              <a:ext uri="{FF2B5EF4-FFF2-40B4-BE49-F238E27FC236}">
                <a16:creationId xmlns:a16="http://schemas.microsoft.com/office/drawing/2014/main" id="{05BA5F53-0480-B91A-C992-AED4F1ABAB32}"/>
              </a:ext>
            </a:extLst>
          </p:cNvPr>
          <p:cNvSpPr>
            <a:spLocks noGrp="1"/>
          </p:cNvSpPr>
          <p:nvPr>
            <p:ph idx="1"/>
          </p:nvPr>
        </p:nvSpPr>
        <p:spPr/>
        <p:txBody>
          <a:bodyPr/>
          <a:lstStyle/>
          <a:p>
            <a:pPr>
              <a:lnSpc>
                <a:spcPct val="150000"/>
              </a:lnSpc>
            </a:pPr>
            <a:r>
              <a:rPr lang="es-ES" sz="2400" dirty="0"/>
              <a:t>El procedimiento de optimización de los créditos:</a:t>
            </a:r>
          </a:p>
          <a:p>
            <a:pPr marL="0" indent="0" algn="ctr">
              <a:lnSpc>
                <a:spcPct val="150000"/>
              </a:lnSpc>
              <a:buNone/>
            </a:pPr>
            <a:r>
              <a:rPr lang="es-PE" sz="2400" dirty="0">
                <a:latin typeface="Times New Roman" panose="02020603050405020304" pitchFamily="18" charset="0"/>
                <a:cs typeface="Times New Roman" panose="02020603050405020304" pitchFamily="18" charset="0"/>
              </a:rPr>
              <a:t>𝑀𝑎𝑥 𝜋</a:t>
            </a:r>
            <a:r>
              <a:rPr lang="es-PE" sz="2400" baseline="-25000" dirty="0">
                <a:latin typeface="Times New Roman" panose="02020603050405020304" pitchFamily="18" charset="0"/>
                <a:cs typeface="Times New Roman" panose="02020603050405020304" pitchFamily="18" charset="0"/>
              </a:rPr>
              <a:t>𝐿,𝐷</a:t>
            </a:r>
            <a:r>
              <a:rPr lang="es-PE" sz="2400" dirty="0">
                <a:latin typeface="Times New Roman" panose="02020603050405020304" pitchFamily="18" charset="0"/>
                <a:cs typeface="Times New Roman" panose="02020603050405020304" pitchFamily="18" charset="0"/>
              </a:rPr>
              <a:t>=𝑅</a:t>
            </a:r>
            <a:r>
              <a:rPr lang="es-PE" sz="2400" baseline="-25000" dirty="0">
                <a:latin typeface="Times New Roman" panose="02020603050405020304" pitchFamily="18" charset="0"/>
                <a:cs typeface="Times New Roman" panose="02020603050405020304" pitchFamily="18" charset="0"/>
              </a:rPr>
              <a:t>𝐿</a:t>
            </a:r>
            <a:r>
              <a:rPr lang="es-PE" sz="2400" dirty="0">
                <a:latin typeface="Times New Roman" panose="02020603050405020304" pitchFamily="18" charset="0"/>
                <a:cs typeface="Times New Roman" panose="02020603050405020304" pitchFamily="18" charset="0"/>
              </a:rPr>
              <a:t>(𝐿)∙𝐿+𝑅𝑀−𝑅</a:t>
            </a:r>
            <a:r>
              <a:rPr lang="es-PE" sz="2400" baseline="-25000" dirty="0">
                <a:latin typeface="Times New Roman" panose="02020603050405020304" pitchFamily="18" charset="0"/>
                <a:cs typeface="Times New Roman" panose="02020603050405020304" pitchFamily="18" charset="0"/>
              </a:rPr>
              <a:t>𝐷</a:t>
            </a:r>
            <a:r>
              <a:rPr lang="es-PE" sz="2400" dirty="0">
                <a:latin typeface="Times New Roman" panose="02020603050405020304" pitchFamily="18" charset="0"/>
                <a:cs typeface="Times New Roman" panose="02020603050405020304" pitchFamily="18" charset="0"/>
              </a:rPr>
              <a:t>(𝐷)∙𝐷−C(𝐿,𝐷)</a:t>
            </a:r>
            <a:endParaRPr lang="es-ES" sz="2400" dirty="0">
              <a:latin typeface="Times New Roman" panose="02020603050405020304" pitchFamily="18" charset="0"/>
              <a:cs typeface="Times New Roman" panose="02020603050405020304" pitchFamily="18" charset="0"/>
            </a:endParaRPr>
          </a:p>
          <a:p>
            <a:pPr>
              <a:lnSpc>
                <a:spcPct val="150000"/>
              </a:lnSpc>
            </a:pPr>
            <a:r>
              <a:rPr lang="es-ES" sz="2400" dirty="0"/>
              <a:t>El monopolista maximiza su resultado económico que viene de la tasa de interés que cobra por el volumen de crédito (R</a:t>
            </a:r>
            <a:r>
              <a:rPr lang="es-ES" sz="2400" baseline="-25000" dirty="0"/>
              <a:t>L</a:t>
            </a:r>
            <a:r>
              <a:rPr lang="es-ES" sz="2400" dirty="0"/>
              <a:t>) . </a:t>
            </a:r>
          </a:p>
          <a:p>
            <a:pPr>
              <a:lnSpc>
                <a:spcPct val="150000"/>
              </a:lnSpc>
            </a:pPr>
            <a:r>
              <a:rPr lang="es-ES" sz="2400" dirty="0"/>
              <a:t>Además, el beneficio depende de lo que presta a otro banco que paga la tasa interbancaria (R). </a:t>
            </a:r>
          </a:p>
        </p:txBody>
      </p:sp>
      <p:sp>
        <p:nvSpPr>
          <p:cNvPr id="4" name="Marcador de número de diapositiva 3">
            <a:extLst>
              <a:ext uri="{FF2B5EF4-FFF2-40B4-BE49-F238E27FC236}">
                <a16:creationId xmlns:a16="http://schemas.microsoft.com/office/drawing/2014/main" id="{839BB1D4-7EE3-C970-8F15-052A2E0CC87A}"/>
              </a:ext>
            </a:extLst>
          </p:cNvPr>
          <p:cNvSpPr>
            <a:spLocks noGrp="1"/>
          </p:cNvSpPr>
          <p:nvPr>
            <p:ph type="sldNum" sz="quarter" idx="12"/>
          </p:nvPr>
        </p:nvSpPr>
        <p:spPr/>
        <p:txBody>
          <a:bodyPr/>
          <a:lstStyle/>
          <a:p>
            <a:pPr>
              <a:defRPr/>
            </a:pPr>
            <a:fld id="{8E639104-18EF-4017-8EC8-89CC3800080B}" type="slidenum">
              <a:rPr lang="es-PE" altLang="es-PE" smtClean="0"/>
              <a:pPr>
                <a:defRPr/>
              </a:pPr>
              <a:t>35</a:t>
            </a:fld>
            <a:endParaRPr lang="es-PE" altLang="es-PE"/>
          </a:p>
        </p:txBody>
      </p:sp>
    </p:spTree>
    <p:extLst>
      <p:ext uri="{BB962C8B-B14F-4D97-AF65-F5344CB8AC3E}">
        <p14:creationId xmlns:p14="http://schemas.microsoft.com/office/powerpoint/2010/main" val="41889942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6AC8F-D82F-609B-7B48-F8E23E3D02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051BFF-40A8-77EB-7A5F-D703D52B92F5}"/>
              </a:ext>
            </a:extLst>
          </p:cNvPr>
          <p:cNvSpPr>
            <a:spLocks noGrp="1"/>
          </p:cNvSpPr>
          <p:nvPr>
            <p:ph type="title"/>
          </p:nvPr>
        </p:nvSpPr>
        <p:spPr>
          <a:xfrm>
            <a:off x="407368" y="119062"/>
            <a:ext cx="10515600" cy="1325563"/>
          </a:xfrm>
        </p:spPr>
        <p:txBody>
          <a:bodyPr/>
          <a:lstStyle/>
          <a:p>
            <a:r>
              <a:rPr lang="es-PE" sz="4000" b="1" dirty="0"/>
              <a:t>Determinación de T. de Interés con </a:t>
            </a:r>
            <a:br>
              <a:rPr lang="es-PE" sz="4000" b="1" dirty="0"/>
            </a:br>
            <a:r>
              <a:rPr lang="es-PE" sz="4000" b="1" dirty="0"/>
              <a:t>Competencia Monopolística: Créditos</a:t>
            </a:r>
            <a:endParaRPr lang="es-PE" sz="4000" dirty="0"/>
          </a:p>
        </p:txBody>
      </p:sp>
      <p:sp>
        <p:nvSpPr>
          <p:cNvPr id="3" name="Marcador de contenido 2">
            <a:extLst>
              <a:ext uri="{FF2B5EF4-FFF2-40B4-BE49-F238E27FC236}">
                <a16:creationId xmlns:a16="http://schemas.microsoft.com/office/drawing/2014/main" id="{9D3E67D9-7FF7-04E9-076C-0F842079709D}"/>
              </a:ext>
            </a:extLst>
          </p:cNvPr>
          <p:cNvSpPr>
            <a:spLocks noGrp="1"/>
          </p:cNvSpPr>
          <p:nvPr>
            <p:ph idx="1"/>
          </p:nvPr>
        </p:nvSpPr>
        <p:spPr>
          <a:xfrm>
            <a:off x="479376" y="1408960"/>
            <a:ext cx="11377264" cy="5329978"/>
          </a:xfrm>
        </p:spPr>
        <p:txBody>
          <a:bodyPr/>
          <a:lstStyle/>
          <a:p>
            <a:pPr>
              <a:lnSpc>
                <a:spcPct val="150000"/>
              </a:lnSpc>
            </a:pPr>
            <a:r>
              <a:rPr lang="es-ES" sz="2400" dirty="0"/>
              <a:t>El mercado interbancario seguirá abriendo competencia perfecta, porque hay un jugador mucho más grande que es el banco central.</a:t>
            </a:r>
          </a:p>
          <a:p>
            <a:pPr>
              <a:lnSpc>
                <a:spcPct val="150000"/>
              </a:lnSpc>
            </a:pPr>
            <a:r>
              <a:rPr lang="es-ES" sz="2400" dirty="0"/>
              <a:t>Los costos financieros: la tasa de interés de los depósitos que es endógena, más los costos operativos de esos créditos. </a:t>
            </a:r>
          </a:p>
          <a:p>
            <a:pPr>
              <a:lnSpc>
                <a:spcPct val="150000"/>
              </a:lnSpc>
            </a:pPr>
            <a:r>
              <a:rPr lang="es-ES" sz="2400" dirty="0"/>
              <a:t>Además, la posición en el mercado interbancario es igual a los fondos prestables que quedan después del encaje 1 –</a:t>
            </a:r>
            <a:r>
              <a:rPr lang="el-GR" sz="2400" dirty="0">
                <a:latin typeface="Sylfaen" panose="010A0502050306030303" pitchFamily="18" charset="0"/>
              </a:rPr>
              <a:t>θ</a:t>
            </a:r>
            <a:r>
              <a:rPr lang="es-ES" sz="2400" dirty="0"/>
              <a:t> : </a:t>
            </a:r>
            <a:r>
              <a:rPr lang="es-ES" sz="2400" dirty="0">
                <a:latin typeface="Times New Roman" panose="02020603050405020304" pitchFamily="18" charset="0"/>
                <a:cs typeface="Times New Roman" panose="02020603050405020304" pitchFamily="18" charset="0"/>
              </a:rPr>
              <a:t>𝑀=(1−</a:t>
            </a:r>
            <a:r>
              <a:rPr lang="el-GR" sz="2400" dirty="0">
                <a:latin typeface="Times New Roman" panose="02020603050405020304" pitchFamily="18" charset="0"/>
                <a:cs typeface="Times New Roman" panose="02020603050405020304" pitchFamily="18" charset="0"/>
              </a:rPr>
              <a:t>θ</a:t>
            </a:r>
            <a:r>
              <a:rPr lang="es-ES" sz="2400" dirty="0">
                <a:latin typeface="Times New Roman" panose="02020603050405020304" pitchFamily="18" charset="0"/>
                <a:cs typeface="Times New Roman" panose="02020603050405020304" pitchFamily="18" charset="0"/>
              </a:rPr>
              <a:t>)𝐷−𝐿</a:t>
            </a:r>
            <a:r>
              <a:rPr lang="es-ES" sz="2400" dirty="0"/>
              <a:t> </a:t>
            </a:r>
          </a:p>
        </p:txBody>
      </p:sp>
      <p:sp>
        <p:nvSpPr>
          <p:cNvPr id="4" name="Marcador de número de diapositiva 3">
            <a:extLst>
              <a:ext uri="{FF2B5EF4-FFF2-40B4-BE49-F238E27FC236}">
                <a16:creationId xmlns:a16="http://schemas.microsoft.com/office/drawing/2014/main" id="{35B98A7E-9082-F2E3-0D3F-C2284045918C}"/>
              </a:ext>
            </a:extLst>
          </p:cNvPr>
          <p:cNvSpPr>
            <a:spLocks noGrp="1"/>
          </p:cNvSpPr>
          <p:nvPr>
            <p:ph type="sldNum" sz="quarter" idx="12"/>
          </p:nvPr>
        </p:nvSpPr>
        <p:spPr/>
        <p:txBody>
          <a:bodyPr/>
          <a:lstStyle/>
          <a:p>
            <a:pPr>
              <a:defRPr/>
            </a:pPr>
            <a:fld id="{8E639104-18EF-4017-8EC8-89CC3800080B}" type="slidenum">
              <a:rPr lang="es-PE" altLang="es-PE" smtClean="0"/>
              <a:pPr>
                <a:defRPr/>
              </a:pPr>
              <a:t>36</a:t>
            </a:fld>
            <a:endParaRPr lang="es-PE" altLang="es-PE"/>
          </a:p>
        </p:txBody>
      </p:sp>
    </p:spTree>
    <p:extLst>
      <p:ext uri="{BB962C8B-B14F-4D97-AF65-F5344CB8AC3E}">
        <p14:creationId xmlns:p14="http://schemas.microsoft.com/office/powerpoint/2010/main" val="1086734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E8750-7EF4-9106-860E-75C35F6FB3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E921B2-3A02-47DB-31C6-1BECFD003391}"/>
              </a:ext>
            </a:extLst>
          </p:cNvPr>
          <p:cNvSpPr>
            <a:spLocks noGrp="1"/>
          </p:cNvSpPr>
          <p:nvPr>
            <p:ph type="title"/>
          </p:nvPr>
        </p:nvSpPr>
        <p:spPr/>
        <p:txBody>
          <a:bodyPr/>
          <a:lstStyle/>
          <a:p>
            <a:r>
              <a:rPr lang="es-PE" sz="4000" b="1" dirty="0"/>
              <a:t>Determinación de T. de Interés con</a:t>
            </a:r>
            <a:br>
              <a:rPr lang="es-PE" sz="4000" b="1" dirty="0"/>
            </a:br>
            <a:r>
              <a:rPr lang="es-PE" sz="4000" b="1" dirty="0"/>
              <a:t>Competencia Monopolística : Créditos</a:t>
            </a:r>
            <a:endParaRPr lang="es-PE" sz="4000" dirty="0"/>
          </a:p>
        </p:txBody>
      </p:sp>
      <p:sp>
        <p:nvSpPr>
          <p:cNvPr id="3" name="Marcador de contenido 2">
            <a:extLst>
              <a:ext uri="{FF2B5EF4-FFF2-40B4-BE49-F238E27FC236}">
                <a16:creationId xmlns:a16="http://schemas.microsoft.com/office/drawing/2014/main" id="{98681053-388A-B971-3FAF-D1AE05C25F4F}"/>
              </a:ext>
            </a:extLst>
          </p:cNvPr>
          <p:cNvSpPr>
            <a:spLocks noGrp="1"/>
          </p:cNvSpPr>
          <p:nvPr>
            <p:ph idx="1"/>
          </p:nvPr>
        </p:nvSpPr>
        <p:spPr/>
        <p:txBody>
          <a:bodyPr/>
          <a:lstStyle/>
          <a:p>
            <a:pPr>
              <a:lnSpc>
                <a:spcPct val="150000"/>
              </a:lnSpc>
            </a:pPr>
            <a:r>
              <a:rPr lang="es-ES" sz="2400" dirty="0"/>
              <a:t>Si el banco presta a un agente económico le cobrará una tasa de interés por el crédito, que es endógena. </a:t>
            </a:r>
          </a:p>
          <a:p>
            <a:pPr>
              <a:lnSpc>
                <a:spcPct val="150000"/>
              </a:lnSpc>
            </a:pPr>
            <a:r>
              <a:rPr lang="es-ES" sz="2400" dirty="0"/>
              <a:t>En el caso de un monopolista, éste tiene la capacidad de que cuando cambie su volumen puede cambiar el precio.</a:t>
            </a:r>
          </a:p>
          <a:p>
            <a:pPr>
              <a:lnSpc>
                <a:spcPct val="150000"/>
              </a:lnSpc>
            </a:pPr>
            <a:r>
              <a:rPr lang="es-ES" sz="2400" dirty="0"/>
              <a:t>Por ello, el precio va a cambiar porque está cambiando el volumen: 𝜕𝑅</a:t>
            </a:r>
            <a:r>
              <a:rPr lang="es-ES" sz="2400" baseline="-25000" dirty="0"/>
              <a:t>𝐿</a:t>
            </a:r>
            <a:r>
              <a:rPr lang="es-ES" sz="2400" dirty="0"/>
              <a:t>(𝐿)/𝜕𝐿.</a:t>
            </a:r>
          </a:p>
          <a:p>
            <a:pPr>
              <a:lnSpc>
                <a:spcPct val="150000"/>
              </a:lnSpc>
            </a:pPr>
            <a:r>
              <a:rPr lang="es-ES" sz="2400" dirty="0"/>
              <a:t>Este cambio en el precio va a afectar a los beneficios del monopolista porque esto va a afectar a todo el volumen de L (se multiplica por L) a la par del precio. </a:t>
            </a:r>
          </a:p>
        </p:txBody>
      </p:sp>
      <p:sp>
        <p:nvSpPr>
          <p:cNvPr id="4" name="Marcador de número de diapositiva 3">
            <a:extLst>
              <a:ext uri="{FF2B5EF4-FFF2-40B4-BE49-F238E27FC236}">
                <a16:creationId xmlns:a16="http://schemas.microsoft.com/office/drawing/2014/main" id="{052EB520-9936-763B-45DA-06010DDD9B18}"/>
              </a:ext>
            </a:extLst>
          </p:cNvPr>
          <p:cNvSpPr>
            <a:spLocks noGrp="1"/>
          </p:cNvSpPr>
          <p:nvPr>
            <p:ph type="sldNum" sz="quarter" idx="12"/>
          </p:nvPr>
        </p:nvSpPr>
        <p:spPr/>
        <p:txBody>
          <a:bodyPr/>
          <a:lstStyle/>
          <a:p>
            <a:pPr>
              <a:defRPr/>
            </a:pPr>
            <a:fld id="{8E639104-18EF-4017-8EC8-89CC3800080B}" type="slidenum">
              <a:rPr lang="es-PE" altLang="es-PE" smtClean="0"/>
              <a:pPr>
                <a:defRPr/>
              </a:pPr>
              <a:t>37</a:t>
            </a:fld>
            <a:endParaRPr lang="es-PE" altLang="es-PE"/>
          </a:p>
        </p:txBody>
      </p:sp>
    </p:spTree>
    <p:extLst>
      <p:ext uri="{BB962C8B-B14F-4D97-AF65-F5344CB8AC3E}">
        <p14:creationId xmlns:p14="http://schemas.microsoft.com/office/powerpoint/2010/main" val="3287734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4E756-29D4-B42F-5C18-D89979F7BC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02AC2B-E1BE-B556-C647-03733AB36E17}"/>
              </a:ext>
            </a:extLst>
          </p:cNvPr>
          <p:cNvSpPr>
            <a:spLocks noGrp="1"/>
          </p:cNvSpPr>
          <p:nvPr>
            <p:ph type="title"/>
          </p:nvPr>
        </p:nvSpPr>
        <p:spPr>
          <a:xfrm>
            <a:off x="767408" y="290428"/>
            <a:ext cx="10515600" cy="1325563"/>
          </a:xfrm>
        </p:spPr>
        <p:txBody>
          <a:bodyPr/>
          <a:lstStyle/>
          <a:p>
            <a:r>
              <a:rPr lang="es-PE" sz="4000" b="1" dirty="0"/>
              <a:t>Determinación de T. de Interés con</a:t>
            </a:r>
            <a:br>
              <a:rPr lang="es-PE" sz="4000" b="1" dirty="0"/>
            </a:br>
            <a:r>
              <a:rPr lang="es-PE" sz="4000" b="1" dirty="0"/>
              <a:t>Competencia Monopolística : Créditos</a:t>
            </a:r>
            <a:endParaRPr lang="es-PE" sz="4000"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A16BEBF5-8E6F-F71A-2533-A4CABD78C2D1}"/>
                  </a:ext>
                </a:extLst>
              </p:cNvPr>
              <p:cNvSpPr>
                <a:spLocks noGrp="1"/>
              </p:cNvSpPr>
              <p:nvPr>
                <p:ph idx="1"/>
              </p:nvPr>
            </p:nvSpPr>
            <p:spPr/>
            <p:txBody>
              <a:bodyPr/>
              <a:lstStyle/>
              <a:p>
                <a:pPr>
                  <a:lnSpc>
                    <a:spcPct val="150000"/>
                  </a:lnSpc>
                </a:pPr>
                <a:r>
                  <a:rPr lang="es-ES" dirty="0"/>
                  <a:t>Del proceso de optimización (maximización de beneficios):</a:t>
                </a:r>
              </a:p>
              <a:p>
                <a:pPr marL="0" indent="0" algn="ctr">
                  <a:lnSpc>
                    <a:spcPct val="150000"/>
                  </a:lnSpc>
                  <a:buNone/>
                </a:pPr>
                <a:r>
                  <a:rPr lang="es-PE" dirty="0">
                    <a:latin typeface="Times New Roman" panose="02020603050405020304" pitchFamily="18" charset="0"/>
                    <a:cs typeface="Times New Roman" panose="02020603050405020304" pitchFamily="18" charset="0"/>
                  </a:rPr>
                  <a:t>𝑀𝑎𝑥 𝜋</a:t>
                </a:r>
                <a:r>
                  <a:rPr lang="es-PE" baseline="-25000" dirty="0">
                    <a:latin typeface="Times New Roman" panose="02020603050405020304" pitchFamily="18" charset="0"/>
                    <a:cs typeface="Times New Roman" panose="02020603050405020304" pitchFamily="18" charset="0"/>
                  </a:rPr>
                  <a:t>𝐿,𝐷</a:t>
                </a:r>
                <a:r>
                  <a:rPr lang="es-PE" dirty="0">
                    <a:latin typeface="Times New Roman" panose="02020603050405020304" pitchFamily="18" charset="0"/>
                    <a:cs typeface="Times New Roman" panose="02020603050405020304" pitchFamily="18" charset="0"/>
                  </a:rPr>
                  <a:t>=𝑅</a:t>
                </a:r>
                <a:r>
                  <a:rPr lang="es-PE" baseline="-25000" dirty="0">
                    <a:latin typeface="Times New Roman" panose="02020603050405020304" pitchFamily="18" charset="0"/>
                    <a:cs typeface="Times New Roman" panose="02020603050405020304" pitchFamily="18" charset="0"/>
                  </a:rPr>
                  <a:t>𝐿</a:t>
                </a:r>
                <a:r>
                  <a:rPr lang="es-PE" dirty="0">
                    <a:latin typeface="Times New Roman" panose="02020603050405020304" pitchFamily="18" charset="0"/>
                    <a:cs typeface="Times New Roman" panose="02020603050405020304" pitchFamily="18" charset="0"/>
                  </a:rPr>
                  <a:t>(𝐿)∙𝐿+𝑅𝑀−𝑅</a:t>
                </a:r>
                <a:r>
                  <a:rPr lang="es-PE" baseline="-25000" dirty="0">
                    <a:latin typeface="Times New Roman" panose="02020603050405020304" pitchFamily="18" charset="0"/>
                    <a:cs typeface="Times New Roman" panose="02020603050405020304" pitchFamily="18" charset="0"/>
                  </a:rPr>
                  <a:t>𝐷</a:t>
                </a:r>
                <a:r>
                  <a:rPr lang="es-PE" dirty="0">
                    <a:latin typeface="Times New Roman" panose="02020603050405020304" pitchFamily="18" charset="0"/>
                    <a:cs typeface="Times New Roman" panose="02020603050405020304" pitchFamily="18" charset="0"/>
                  </a:rPr>
                  <a:t>(𝐷)∙𝐷−C(𝐿,𝐷)</a:t>
                </a:r>
              </a:p>
              <a:p>
                <a:pPr marL="0" indent="0" algn="ctr">
                  <a:lnSpc>
                    <a:spcPct val="150000"/>
                  </a:lnSpc>
                  <a:buNone/>
                </a:pPr>
                <a14:m>
                  <m:oMathPara xmlns:m="http://schemas.openxmlformats.org/officeDocument/2006/math">
                    <m:oMathParaPr>
                      <m:jc m:val="centerGroup"/>
                    </m:oMathParaPr>
                    <m:oMath xmlns:m="http://schemas.openxmlformats.org/officeDocument/2006/math">
                      <m:f>
                        <m:fPr>
                          <m:ctrlPr>
                            <a:rPr lang="es-ES" i="1">
                              <a:latin typeface="Cambria Math" panose="02040503050406030204" pitchFamily="18" charset="0"/>
                            </a:rPr>
                          </m:ctrlPr>
                        </m:fPr>
                        <m:num>
                          <m:r>
                            <a:rPr lang="es-ES" i="1">
                              <a:latin typeface="Cambria Math" panose="02040503050406030204" pitchFamily="18" charset="0"/>
                            </a:rPr>
                            <m:t>𝑑</m:t>
                          </m:r>
                          <m:r>
                            <a:rPr lang="es-ES" i="1">
                              <a:latin typeface="Cambria Math" panose="02040503050406030204" pitchFamily="18" charset="0"/>
                              <a:ea typeface="Cambria Math" panose="02040503050406030204" pitchFamily="18" charset="0"/>
                            </a:rPr>
                            <m:t>𝜋</m:t>
                          </m:r>
                        </m:num>
                        <m:den>
                          <m:r>
                            <a:rPr lang="es-ES" i="1">
                              <a:latin typeface="Cambria Math" panose="02040503050406030204" pitchFamily="18" charset="0"/>
                            </a:rPr>
                            <m:t>𝑑</m:t>
                          </m:r>
                          <m:r>
                            <a:rPr lang="es-PE" i="1">
                              <a:latin typeface="Cambria Math" panose="02040503050406030204" pitchFamily="18" charset="0"/>
                            </a:rPr>
                            <m:t>𝐿</m:t>
                          </m:r>
                        </m:den>
                      </m:f>
                      <m:r>
                        <a:rPr lang="es-PE" i="1">
                          <a:latin typeface="Cambria Math" panose="02040503050406030204" pitchFamily="18" charset="0"/>
                        </a:rPr>
                        <m:t>=</m:t>
                      </m:r>
                      <m:sSub>
                        <m:sSubPr>
                          <m:ctrlPr>
                            <a:rPr lang="es-PE" i="1">
                              <a:latin typeface="Cambria Math" panose="02040503050406030204" pitchFamily="18" charset="0"/>
                            </a:rPr>
                          </m:ctrlPr>
                        </m:sSubPr>
                        <m:e>
                          <m:r>
                            <a:rPr lang="es-PE" i="1">
                              <a:latin typeface="Cambria Math" panose="02040503050406030204" pitchFamily="18" charset="0"/>
                            </a:rPr>
                            <m:t>𝑅</m:t>
                          </m:r>
                        </m:e>
                        <m:sub>
                          <m:r>
                            <a:rPr lang="es-PE" i="1">
                              <a:latin typeface="Cambria Math" panose="02040503050406030204" pitchFamily="18" charset="0"/>
                            </a:rPr>
                            <m:t>𝐿</m:t>
                          </m:r>
                        </m:sub>
                      </m:sSub>
                      <m:r>
                        <a:rPr lang="es-PE" i="1">
                          <a:latin typeface="Cambria Math" panose="02040503050406030204" pitchFamily="18" charset="0"/>
                        </a:rPr>
                        <m:t>(</m:t>
                      </m:r>
                      <m:r>
                        <a:rPr lang="es-PE" i="1">
                          <a:latin typeface="Cambria Math" panose="02040503050406030204" pitchFamily="18" charset="0"/>
                        </a:rPr>
                        <m:t>𝐿</m:t>
                      </m:r>
                      <m:r>
                        <a:rPr lang="es-PE"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𝑑</m:t>
                          </m:r>
                          <m:sSub>
                            <m:sSubPr>
                              <m:ctrlPr>
                                <a:rPr lang="es-ES" i="1">
                                  <a:latin typeface="Cambria Math" panose="02040503050406030204" pitchFamily="18" charset="0"/>
                                </a:rPr>
                              </m:ctrlPr>
                            </m:sSubPr>
                            <m:e>
                              <m:r>
                                <a:rPr lang="es-PE" i="1">
                                  <a:latin typeface="Cambria Math" panose="02040503050406030204" pitchFamily="18" charset="0"/>
                                </a:rPr>
                                <m:t>𝑅</m:t>
                              </m:r>
                            </m:e>
                            <m:sub>
                              <m:r>
                                <a:rPr lang="es-PE" i="1">
                                  <a:latin typeface="Cambria Math" panose="02040503050406030204" pitchFamily="18" charset="0"/>
                                </a:rPr>
                                <m:t>𝐿</m:t>
                              </m:r>
                            </m:sub>
                          </m:sSub>
                          <m:r>
                            <a:rPr lang="es-PE" i="1">
                              <a:latin typeface="Cambria Math" panose="02040503050406030204" pitchFamily="18" charset="0"/>
                            </a:rPr>
                            <m:t>(</m:t>
                          </m:r>
                          <m:r>
                            <a:rPr lang="es-PE" i="1">
                              <a:latin typeface="Cambria Math" panose="02040503050406030204" pitchFamily="18" charset="0"/>
                            </a:rPr>
                            <m:t>𝐿</m:t>
                          </m:r>
                          <m:r>
                            <a:rPr lang="es-PE" i="1">
                              <a:latin typeface="Cambria Math" panose="02040503050406030204" pitchFamily="18" charset="0"/>
                            </a:rPr>
                            <m:t>)</m:t>
                          </m:r>
                        </m:num>
                        <m:den>
                          <m:r>
                            <a:rPr lang="es-ES" i="1">
                              <a:latin typeface="Cambria Math" panose="02040503050406030204" pitchFamily="18" charset="0"/>
                            </a:rPr>
                            <m:t>𝑑</m:t>
                          </m:r>
                          <m:r>
                            <a:rPr lang="es-PE" i="1">
                              <a:latin typeface="Cambria Math" panose="02040503050406030204" pitchFamily="18" charset="0"/>
                            </a:rPr>
                            <m:t>𝐿</m:t>
                          </m:r>
                        </m:den>
                      </m:f>
                      <m:r>
                        <a:rPr lang="es-PE" i="1">
                          <a:latin typeface="Cambria Math" panose="02040503050406030204" pitchFamily="18" charset="0"/>
                        </a:rPr>
                        <m:t>𝐿</m:t>
                      </m:r>
                      <m:r>
                        <a:rPr lang="es-PE" i="1">
                          <a:latin typeface="Cambria Math" panose="02040503050406030204" pitchFamily="18" charset="0"/>
                        </a:rPr>
                        <m:t> −</m:t>
                      </m:r>
                      <m:r>
                        <a:rPr lang="es-PE" i="1">
                          <a:latin typeface="Cambria Math" panose="02040503050406030204" pitchFamily="18" charset="0"/>
                        </a:rPr>
                        <m:t>𝑅</m:t>
                      </m:r>
                      <m:r>
                        <a:rPr lang="es-PE" i="1">
                          <a:latin typeface="Cambria Math" panose="02040503050406030204" pitchFamily="18" charset="0"/>
                        </a:rPr>
                        <m:t> −</m:t>
                      </m:r>
                      <m:f>
                        <m:fPr>
                          <m:ctrlPr>
                            <a:rPr lang="es-ES" i="1">
                              <a:latin typeface="Cambria Math" panose="02040503050406030204" pitchFamily="18" charset="0"/>
                            </a:rPr>
                          </m:ctrlPr>
                        </m:fPr>
                        <m:num>
                          <m:r>
                            <a:rPr lang="es-ES" i="1">
                              <a:latin typeface="Cambria Math" panose="02040503050406030204" pitchFamily="18" charset="0"/>
                            </a:rPr>
                            <m:t>𝑑</m:t>
                          </m:r>
                          <m:r>
                            <a:rPr lang="es-PE" i="1">
                              <a:latin typeface="Cambria Math" panose="02040503050406030204" pitchFamily="18" charset="0"/>
                              <a:ea typeface="Cambria Math" panose="02040503050406030204" pitchFamily="18" charset="0"/>
                            </a:rPr>
                            <m:t>𝐶</m:t>
                          </m:r>
                        </m:num>
                        <m:den>
                          <m:r>
                            <a:rPr lang="es-ES" i="1">
                              <a:latin typeface="Cambria Math" panose="02040503050406030204" pitchFamily="18" charset="0"/>
                            </a:rPr>
                            <m:t>𝑑</m:t>
                          </m:r>
                          <m:r>
                            <a:rPr lang="es-PE" i="1">
                              <a:latin typeface="Cambria Math" panose="02040503050406030204" pitchFamily="18" charset="0"/>
                            </a:rPr>
                            <m:t>𝐿</m:t>
                          </m:r>
                        </m:den>
                      </m:f>
                      <m:r>
                        <a:rPr lang="es-ES" i="1" smtClean="0">
                          <a:latin typeface="Cambria Math" panose="02040503050406030204" pitchFamily="18" charset="0"/>
                        </a:rPr>
                        <m:t>=</m:t>
                      </m:r>
                      <m:r>
                        <a:rPr lang="es-PE" b="0" i="1" smtClean="0">
                          <a:latin typeface="Cambria Math" panose="02040503050406030204" pitchFamily="18" charset="0"/>
                        </a:rPr>
                        <m:t>0</m:t>
                      </m:r>
                    </m:oMath>
                  </m:oMathPara>
                </a14:m>
                <a:endParaRPr lang="es-ES" dirty="0"/>
              </a:p>
              <a:p>
                <a:pPr marL="0" indent="0" algn="ctr">
                  <a:lnSpc>
                    <a:spcPct val="150000"/>
                  </a:lnSpc>
                  <a:buNone/>
                </a:pPr>
                <a14:m>
                  <m:oMathPara xmlns:m="http://schemas.openxmlformats.org/officeDocument/2006/math">
                    <m:oMathParaPr>
                      <m:jc m:val="centerGroup"/>
                    </m:oMathParaPr>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rPr>
                            <m:t>𝑅</m:t>
                          </m:r>
                        </m:e>
                        <m:sub>
                          <m:r>
                            <a:rPr lang="es-PE" i="1">
                              <a:latin typeface="Cambria Math" panose="02040503050406030204" pitchFamily="18" charset="0"/>
                            </a:rPr>
                            <m:t>𝐿</m:t>
                          </m:r>
                        </m:sub>
                      </m:sSub>
                      <m:d>
                        <m:dPr>
                          <m:ctrlPr>
                            <a:rPr lang="es-PE" i="1">
                              <a:latin typeface="Cambria Math" panose="02040503050406030204" pitchFamily="18" charset="0"/>
                            </a:rPr>
                          </m:ctrlPr>
                        </m:dPr>
                        <m:e>
                          <m:r>
                            <a:rPr lang="es-PE" i="1">
                              <a:latin typeface="Cambria Math" panose="02040503050406030204" pitchFamily="18" charset="0"/>
                            </a:rPr>
                            <m:t>𝐿</m:t>
                          </m:r>
                        </m:e>
                      </m:d>
                      <m:d>
                        <m:dPr>
                          <m:begChr m:val="["/>
                          <m:endChr m:val="]"/>
                          <m:ctrlPr>
                            <a:rPr lang="es-PE" b="0" i="1" smtClean="0">
                              <a:latin typeface="Cambria Math" panose="02040503050406030204" pitchFamily="18" charset="0"/>
                            </a:rPr>
                          </m:ctrlPr>
                        </m:dPr>
                        <m:e>
                          <m:r>
                            <a:rPr lang="es-PE" b="0" i="1" smtClean="0">
                              <a:latin typeface="Cambria Math" panose="02040503050406030204" pitchFamily="18" charset="0"/>
                            </a:rPr>
                            <m:t>1</m:t>
                          </m:r>
                          <m:r>
                            <a:rPr lang="es-PE"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𝑑</m:t>
                              </m:r>
                              <m:sSub>
                                <m:sSubPr>
                                  <m:ctrlPr>
                                    <a:rPr lang="es-ES" i="1">
                                      <a:latin typeface="Cambria Math" panose="02040503050406030204" pitchFamily="18" charset="0"/>
                                    </a:rPr>
                                  </m:ctrlPr>
                                </m:sSubPr>
                                <m:e>
                                  <m:r>
                                    <a:rPr lang="es-PE" i="1">
                                      <a:latin typeface="Cambria Math" panose="02040503050406030204" pitchFamily="18" charset="0"/>
                                    </a:rPr>
                                    <m:t>𝑅</m:t>
                                  </m:r>
                                </m:e>
                                <m:sub>
                                  <m:r>
                                    <a:rPr lang="es-PE" i="1">
                                      <a:latin typeface="Cambria Math" panose="02040503050406030204" pitchFamily="18" charset="0"/>
                                    </a:rPr>
                                    <m:t>𝐿</m:t>
                                  </m:r>
                                </m:sub>
                              </m:sSub>
                              <m:d>
                                <m:dPr>
                                  <m:ctrlPr>
                                    <a:rPr lang="es-PE" i="1">
                                      <a:latin typeface="Cambria Math" panose="02040503050406030204" pitchFamily="18" charset="0"/>
                                    </a:rPr>
                                  </m:ctrlPr>
                                </m:dPr>
                                <m:e>
                                  <m:r>
                                    <a:rPr lang="es-PE" i="1">
                                      <a:latin typeface="Cambria Math" panose="02040503050406030204" pitchFamily="18" charset="0"/>
                                    </a:rPr>
                                    <m:t>𝐿</m:t>
                                  </m:r>
                                </m:e>
                              </m:d>
                            </m:num>
                            <m:den>
                              <m:sSub>
                                <m:sSubPr>
                                  <m:ctrlPr>
                                    <a:rPr lang="es-PE" i="1" smtClean="0">
                                      <a:latin typeface="Cambria Math" panose="02040503050406030204" pitchFamily="18" charset="0"/>
                                    </a:rPr>
                                  </m:ctrlPr>
                                </m:sSubPr>
                                <m:e>
                                  <m:r>
                                    <a:rPr lang="es-PE" b="0" i="1" smtClean="0">
                                      <a:latin typeface="Cambria Math" panose="02040503050406030204" pitchFamily="18" charset="0"/>
                                    </a:rPr>
                                    <m:t>𝑅</m:t>
                                  </m:r>
                                </m:e>
                                <m:sub>
                                  <m:r>
                                    <a:rPr lang="es-PE" b="0" i="1" smtClean="0">
                                      <a:latin typeface="Cambria Math" panose="02040503050406030204" pitchFamily="18" charset="0"/>
                                    </a:rPr>
                                    <m:t>𝐿</m:t>
                                  </m:r>
                                </m:sub>
                              </m:sSub>
                            </m:den>
                          </m:f>
                          <m:f>
                            <m:fPr>
                              <m:ctrlPr>
                                <a:rPr lang="es-PE" i="1" smtClean="0">
                                  <a:latin typeface="Cambria Math" panose="02040503050406030204" pitchFamily="18" charset="0"/>
                                </a:rPr>
                              </m:ctrlPr>
                            </m:fPr>
                            <m:num>
                              <m:r>
                                <a:rPr lang="es-PE" b="0" i="1" smtClean="0">
                                  <a:latin typeface="Cambria Math" panose="02040503050406030204" pitchFamily="18" charset="0"/>
                                </a:rPr>
                                <m:t>𝐿</m:t>
                              </m:r>
                            </m:num>
                            <m:den>
                              <m:r>
                                <a:rPr lang="es-ES" i="1">
                                  <a:latin typeface="Cambria Math" panose="02040503050406030204" pitchFamily="18" charset="0"/>
                                </a:rPr>
                                <m:t>𝑑</m:t>
                              </m:r>
                              <m:r>
                                <a:rPr lang="es-PE" i="1">
                                  <a:latin typeface="Cambria Math" panose="02040503050406030204" pitchFamily="18" charset="0"/>
                                </a:rPr>
                                <m:t>𝐿</m:t>
                              </m:r>
                            </m:den>
                          </m:f>
                        </m:e>
                      </m:d>
                      <m:r>
                        <a:rPr lang="es-PE" b="0" i="1" smtClean="0">
                          <a:latin typeface="Cambria Math" panose="02040503050406030204" pitchFamily="18" charset="0"/>
                        </a:rPr>
                        <m:t>=</m:t>
                      </m:r>
                      <m:r>
                        <a:rPr lang="es-PE" i="1">
                          <a:latin typeface="Cambria Math" panose="02040503050406030204" pitchFamily="18" charset="0"/>
                        </a:rPr>
                        <m:t>𝑅</m:t>
                      </m:r>
                      <m:r>
                        <a:rPr lang="es-PE"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𝑑</m:t>
                          </m:r>
                          <m:r>
                            <a:rPr lang="es-PE" i="1">
                              <a:latin typeface="Cambria Math" panose="02040503050406030204" pitchFamily="18" charset="0"/>
                              <a:ea typeface="Cambria Math" panose="02040503050406030204" pitchFamily="18" charset="0"/>
                            </a:rPr>
                            <m:t>𝐶</m:t>
                          </m:r>
                        </m:num>
                        <m:den>
                          <m:r>
                            <a:rPr lang="es-ES" i="1">
                              <a:latin typeface="Cambria Math" panose="02040503050406030204" pitchFamily="18" charset="0"/>
                            </a:rPr>
                            <m:t>𝑑</m:t>
                          </m:r>
                          <m:r>
                            <a:rPr lang="es-PE" i="1">
                              <a:latin typeface="Cambria Math" panose="02040503050406030204" pitchFamily="18" charset="0"/>
                            </a:rPr>
                            <m:t>𝐿</m:t>
                          </m:r>
                        </m:den>
                      </m:f>
                    </m:oMath>
                  </m:oMathPara>
                </a14:m>
                <a:endParaRPr lang="es-ES" dirty="0"/>
              </a:p>
              <a:p>
                <a:pPr marL="0" indent="0" algn="ctr">
                  <a:lnSpc>
                    <a:spcPct val="150000"/>
                  </a:lnSpc>
                  <a:buNone/>
                </a:pPr>
                <a:endParaRPr lang="es-ES" dirty="0"/>
              </a:p>
              <a:p>
                <a:pPr>
                  <a:lnSpc>
                    <a:spcPct val="150000"/>
                  </a:lnSpc>
                </a:pPr>
                <a:endParaRPr lang="es-ES" dirty="0"/>
              </a:p>
            </p:txBody>
          </p:sp>
        </mc:Choice>
        <mc:Fallback>
          <p:sp>
            <p:nvSpPr>
              <p:cNvPr id="3" name="Marcador de contenido 2">
                <a:extLst>
                  <a:ext uri="{FF2B5EF4-FFF2-40B4-BE49-F238E27FC236}">
                    <a16:creationId xmlns:a16="http://schemas.microsoft.com/office/drawing/2014/main" id="{A16BEBF5-8E6F-F71A-2533-A4CABD78C2D1}"/>
                  </a:ext>
                </a:extLst>
              </p:cNvPr>
              <p:cNvSpPr>
                <a:spLocks noGrp="1" noRot="1" noChangeAspect="1" noMove="1" noResize="1" noEditPoints="1" noAdjustHandles="1" noChangeArrowheads="1" noChangeShapeType="1" noTextEdit="1"/>
              </p:cNvSpPr>
              <p:nvPr>
                <p:ph idx="1"/>
              </p:nvPr>
            </p:nvSpPr>
            <p:spPr>
              <a:blipFill>
                <a:blip r:embed="rId3"/>
                <a:stretch>
                  <a:fillRect l="-1043"/>
                </a:stretch>
              </a:blipFill>
            </p:spPr>
            <p:txBody>
              <a:bodyPr/>
              <a:lstStyle/>
              <a:p>
                <a:r>
                  <a:rPr lang="es-PE">
                    <a:noFill/>
                  </a:rPr>
                  <a:t> </a:t>
                </a:r>
              </a:p>
            </p:txBody>
          </p:sp>
        </mc:Fallback>
      </mc:AlternateContent>
      <p:sp>
        <p:nvSpPr>
          <p:cNvPr id="4" name="Marcador de número de diapositiva 3">
            <a:extLst>
              <a:ext uri="{FF2B5EF4-FFF2-40B4-BE49-F238E27FC236}">
                <a16:creationId xmlns:a16="http://schemas.microsoft.com/office/drawing/2014/main" id="{94E31ECF-8B65-CA89-B379-28AF2B6AED54}"/>
              </a:ext>
            </a:extLst>
          </p:cNvPr>
          <p:cNvSpPr>
            <a:spLocks noGrp="1"/>
          </p:cNvSpPr>
          <p:nvPr>
            <p:ph type="sldNum" sz="quarter" idx="12"/>
          </p:nvPr>
        </p:nvSpPr>
        <p:spPr/>
        <p:txBody>
          <a:bodyPr/>
          <a:lstStyle/>
          <a:p>
            <a:pPr>
              <a:defRPr/>
            </a:pPr>
            <a:fld id="{8E639104-18EF-4017-8EC8-89CC3800080B}" type="slidenum">
              <a:rPr lang="es-PE" altLang="es-PE" smtClean="0"/>
              <a:pPr>
                <a:defRPr/>
              </a:pPr>
              <a:t>38</a:t>
            </a:fld>
            <a:endParaRPr lang="es-PE" altLang="es-PE"/>
          </a:p>
        </p:txBody>
      </p:sp>
    </p:spTree>
    <p:extLst>
      <p:ext uri="{BB962C8B-B14F-4D97-AF65-F5344CB8AC3E}">
        <p14:creationId xmlns:p14="http://schemas.microsoft.com/office/powerpoint/2010/main" val="3190074355"/>
      </p:ext>
    </p:extLst>
  </p:cSld>
  <p:clrMapOvr>
    <a:masterClrMapping/>
  </p:clrMapOvr>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DAB76-018A-693C-31D1-C29D2CCFC2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3A3DAB-04E5-955F-7C2E-4579C3B57A68}"/>
              </a:ext>
            </a:extLst>
          </p:cNvPr>
          <p:cNvSpPr>
            <a:spLocks noGrp="1"/>
          </p:cNvSpPr>
          <p:nvPr>
            <p:ph type="title"/>
          </p:nvPr>
        </p:nvSpPr>
        <p:spPr>
          <a:xfrm>
            <a:off x="335360" y="119062"/>
            <a:ext cx="10515600" cy="1325563"/>
          </a:xfrm>
        </p:spPr>
        <p:txBody>
          <a:bodyPr/>
          <a:lstStyle/>
          <a:p>
            <a:r>
              <a:rPr lang="es-PE" sz="4000" b="1" dirty="0"/>
              <a:t>Determinación de T. de Interés con</a:t>
            </a:r>
            <a:br>
              <a:rPr lang="es-PE" sz="4000" b="1" dirty="0"/>
            </a:br>
            <a:r>
              <a:rPr lang="es-PE" sz="4000" b="1" dirty="0"/>
              <a:t>Competencia Monopolística : Créditos</a:t>
            </a:r>
            <a:endParaRPr lang="es-PE" sz="4000"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169E66A0-CDE1-2106-9069-3F6384ED0309}"/>
                  </a:ext>
                </a:extLst>
              </p:cNvPr>
              <p:cNvSpPr>
                <a:spLocks noGrp="1"/>
              </p:cNvSpPr>
              <p:nvPr>
                <p:ph idx="1"/>
              </p:nvPr>
            </p:nvSpPr>
            <p:spPr>
              <a:xfrm>
                <a:off x="335360" y="1444625"/>
                <a:ext cx="11672490" cy="4929188"/>
              </a:xfrm>
            </p:spPr>
            <p:txBody>
              <a:bodyPr/>
              <a:lstStyle/>
              <a:p>
                <a:pPr>
                  <a:lnSpc>
                    <a:spcPct val="150000"/>
                  </a:lnSpc>
                </a:pPr>
                <a:r>
                  <a:rPr lang="es-ES" sz="2000" dirty="0"/>
                  <a:t>a respuesta de los créditos a un cambio de la tasa de interés activa (</a:t>
                </a:r>
                <a:r>
                  <a:rPr lang="es-ES" sz="2000" b="1" u="sng" dirty="0"/>
                  <a:t>elasticidad de créditos a la tasa de interés)</a:t>
                </a:r>
                <a:r>
                  <a:rPr lang="es-ES" sz="2000" dirty="0"/>
                  <a:t> se define como:</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𝜀</m:t>
                          </m:r>
                        </m:e>
                        <m:sub>
                          <m:r>
                            <a:rPr lang="es-PE" sz="2000" b="0" i="1" smtClean="0">
                              <a:latin typeface="Cambria Math" panose="02040503050406030204" pitchFamily="18" charset="0"/>
                            </a:rPr>
                            <m:t>𝐿</m:t>
                          </m:r>
                        </m:sub>
                      </m:sSub>
                      <m:r>
                        <a:rPr lang="es-PE" sz="2000" b="0" i="1" smtClean="0">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𝑑</m:t>
                          </m:r>
                          <m:sSub>
                            <m:sSubPr>
                              <m:ctrlPr>
                                <a:rPr lang="es-ES" sz="2000" i="1">
                                  <a:latin typeface="Cambria Math" panose="02040503050406030204" pitchFamily="18" charset="0"/>
                                </a:rPr>
                              </m:ctrlPr>
                            </m:sSubPr>
                            <m:e>
                              <m:r>
                                <a:rPr lang="es-PE" sz="2000" i="1">
                                  <a:latin typeface="Cambria Math" panose="02040503050406030204" pitchFamily="18" charset="0"/>
                                </a:rPr>
                                <m:t>𝑅</m:t>
                              </m:r>
                            </m:e>
                            <m:sub>
                              <m:r>
                                <a:rPr lang="es-PE" sz="2000" i="1">
                                  <a:latin typeface="Cambria Math" panose="02040503050406030204" pitchFamily="18" charset="0"/>
                                </a:rPr>
                                <m:t>𝐿</m:t>
                              </m:r>
                            </m:sub>
                          </m:sSub>
                          <m:d>
                            <m:dPr>
                              <m:ctrlPr>
                                <a:rPr lang="es-PE" sz="2000" i="1">
                                  <a:latin typeface="Cambria Math" panose="02040503050406030204" pitchFamily="18" charset="0"/>
                                </a:rPr>
                              </m:ctrlPr>
                            </m:dPr>
                            <m:e>
                              <m:r>
                                <a:rPr lang="es-PE" sz="2000" i="1">
                                  <a:latin typeface="Cambria Math" panose="02040503050406030204" pitchFamily="18" charset="0"/>
                                </a:rPr>
                                <m:t>𝐿</m:t>
                              </m:r>
                            </m:e>
                          </m:d>
                        </m:num>
                        <m:den>
                          <m:sSub>
                            <m:sSubPr>
                              <m:ctrlPr>
                                <a:rPr lang="es-PE" sz="2000" i="1">
                                  <a:latin typeface="Cambria Math" panose="02040503050406030204" pitchFamily="18" charset="0"/>
                                </a:rPr>
                              </m:ctrlPr>
                            </m:sSubPr>
                            <m:e>
                              <m:r>
                                <a:rPr lang="es-PE" sz="2000" i="1">
                                  <a:latin typeface="Cambria Math" panose="02040503050406030204" pitchFamily="18" charset="0"/>
                                </a:rPr>
                                <m:t>𝑅</m:t>
                              </m:r>
                            </m:e>
                            <m:sub>
                              <m:r>
                                <a:rPr lang="es-PE" sz="2000" i="1">
                                  <a:latin typeface="Cambria Math" panose="02040503050406030204" pitchFamily="18" charset="0"/>
                                </a:rPr>
                                <m:t>𝐿</m:t>
                              </m:r>
                            </m:sub>
                          </m:sSub>
                        </m:den>
                      </m:f>
                      <m:f>
                        <m:fPr>
                          <m:ctrlPr>
                            <a:rPr lang="es-PE" sz="2000" i="1">
                              <a:latin typeface="Cambria Math" panose="02040503050406030204" pitchFamily="18" charset="0"/>
                            </a:rPr>
                          </m:ctrlPr>
                        </m:fPr>
                        <m:num>
                          <m:r>
                            <a:rPr lang="es-PE" sz="2000" i="1">
                              <a:latin typeface="Cambria Math" panose="02040503050406030204" pitchFamily="18" charset="0"/>
                            </a:rPr>
                            <m:t>𝐿</m:t>
                          </m:r>
                        </m:num>
                        <m:den>
                          <m:r>
                            <a:rPr lang="es-ES" sz="2000" i="1">
                              <a:latin typeface="Cambria Math" panose="02040503050406030204" pitchFamily="18" charset="0"/>
                            </a:rPr>
                            <m:t>𝑑</m:t>
                          </m:r>
                          <m:r>
                            <a:rPr lang="es-PE" sz="2000" i="1">
                              <a:latin typeface="Cambria Math" panose="02040503050406030204" pitchFamily="18" charset="0"/>
                            </a:rPr>
                            <m:t>𝐿</m:t>
                          </m:r>
                        </m:den>
                      </m:f>
                    </m:oMath>
                  </m:oMathPara>
                </a14:m>
                <a:endParaRPr lang="es-ES" sz="2000" dirty="0"/>
              </a:p>
              <a:p>
                <a:pPr marL="263525" indent="0">
                  <a:lnSpc>
                    <a:spcPct val="150000"/>
                  </a:lnSpc>
                  <a:buNone/>
                </a:pPr>
                <a:r>
                  <a:rPr lang="es-ES" sz="2000" dirty="0"/>
                  <a:t>Si </a:t>
                </a:r>
                <a:r>
                  <a:rPr lang="es-ES" sz="2000" dirty="0">
                    <a:latin typeface="Arial" panose="020B0604020202020204" pitchFamily="34" charset="0"/>
                    <a:cs typeface="Arial" panose="020B0604020202020204" pitchFamily="34" charset="0"/>
                  </a:rPr>
                  <a:t>↑</a:t>
                </a:r>
                <a:r>
                  <a:rPr lang="es-ES" sz="2000" dirty="0"/>
                  <a:t> la tasa de interés de crédito, quienes desean tomar un préstamo se endeudan menos </a:t>
                </a:r>
                <a:r>
                  <a:rPr lang="es-ES" sz="2000" dirty="0">
                    <a:sym typeface="Wingdings" panose="05000000000000000000" pitchFamily="2" charset="2"/>
                  </a:rPr>
                  <a:t> </a:t>
                </a:r>
                <a:r>
                  <a:rPr lang="es-ES" sz="2000" dirty="0"/>
                  <a:t>relación negativa clara.</a:t>
                </a:r>
              </a:p>
              <a:p>
                <a:pPr marL="0" indent="0" algn="ctr">
                  <a:lnSpc>
                    <a:spcPct val="150000"/>
                  </a:lnSpc>
                  <a:buNone/>
                </a:pPr>
                <a14:m>
                  <m:oMathPara xmlns:m="http://schemas.openxmlformats.org/officeDocument/2006/math">
                    <m:oMathParaPr>
                      <m:jc m:val="centerGroup"/>
                    </m:oMathParaPr>
                    <m:oMath xmlns:m="http://schemas.openxmlformats.org/officeDocument/2006/math">
                      <m:r>
                        <a:rPr lang="es-PE" sz="2000" b="0" i="1" smtClean="0">
                          <a:latin typeface="Cambria Math" panose="02040503050406030204" pitchFamily="18" charset="0"/>
                        </a:rPr>
                        <m:t> </m:t>
                      </m:r>
                      <m:sSub>
                        <m:sSubPr>
                          <m:ctrlPr>
                            <a:rPr lang="es-PE" sz="2000" i="1">
                              <a:latin typeface="Cambria Math" panose="02040503050406030204" pitchFamily="18" charset="0"/>
                            </a:rPr>
                          </m:ctrlPr>
                        </m:sSubPr>
                        <m:e>
                          <m:r>
                            <a:rPr lang="es-PE" sz="2000" i="1">
                              <a:latin typeface="Cambria Math" panose="02040503050406030204" pitchFamily="18" charset="0"/>
                            </a:rPr>
                            <m:t>𝑅</m:t>
                          </m:r>
                        </m:e>
                        <m:sub>
                          <m:r>
                            <a:rPr lang="es-PE" sz="2000" i="1">
                              <a:latin typeface="Cambria Math" panose="02040503050406030204" pitchFamily="18" charset="0"/>
                            </a:rPr>
                            <m:t>𝐿</m:t>
                          </m:r>
                        </m:sub>
                      </m:sSub>
                      <m:d>
                        <m:dPr>
                          <m:ctrlPr>
                            <a:rPr lang="es-PE" sz="2000" i="1">
                              <a:latin typeface="Cambria Math" panose="02040503050406030204" pitchFamily="18" charset="0"/>
                            </a:rPr>
                          </m:ctrlPr>
                        </m:dPr>
                        <m:e>
                          <m:r>
                            <a:rPr lang="es-PE" sz="2000" i="1">
                              <a:latin typeface="Cambria Math" panose="02040503050406030204" pitchFamily="18" charset="0"/>
                            </a:rPr>
                            <m:t>𝐿</m:t>
                          </m:r>
                        </m:e>
                      </m:d>
                      <m:d>
                        <m:dPr>
                          <m:begChr m:val="["/>
                          <m:endChr m:val="]"/>
                          <m:ctrlPr>
                            <a:rPr lang="es-PE" sz="2000" b="0" i="1" smtClean="0">
                              <a:latin typeface="Cambria Math" panose="02040503050406030204" pitchFamily="18" charset="0"/>
                            </a:rPr>
                          </m:ctrlPr>
                        </m:dPr>
                        <m:e>
                          <m:r>
                            <a:rPr lang="es-PE" sz="2000" b="0" i="1" smtClean="0">
                              <a:latin typeface="Cambria Math" panose="02040503050406030204" pitchFamily="18" charset="0"/>
                            </a:rPr>
                            <m:t>1−</m:t>
                          </m:r>
                          <m:f>
                            <m:fPr>
                              <m:ctrlPr>
                                <a:rPr lang="es-PE" sz="2000" i="1" smtClean="0">
                                  <a:latin typeface="Cambria Math" panose="02040503050406030204" pitchFamily="18" charset="0"/>
                                </a:rPr>
                              </m:ctrlPr>
                            </m:fPr>
                            <m:num>
                              <m:r>
                                <a:rPr lang="es-PE" sz="2000" b="0" i="1" smtClean="0">
                                  <a:latin typeface="Cambria Math" panose="02040503050406030204" pitchFamily="18" charset="0"/>
                                </a:rPr>
                                <m:t>1</m:t>
                              </m:r>
                            </m:num>
                            <m:den>
                              <m:sSub>
                                <m:sSubPr>
                                  <m:ctrlPr>
                                    <a:rPr lang="es-PE" sz="2000" b="0" i="1" smtClean="0">
                                      <a:latin typeface="Cambria Math" panose="02040503050406030204" pitchFamily="18" charset="0"/>
                                    </a:rPr>
                                  </m:ctrlPr>
                                </m:sSubPr>
                                <m:e>
                                  <m:r>
                                    <a:rPr lang="es-PE" sz="2000" b="0" i="1" smtClean="0">
                                      <a:latin typeface="Cambria Math" panose="02040503050406030204" pitchFamily="18" charset="0"/>
                                      <a:ea typeface="Cambria Math" panose="02040503050406030204" pitchFamily="18" charset="0"/>
                                    </a:rPr>
                                    <m:t>𝜀</m:t>
                                  </m:r>
                                </m:e>
                                <m:sub>
                                  <m:r>
                                    <a:rPr lang="es-PE" sz="2000" b="0" i="1" smtClean="0">
                                      <a:latin typeface="Cambria Math" panose="02040503050406030204" pitchFamily="18" charset="0"/>
                                    </a:rPr>
                                    <m:t>𝐿</m:t>
                                  </m:r>
                                </m:sub>
                              </m:sSub>
                            </m:den>
                          </m:f>
                        </m:e>
                      </m:d>
                      <m:r>
                        <a:rPr lang="es-PE" sz="2000" b="0" i="1" smtClean="0">
                          <a:latin typeface="Cambria Math" panose="02040503050406030204" pitchFamily="18" charset="0"/>
                        </a:rPr>
                        <m:t>=</m:t>
                      </m:r>
                      <m:r>
                        <a:rPr lang="es-PE" sz="2000" i="1">
                          <a:latin typeface="Cambria Math" panose="02040503050406030204" pitchFamily="18" charset="0"/>
                        </a:rPr>
                        <m:t>𝑅</m:t>
                      </m:r>
                      <m:r>
                        <a:rPr lang="es-PE" sz="2000" b="0" i="1" smtClean="0">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𝑑</m:t>
                          </m:r>
                          <m:r>
                            <a:rPr lang="es-PE" sz="2000" i="1">
                              <a:latin typeface="Cambria Math" panose="02040503050406030204" pitchFamily="18" charset="0"/>
                              <a:ea typeface="Cambria Math" panose="02040503050406030204" pitchFamily="18" charset="0"/>
                            </a:rPr>
                            <m:t>𝐶</m:t>
                          </m:r>
                        </m:num>
                        <m:den>
                          <m:r>
                            <a:rPr lang="es-ES" sz="2000" i="1">
                              <a:latin typeface="Cambria Math" panose="02040503050406030204" pitchFamily="18" charset="0"/>
                            </a:rPr>
                            <m:t>𝑑</m:t>
                          </m:r>
                          <m:r>
                            <a:rPr lang="es-PE" sz="2000" i="1">
                              <a:latin typeface="Cambria Math" panose="02040503050406030204" pitchFamily="18" charset="0"/>
                            </a:rPr>
                            <m:t>𝐿</m:t>
                          </m:r>
                        </m:den>
                      </m:f>
                    </m:oMath>
                  </m:oMathPara>
                </a14:m>
                <a:endParaRPr lang="es-PE" sz="2000" dirty="0"/>
              </a:p>
              <a:p>
                <a:pPr marL="0" indent="0" algn="ctr">
                  <a:lnSpc>
                    <a:spcPct val="150000"/>
                  </a:lnSpc>
                  <a:buNone/>
                </a:pPr>
                <a14:m>
                  <m:oMathPara xmlns:m="http://schemas.openxmlformats.org/officeDocument/2006/math">
                    <m:oMathParaPr>
                      <m:jc m:val="centerGroup"/>
                    </m:oMathParaPr>
                    <m:oMath xmlns:m="http://schemas.openxmlformats.org/officeDocument/2006/math">
                      <m:sSub>
                        <m:sSubPr>
                          <m:ctrlPr>
                            <a:rPr lang="es-PE" sz="2000" i="1">
                              <a:latin typeface="Cambria Math" panose="02040503050406030204" pitchFamily="18" charset="0"/>
                            </a:rPr>
                          </m:ctrlPr>
                        </m:sSubPr>
                        <m:e>
                          <m:r>
                            <a:rPr lang="es-PE" sz="2000" i="1">
                              <a:latin typeface="Cambria Math" panose="02040503050406030204" pitchFamily="18" charset="0"/>
                            </a:rPr>
                            <m:t>𝑅</m:t>
                          </m:r>
                        </m:e>
                        <m:sub>
                          <m:r>
                            <a:rPr lang="es-PE" sz="2000" i="1">
                              <a:latin typeface="Cambria Math" panose="02040503050406030204" pitchFamily="18" charset="0"/>
                            </a:rPr>
                            <m:t>𝐿</m:t>
                          </m:r>
                        </m:sub>
                      </m:sSub>
                      <m:d>
                        <m:dPr>
                          <m:ctrlPr>
                            <a:rPr lang="es-PE" sz="2000" i="1">
                              <a:latin typeface="Cambria Math" panose="02040503050406030204" pitchFamily="18" charset="0"/>
                            </a:rPr>
                          </m:ctrlPr>
                        </m:dPr>
                        <m:e>
                          <m:r>
                            <a:rPr lang="es-PE" sz="2000" i="1">
                              <a:latin typeface="Cambria Math" panose="02040503050406030204" pitchFamily="18" charset="0"/>
                            </a:rPr>
                            <m:t>𝐿</m:t>
                          </m:r>
                        </m:e>
                      </m:d>
                      <m:r>
                        <a:rPr lang="es-PE" sz="2000" b="0" i="1" smtClean="0">
                          <a:latin typeface="Cambria Math" panose="02040503050406030204" pitchFamily="18" charset="0"/>
                        </a:rPr>
                        <m:t>=</m:t>
                      </m:r>
                      <m:d>
                        <m:dPr>
                          <m:begChr m:val="["/>
                          <m:endChr m:val="]"/>
                          <m:ctrlPr>
                            <a:rPr lang="es-PE" sz="2000" i="1">
                              <a:latin typeface="Cambria Math" panose="02040503050406030204" pitchFamily="18" charset="0"/>
                            </a:rPr>
                          </m:ctrlPr>
                        </m:dPr>
                        <m:e>
                          <m:f>
                            <m:fPr>
                              <m:ctrlPr>
                                <a:rPr lang="es-PE" sz="2000" i="1">
                                  <a:latin typeface="Cambria Math" panose="02040503050406030204" pitchFamily="18" charset="0"/>
                                </a:rPr>
                              </m:ctrlPr>
                            </m:fPr>
                            <m:num>
                              <m:sSub>
                                <m:sSubPr>
                                  <m:ctrlPr>
                                    <a:rPr lang="es-PE" sz="2000" i="1" smtClean="0">
                                      <a:latin typeface="Cambria Math" panose="02040503050406030204" pitchFamily="18" charset="0"/>
                                    </a:rPr>
                                  </m:ctrlPr>
                                </m:sSubPr>
                                <m:e>
                                  <m:r>
                                    <a:rPr lang="es-PE" sz="2000" i="1" smtClean="0">
                                      <a:latin typeface="Cambria Math" panose="02040503050406030204" pitchFamily="18" charset="0"/>
                                      <a:ea typeface="Cambria Math" panose="02040503050406030204" pitchFamily="18" charset="0"/>
                                    </a:rPr>
                                    <m:t>𝜀</m:t>
                                  </m:r>
                                </m:e>
                                <m:sub>
                                  <m:r>
                                    <a:rPr lang="es-PE" sz="2000" b="0" i="1" smtClean="0">
                                      <a:latin typeface="Cambria Math" panose="02040503050406030204" pitchFamily="18" charset="0"/>
                                    </a:rPr>
                                    <m:t>𝐿</m:t>
                                  </m:r>
                                </m:sub>
                              </m:sSub>
                            </m:num>
                            <m:den>
                              <m:sSub>
                                <m:sSubPr>
                                  <m:ctrlPr>
                                    <a:rPr lang="es-PE" sz="2000" i="1">
                                      <a:latin typeface="Cambria Math" panose="02040503050406030204" pitchFamily="18" charset="0"/>
                                    </a:rPr>
                                  </m:ctrlPr>
                                </m:sSubPr>
                                <m:e>
                                  <m:r>
                                    <a:rPr lang="es-PE" sz="2000" i="1">
                                      <a:latin typeface="Cambria Math" panose="02040503050406030204" pitchFamily="18" charset="0"/>
                                      <a:ea typeface="Cambria Math" panose="02040503050406030204" pitchFamily="18" charset="0"/>
                                    </a:rPr>
                                    <m:t>𝜀</m:t>
                                  </m:r>
                                </m:e>
                                <m:sub>
                                  <m:r>
                                    <a:rPr lang="es-PE" sz="2000" i="1">
                                      <a:latin typeface="Cambria Math" panose="02040503050406030204" pitchFamily="18" charset="0"/>
                                    </a:rPr>
                                    <m:t>𝐿</m:t>
                                  </m:r>
                                </m:sub>
                              </m:sSub>
                              <m:r>
                                <a:rPr lang="es-PE" sz="2000" b="0" i="1" smtClean="0">
                                  <a:latin typeface="Cambria Math" panose="02040503050406030204" pitchFamily="18" charset="0"/>
                                </a:rPr>
                                <m:t>−1</m:t>
                              </m:r>
                            </m:den>
                          </m:f>
                        </m:e>
                      </m:d>
                      <m:r>
                        <a:rPr lang="es-PE" sz="2000" b="0" i="1" smtClean="0">
                          <a:latin typeface="Cambria Math" panose="02040503050406030204" pitchFamily="18" charset="0"/>
                        </a:rPr>
                        <m:t>(</m:t>
                      </m:r>
                      <m:r>
                        <a:rPr lang="es-PE" sz="2000" i="1">
                          <a:latin typeface="Cambria Math" panose="02040503050406030204" pitchFamily="18" charset="0"/>
                        </a:rPr>
                        <m:t>𝑅</m:t>
                      </m:r>
                      <m:r>
                        <a:rPr lang="es-PE"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𝑑</m:t>
                          </m:r>
                          <m:r>
                            <a:rPr lang="es-PE" sz="2000" i="1">
                              <a:latin typeface="Cambria Math" panose="02040503050406030204" pitchFamily="18" charset="0"/>
                              <a:ea typeface="Cambria Math" panose="02040503050406030204" pitchFamily="18" charset="0"/>
                            </a:rPr>
                            <m:t>𝐶</m:t>
                          </m:r>
                        </m:num>
                        <m:den>
                          <m:r>
                            <a:rPr lang="es-ES" sz="2000" i="1">
                              <a:latin typeface="Cambria Math" panose="02040503050406030204" pitchFamily="18" charset="0"/>
                            </a:rPr>
                            <m:t>𝑑</m:t>
                          </m:r>
                          <m:r>
                            <a:rPr lang="es-PE" sz="2000" i="1">
                              <a:latin typeface="Cambria Math" panose="02040503050406030204" pitchFamily="18" charset="0"/>
                            </a:rPr>
                            <m:t>𝐿</m:t>
                          </m:r>
                        </m:den>
                      </m:f>
                      <m:r>
                        <a:rPr lang="es-PE" sz="2000" b="0" i="1" smtClean="0">
                          <a:latin typeface="Cambria Math" panose="02040503050406030204" pitchFamily="18" charset="0"/>
                        </a:rPr>
                        <m:t>)</m:t>
                      </m:r>
                    </m:oMath>
                  </m:oMathPara>
                </a14:m>
                <a:endParaRPr lang="es-ES" sz="2000" dirty="0"/>
              </a:p>
              <a:p>
                <a:pPr marL="0" indent="0" algn="ctr">
                  <a:lnSpc>
                    <a:spcPct val="150000"/>
                  </a:lnSpc>
                  <a:buNone/>
                </a:pPr>
                <a:endParaRPr lang="es-ES" sz="2000" dirty="0"/>
              </a:p>
              <a:p>
                <a:pPr>
                  <a:lnSpc>
                    <a:spcPct val="150000"/>
                  </a:lnSpc>
                </a:pPr>
                <a:endParaRPr lang="es-ES" sz="2000" dirty="0"/>
              </a:p>
            </p:txBody>
          </p:sp>
        </mc:Choice>
        <mc:Fallback>
          <p:sp>
            <p:nvSpPr>
              <p:cNvPr id="3" name="Marcador de contenido 2">
                <a:extLst>
                  <a:ext uri="{FF2B5EF4-FFF2-40B4-BE49-F238E27FC236}">
                    <a16:creationId xmlns:a16="http://schemas.microsoft.com/office/drawing/2014/main" id="{169E66A0-CDE1-2106-9069-3F6384ED0309}"/>
                  </a:ext>
                </a:extLst>
              </p:cNvPr>
              <p:cNvSpPr>
                <a:spLocks noGrp="1" noRot="1" noChangeAspect="1" noMove="1" noResize="1" noEditPoints="1" noAdjustHandles="1" noChangeArrowheads="1" noChangeShapeType="1" noTextEdit="1"/>
              </p:cNvSpPr>
              <p:nvPr>
                <p:ph idx="1"/>
              </p:nvPr>
            </p:nvSpPr>
            <p:spPr>
              <a:xfrm>
                <a:off x="335360" y="1444625"/>
                <a:ext cx="11672490" cy="4929188"/>
              </a:xfrm>
              <a:blipFill>
                <a:blip r:embed="rId2"/>
                <a:stretch>
                  <a:fillRect l="-470"/>
                </a:stretch>
              </a:blipFill>
            </p:spPr>
            <p:txBody>
              <a:bodyPr/>
              <a:lstStyle/>
              <a:p>
                <a:r>
                  <a:rPr lang="es-PE">
                    <a:noFill/>
                  </a:rPr>
                  <a:t> </a:t>
                </a:r>
              </a:p>
            </p:txBody>
          </p:sp>
        </mc:Fallback>
      </mc:AlternateContent>
      <p:sp>
        <p:nvSpPr>
          <p:cNvPr id="4" name="Marcador de número de diapositiva 3">
            <a:extLst>
              <a:ext uri="{FF2B5EF4-FFF2-40B4-BE49-F238E27FC236}">
                <a16:creationId xmlns:a16="http://schemas.microsoft.com/office/drawing/2014/main" id="{63BAD148-5049-20C7-AA2C-CF0E896472EE}"/>
              </a:ext>
            </a:extLst>
          </p:cNvPr>
          <p:cNvSpPr>
            <a:spLocks noGrp="1"/>
          </p:cNvSpPr>
          <p:nvPr>
            <p:ph type="sldNum" sz="quarter" idx="12"/>
          </p:nvPr>
        </p:nvSpPr>
        <p:spPr/>
        <p:txBody>
          <a:bodyPr/>
          <a:lstStyle/>
          <a:p>
            <a:pPr>
              <a:defRPr/>
            </a:pPr>
            <a:fld id="{8E639104-18EF-4017-8EC8-89CC3800080B}" type="slidenum">
              <a:rPr lang="es-PE" altLang="es-PE" smtClean="0"/>
              <a:pPr>
                <a:defRPr/>
              </a:pPr>
              <a:t>39</a:t>
            </a:fld>
            <a:endParaRPr lang="es-PE" altLang="es-PE"/>
          </a:p>
        </p:txBody>
      </p:sp>
    </p:spTree>
    <p:extLst>
      <p:ext uri="{BB962C8B-B14F-4D97-AF65-F5344CB8AC3E}">
        <p14:creationId xmlns:p14="http://schemas.microsoft.com/office/powerpoint/2010/main" val="4486800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13550-959E-BC7F-1F60-81BB79AC1F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054FAB-E614-42F5-1910-432FB3989DB2}"/>
              </a:ext>
            </a:extLst>
          </p:cNvPr>
          <p:cNvSpPr>
            <a:spLocks noGrp="1"/>
          </p:cNvSpPr>
          <p:nvPr>
            <p:ph type="title"/>
          </p:nvPr>
        </p:nvSpPr>
        <p:spPr>
          <a:xfrm>
            <a:off x="551384" y="126598"/>
            <a:ext cx="10515600" cy="1325563"/>
          </a:xfrm>
        </p:spPr>
        <p:txBody>
          <a:bodyPr/>
          <a:lstStyle/>
          <a:p>
            <a:r>
              <a:rPr lang="es-PE" sz="4000" b="1" dirty="0"/>
              <a:t>Determinación de T. de Interés con</a:t>
            </a:r>
            <a:br>
              <a:rPr lang="es-PE" sz="4000" b="1" dirty="0"/>
            </a:br>
            <a:r>
              <a:rPr lang="es-PE" sz="4000" b="1" dirty="0"/>
              <a:t>Competencia Monopolística : Créditos</a:t>
            </a:r>
            <a:endParaRPr lang="es-PE" sz="4000" dirty="0"/>
          </a:p>
        </p:txBody>
      </p:sp>
      <p:sp>
        <p:nvSpPr>
          <p:cNvPr id="3" name="Marcador de contenido 2">
            <a:extLst>
              <a:ext uri="{FF2B5EF4-FFF2-40B4-BE49-F238E27FC236}">
                <a16:creationId xmlns:a16="http://schemas.microsoft.com/office/drawing/2014/main" id="{D3EBC0C1-BE04-FAE1-9C06-B22F472A7CAE}"/>
              </a:ext>
            </a:extLst>
          </p:cNvPr>
          <p:cNvSpPr>
            <a:spLocks noGrp="1"/>
          </p:cNvSpPr>
          <p:nvPr>
            <p:ph idx="1"/>
          </p:nvPr>
        </p:nvSpPr>
        <p:spPr>
          <a:xfrm>
            <a:off x="695400" y="1445200"/>
            <a:ext cx="10945216" cy="5224159"/>
          </a:xfrm>
        </p:spPr>
        <p:txBody>
          <a:bodyPr/>
          <a:lstStyle/>
          <a:p>
            <a:pPr marL="0" indent="0">
              <a:lnSpc>
                <a:spcPct val="150000"/>
              </a:lnSpc>
              <a:buNone/>
            </a:pPr>
            <a:r>
              <a:rPr lang="es-ES" sz="2400" dirty="0"/>
              <a:t>Cabe recordar que en competencia monopolística:</a:t>
            </a:r>
          </a:p>
          <a:p>
            <a:pPr>
              <a:lnSpc>
                <a:spcPct val="150000"/>
              </a:lnSpc>
            </a:pPr>
            <a:r>
              <a:rPr lang="es-ES" sz="2400" dirty="0"/>
              <a:t>Si </a:t>
            </a:r>
            <a:r>
              <a:rPr lang="el-GR" sz="2400" dirty="0">
                <a:latin typeface="Calibri" panose="020F0502020204030204" pitchFamily="34" charset="0"/>
                <a:ea typeface="Calibri" panose="020F0502020204030204" pitchFamily="34" charset="0"/>
                <a:cs typeface="Calibri" panose="020F0502020204030204" pitchFamily="34" charset="0"/>
              </a:rPr>
              <a:t>ε</a:t>
            </a:r>
            <a:r>
              <a:rPr lang="es-PE" sz="2400" baseline="-25000" dirty="0">
                <a:latin typeface="Calibri" panose="020F0502020204030204" pitchFamily="34" charset="0"/>
                <a:ea typeface="Calibri" panose="020F0502020204030204" pitchFamily="34" charset="0"/>
                <a:cs typeface="Calibri" panose="020F0502020204030204" pitchFamily="34" charset="0"/>
              </a:rPr>
              <a:t>L</a:t>
            </a:r>
            <a:r>
              <a:rPr lang="es-ES" sz="2400" dirty="0"/>
              <a:t>&gt; 1 ; el monopolista opera en el tramo elástico de la demanda.</a:t>
            </a:r>
          </a:p>
          <a:p>
            <a:pPr>
              <a:lnSpc>
                <a:spcPct val="150000"/>
              </a:lnSpc>
            </a:pPr>
            <a:r>
              <a:rPr lang="es-ES" sz="2400" dirty="0"/>
              <a:t>Si </a:t>
            </a:r>
            <a:r>
              <a:rPr lang="el-GR" sz="2400" dirty="0">
                <a:latin typeface="Calibri" panose="020F0502020204030204" pitchFamily="34" charset="0"/>
                <a:ea typeface="Calibri" panose="020F0502020204030204" pitchFamily="34" charset="0"/>
                <a:cs typeface="Calibri" panose="020F0502020204030204" pitchFamily="34" charset="0"/>
              </a:rPr>
              <a:t>ε</a:t>
            </a:r>
            <a:r>
              <a:rPr lang="es-PE" sz="2400" baseline="-25000" dirty="0">
                <a:latin typeface="Calibri" panose="020F0502020204030204" pitchFamily="34" charset="0"/>
                <a:ea typeface="Calibri" panose="020F0502020204030204" pitchFamily="34" charset="0"/>
                <a:cs typeface="Calibri" panose="020F0502020204030204" pitchFamily="34" charset="0"/>
              </a:rPr>
              <a:t>L</a:t>
            </a:r>
            <a:r>
              <a:rPr lang="es-ES" sz="2400" dirty="0"/>
              <a:t>= 1 ; ganancia extraordinaria tiende a infinito (el banco se convierte en monopolista ‘natural’).</a:t>
            </a:r>
          </a:p>
          <a:p>
            <a:pPr marL="263525" indent="0">
              <a:lnSpc>
                <a:spcPct val="150000"/>
              </a:lnSpc>
              <a:buNone/>
            </a:pPr>
            <a:r>
              <a:rPr lang="es-ES" sz="2400" dirty="0"/>
              <a:t>Ello debido a que el </a:t>
            </a:r>
            <a:r>
              <a:rPr lang="es-ES" sz="2400" dirty="0" err="1"/>
              <a:t>CMe</a:t>
            </a:r>
            <a:r>
              <a:rPr lang="es-ES" sz="2400" dirty="0"/>
              <a:t> sería decreciente. Así, la escala puede hacer que el banco que distribuye el ‘bien’ (el crédito) se hace gigante.</a:t>
            </a:r>
          </a:p>
          <a:p>
            <a:pPr>
              <a:lnSpc>
                <a:spcPct val="150000"/>
              </a:lnSpc>
            </a:pPr>
            <a:r>
              <a:rPr lang="es-ES" sz="2400" dirty="0"/>
              <a:t>Si </a:t>
            </a:r>
            <a:r>
              <a:rPr lang="el-GR" sz="2400" dirty="0">
                <a:latin typeface="Calibri" panose="020F0502020204030204" pitchFamily="34" charset="0"/>
                <a:ea typeface="Calibri" panose="020F0502020204030204" pitchFamily="34" charset="0"/>
                <a:cs typeface="Calibri" panose="020F0502020204030204" pitchFamily="34" charset="0"/>
              </a:rPr>
              <a:t>ε</a:t>
            </a:r>
            <a:r>
              <a:rPr lang="es-PE" sz="2400" baseline="-25000" dirty="0">
                <a:latin typeface="Calibri" panose="020F0502020204030204" pitchFamily="34" charset="0"/>
                <a:ea typeface="Calibri" panose="020F0502020204030204" pitchFamily="34" charset="0"/>
                <a:cs typeface="Calibri" panose="020F0502020204030204" pitchFamily="34" charset="0"/>
              </a:rPr>
              <a:t>L</a:t>
            </a:r>
            <a:r>
              <a:rPr lang="es-ES" sz="2400" dirty="0"/>
              <a:t>= ∞ la competencia sería perfecta (la ganancia extraordinaria sería igual a 1)</a:t>
            </a:r>
          </a:p>
          <a:p>
            <a:pPr>
              <a:lnSpc>
                <a:spcPct val="150000"/>
              </a:lnSpc>
            </a:pPr>
            <a:r>
              <a:rPr lang="es-ES" sz="2400" dirty="0"/>
              <a:t>En ჻ la elasticidad cumple que: 1&lt; </a:t>
            </a:r>
            <a:r>
              <a:rPr lang="el-GR" sz="2400" dirty="0">
                <a:latin typeface="Calibri" panose="020F0502020204030204" pitchFamily="34" charset="0"/>
                <a:ea typeface="Calibri" panose="020F0502020204030204" pitchFamily="34" charset="0"/>
                <a:cs typeface="Calibri" panose="020F0502020204030204" pitchFamily="34" charset="0"/>
              </a:rPr>
              <a:t>ε</a:t>
            </a:r>
            <a:r>
              <a:rPr lang="es-PE" sz="2400" baseline="-25000" dirty="0">
                <a:latin typeface="Calibri" panose="020F0502020204030204" pitchFamily="34" charset="0"/>
                <a:ea typeface="Calibri" panose="020F0502020204030204" pitchFamily="34" charset="0"/>
                <a:cs typeface="Calibri" panose="020F0502020204030204" pitchFamily="34" charset="0"/>
              </a:rPr>
              <a:t>L</a:t>
            </a:r>
            <a:r>
              <a:rPr lang="es-ES" sz="2400" dirty="0"/>
              <a:t>&lt; ∞</a:t>
            </a:r>
          </a:p>
        </p:txBody>
      </p:sp>
      <p:sp>
        <p:nvSpPr>
          <p:cNvPr id="4" name="Marcador de número de diapositiva 3">
            <a:extLst>
              <a:ext uri="{FF2B5EF4-FFF2-40B4-BE49-F238E27FC236}">
                <a16:creationId xmlns:a16="http://schemas.microsoft.com/office/drawing/2014/main" id="{FC09F388-0101-9702-EC86-4D3E31E647BB}"/>
              </a:ext>
            </a:extLst>
          </p:cNvPr>
          <p:cNvSpPr>
            <a:spLocks noGrp="1"/>
          </p:cNvSpPr>
          <p:nvPr>
            <p:ph type="sldNum" sz="quarter" idx="12"/>
          </p:nvPr>
        </p:nvSpPr>
        <p:spPr/>
        <p:txBody>
          <a:bodyPr/>
          <a:lstStyle/>
          <a:p>
            <a:pPr>
              <a:defRPr/>
            </a:pPr>
            <a:fld id="{8E639104-18EF-4017-8EC8-89CC3800080B}" type="slidenum">
              <a:rPr lang="es-PE" altLang="es-PE" smtClean="0"/>
              <a:pPr>
                <a:defRPr/>
              </a:pPr>
              <a:t>40</a:t>
            </a:fld>
            <a:endParaRPr lang="es-PE" altLang="es-PE"/>
          </a:p>
        </p:txBody>
      </p:sp>
    </p:spTree>
    <p:extLst>
      <p:ext uri="{BB962C8B-B14F-4D97-AF65-F5344CB8AC3E}">
        <p14:creationId xmlns:p14="http://schemas.microsoft.com/office/powerpoint/2010/main" val="2179133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5783F0-9CEB-6B30-9767-AB2697AA8B52}"/>
              </a:ext>
            </a:extLst>
          </p:cNvPr>
          <p:cNvSpPr>
            <a:spLocks noGrp="1"/>
          </p:cNvSpPr>
          <p:nvPr>
            <p:ph type="title"/>
          </p:nvPr>
        </p:nvSpPr>
        <p:spPr>
          <a:xfrm>
            <a:off x="695400" y="137646"/>
            <a:ext cx="10515600" cy="1325563"/>
          </a:xfrm>
        </p:spPr>
        <p:txBody>
          <a:bodyPr/>
          <a:lstStyle/>
          <a:p>
            <a:r>
              <a:rPr lang="es-PE" sz="4000" b="1" dirty="0"/>
              <a:t>Determinación de T. de Interés con </a:t>
            </a:r>
            <a:br>
              <a:rPr lang="es-PE" sz="4000" b="1" dirty="0"/>
            </a:br>
            <a:r>
              <a:rPr lang="es-PE" sz="4000" b="1" dirty="0"/>
              <a:t>Competencia Monopolística : Créditos</a:t>
            </a:r>
            <a:endParaRPr lang="es-PE" sz="4000" dirty="0"/>
          </a:p>
        </p:txBody>
      </p:sp>
      <p:sp>
        <p:nvSpPr>
          <p:cNvPr id="3" name="Marcador de contenido 2">
            <a:extLst>
              <a:ext uri="{FF2B5EF4-FFF2-40B4-BE49-F238E27FC236}">
                <a16:creationId xmlns:a16="http://schemas.microsoft.com/office/drawing/2014/main" id="{914D74ED-7E56-72FC-F7BE-3970F8DC9A4E}"/>
              </a:ext>
            </a:extLst>
          </p:cNvPr>
          <p:cNvSpPr>
            <a:spLocks noGrp="1"/>
          </p:cNvSpPr>
          <p:nvPr>
            <p:ph idx="1"/>
          </p:nvPr>
        </p:nvSpPr>
        <p:spPr>
          <a:xfrm>
            <a:off x="695400" y="1463209"/>
            <a:ext cx="11312450" cy="4351338"/>
          </a:xfrm>
        </p:spPr>
        <p:txBody>
          <a:bodyPr/>
          <a:lstStyle/>
          <a:p>
            <a:pPr>
              <a:lnSpc>
                <a:spcPct val="150000"/>
              </a:lnSpc>
            </a:pPr>
            <a:r>
              <a:rPr lang="es-ES" sz="2400" dirty="0"/>
              <a:t>Si </a:t>
            </a:r>
            <a:r>
              <a:rPr lang="es-ES" sz="2400" dirty="0" err="1"/>
              <a:t>p.e</a:t>
            </a:r>
            <a:r>
              <a:rPr lang="es-ES" sz="2400" dirty="0"/>
              <a:t> la elasticidad es 2, el monopolista cobraría el doble de lo que cobraría un banco en competencia perfecta, y esa ganancia adicional sería la ganancia extraordinaria. </a:t>
            </a:r>
          </a:p>
          <a:p>
            <a:pPr>
              <a:lnSpc>
                <a:spcPct val="150000"/>
              </a:lnSpc>
            </a:pPr>
            <a:r>
              <a:rPr lang="es-ES" sz="2400" dirty="0"/>
              <a:t>Si la elasticidad disminuye el monopolista tendría mucha más ganancia extraordinaria. Así que le conviene la menor elasticidad, o sea, clientes más leales. </a:t>
            </a:r>
          </a:p>
          <a:p>
            <a:pPr>
              <a:lnSpc>
                <a:spcPct val="150000"/>
              </a:lnSpc>
            </a:pPr>
            <a:r>
              <a:rPr lang="es-ES" sz="2400" dirty="0"/>
              <a:t>Cuanto más leal sea el cliente de ese banco, el banco podrá hacer más ganancias (el leal es el que, aunque le suban el precio no se irá, por lo que será el menos elástico).</a:t>
            </a:r>
          </a:p>
          <a:p>
            <a:pPr>
              <a:lnSpc>
                <a:spcPct val="150000"/>
              </a:lnSpc>
            </a:pPr>
            <a:r>
              <a:rPr lang="es-ES" sz="2400" dirty="0"/>
              <a:t>El monopolista para que sus clientes sean más leales otorga promociones, millas, etc. </a:t>
            </a:r>
            <a:endParaRPr lang="es-PE" sz="2400" dirty="0"/>
          </a:p>
        </p:txBody>
      </p:sp>
      <p:sp>
        <p:nvSpPr>
          <p:cNvPr id="4" name="Marcador de número de diapositiva 3">
            <a:extLst>
              <a:ext uri="{FF2B5EF4-FFF2-40B4-BE49-F238E27FC236}">
                <a16:creationId xmlns:a16="http://schemas.microsoft.com/office/drawing/2014/main" id="{2243073C-C668-038E-18D4-5FA3F5D734E2}"/>
              </a:ext>
            </a:extLst>
          </p:cNvPr>
          <p:cNvSpPr>
            <a:spLocks noGrp="1"/>
          </p:cNvSpPr>
          <p:nvPr>
            <p:ph type="sldNum" sz="quarter" idx="12"/>
          </p:nvPr>
        </p:nvSpPr>
        <p:spPr/>
        <p:txBody>
          <a:bodyPr/>
          <a:lstStyle/>
          <a:p>
            <a:pPr>
              <a:defRPr/>
            </a:pPr>
            <a:fld id="{8E639104-18EF-4017-8EC8-89CC3800080B}" type="slidenum">
              <a:rPr lang="es-PE" altLang="es-PE" smtClean="0"/>
              <a:pPr>
                <a:defRPr/>
              </a:pPr>
              <a:t>41</a:t>
            </a:fld>
            <a:endParaRPr lang="es-PE" altLang="es-PE"/>
          </a:p>
        </p:txBody>
      </p:sp>
    </p:spTree>
    <p:extLst>
      <p:ext uri="{BB962C8B-B14F-4D97-AF65-F5344CB8AC3E}">
        <p14:creationId xmlns:p14="http://schemas.microsoft.com/office/powerpoint/2010/main" val="3380278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E88E1-A296-33FC-14B2-8A7383909111}"/>
              </a:ext>
            </a:extLst>
          </p:cNvPr>
          <p:cNvSpPr>
            <a:spLocks noGrp="1"/>
          </p:cNvSpPr>
          <p:nvPr>
            <p:ph type="title"/>
          </p:nvPr>
        </p:nvSpPr>
        <p:spPr>
          <a:xfrm>
            <a:off x="622688" y="144254"/>
            <a:ext cx="10515600" cy="1325563"/>
          </a:xfrm>
        </p:spPr>
        <p:txBody>
          <a:bodyPr/>
          <a:lstStyle/>
          <a:p>
            <a:r>
              <a:rPr lang="es-PE" sz="4000" b="1" dirty="0"/>
              <a:t>Determinación de T. de Interés con</a:t>
            </a:r>
            <a:br>
              <a:rPr lang="es-PE" sz="4000" b="1" dirty="0"/>
            </a:br>
            <a:r>
              <a:rPr lang="es-PE" sz="4000" b="1" dirty="0"/>
              <a:t>Competencia Monopolística: Depósitos</a:t>
            </a:r>
            <a:endParaRPr lang="es-PE" sz="4000" dirty="0"/>
          </a:p>
        </p:txBody>
      </p:sp>
      <p:sp>
        <p:nvSpPr>
          <p:cNvPr id="3" name="Marcador de contenido 2">
            <a:extLst>
              <a:ext uri="{FF2B5EF4-FFF2-40B4-BE49-F238E27FC236}">
                <a16:creationId xmlns:a16="http://schemas.microsoft.com/office/drawing/2014/main" id="{0E68F6A7-3526-7459-549D-8F4B816AE781}"/>
              </a:ext>
            </a:extLst>
          </p:cNvPr>
          <p:cNvSpPr>
            <a:spLocks noGrp="1"/>
          </p:cNvSpPr>
          <p:nvPr>
            <p:ph idx="1"/>
          </p:nvPr>
        </p:nvSpPr>
        <p:spPr>
          <a:xfrm>
            <a:off x="623392" y="1556791"/>
            <a:ext cx="11161240" cy="4817021"/>
          </a:xfrm>
        </p:spPr>
        <p:txBody>
          <a:bodyPr/>
          <a:lstStyle/>
          <a:p>
            <a:pPr>
              <a:lnSpc>
                <a:spcPct val="150000"/>
              </a:lnSpc>
            </a:pPr>
            <a:r>
              <a:rPr lang="es-ES" sz="2400" dirty="0"/>
              <a:t>Un cliente quiere hacer un depósito en el banco A (que tiene poder de mercado como empresa de competencia monopolística) que le permite fondos para prestar a otro banco en el mercado interbancario (de competencia perfecta).</a:t>
            </a:r>
          </a:p>
          <a:p>
            <a:pPr>
              <a:lnSpc>
                <a:spcPct val="150000"/>
              </a:lnSpc>
            </a:pPr>
            <a:r>
              <a:rPr lang="es-ES" sz="2400" dirty="0"/>
              <a:t>Al banco A el depósito le cuesta la tasa de interés de los depósitos (endógena).</a:t>
            </a:r>
          </a:p>
          <a:p>
            <a:pPr>
              <a:lnSpc>
                <a:spcPct val="150000"/>
              </a:lnSpc>
            </a:pPr>
            <a:r>
              <a:rPr lang="es-ES" sz="2400" dirty="0"/>
              <a:t>El precio (la tasa de interés) del depósito cambia si que cambia el volumen: 𝜕𝑅</a:t>
            </a:r>
            <a:r>
              <a:rPr lang="es-ES" sz="2400" baseline="-25000" dirty="0"/>
              <a:t>𝐷</a:t>
            </a:r>
            <a:r>
              <a:rPr lang="es-ES" sz="2400" dirty="0"/>
              <a:t>(𝐷)/𝜕𝐷, y se multiplica por todo el volumen de depósitos.</a:t>
            </a:r>
          </a:p>
          <a:p>
            <a:pPr>
              <a:lnSpc>
                <a:spcPct val="150000"/>
              </a:lnSpc>
            </a:pPr>
            <a:r>
              <a:rPr lang="es-ES" sz="2400" dirty="0"/>
              <a:t>Adicionalmente, para recibir el depósito del cliente se crea una cuenta bancaria, por lo que se incurre en un costo por su evaluación.</a:t>
            </a:r>
          </a:p>
        </p:txBody>
      </p:sp>
      <p:sp>
        <p:nvSpPr>
          <p:cNvPr id="4" name="Marcador de número de diapositiva 3">
            <a:extLst>
              <a:ext uri="{FF2B5EF4-FFF2-40B4-BE49-F238E27FC236}">
                <a16:creationId xmlns:a16="http://schemas.microsoft.com/office/drawing/2014/main" id="{0B533CD4-A950-2AA1-FD53-FFE67AA6E263}"/>
              </a:ext>
            </a:extLst>
          </p:cNvPr>
          <p:cNvSpPr>
            <a:spLocks noGrp="1"/>
          </p:cNvSpPr>
          <p:nvPr>
            <p:ph type="sldNum" sz="quarter" idx="12"/>
          </p:nvPr>
        </p:nvSpPr>
        <p:spPr/>
        <p:txBody>
          <a:bodyPr/>
          <a:lstStyle/>
          <a:p>
            <a:pPr>
              <a:defRPr/>
            </a:pPr>
            <a:fld id="{8E639104-18EF-4017-8EC8-89CC3800080B}" type="slidenum">
              <a:rPr lang="es-PE" altLang="es-PE" smtClean="0"/>
              <a:pPr>
                <a:defRPr/>
              </a:pPr>
              <a:t>42</a:t>
            </a:fld>
            <a:endParaRPr lang="es-PE" altLang="es-PE"/>
          </a:p>
        </p:txBody>
      </p:sp>
    </p:spTree>
    <p:extLst>
      <p:ext uri="{BB962C8B-B14F-4D97-AF65-F5344CB8AC3E}">
        <p14:creationId xmlns:p14="http://schemas.microsoft.com/office/powerpoint/2010/main" val="41460878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018E6-A49B-0AF4-F3DB-7AAAF1F944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424EA68-F5DD-4629-1EF1-BD425F8F46B7}"/>
              </a:ext>
            </a:extLst>
          </p:cNvPr>
          <p:cNvSpPr>
            <a:spLocks noGrp="1"/>
          </p:cNvSpPr>
          <p:nvPr>
            <p:ph type="title"/>
          </p:nvPr>
        </p:nvSpPr>
        <p:spPr>
          <a:xfrm>
            <a:off x="622688" y="144254"/>
            <a:ext cx="10515600" cy="1325563"/>
          </a:xfrm>
        </p:spPr>
        <p:txBody>
          <a:bodyPr/>
          <a:lstStyle/>
          <a:p>
            <a:r>
              <a:rPr lang="es-PE" sz="4000" b="1" dirty="0"/>
              <a:t>Determinación de T. de Interés con </a:t>
            </a:r>
            <a:br>
              <a:rPr lang="es-PE" sz="4000" b="1" dirty="0"/>
            </a:br>
            <a:r>
              <a:rPr lang="es-PE" sz="4000" b="1" dirty="0"/>
              <a:t>Competencia Monopolística : Depósitos</a:t>
            </a:r>
            <a:endParaRPr lang="es-PE" sz="400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B3187B2-C131-47AE-A2B1-06A43B09FE9B}"/>
                  </a:ext>
                </a:extLst>
              </p:cNvPr>
              <p:cNvSpPr>
                <a:spLocks noGrp="1"/>
              </p:cNvSpPr>
              <p:nvPr>
                <p:ph idx="1"/>
              </p:nvPr>
            </p:nvSpPr>
            <p:spPr>
              <a:xfrm>
                <a:off x="623392" y="1556792"/>
                <a:ext cx="10873208" cy="4968552"/>
              </a:xfrm>
            </p:spPr>
            <p:txBody>
              <a:bodyPr/>
              <a:lstStyle/>
              <a:p>
                <a:pPr>
                  <a:lnSpc>
                    <a:spcPct val="150000"/>
                  </a:lnSpc>
                </a:pPr>
                <a:r>
                  <a:rPr lang="es-PE" sz="2400" dirty="0"/>
                  <a:t>El proceso de optimización del banco A es:</a:t>
                </a:r>
              </a:p>
              <a:p>
                <a:pPr marL="0" indent="0" algn="ctr">
                  <a:lnSpc>
                    <a:spcPct val="150000"/>
                  </a:lnSpc>
                  <a:buNone/>
                </a:pPr>
                <a:r>
                  <a:rPr lang="es-PE" sz="2400" dirty="0">
                    <a:latin typeface="Times New Roman" panose="02020603050405020304" pitchFamily="18" charset="0"/>
                    <a:cs typeface="Times New Roman" panose="02020603050405020304" pitchFamily="18" charset="0"/>
                  </a:rPr>
                  <a:t>𝑀𝑎𝑥 𝜋</a:t>
                </a:r>
                <a:r>
                  <a:rPr lang="es-PE" sz="2400" baseline="-25000" dirty="0">
                    <a:latin typeface="Times New Roman" panose="02020603050405020304" pitchFamily="18" charset="0"/>
                    <a:cs typeface="Times New Roman" panose="02020603050405020304" pitchFamily="18" charset="0"/>
                  </a:rPr>
                  <a:t>𝐿,𝐷</a:t>
                </a:r>
                <a:r>
                  <a:rPr lang="es-PE" sz="2400" dirty="0">
                    <a:latin typeface="Times New Roman" panose="02020603050405020304" pitchFamily="18" charset="0"/>
                    <a:cs typeface="Times New Roman" panose="02020603050405020304" pitchFamily="18" charset="0"/>
                  </a:rPr>
                  <a:t>=𝑅</a:t>
                </a:r>
                <a:r>
                  <a:rPr lang="es-PE" sz="2400" baseline="-25000" dirty="0">
                    <a:latin typeface="Times New Roman" panose="02020603050405020304" pitchFamily="18" charset="0"/>
                    <a:cs typeface="Times New Roman" panose="02020603050405020304" pitchFamily="18" charset="0"/>
                  </a:rPr>
                  <a:t>𝐿</a:t>
                </a:r>
                <a:r>
                  <a:rPr lang="es-PE" sz="2400" dirty="0">
                    <a:latin typeface="Times New Roman" panose="02020603050405020304" pitchFamily="18" charset="0"/>
                    <a:cs typeface="Times New Roman" panose="02020603050405020304" pitchFamily="18" charset="0"/>
                  </a:rPr>
                  <a:t>(𝐿)∙𝐿+𝑅(1-</a:t>
                </a:r>
                <a:r>
                  <a:rPr lang="el-GR" sz="2400" dirty="0">
                    <a:latin typeface="Sylfaen" panose="010A0502050306030303" pitchFamily="18" charset="0"/>
                    <a:cs typeface="Times New Roman" panose="02020603050405020304" pitchFamily="18" charset="0"/>
                  </a:rPr>
                  <a:t>θ</a:t>
                </a:r>
                <a:r>
                  <a:rPr lang="es-PE" sz="2400" dirty="0">
                    <a:latin typeface="Sylfaen" panose="010A0502050306030303" pitchFamily="18" charset="0"/>
                    <a:cs typeface="Times New Roman" panose="02020603050405020304" pitchFamily="18" charset="0"/>
                  </a:rPr>
                  <a:t>)</a:t>
                </a:r>
                <a:r>
                  <a:rPr lang="es-PE" sz="2400" dirty="0">
                    <a:latin typeface="Times New Roman" panose="02020603050405020304" pitchFamily="18" charset="0"/>
                    <a:cs typeface="Times New Roman" panose="02020603050405020304" pitchFamily="18" charset="0"/>
                  </a:rPr>
                  <a:t>𝑀−𝑅</a:t>
                </a:r>
                <a:r>
                  <a:rPr lang="es-PE" sz="2400" baseline="-25000" dirty="0">
                    <a:latin typeface="Times New Roman" panose="02020603050405020304" pitchFamily="18" charset="0"/>
                    <a:cs typeface="Times New Roman" panose="02020603050405020304" pitchFamily="18" charset="0"/>
                  </a:rPr>
                  <a:t>𝐷</a:t>
                </a:r>
                <a:r>
                  <a:rPr lang="es-PE" sz="2400" dirty="0">
                    <a:latin typeface="Times New Roman" panose="02020603050405020304" pitchFamily="18" charset="0"/>
                    <a:cs typeface="Times New Roman" panose="02020603050405020304" pitchFamily="18" charset="0"/>
                  </a:rPr>
                  <a:t>(𝐷)∙𝐷−C(𝐿,𝐷)</a:t>
                </a:r>
              </a:p>
              <a:p>
                <a:pPr marL="0" indent="0" algn="ctr">
                  <a:lnSpc>
                    <a:spcPct val="150000"/>
                  </a:lnSpc>
                  <a:buNone/>
                </a:pPr>
                <a14:m>
                  <m:oMathPara xmlns:m="http://schemas.openxmlformats.org/officeDocument/2006/math">
                    <m:oMathParaPr>
                      <m:jc m:val="centerGroup"/>
                    </m:oMathParaPr>
                    <m:oMath xmlns:m="http://schemas.openxmlformats.org/officeDocument/2006/math">
                      <m:f>
                        <m:fPr>
                          <m:ctrlPr>
                            <a:rPr lang="es-ES" sz="2400" i="1">
                              <a:latin typeface="Cambria Math" panose="02040503050406030204" pitchFamily="18" charset="0"/>
                            </a:rPr>
                          </m:ctrlPr>
                        </m:fPr>
                        <m:num>
                          <m:r>
                            <a:rPr lang="es-ES" sz="2400" i="1">
                              <a:latin typeface="Cambria Math" panose="02040503050406030204" pitchFamily="18" charset="0"/>
                            </a:rPr>
                            <m:t>𝑑</m:t>
                          </m:r>
                          <m:r>
                            <a:rPr lang="es-ES" sz="2400" i="1">
                              <a:latin typeface="Cambria Math" panose="02040503050406030204" pitchFamily="18" charset="0"/>
                              <a:ea typeface="Cambria Math" panose="02040503050406030204" pitchFamily="18" charset="0"/>
                            </a:rPr>
                            <m:t>𝜋</m:t>
                          </m:r>
                        </m:num>
                        <m:den>
                          <m:r>
                            <a:rPr lang="es-ES" sz="2400" i="1">
                              <a:latin typeface="Cambria Math" panose="02040503050406030204" pitchFamily="18" charset="0"/>
                            </a:rPr>
                            <m:t>𝑑</m:t>
                          </m:r>
                          <m:r>
                            <a:rPr lang="es-PE" sz="2400" b="0" i="1" smtClean="0">
                              <a:latin typeface="Cambria Math" panose="02040503050406030204" pitchFamily="18" charset="0"/>
                            </a:rPr>
                            <m:t>𝐷</m:t>
                          </m:r>
                        </m:den>
                      </m:f>
                      <m:r>
                        <a:rPr lang="es-PE" sz="2400" i="1">
                          <a:latin typeface="Cambria Math" panose="02040503050406030204" pitchFamily="18" charset="0"/>
                        </a:rPr>
                        <m:t>=</m:t>
                      </m:r>
                      <m:sSub>
                        <m:sSubPr>
                          <m:ctrlPr>
                            <a:rPr lang="es-PE" sz="2400" i="1">
                              <a:latin typeface="Cambria Math" panose="02040503050406030204" pitchFamily="18" charset="0"/>
                            </a:rPr>
                          </m:ctrlPr>
                        </m:sSubPr>
                        <m:e>
                          <m:r>
                            <m:rPr>
                              <m:nor/>
                            </m:rPr>
                            <a:rPr lang="es-PE" sz="2400" dirty="0">
                              <a:latin typeface="Times New Roman" panose="02020603050405020304" pitchFamily="18" charset="0"/>
                              <a:cs typeface="Times New Roman" panose="02020603050405020304" pitchFamily="18" charset="0"/>
                            </a:rPr>
                            <m:t>(1−</m:t>
                          </m:r>
                          <m:r>
                            <m:rPr>
                              <m:nor/>
                            </m:rPr>
                            <a:rPr lang="el-GR" sz="2400" dirty="0">
                              <a:latin typeface="Sylfaen" panose="010A0502050306030303" pitchFamily="18" charset="0"/>
                              <a:cs typeface="Times New Roman" panose="02020603050405020304" pitchFamily="18" charset="0"/>
                            </a:rPr>
                            <m:t>θ</m:t>
                          </m:r>
                          <m:r>
                            <m:rPr>
                              <m:nor/>
                            </m:rPr>
                            <a:rPr lang="es-PE" sz="2400" dirty="0">
                              <a:latin typeface="Sylfaen" panose="010A0502050306030303" pitchFamily="18" charset="0"/>
                              <a:cs typeface="Times New Roman" panose="02020603050405020304" pitchFamily="18" charset="0"/>
                            </a:rPr>
                            <m:t>)</m:t>
                          </m:r>
                          <m:r>
                            <a:rPr lang="es-PE" sz="2400" b="0" i="1" dirty="0" smtClean="0">
                              <a:latin typeface="Cambria Math" panose="02040503050406030204" pitchFamily="18" charset="0"/>
                              <a:cs typeface="Times New Roman" panose="02020603050405020304" pitchFamily="18" charset="0"/>
                            </a:rPr>
                            <m:t>𝑅</m:t>
                          </m:r>
                          <m:r>
                            <a:rPr lang="es-PE" sz="2400" b="0" i="1" dirty="0" smtClean="0">
                              <a:latin typeface="Cambria Math" panose="02040503050406030204" pitchFamily="18" charset="0"/>
                              <a:cs typeface="Times New Roman" panose="02020603050405020304" pitchFamily="18" charset="0"/>
                            </a:rPr>
                            <m:t>−[</m:t>
                          </m:r>
                          <m:r>
                            <a:rPr lang="es-PE" sz="2400" i="1">
                              <a:latin typeface="Cambria Math" panose="02040503050406030204" pitchFamily="18" charset="0"/>
                            </a:rPr>
                            <m:t>𝑅</m:t>
                          </m:r>
                        </m:e>
                        <m:sub>
                          <m:r>
                            <a:rPr lang="es-PE" sz="2400" b="0" i="1" smtClean="0">
                              <a:latin typeface="Cambria Math" panose="02040503050406030204" pitchFamily="18" charset="0"/>
                            </a:rPr>
                            <m:t>𝐷</m:t>
                          </m:r>
                        </m:sub>
                      </m:sSub>
                      <m:r>
                        <a:rPr lang="es-PE" sz="2400" i="1">
                          <a:latin typeface="Cambria Math" panose="02040503050406030204" pitchFamily="18" charset="0"/>
                        </a:rPr>
                        <m:t>(</m:t>
                      </m:r>
                      <m:r>
                        <a:rPr lang="es-PE" sz="2400" b="0" i="1" smtClean="0">
                          <a:latin typeface="Cambria Math" panose="02040503050406030204" pitchFamily="18" charset="0"/>
                        </a:rPr>
                        <m:t>𝐷</m:t>
                      </m:r>
                      <m:r>
                        <a:rPr lang="es-PE" sz="2400" i="1">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𝑑</m:t>
                          </m:r>
                          <m:sSub>
                            <m:sSubPr>
                              <m:ctrlPr>
                                <a:rPr lang="es-ES" sz="2400" i="1">
                                  <a:latin typeface="Cambria Math" panose="02040503050406030204" pitchFamily="18" charset="0"/>
                                </a:rPr>
                              </m:ctrlPr>
                            </m:sSubPr>
                            <m:e>
                              <m:r>
                                <a:rPr lang="es-PE" sz="2400" i="1">
                                  <a:latin typeface="Cambria Math" panose="02040503050406030204" pitchFamily="18" charset="0"/>
                                </a:rPr>
                                <m:t>𝑅</m:t>
                              </m:r>
                            </m:e>
                            <m:sub>
                              <m:r>
                                <a:rPr lang="es-PE" sz="2400" b="0" i="1" smtClean="0">
                                  <a:latin typeface="Cambria Math" panose="02040503050406030204" pitchFamily="18" charset="0"/>
                                </a:rPr>
                                <m:t>𝐷</m:t>
                              </m:r>
                            </m:sub>
                          </m:sSub>
                          <m:d>
                            <m:dPr>
                              <m:ctrlPr>
                                <a:rPr lang="es-PE" sz="2400" i="1">
                                  <a:latin typeface="Cambria Math" panose="02040503050406030204" pitchFamily="18" charset="0"/>
                                </a:rPr>
                              </m:ctrlPr>
                            </m:dPr>
                            <m:e>
                              <m:r>
                                <a:rPr lang="es-PE" sz="2400" b="0" i="1" smtClean="0">
                                  <a:latin typeface="Cambria Math" panose="02040503050406030204" pitchFamily="18" charset="0"/>
                                </a:rPr>
                                <m:t>𝐷</m:t>
                              </m:r>
                            </m:e>
                          </m:d>
                        </m:num>
                        <m:den>
                          <m:r>
                            <a:rPr lang="es-ES" sz="2400" i="1">
                              <a:latin typeface="Cambria Math" panose="02040503050406030204" pitchFamily="18" charset="0"/>
                            </a:rPr>
                            <m:t>𝑑</m:t>
                          </m:r>
                          <m:r>
                            <a:rPr lang="es-PE" sz="2400" b="0" i="1" smtClean="0">
                              <a:latin typeface="Cambria Math" panose="02040503050406030204" pitchFamily="18" charset="0"/>
                            </a:rPr>
                            <m:t>𝐷</m:t>
                          </m:r>
                        </m:den>
                      </m:f>
                      <m:r>
                        <a:rPr lang="es-PE" sz="2400" b="0" i="1" smtClean="0">
                          <a:latin typeface="Cambria Math" panose="02040503050406030204" pitchFamily="18" charset="0"/>
                        </a:rPr>
                        <m:t>𝐷</m:t>
                      </m:r>
                      <m:r>
                        <a:rPr lang="es-PE" sz="2400" b="0" i="1" smtClean="0">
                          <a:latin typeface="Cambria Math" panose="02040503050406030204" pitchFamily="18" charset="0"/>
                        </a:rPr>
                        <m:t>] −</m:t>
                      </m:r>
                      <m:f>
                        <m:fPr>
                          <m:ctrlPr>
                            <a:rPr lang="es-ES" sz="2400" i="1">
                              <a:latin typeface="Cambria Math" panose="02040503050406030204" pitchFamily="18" charset="0"/>
                            </a:rPr>
                          </m:ctrlPr>
                        </m:fPr>
                        <m:num>
                          <m:r>
                            <a:rPr lang="es-ES" sz="2400" i="1">
                              <a:latin typeface="Cambria Math" panose="02040503050406030204" pitchFamily="18" charset="0"/>
                            </a:rPr>
                            <m:t>𝑑</m:t>
                          </m:r>
                          <m:r>
                            <a:rPr lang="es-PE" sz="2400" i="1">
                              <a:latin typeface="Cambria Math" panose="02040503050406030204" pitchFamily="18" charset="0"/>
                              <a:ea typeface="Cambria Math" panose="02040503050406030204" pitchFamily="18" charset="0"/>
                            </a:rPr>
                            <m:t>𝐶</m:t>
                          </m:r>
                        </m:num>
                        <m:den>
                          <m:r>
                            <a:rPr lang="es-ES" sz="2400" i="1">
                              <a:latin typeface="Cambria Math" panose="02040503050406030204" pitchFamily="18" charset="0"/>
                            </a:rPr>
                            <m:t>𝑑</m:t>
                          </m:r>
                          <m:r>
                            <a:rPr lang="es-PE" sz="2400" i="1">
                              <a:latin typeface="Cambria Math" panose="02040503050406030204" pitchFamily="18" charset="0"/>
                            </a:rPr>
                            <m:t>𝐿</m:t>
                          </m:r>
                        </m:den>
                      </m:f>
                      <m:r>
                        <a:rPr lang="es-ES" sz="2400" i="1">
                          <a:latin typeface="Cambria Math" panose="02040503050406030204" pitchFamily="18" charset="0"/>
                        </a:rPr>
                        <m:t>=</m:t>
                      </m:r>
                      <m:r>
                        <a:rPr lang="es-PE" sz="2400" i="1">
                          <a:latin typeface="Cambria Math" panose="02040503050406030204" pitchFamily="18" charset="0"/>
                        </a:rPr>
                        <m:t>0</m:t>
                      </m:r>
                    </m:oMath>
                  </m:oMathPara>
                </a14:m>
                <a:endParaRPr lang="es-ES" sz="2400" dirty="0"/>
              </a:p>
              <a:p>
                <a:pPr marL="0" indent="0" algn="ctr">
                  <a:lnSpc>
                    <a:spcPct val="150000"/>
                  </a:lnSpc>
                  <a:buNone/>
                </a:pPr>
                <a14:m>
                  <m:oMathPara xmlns:m="http://schemas.openxmlformats.org/officeDocument/2006/math">
                    <m:oMathParaPr>
                      <m:jc m:val="centerGroup"/>
                    </m:oMathParaPr>
                    <m:oMath xmlns:m="http://schemas.openxmlformats.org/officeDocument/2006/math">
                      <m:sSub>
                        <m:sSubPr>
                          <m:ctrlPr>
                            <a:rPr lang="es-PE" sz="2400" i="1">
                              <a:latin typeface="Cambria Math" panose="02040503050406030204" pitchFamily="18" charset="0"/>
                            </a:rPr>
                          </m:ctrlPr>
                        </m:sSubPr>
                        <m:e>
                          <m:r>
                            <m:rPr>
                              <m:nor/>
                            </m:rPr>
                            <a:rPr lang="es-PE" sz="2400" dirty="0">
                              <a:latin typeface="Times New Roman" panose="02020603050405020304" pitchFamily="18" charset="0"/>
                              <a:cs typeface="Times New Roman" panose="02020603050405020304" pitchFamily="18" charset="0"/>
                            </a:rPr>
                            <m:t>(1−</m:t>
                          </m:r>
                          <m:r>
                            <m:rPr>
                              <m:nor/>
                            </m:rPr>
                            <a:rPr lang="el-GR" sz="2400" dirty="0">
                              <a:latin typeface="Sylfaen" panose="010A0502050306030303" pitchFamily="18" charset="0"/>
                              <a:cs typeface="Times New Roman" panose="02020603050405020304" pitchFamily="18" charset="0"/>
                            </a:rPr>
                            <m:t>θ</m:t>
                          </m:r>
                          <m:r>
                            <m:rPr>
                              <m:nor/>
                            </m:rPr>
                            <a:rPr lang="es-PE" sz="2400" dirty="0">
                              <a:latin typeface="Sylfaen" panose="010A0502050306030303" pitchFamily="18" charset="0"/>
                              <a:cs typeface="Times New Roman" panose="02020603050405020304" pitchFamily="18" charset="0"/>
                            </a:rPr>
                            <m:t>)</m:t>
                          </m:r>
                          <m:r>
                            <a:rPr lang="es-PE" sz="2400" i="1" dirty="0">
                              <a:latin typeface="Cambria Math" panose="02040503050406030204" pitchFamily="18" charset="0"/>
                              <a:cs typeface="Times New Roman" panose="02020603050405020304" pitchFamily="18" charset="0"/>
                            </a:rPr>
                            <m:t>𝑅</m:t>
                          </m:r>
                          <m:r>
                            <a:rPr lang="es-PE" sz="2400" b="0" i="1" dirty="0" smtClean="0">
                              <a:latin typeface="Cambria Math" panose="02040503050406030204" pitchFamily="18" charset="0"/>
                              <a:cs typeface="Times New Roman" panose="02020603050405020304" pitchFamily="18" charset="0"/>
                            </a:rPr>
                            <m:t>−</m:t>
                          </m:r>
                          <m:r>
                            <a:rPr lang="es-PE" sz="2400" i="1">
                              <a:latin typeface="Cambria Math" panose="02040503050406030204" pitchFamily="18" charset="0"/>
                            </a:rPr>
                            <m:t>𝑅</m:t>
                          </m:r>
                        </m:e>
                        <m:sub>
                          <m:r>
                            <a:rPr lang="es-PE" sz="2400" b="0" i="1" smtClean="0">
                              <a:latin typeface="Cambria Math" panose="02040503050406030204" pitchFamily="18" charset="0"/>
                            </a:rPr>
                            <m:t>𝐷</m:t>
                          </m:r>
                        </m:sub>
                      </m:sSub>
                      <m:d>
                        <m:dPr>
                          <m:ctrlPr>
                            <a:rPr lang="es-PE" sz="2400" i="1">
                              <a:latin typeface="Cambria Math" panose="02040503050406030204" pitchFamily="18" charset="0"/>
                            </a:rPr>
                          </m:ctrlPr>
                        </m:dPr>
                        <m:e>
                          <m:r>
                            <a:rPr lang="es-PE" sz="2400" b="0" i="1" smtClean="0">
                              <a:latin typeface="Cambria Math" panose="02040503050406030204" pitchFamily="18" charset="0"/>
                            </a:rPr>
                            <m:t>𝐷</m:t>
                          </m:r>
                        </m:e>
                      </m:d>
                      <m:d>
                        <m:dPr>
                          <m:begChr m:val="["/>
                          <m:endChr m:val="]"/>
                          <m:ctrlPr>
                            <a:rPr lang="es-PE" sz="2400" i="1">
                              <a:latin typeface="Cambria Math" panose="02040503050406030204" pitchFamily="18" charset="0"/>
                            </a:rPr>
                          </m:ctrlPr>
                        </m:dPr>
                        <m:e>
                          <m:r>
                            <a:rPr lang="es-PE" sz="2400" i="1">
                              <a:latin typeface="Cambria Math" panose="02040503050406030204" pitchFamily="18" charset="0"/>
                            </a:rPr>
                            <m:t>1+</m:t>
                          </m:r>
                          <m:f>
                            <m:fPr>
                              <m:ctrlPr>
                                <a:rPr lang="es-ES" sz="2400" i="1">
                                  <a:latin typeface="Cambria Math" panose="02040503050406030204" pitchFamily="18" charset="0"/>
                                </a:rPr>
                              </m:ctrlPr>
                            </m:fPr>
                            <m:num>
                              <m:r>
                                <a:rPr lang="es-ES" sz="2400" i="1">
                                  <a:latin typeface="Cambria Math" panose="02040503050406030204" pitchFamily="18" charset="0"/>
                                </a:rPr>
                                <m:t>𝑑</m:t>
                              </m:r>
                              <m:sSub>
                                <m:sSubPr>
                                  <m:ctrlPr>
                                    <a:rPr lang="es-ES" sz="2400" i="1">
                                      <a:latin typeface="Cambria Math" panose="02040503050406030204" pitchFamily="18" charset="0"/>
                                    </a:rPr>
                                  </m:ctrlPr>
                                </m:sSubPr>
                                <m:e>
                                  <m:r>
                                    <a:rPr lang="es-PE" sz="2400" i="1">
                                      <a:latin typeface="Cambria Math" panose="02040503050406030204" pitchFamily="18" charset="0"/>
                                    </a:rPr>
                                    <m:t>𝑅</m:t>
                                  </m:r>
                                </m:e>
                                <m:sub>
                                  <m:r>
                                    <a:rPr lang="es-PE" sz="2400" b="0" i="1" smtClean="0">
                                      <a:latin typeface="Cambria Math" panose="02040503050406030204" pitchFamily="18" charset="0"/>
                                    </a:rPr>
                                    <m:t>𝐷</m:t>
                                  </m:r>
                                </m:sub>
                              </m:sSub>
                              <m:d>
                                <m:dPr>
                                  <m:ctrlPr>
                                    <a:rPr lang="es-PE" sz="2400" i="1">
                                      <a:latin typeface="Cambria Math" panose="02040503050406030204" pitchFamily="18" charset="0"/>
                                    </a:rPr>
                                  </m:ctrlPr>
                                </m:dPr>
                                <m:e>
                                  <m:r>
                                    <a:rPr lang="es-PE" sz="2400" b="0" i="1" smtClean="0">
                                      <a:latin typeface="Cambria Math" panose="02040503050406030204" pitchFamily="18" charset="0"/>
                                    </a:rPr>
                                    <m:t>𝐷</m:t>
                                  </m:r>
                                </m:e>
                              </m:d>
                            </m:num>
                            <m:den>
                              <m:sSub>
                                <m:sSubPr>
                                  <m:ctrlPr>
                                    <a:rPr lang="es-PE" sz="2400" i="1">
                                      <a:latin typeface="Cambria Math" panose="02040503050406030204" pitchFamily="18" charset="0"/>
                                    </a:rPr>
                                  </m:ctrlPr>
                                </m:sSubPr>
                                <m:e>
                                  <m:r>
                                    <a:rPr lang="es-PE" sz="2400" i="1">
                                      <a:latin typeface="Cambria Math" panose="02040503050406030204" pitchFamily="18" charset="0"/>
                                    </a:rPr>
                                    <m:t>𝑅</m:t>
                                  </m:r>
                                </m:e>
                                <m:sub>
                                  <m:r>
                                    <a:rPr lang="es-PE" sz="2400" b="0" i="1" smtClean="0">
                                      <a:latin typeface="Cambria Math" panose="02040503050406030204" pitchFamily="18" charset="0"/>
                                    </a:rPr>
                                    <m:t>𝐷</m:t>
                                  </m:r>
                                </m:sub>
                              </m:sSub>
                            </m:den>
                          </m:f>
                          <m:f>
                            <m:fPr>
                              <m:ctrlPr>
                                <a:rPr lang="es-PE" sz="2400" i="1">
                                  <a:latin typeface="Cambria Math" panose="02040503050406030204" pitchFamily="18" charset="0"/>
                                </a:rPr>
                              </m:ctrlPr>
                            </m:fPr>
                            <m:num>
                              <m:r>
                                <a:rPr lang="es-PE" sz="2400" b="0" i="1" smtClean="0">
                                  <a:latin typeface="Cambria Math" panose="02040503050406030204" pitchFamily="18" charset="0"/>
                                </a:rPr>
                                <m:t>𝐷</m:t>
                              </m:r>
                            </m:num>
                            <m:den>
                              <m:r>
                                <a:rPr lang="es-ES" sz="2400" i="1">
                                  <a:latin typeface="Cambria Math" panose="02040503050406030204" pitchFamily="18" charset="0"/>
                                </a:rPr>
                                <m:t>𝑑</m:t>
                              </m:r>
                              <m:r>
                                <a:rPr lang="es-PE" sz="2400" b="0" i="1" smtClean="0">
                                  <a:latin typeface="Cambria Math" panose="02040503050406030204" pitchFamily="18" charset="0"/>
                                </a:rPr>
                                <m:t>𝐷</m:t>
                              </m:r>
                            </m:den>
                          </m:f>
                        </m:e>
                      </m:d>
                      <m:r>
                        <a:rPr lang="es-PE" sz="2400" b="0" i="1" smtClean="0">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𝑑</m:t>
                          </m:r>
                          <m:r>
                            <a:rPr lang="es-PE" sz="2400" i="1">
                              <a:latin typeface="Cambria Math" panose="02040503050406030204" pitchFamily="18" charset="0"/>
                              <a:ea typeface="Cambria Math" panose="02040503050406030204" pitchFamily="18" charset="0"/>
                            </a:rPr>
                            <m:t>𝐶</m:t>
                          </m:r>
                        </m:num>
                        <m:den>
                          <m:r>
                            <a:rPr lang="es-ES" sz="2400" i="1">
                              <a:latin typeface="Cambria Math" panose="02040503050406030204" pitchFamily="18" charset="0"/>
                            </a:rPr>
                            <m:t>𝑑</m:t>
                          </m:r>
                          <m:r>
                            <a:rPr lang="es-PE" sz="2400" i="1">
                              <a:latin typeface="Cambria Math" panose="02040503050406030204" pitchFamily="18" charset="0"/>
                            </a:rPr>
                            <m:t>𝐿</m:t>
                          </m:r>
                        </m:den>
                      </m:f>
                      <m:r>
                        <a:rPr lang="es-PE" sz="2400" b="0" i="1" smtClean="0">
                          <a:latin typeface="Cambria Math" panose="02040503050406030204" pitchFamily="18" charset="0"/>
                        </a:rPr>
                        <m:t>=0</m:t>
                      </m:r>
                    </m:oMath>
                  </m:oMathPara>
                </a14:m>
                <a:endParaRPr lang="es-PE" sz="2400" dirty="0"/>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s-PE" sz="2400" i="1">
                              <a:latin typeface="Cambria Math" panose="02040503050406030204" pitchFamily="18" charset="0"/>
                            </a:rPr>
                          </m:ctrlPr>
                        </m:sSubPr>
                        <m:e>
                          <m:r>
                            <m:rPr>
                              <m:nor/>
                            </m:rPr>
                            <a:rPr lang="es-PE" sz="2400" dirty="0">
                              <a:latin typeface="Times New Roman" panose="02020603050405020304" pitchFamily="18" charset="0"/>
                              <a:cs typeface="Times New Roman" panose="02020603050405020304" pitchFamily="18" charset="0"/>
                            </a:rPr>
                            <m:t>(1−</m:t>
                          </m:r>
                          <m:r>
                            <m:rPr>
                              <m:nor/>
                            </m:rPr>
                            <a:rPr lang="el-GR" sz="2400" dirty="0">
                              <a:latin typeface="Sylfaen" panose="010A0502050306030303" pitchFamily="18" charset="0"/>
                              <a:cs typeface="Times New Roman" panose="02020603050405020304" pitchFamily="18" charset="0"/>
                            </a:rPr>
                            <m:t>θ</m:t>
                          </m:r>
                          <m:r>
                            <m:rPr>
                              <m:nor/>
                            </m:rPr>
                            <a:rPr lang="es-PE" sz="2400" dirty="0">
                              <a:latin typeface="Sylfaen" panose="010A0502050306030303" pitchFamily="18" charset="0"/>
                              <a:cs typeface="Times New Roman" panose="02020603050405020304" pitchFamily="18" charset="0"/>
                            </a:rPr>
                            <m:t>)</m:t>
                          </m:r>
                          <m:r>
                            <a:rPr lang="es-PE" sz="2400" i="1" dirty="0">
                              <a:latin typeface="Cambria Math" panose="02040503050406030204" pitchFamily="18" charset="0"/>
                              <a:cs typeface="Times New Roman" panose="02020603050405020304" pitchFamily="18" charset="0"/>
                            </a:rPr>
                            <m:t>𝑅</m:t>
                          </m:r>
                          <m:r>
                            <a:rPr lang="es-PE" sz="2400" b="0" i="1" dirty="0" smtClean="0">
                              <a:latin typeface="Cambria Math" panose="02040503050406030204" pitchFamily="18" charset="0"/>
                              <a:cs typeface="Times New Roman" panose="02020603050405020304" pitchFamily="18" charset="0"/>
                            </a:rPr>
                            <m:t> </m:t>
                          </m:r>
                          <m:r>
                            <a:rPr lang="es-PE" sz="2400" i="1">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𝑑</m:t>
                              </m:r>
                              <m:r>
                                <a:rPr lang="es-PE" sz="2400" i="1">
                                  <a:latin typeface="Cambria Math" panose="02040503050406030204" pitchFamily="18" charset="0"/>
                                  <a:ea typeface="Cambria Math" panose="02040503050406030204" pitchFamily="18" charset="0"/>
                                </a:rPr>
                                <m:t>𝐶</m:t>
                              </m:r>
                            </m:num>
                            <m:den>
                              <m:r>
                                <a:rPr lang="es-ES" sz="2400" i="1">
                                  <a:latin typeface="Cambria Math" panose="02040503050406030204" pitchFamily="18" charset="0"/>
                                </a:rPr>
                                <m:t>𝑑</m:t>
                              </m:r>
                              <m:r>
                                <a:rPr lang="es-PE" sz="2400" i="1">
                                  <a:latin typeface="Cambria Math" panose="02040503050406030204" pitchFamily="18" charset="0"/>
                                </a:rPr>
                                <m:t>𝐿</m:t>
                              </m:r>
                            </m:den>
                          </m:f>
                          <m:r>
                            <a:rPr lang="es-PE" sz="2400" b="0" i="1" smtClean="0">
                              <a:latin typeface="Cambria Math" panose="02040503050406030204" pitchFamily="18" charset="0"/>
                            </a:rPr>
                            <m:t>=</m:t>
                          </m:r>
                          <m:r>
                            <a:rPr lang="es-PE" sz="2400" i="1">
                              <a:latin typeface="Cambria Math" panose="02040503050406030204" pitchFamily="18" charset="0"/>
                            </a:rPr>
                            <m:t>𝑅</m:t>
                          </m:r>
                        </m:e>
                        <m:sub>
                          <m:r>
                            <a:rPr lang="es-PE" sz="2400" i="1">
                              <a:latin typeface="Cambria Math" panose="02040503050406030204" pitchFamily="18" charset="0"/>
                            </a:rPr>
                            <m:t>𝐷</m:t>
                          </m:r>
                        </m:sub>
                      </m:sSub>
                      <m:d>
                        <m:dPr>
                          <m:ctrlPr>
                            <a:rPr lang="es-PE" sz="2400" i="1">
                              <a:latin typeface="Cambria Math" panose="02040503050406030204" pitchFamily="18" charset="0"/>
                            </a:rPr>
                          </m:ctrlPr>
                        </m:dPr>
                        <m:e>
                          <m:r>
                            <a:rPr lang="es-PE" sz="2400" i="1">
                              <a:latin typeface="Cambria Math" panose="02040503050406030204" pitchFamily="18" charset="0"/>
                            </a:rPr>
                            <m:t>𝐷</m:t>
                          </m:r>
                        </m:e>
                      </m:d>
                      <m:d>
                        <m:dPr>
                          <m:begChr m:val="["/>
                          <m:endChr m:val="]"/>
                          <m:ctrlPr>
                            <a:rPr lang="es-PE" sz="2400" i="1">
                              <a:latin typeface="Cambria Math" panose="02040503050406030204" pitchFamily="18" charset="0"/>
                            </a:rPr>
                          </m:ctrlPr>
                        </m:dPr>
                        <m:e>
                          <m:r>
                            <a:rPr lang="es-PE" sz="2400" i="1">
                              <a:latin typeface="Cambria Math" panose="02040503050406030204" pitchFamily="18" charset="0"/>
                            </a:rPr>
                            <m:t>1+</m:t>
                          </m:r>
                          <m:f>
                            <m:fPr>
                              <m:ctrlPr>
                                <a:rPr lang="es-ES" sz="2400" i="1">
                                  <a:latin typeface="Cambria Math" panose="02040503050406030204" pitchFamily="18" charset="0"/>
                                </a:rPr>
                              </m:ctrlPr>
                            </m:fPr>
                            <m:num>
                              <m:r>
                                <a:rPr lang="es-ES" sz="2400" i="1">
                                  <a:latin typeface="Cambria Math" panose="02040503050406030204" pitchFamily="18" charset="0"/>
                                </a:rPr>
                                <m:t>𝑑</m:t>
                              </m:r>
                              <m:sSub>
                                <m:sSubPr>
                                  <m:ctrlPr>
                                    <a:rPr lang="es-ES" sz="2400" i="1">
                                      <a:latin typeface="Cambria Math" panose="02040503050406030204" pitchFamily="18" charset="0"/>
                                    </a:rPr>
                                  </m:ctrlPr>
                                </m:sSubPr>
                                <m:e>
                                  <m:r>
                                    <a:rPr lang="es-PE" sz="2400" i="1">
                                      <a:latin typeface="Cambria Math" panose="02040503050406030204" pitchFamily="18" charset="0"/>
                                    </a:rPr>
                                    <m:t>𝑅</m:t>
                                  </m:r>
                                </m:e>
                                <m:sub>
                                  <m:r>
                                    <a:rPr lang="es-PE" sz="2400" i="1">
                                      <a:latin typeface="Cambria Math" panose="02040503050406030204" pitchFamily="18" charset="0"/>
                                    </a:rPr>
                                    <m:t>𝐷</m:t>
                                  </m:r>
                                </m:sub>
                              </m:sSub>
                              <m:d>
                                <m:dPr>
                                  <m:ctrlPr>
                                    <a:rPr lang="es-PE" sz="2400" i="1">
                                      <a:latin typeface="Cambria Math" panose="02040503050406030204" pitchFamily="18" charset="0"/>
                                    </a:rPr>
                                  </m:ctrlPr>
                                </m:dPr>
                                <m:e>
                                  <m:r>
                                    <a:rPr lang="es-PE" sz="2400" i="1">
                                      <a:latin typeface="Cambria Math" panose="02040503050406030204" pitchFamily="18" charset="0"/>
                                    </a:rPr>
                                    <m:t>𝐷</m:t>
                                  </m:r>
                                </m:e>
                              </m:d>
                            </m:num>
                            <m:den>
                              <m:sSub>
                                <m:sSubPr>
                                  <m:ctrlPr>
                                    <a:rPr lang="es-PE" sz="2400" i="1">
                                      <a:latin typeface="Cambria Math" panose="02040503050406030204" pitchFamily="18" charset="0"/>
                                    </a:rPr>
                                  </m:ctrlPr>
                                </m:sSubPr>
                                <m:e>
                                  <m:r>
                                    <a:rPr lang="es-PE" sz="2400" i="1">
                                      <a:latin typeface="Cambria Math" panose="02040503050406030204" pitchFamily="18" charset="0"/>
                                    </a:rPr>
                                    <m:t>𝑅</m:t>
                                  </m:r>
                                </m:e>
                                <m:sub>
                                  <m:r>
                                    <a:rPr lang="es-PE" sz="2400" i="1">
                                      <a:latin typeface="Cambria Math" panose="02040503050406030204" pitchFamily="18" charset="0"/>
                                    </a:rPr>
                                    <m:t>𝐷</m:t>
                                  </m:r>
                                </m:sub>
                              </m:sSub>
                            </m:den>
                          </m:f>
                          <m:f>
                            <m:fPr>
                              <m:ctrlPr>
                                <a:rPr lang="es-PE" sz="2400" i="1">
                                  <a:latin typeface="Cambria Math" panose="02040503050406030204" pitchFamily="18" charset="0"/>
                                </a:rPr>
                              </m:ctrlPr>
                            </m:fPr>
                            <m:num>
                              <m:r>
                                <a:rPr lang="es-PE" sz="2400" i="1">
                                  <a:latin typeface="Cambria Math" panose="02040503050406030204" pitchFamily="18" charset="0"/>
                                </a:rPr>
                                <m:t>𝐷</m:t>
                              </m:r>
                            </m:num>
                            <m:den>
                              <m:r>
                                <a:rPr lang="es-ES" sz="2400" i="1">
                                  <a:latin typeface="Cambria Math" panose="02040503050406030204" pitchFamily="18" charset="0"/>
                                </a:rPr>
                                <m:t>𝑑</m:t>
                              </m:r>
                              <m:r>
                                <a:rPr lang="es-PE" sz="2400" i="1">
                                  <a:latin typeface="Cambria Math" panose="02040503050406030204" pitchFamily="18" charset="0"/>
                                </a:rPr>
                                <m:t>𝐷</m:t>
                              </m:r>
                            </m:den>
                          </m:f>
                        </m:e>
                      </m:d>
                    </m:oMath>
                  </m:oMathPara>
                </a14:m>
                <a:endParaRPr lang="es-PE" sz="2400" dirty="0"/>
              </a:p>
            </p:txBody>
          </p:sp>
        </mc:Choice>
        <mc:Fallback xmlns="">
          <p:sp>
            <p:nvSpPr>
              <p:cNvPr id="3" name="Marcador de contenido 2">
                <a:extLst>
                  <a:ext uri="{FF2B5EF4-FFF2-40B4-BE49-F238E27FC236}">
                    <a16:creationId xmlns:a16="http://schemas.microsoft.com/office/drawing/2014/main" id="{DB3187B2-C131-47AE-A2B1-06A43B09FE9B}"/>
                  </a:ext>
                </a:extLst>
              </p:cNvPr>
              <p:cNvSpPr>
                <a:spLocks noGrp="1" noRot="1" noChangeAspect="1" noMove="1" noResize="1" noEditPoints="1" noAdjustHandles="1" noChangeArrowheads="1" noChangeShapeType="1" noTextEdit="1"/>
              </p:cNvSpPr>
              <p:nvPr>
                <p:ph idx="1"/>
              </p:nvPr>
            </p:nvSpPr>
            <p:spPr>
              <a:xfrm>
                <a:off x="623392" y="1556792"/>
                <a:ext cx="10873208" cy="4968552"/>
              </a:xfrm>
              <a:blipFill>
                <a:blip r:embed="rId2"/>
                <a:stretch>
                  <a:fillRect l="-729"/>
                </a:stretch>
              </a:blipFill>
            </p:spPr>
            <p:txBody>
              <a:bodyPr/>
              <a:lstStyle/>
              <a:p>
                <a:r>
                  <a:rPr lang="es-PE">
                    <a:noFill/>
                  </a:rPr>
                  <a:t> </a:t>
                </a:r>
              </a:p>
            </p:txBody>
          </p:sp>
        </mc:Fallback>
      </mc:AlternateContent>
      <p:sp>
        <p:nvSpPr>
          <p:cNvPr id="4" name="Marcador de número de diapositiva 3">
            <a:extLst>
              <a:ext uri="{FF2B5EF4-FFF2-40B4-BE49-F238E27FC236}">
                <a16:creationId xmlns:a16="http://schemas.microsoft.com/office/drawing/2014/main" id="{3D5C999E-9032-7B2D-1916-D0973E819A4D}"/>
              </a:ext>
            </a:extLst>
          </p:cNvPr>
          <p:cNvSpPr>
            <a:spLocks noGrp="1"/>
          </p:cNvSpPr>
          <p:nvPr>
            <p:ph type="sldNum" sz="quarter" idx="12"/>
          </p:nvPr>
        </p:nvSpPr>
        <p:spPr/>
        <p:txBody>
          <a:bodyPr/>
          <a:lstStyle/>
          <a:p>
            <a:pPr>
              <a:defRPr/>
            </a:pPr>
            <a:fld id="{8E639104-18EF-4017-8EC8-89CC3800080B}" type="slidenum">
              <a:rPr lang="es-PE" altLang="es-PE" smtClean="0"/>
              <a:pPr>
                <a:defRPr/>
              </a:pPr>
              <a:t>43</a:t>
            </a:fld>
            <a:endParaRPr lang="es-PE" altLang="es-PE"/>
          </a:p>
        </p:txBody>
      </p:sp>
    </p:spTree>
    <p:extLst>
      <p:ext uri="{BB962C8B-B14F-4D97-AF65-F5344CB8AC3E}">
        <p14:creationId xmlns:p14="http://schemas.microsoft.com/office/powerpoint/2010/main" val="12025213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7704C-8163-F5F0-9447-8420AD32E5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4E5726-0692-C362-EDD4-A963B2112BCE}"/>
              </a:ext>
            </a:extLst>
          </p:cNvPr>
          <p:cNvSpPr>
            <a:spLocks noGrp="1"/>
          </p:cNvSpPr>
          <p:nvPr>
            <p:ph type="title"/>
          </p:nvPr>
        </p:nvSpPr>
        <p:spPr>
          <a:xfrm>
            <a:off x="622688" y="144254"/>
            <a:ext cx="10515600" cy="1325563"/>
          </a:xfrm>
        </p:spPr>
        <p:txBody>
          <a:bodyPr/>
          <a:lstStyle/>
          <a:p>
            <a:r>
              <a:rPr lang="es-PE" sz="4000" b="1" dirty="0"/>
              <a:t>Determinación de T. de Interés con</a:t>
            </a:r>
            <a:br>
              <a:rPr lang="es-PE" sz="4000" b="1" dirty="0"/>
            </a:br>
            <a:r>
              <a:rPr lang="es-PE" sz="4000" b="1" dirty="0"/>
              <a:t>Competencia Monopolística : Depósitos</a:t>
            </a:r>
            <a:endParaRPr lang="es-PE" sz="4000"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7BA7A144-8118-0B1C-D5EC-919CA386BE9B}"/>
                  </a:ext>
                </a:extLst>
              </p:cNvPr>
              <p:cNvSpPr>
                <a:spLocks noGrp="1"/>
              </p:cNvSpPr>
              <p:nvPr>
                <p:ph idx="1"/>
              </p:nvPr>
            </p:nvSpPr>
            <p:spPr>
              <a:xfrm>
                <a:off x="623392" y="1556792"/>
                <a:ext cx="11161240" cy="5040560"/>
              </a:xfrm>
            </p:spPr>
            <p:txBody>
              <a:bodyPr/>
              <a:lstStyle/>
              <a:p>
                <a:pPr>
                  <a:lnSpc>
                    <a:spcPct val="150000"/>
                  </a:lnSpc>
                </a:pPr>
                <a:r>
                  <a:rPr lang="es-PE" sz="2400" dirty="0"/>
                  <a:t>Si definimos </a:t>
                </a:r>
              </a:p>
              <a:p>
                <a:pPr marL="0" indent="0" algn="ctr">
                  <a:lnSpc>
                    <a:spcPct val="150000"/>
                  </a:lnSpc>
                  <a:buNone/>
                </a:pPr>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𝜀</m:t>
                        </m:r>
                      </m:e>
                      <m:sub>
                        <m:r>
                          <a:rPr lang="es-PE" sz="2400" b="0" i="1" smtClean="0">
                            <a:latin typeface="Cambria Math" panose="02040503050406030204" pitchFamily="18" charset="0"/>
                          </a:rPr>
                          <m:t>𝐷</m:t>
                        </m:r>
                      </m:sub>
                    </m:sSub>
                    <m:r>
                      <a:rPr lang="es-PE" sz="2400" i="1">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𝑑</m:t>
                        </m:r>
                        <m:sSub>
                          <m:sSubPr>
                            <m:ctrlPr>
                              <a:rPr lang="es-ES" sz="2400" i="1">
                                <a:latin typeface="Cambria Math" panose="02040503050406030204" pitchFamily="18" charset="0"/>
                              </a:rPr>
                            </m:ctrlPr>
                          </m:sSubPr>
                          <m:e>
                            <m:r>
                              <a:rPr lang="es-PE" sz="2400" i="1">
                                <a:latin typeface="Cambria Math" panose="02040503050406030204" pitchFamily="18" charset="0"/>
                              </a:rPr>
                              <m:t>𝑅</m:t>
                            </m:r>
                          </m:e>
                          <m:sub>
                            <m:r>
                              <a:rPr lang="es-PE" sz="2400" b="0" i="1" smtClean="0">
                                <a:latin typeface="Cambria Math" panose="02040503050406030204" pitchFamily="18" charset="0"/>
                              </a:rPr>
                              <m:t>𝐷</m:t>
                            </m:r>
                          </m:sub>
                        </m:sSub>
                        <m:d>
                          <m:dPr>
                            <m:ctrlPr>
                              <a:rPr lang="es-PE" sz="2400" i="1">
                                <a:latin typeface="Cambria Math" panose="02040503050406030204" pitchFamily="18" charset="0"/>
                              </a:rPr>
                            </m:ctrlPr>
                          </m:dPr>
                          <m:e>
                            <m:r>
                              <a:rPr lang="es-PE" sz="2400" b="0" i="1" smtClean="0">
                                <a:latin typeface="Cambria Math" panose="02040503050406030204" pitchFamily="18" charset="0"/>
                              </a:rPr>
                              <m:t>𝐷</m:t>
                            </m:r>
                          </m:e>
                        </m:d>
                      </m:num>
                      <m:den>
                        <m:sSub>
                          <m:sSubPr>
                            <m:ctrlPr>
                              <a:rPr lang="es-PE" sz="2400" i="1">
                                <a:latin typeface="Cambria Math" panose="02040503050406030204" pitchFamily="18" charset="0"/>
                              </a:rPr>
                            </m:ctrlPr>
                          </m:sSubPr>
                          <m:e>
                            <m:r>
                              <a:rPr lang="es-PE" sz="2400" i="1">
                                <a:latin typeface="Cambria Math" panose="02040503050406030204" pitchFamily="18" charset="0"/>
                              </a:rPr>
                              <m:t>𝑅</m:t>
                            </m:r>
                          </m:e>
                          <m:sub>
                            <m:r>
                              <a:rPr lang="es-PE" sz="2400" b="0" i="1" smtClean="0">
                                <a:latin typeface="Cambria Math" panose="02040503050406030204" pitchFamily="18" charset="0"/>
                              </a:rPr>
                              <m:t>𝐷</m:t>
                            </m:r>
                          </m:sub>
                        </m:sSub>
                      </m:den>
                    </m:f>
                    <m:f>
                      <m:fPr>
                        <m:ctrlPr>
                          <a:rPr lang="es-PE" sz="2400" i="1">
                            <a:latin typeface="Cambria Math" panose="02040503050406030204" pitchFamily="18" charset="0"/>
                          </a:rPr>
                        </m:ctrlPr>
                      </m:fPr>
                      <m:num>
                        <m:r>
                          <a:rPr lang="es-PE" sz="2400" b="0" i="1" smtClean="0">
                            <a:latin typeface="Cambria Math" panose="02040503050406030204" pitchFamily="18" charset="0"/>
                          </a:rPr>
                          <m:t>𝐷</m:t>
                        </m:r>
                      </m:num>
                      <m:den>
                        <m:r>
                          <a:rPr lang="es-ES" sz="2400" i="1">
                            <a:latin typeface="Cambria Math" panose="02040503050406030204" pitchFamily="18" charset="0"/>
                          </a:rPr>
                          <m:t>𝑑</m:t>
                        </m:r>
                        <m:r>
                          <a:rPr lang="es-PE" sz="2400" b="0" i="1" smtClean="0">
                            <a:latin typeface="Cambria Math" panose="02040503050406030204" pitchFamily="18" charset="0"/>
                          </a:rPr>
                          <m:t>𝐷</m:t>
                        </m:r>
                      </m:den>
                    </m:f>
                  </m:oMath>
                </a14:m>
                <a:r>
                  <a:rPr lang="es-PE" sz="2400" dirty="0"/>
                  <a:t> 	</a:t>
                </a:r>
              </a:p>
              <a:p>
                <a:pPr marL="269875" indent="0">
                  <a:lnSpc>
                    <a:spcPct val="150000"/>
                  </a:lnSpc>
                  <a:buNone/>
                </a:pPr>
                <a:r>
                  <a:rPr lang="es-ES" sz="2400" dirty="0"/>
                  <a:t>Si sube la tasa de interés de los depósitos, se ahorrará más, </a:t>
                </a:r>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𝜀</m:t>
                        </m:r>
                      </m:e>
                      <m:sub>
                        <m:r>
                          <a:rPr lang="es-PE" sz="2400" i="1">
                            <a:latin typeface="Cambria Math" panose="02040503050406030204" pitchFamily="18" charset="0"/>
                          </a:rPr>
                          <m:t>𝐷</m:t>
                        </m:r>
                      </m:sub>
                    </m:sSub>
                  </m:oMath>
                </a14:m>
                <a:r>
                  <a:rPr lang="es-ES" sz="2400" dirty="0"/>
                  <a:t> &gt; 0. </a:t>
                </a:r>
                <a:endParaRPr lang="es-PE" sz="2400" dirty="0"/>
              </a:p>
              <a:p>
                <a:pPr marL="0" indent="0" algn="ctr">
                  <a:lnSpc>
                    <a:spcPct val="150000"/>
                  </a:lnSpc>
                  <a:buNone/>
                </a:pPr>
                <a14:m>
                  <m:oMathPara xmlns:m="http://schemas.openxmlformats.org/officeDocument/2006/math">
                    <m:oMathParaPr>
                      <m:jc m:val="centerGroup"/>
                    </m:oMathParaPr>
                    <m:oMath xmlns:m="http://schemas.openxmlformats.org/officeDocument/2006/math">
                      <m:sSub>
                        <m:sSubPr>
                          <m:ctrlPr>
                            <a:rPr lang="es-PE" sz="2000" i="1">
                              <a:latin typeface="Cambria Math" panose="02040503050406030204" pitchFamily="18" charset="0"/>
                            </a:rPr>
                          </m:ctrlPr>
                        </m:sSubPr>
                        <m:e>
                          <m:r>
                            <a:rPr lang="es-PE" sz="2000" i="1">
                              <a:latin typeface="Cambria Math" panose="02040503050406030204" pitchFamily="18" charset="0"/>
                            </a:rPr>
                            <m:t>𝑅</m:t>
                          </m:r>
                        </m:e>
                        <m:sub>
                          <m:r>
                            <a:rPr lang="es-PE" sz="2000" b="0" i="1" smtClean="0">
                              <a:latin typeface="Cambria Math" panose="02040503050406030204" pitchFamily="18" charset="0"/>
                            </a:rPr>
                            <m:t>𝐷</m:t>
                          </m:r>
                        </m:sub>
                      </m:sSub>
                      <m:d>
                        <m:dPr>
                          <m:ctrlPr>
                            <a:rPr lang="es-PE" sz="2000" i="1">
                              <a:latin typeface="Cambria Math" panose="02040503050406030204" pitchFamily="18" charset="0"/>
                            </a:rPr>
                          </m:ctrlPr>
                        </m:dPr>
                        <m:e>
                          <m:r>
                            <a:rPr lang="es-PE" sz="2000" b="0" i="1" smtClean="0">
                              <a:latin typeface="Cambria Math" panose="02040503050406030204" pitchFamily="18" charset="0"/>
                            </a:rPr>
                            <m:t>𝐷</m:t>
                          </m:r>
                        </m:e>
                      </m:d>
                      <m:d>
                        <m:dPr>
                          <m:begChr m:val="["/>
                          <m:endChr m:val="]"/>
                          <m:ctrlPr>
                            <a:rPr lang="es-PE" sz="2000" i="1">
                              <a:latin typeface="Cambria Math" panose="02040503050406030204" pitchFamily="18" charset="0"/>
                            </a:rPr>
                          </m:ctrlPr>
                        </m:dPr>
                        <m:e>
                          <m:r>
                            <a:rPr lang="es-PE" sz="2000" i="1">
                              <a:latin typeface="Cambria Math" panose="02040503050406030204" pitchFamily="18" charset="0"/>
                            </a:rPr>
                            <m:t>1+</m:t>
                          </m:r>
                          <m:f>
                            <m:fPr>
                              <m:ctrlPr>
                                <a:rPr lang="es-ES" sz="2000" i="1">
                                  <a:latin typeface="Cambria Math" panose="02040503050406030204" pitchFamily="18" charset="0"/>
                                </a:rPr>
                              </m:ctrlPr>
                            </m:fPr>
                            <m:num>
                              <m:r>
                                <a:rPr lang="es-PE" sz="2000" i="1" smtClean="0">
                                  <a:latin typeface="Cambria Math" panose="02040503050406030204" pitchFamily="18" charset="0"/>
                                </a:rPr>
                                <m:t>1</m:t>
                              </m:r>
                            </m:num>
                            <m:den>
                              <m:sSub>
                                <m:sSubPr>
                                  <m:ctrlPr>
                                    <a:rPr lang="es-PE" sz="2000" i="1">
                                      <a:latin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PE" sz="2000" b="0" i="1" smtClean="0">
                                      <a:latin typeface="Cambria Math" panose="02040503050406030204" pitchFamily="18" charset="0"/>
                                    </a:rPr>
                                    <m:t>𝐷</m:t>
                                  </m:r>
                                </m:sub>
                              </m:sSub>
                            </m:den>
                          </m:f>
                        </m:e>
                      </m:d>
                      <m:r>
                        <a:rPr lang="es-PE" sz="2000" b="0" i="1" smtClean="0">
                          <a:latin typeface="Cambria Math" panose="02040503050406030204" pitchFamily="18" charset="0"/>
                        </a:rPr>
                        <m:t>=</m:t>
                      </m:r>
                      <m:r>
                        <m:rPr>
                          <m:nor/>
                        </m:rPr>
                        <a:rPr lang="es-PE" sz="2000" dirty="0">
                          <a:latin typeface="Times New Roman" panose="02020603050405020304" pitchFamily="18" charset="0"/>
                          <a:cs typeface="Times New Roman" panose="02020603050405020304" pitchFamily="18" charset="0"/>
                        </a:rPr>
                        <m:t>(1−</m:t>
                      </m:r>
                      <m:r>
                        <m:rPr>
                          <m:nor/>
                        </m:rPr>
                        <a:rPr lang="el-GR" sz="2000" dirty="0">
                          <a:latin typeface="Sylfaen" panose="010A0502050306030303" pitchFamily="18" charset="0"/>
                          <a:cs typeface="Times New Roman" panose="02020603050405020304" pitchFamily="18" charset="0"/>
                        </a:rPr>
                        <m:t>θ</m:t>
                      </m:r>
                      <m:r>
                        <m:rPr>
                          <m:nor/>
                        </m:rPr>
                        <a:rPr lang="es-PE" sz="2000" dirty="0">
                          <a:latin typeface="Sylfaen" panose="010A0502050306030303" pitchFamily="18" charset="0"/>
                          <a:cs typeface="Times New Roman" panose="02020603050405020304" pitchFamily="18" charset="0"/>
                        </a:rPr>
                        <m:t>)</m:t>
                      </m:r>
                      <m:r>
                        <a:rPr lang="es-PE" sz="2000" i="1" dirty="0">
                          <a:latin typeface="Cambria Math" panose="02040503050406030204" pitchFamily="18" charset="0"/>
                          <a:cs typeface="Times New Roman" panose="02020603050405020304" pitchFamily="18" charset="0"/>
                        </a:rPr>
                        <m:t>𝑅</m:t>
                      </m:r>
                      <m:r>
                        <a:rPr lang="es-PE" sz="2000" i="1" dirty="0">
                          <a:latin typeface="Cambria Math" panose="02040503050406030204" pitchFamily="18" charset="0"/>
                          <a:cs typeface="Times New Roman" panose="020206030504050203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𝑑</m:t>
                          </m:r>
                          <m:r>
                            <a:rPr lang="es-PE" sz="2000" i="1">
                              <a:latin typeface="Cambria Math" panose="02040503050406030204" pitchFamily="18" charset="0"/>
                              <a:ea typeface="Cambria Math" panose="02040503050406030204" pitchFamily="18" charset="0"/>
                            </a:rPr>
                            <m:t>𝐶</m:t>
                          </m:r>
                        </m:num>
                        <m:den>
                          <m:r>
                            <a:rPr lang="es-ES" sz="2000" i="1">
                              <a:latin typeface="Cambria Math" panose="02040503050406030204" pitchFamily="18" charset="0"/>
                            </a:rPr>
                            <m:t>𝑑</m:t>
                          </m:r>
                          <m:r>
                            <a:rPr lang="es-PE" sz="2000" i="1">
                              <a:latin typeface="Cambria Math" panose="02040503050406030204" pitchFamily="18" charset="0"/>
                            </a:rPr>
                            <m:t>𝐿</m:t>
                          </m:r>
                        </m:den>
                      </m:f>
                    </m:oMath>
                  </m:oMathPara>
                </a14:m>
                <a:endParaRPr lang="es-PE" sz="2000" dirty="0"/>
              </a:p>
              <a:p>
                <a:pPr marL="0" indent="0" algn="ctr">
                  <a:lnSpc>
                    <a:spcPct val="150000"/>
                  </a:lnSpc>
                  <a:buNone/>
                </a:pPr>
                <a14:m>
                  <m:oMathPara xmlns:m="http://schemas.openxmlformats.org/officeDocument/2006/math">
                    <m:oMathParaPr>
                      <m:jc m:val="centerGroup"/>
                    </m:oMathParaPr>
                    <m:oMath xmlns:m="http://schemas.openxmlformats.org/officeDocument/2006/math">
                      <m:sSub>
                        <m:sSubPr>
                          <m:ctrlPr>
                            <a:rPr lang="es-PE" sz="2000" i="1">
                              <a:latin typeface="Cambria Math" panose="02040503050406030204" pitchFamily="18" charset="0"/>
                            </a:rPr>
                          </m:ctrlPr>
                        </m:sSubPr>
                        <m:e>
                          <m:r>
                            <a:rPr lang="es-PE" sz="2000" i="1">
                              <a:latin typeface="Cambria Math" panose="02040503050406030204" pitchFamily="18" charset="0"/>
                            </a:rPr>
                            <m:t>𝑅</m:t>
                          </m:r>
                        </m:e>
                        <m:sub>
                          <m:r>
                            <a:rPr lang="es-PE" sz="2000" i="1">
                              <a:latin typeface="Cambria Math" panose="02040503050406030204" pitchFamily="18" charset="0"/>
                            </a:rPr>
                            <m:t>𝐷</m:t>
                          </m:r>
                        </m:sub>
                      </m:sSub>
                      <m:d>
                        <m:dPr>
                          <m:ctrlPr>
                            <a:rPr lang="es-PE" sz="2000" i="1">
                              <a:latin typeface="Cambria Math" panose="02040503050406030204" pitchFamily="18" charset="0"/>
                            </a:rPr>
                          </m:ctrlPr>
                        </m:dPr>
                        <m:e>
                          <m:r>
                            <a:rPr lang="es-PE" sz="2000" i="1">
                              <a:latin typeface="Cambria Math" panose="02040503050406030204" pitchFamily="18" charset="0"/>
                            </a:rPr>
                            <m:t>𝐷</m:t>
                          </m:r>
                        </m:e>
                      </m:d>
                      <m:r>
                        <a:rPr lang="es-PE" sz="2000" b="0" i="1" smtClean="0">
                          <a:latin typeface="Cambria Math" panose="02040503050406030204" pitchFamily="18" charset="0"/>
                        </a:rPr>
                        <m:t>=</m:t>
                      </m:r>
                      <m:d>
                        <m:dPr>
                          <m:begChr m:val="["/>
                          <m:endChr m:val="]"/>
                          <m:ctrlPr>
                            <a:rPr lang="es-PE" sz="2000" i="1">
                              <a:latin typeface="Cambria Math" panose="02040503050406030204" pitchFamily="18" charset="0"/>
                            </a:rPr>
                          </m:ctrlPr>
                        </m:dPr>
                        <m:e>
                          <m:f>
                            <m:fPr>
                              <m:ctrlPr>
                                <a:rPr lang="es-ES" sz="2000" i="1">
                                  <a:latin typeface="Cambria Math" panose="02040503050406030204" pitchFamily="18" charset="0"/>
                                </a:rPr>
                              </m:ctrlPr>
                            </m:fPr>
                            <m:num>
                              <m:sSub>
                                <m:sSubPr>
                                  <m:ctrlPr>
                                    <a:rPr lang="es-PE" sz="2000" i="1">
                                      <a:latin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PE" sz="2000" i="1">
                                      <a:latin typeface="Cambria Math" panose="02040503050406030204" pitchFamily="18" charset="0"/>
                                    </a:rPr>
                                    <m:t>𝐷</m:t>
                                  </m:r>
                                </m:sub>
                              </m:sSub>
                            </m:num>
                            <m:den>
                              <m:sSub>
                                <m:sSubPr>
                                  <m:ctrlPr>
                                    <a:rPr lang="es-PE" sz="2000" i="1">
                                      <a:latin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PE" sz="2000" i="1">
                                      <a:latin typeface="Cambria Math" panose="02040503050406030204" pitchFamily="18" charset="0"/>
                                    </a:rPr>
                                    <m:t>𝐷</m:t>
                                  </m:r>
                                </m:sub>
                              </m:sSub>
                              <m:r>
                                <a:rPr lang="es-PE" sz="2000" b="0" i="1" smtClean="0">
                                  <a:latin typeface="Cambria Math" panose="02040503050406030204" pitchFamily="18" charset="0"/>
                                </a:rPr>
                                <m:t>+1</m:t>
                              </m:r>
                            </m:den>
                          </m:f>
                        </m:e>
                      </m:d>
                      <m:r>
                        <a:rPr lang="es-PE" sz="2000" b="0" i="1" smtClean="0">
                          <a:latin typeface="Cambria Math" panose="02040503050406030204" pitchFamily="18" charset="0"/>
                        </a:rPr>
                        <m:t>[</m:t>
                      </m:r>
                      <m:r>
                        <a:rPr lang="es-PE" sz="2000" i="1" smtClean="0">
                          <a:latin typeface="Cambria Math" panose="02040503050406030204" pitchFamily="18" charset="0"/>
                        </a:rPr>
                        <m:t> </m:t>
                      </m:r>
                      <m:r>
                        <m:rPr>
                          <m:nor/>
                        </m:rPr>
                        <a:rPr lang="es-PE" sz="2000" dirty="0">
                          <a:latin typeface="Times New Roman" panose="02020603050405020304" pitchFamily="18" charset="0"/>
                          <a:cs typeface="Times New Roman" panose="02020603050405020304" pitchFamily="18" charset="0"/>
                        </a:rPr>
                        <m:t>(1−</m:t>
                      </m:r>
                      <m:r>
                        <m:rPr>
                          <m:nor/>
                        </m:rPr>
                        <a:rPr lang="el-GR" sz="2000" dirty="0">
                          <a:latin typeface="Sylfaen" panose="010A0502050306030303" pitchFamily="18" charset="0"/>
                          <a:cs typeface="Times New Roman" panose="02020603050405020304" pitchFamily="18" charset="0"/>
                        </a:rPr>
                        <m:t>θ</m:t>
                      </m:r>
                      <m:r>
                        <m:rPr>
                          <m:nor/>
                        </m:rPr>
                        <a:rPr lang="es-PE" sz="2000" dirty="0">
                          <a:latin typeface="Sylfaen" panose="010A0502050306030303" pitchFamily="18" charset="0"/>
                          <a:cs typeface="Times New Roman" panose="02020603050405020304" pitchFamily="18" charset="0"/>
                        </a:rPr>
                        <m:t>)</m:t>
                      </m:r>
                      <m:r>
                        <a:rPr lang="es-PE" sz="2000" i="1" dirty="0">
                          <a:latin typeface="Cambria Math" panose="02040503050406030204" pitchFamily="18" charset="0"/>
                          <a:cs typeface="Times New Roman" panose="02020603050405020304" pitchFamily="18" charset="0"/>
                        </a:rPr>
                        <m:t>𝑅</m:t>
                      </m:r>
                      <m:r>
                        <a:rPr lang="es-PE" sz="2000" i="1" dirty="0">
                          <a:latin typeface="Cambria Math" panose="02040503050406030204" pitchFamily="18" charset="0"/>
                          <a:cs typeface="Times New Roman" panose="020206030504050203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𝑑</m:t>
                          </m:r>
                          <m:r>
                            <a:rPr lang="es-PE" sz="2000" i="1">
                              <a:latin typeface="Cambria Math" panose="02040503050406030204" pitchFamily="18" charset="0"/>
                              <a:ea typeface="Cambria Math" panose="02040503050406030204" pitchFamily="18" charset="0"/>
                            </a:rPr>
                            <m:t>𝐶</m:t>
                          </m:r>
                        </m:num>
                        <m:den>
                          <m:r>
                            <a:rPr lang="es-ES" sz="2000" i="1">
                              <a:latin typeface="Cambria Math" panose="02040503050406030204" pitchFamily="18" charset="0"/>
                            </a:rPr>
                            <m:t>𝑑</m:t>
                          </m:r>
                          <m:r>
                            <a:rPr lang="es-PE" sz="2000" i="1">
                              <a:latin typeface="Cambria Math" panose="02040503050406030204" pitchFamily="18" charset="0"/>
                            </a:rPr>
                            <m:t>𝐿</m:t>
                          </m:r>
                        </m:den>
                      </m:f>
                      <m:r>
                        <a:rPr lang="es-PE" sz="2000" b="0" i="1" smtClean="0">
                          <a:latin typeface="Cambria Math" panose="02040503050406030204" pitchFamily="18" charset="0"/>
                        </a:rPr>
                        <m:t>]</m:t>
                      </m:r>
                    </m:oMath>
                  </m:oMathPara>
                </a14:m>
                <a:endParaRPr lang="es-PE" sz="2000" dirty="0"/>
              </a:p>
            </p:txBody>
          </p:sp>
        </mc:Choice>
        <mc:Fallback>
          <p:sp>
            <p:nvSpPr>
              <p:cNvPr id="3" name="Marcador de contenido 2">
                <a:extLst>
                  <a:ext uri="{FF2B5EF4-FFF2-40B4-BE49-F238E27FC236}">
                    <a16:creationId xmlns:a16="http://schemas.microsoft.com/office/drawing/2014/main" id="{7BA7A144-8118-0B1C-D5EC-919CA386BE9B}"/>
                  </a:ext>
                </a:extLst>
              </p:cNvPr>
              <p:cNvSpPr>
                <a:spLocks noGrp="1" noRot="1" noChangeAspect="1" noMove="1" noResize="1" noEditPoints="1" noAdjustHandles="1" noChangeArrowheads="1" noChangeShapeType="1" noTextEdit="1"/>
              </p:cNvSpPr>
              <p:nvPr>
                <p:ph idx="1"/>
              </p:nvPr>
            </p:nvSpPr>
            <p:spPr>
              <a:xfrm>
                <a:off x="623392" y="1556792"/>
                <a:ext cx="11161240" cy="5040560"/>
              </a:xfrm>
              <a:blipFill>
                <a:blip r:embed="rId2"/>
                <a:stretch>
                  <a:fillRect l="-710"/>
                </a:stretch>
              </a:blipFill>
            </p:spPr>
            <p:txBody>
              <a:bodyPr/>
              <a:lstStyle/>
              <a:p>
                <a:r>
                  <a:rPr lang="es-PE">
                    <a:noFill/>
                  </a:rPr>
                  <a:t> </a:t>
                </a:r>
              </a:p>
            </p:txBody>
          </p:sp>
        </mc:Fallback>
      </mc:AlternateContent>
      <p:sp>
        <p:nvSpPr>
          <p:cNvPr id="4" name="Marcador de número de diapositiva 3">
            <a:extLst>
              <a:ext uri="{FF2B5EF4-FFF2-40B4-BE49-F238E27FC236}">
                <a16:creationId xmlns:a16="http://schemas.microsoft.com/office/drawing/2014/main" id="{BB13B3C4-E3CC-2460-5152-97CA56E7B3EE}"/>
              </a:ext>
            </a:extLst>
          </p:cNvPr>
          <p:cNvSpPr>
            <a:spLocks noGrp="1"/>
          </p:cNvSpPr>
          <p:nvPr>
            <p:ph type="sldNum" sz="quarter" idx="12"/>
          </p:nvPr>
        </p:nvSpPr>
        <p:spPr/>
        <p:txBody>
          <a:bodyPr/>
          <a:lstStyle/>
          <a:p>
            <a:pPr>
              <a:defRPr/>
            </a:pPr>
            <a:fld id="{8E639104-18EF-4017-8EC8-89CC3800080B}" type="slidenum">
              <a:rPr lang="es-PE" altLang="es-PE" smtClean="0"/>
              <a:pPr>
                <a:defRPr/>
              </a:pPr>
              <a:t>44</a:t>
            </a:fld>
            <a:endParaRPr lang="es-PE" altLang="es-PE"/>
          </a:p>
        </p:txBody>
      </p:sp>
    </p:spTree>
    <p:extLst>
      <p:ext uri="{BB962C8B-B14F-4D97-AF65-F5344CB8AC3E}">
        <p14:creationId xmlns:p14="http://schemas.microsoft.com/office/powerpoint/2010/main" val="34261736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38D38-010E-9CFC-5326-EFB166EA8A11}"/>
              </a:ext>
            </a:extLst>
          </p:cNvPr>
          <p:cNvSpPr>
            <a:spLocks noGrp="1"/>
          </p:cNvSpPr>
          <p:nvPr>
            <p:ph type="title"/>
          </p:nvPr>
        </p:nvSpPr>
        <p:spPr/>
        <p:txBody>
          <a:bodyPr/>
          <a:lstStyle/>
          <a:p>
            <a:r>
              <a:rPr lang="es-PE" sz="4000" b="1" dirty="0"/>
              <a:t>Determinación de T. de Interés con </a:t>
            </a:r>
            <a:br>
              <a:rPr lang="es-PE" sz="4000" b="1" dirty="0"/>
            </a:br>
            <a:r>
              <a:rPr lang="es-PE" sz="4000" b="1" dirty="0"/>
              <a:t>Competencia Monopolística : Depósitos</a:t>
            </a:r>
            <a:endParaRPr lang="es-PE" sz="4000" dirty="0"/>
          </a:p>
        </p:txBody>
      </p:sp>
      <p:sp>
        <p:nvSpPr>
          <p:cNvPr id="3" name="Marcador de contenido 2">
            <a:extLst>
              <a:ext uri="{FF2B5EF4-FFF2-40B4-BE49-F238E27FC236}">
                <a16:creationId xmlns:a16="http://schemas.microsoft.com/office/drawing/2014/main" id="{38173254-7D02-37A0-624A-09601BA8BF6F}"/>
              </a:ext>
            </a:extLst>
          </p:cNvPr>
          <p:cNvSpPr>
            <a:spLocks noGrp="1"/>
          </p:cNvSpPr>
          <p:nvPr>
            <p:ph idx="1"/>
          </p:nvPr>
        </p:nvSpPr>
        <p:spPr/>
        <p:txBody>
          <a:bodyPr/>
          <a:lstStyle/>
          <a:p>
            <a:pPr marL="0" indent="0">
              <a:buNone/>
            </a:pPr>
            <a:r>
              <a:rPr lang="es-ES" dirty="0"/>
              <a:t>Conclusiones</a:t>
            </a:r>
          </a:p>
          <a:p>
            <a:r>
              <a:rPr lang="es-ES" dirty="0"/>
              <a:t>Como la elasticidad debe ser mayor a 1 y menor que infinito, ¿qué pasa si es 2? Tendríamos 2/3, por lo que este monopolista le pagará al depositante solo 2/3 de lo que pagaría en competencia perfecta, y esa diferencia será la ganancia extraordinaria del monopolista, y podemos seguir con estos ejemplos, y nuevamente vemos que una menor elasticidad es más conveniente. </a:t>
            </a:r>
          </a:p>
          <a:p>
            <a:r>
              <a:rPr lang="es-ES" dirty="0"/>
              <a:t>¿Quién es aquel que puede cobrar un mayor precio por su producto y paga un menor precio por su insumo? El </a:t>
            </a:r>
            <a:r>
              <a:rPr lang="es-ES" dirty="0" err="1"/>
              <a:t>monopsonista</a:t>
            </a:r>
            <a:r>
              <a:rPr lang="es-ES" dirty="0"/>
              <a:t>. </a:t>
            </a:r>
            <a:endParaRPr lang="es-PE" dirty="0"/>
          </a:p>
        </p:txBody>
      </p:sp>
      <p:sp>
        <p:nvSpPr>
          <p:cNvPr id="4" name="Marcador de número de diapositiva 3">
            <a:extLst>
              <a:ext uri="{FF2B5EF4-FFF2-40B4-BE49-F238E27FC236}">
                <a16:creationId xmlns:a16="http://schemas.microsoft.com/office/drawing/2014/main" id="{18468CCB-2CF2-3626-98F3-FF2D0D6ADAEE}"/>
              </a:ext>
            </a:extLst>
          </p:cNvPr>
          <p:cNvSpPr>
            <a:spLocks noGrp="1"/>
          </p:cNvSpPr>
          <p:nvPr>
            <p:ph type="sldNum" sz="quarter" idx="12"/>
          </p:nvPr>
        </p:nvSpPr>
        <p:spPr/>
        <p:txBody>
          <a:bodyPr/>
          <a:lstStyle/>
          <a:p>
            <a:pPr>
              <a:defRPr/>
            </a:pPr>
            <a:fld id="{8E639104-18EF-4017-8EC8-89CC3800080B}" type="slidenum">
              <a:rPr lang="es-PE" altLang="es-PE" smtClean="0"/>
              <a:pPr>
                <a:defRPr/>
              </a:pPr>
              <a:t>45</a:t>
            </a:fld>
            <a:endParaRPr lang="es-PE" altLang="es-PE"/>
          </a:p>
        </p:txBody>
      </p:sp>
    </p:spTree>
    <p:extLst>
      <p:ext uri="{BB962C8B-B14F-4D97-AF65-F5344CB8AC3E}">
        <p14:creationId xmlns:p14="http://schemas.microsoft.com/office/powerpoint/2010/main" val="2621899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357988-DD7D-D038-F498-55009EA5AA0F}"/>
              </a:ext>
            </a:extLst>
          </p:cNvPr>
          <p:cNvSpPr>
            <a:spLocks noGrp="1"/>
          </p:cNvSpPr>
          <p:nvPr>
            <p:ph type="title"/>
          </p:nvPr>
        </p:nvSpPr>
        <p:spPr>
          <a:xfrm>
            <a:off x="407368" y="73857"/>
            <a:ext cx="10515600" cy="1325563"/>
          </a:xfrm>
        </p:spPr>
        <p:txBody>
          <a:bodyPr/>
          <a:lstStyle/>
          <a:p>
            <a:r>
              <a:rPr lang="es-PE" sz="4000" b="1" dirty="0"/>
              <a:t>Determinación de T. de Interés con</a:t>
            </a:r>
            <a:br>
              <a:rPr lang="es-PE" sz="4000" b="1" dirty="0"/>
            </a:br>
            <a:r>
              <a:rPr lang="es-PE" sz="4000" b="1" dirty="0"/>
              <a:t>Competencia Monopolística : Depósitos</a:t>
            </a:r>
            <a:endParaRPr lang="es-PE" sz="4000" dirty="0"/>
          </a:p>
        </p:txBody>
      </p:sp>
      <p:sp>
        <p:nvSpPr>
          <p:cNvPr id="3" name="Marcador de contenido 2">
            <a:extLst>
              <a:ext uri="{FF2B5EF4-FFF2-40B4-BE49-F238E27FC236}">
                <a16:creationId xmlns:a16="http://schemas.microsoft.com/office/drawing/2014/main" id="{DCCC6133-02DD-5FD5-91BD-E5C461EF6B9E}"/>
              </a:ext>
            </a:extLst>
          </p:cNvPr>
          <p:cNvSpPr>
            <a:spLocks noGrp="1"/>
          </p:cNvSpPr>
          <p:nvPr>
            <p:ph idx="1"/>
          </p:nvPr>
        </p:nvSpPr>
        <p:spPr>
          <a:xfrm>
            <a:off x="407368" y="1424302"/>
            <a:ext cx="11449272" cy="5173050"/>
          </a:xfrm>
        </p:spPr>
        <p:txBody>
          <a:bodyPr/>
          <a:lstStyle/>
          <a:p>
            <a:pPr marL="0" indent="0">
              <a:lnSpc>
                <a:spcPct val="150000"/>
              </a:lnSpc>
              <a:buNone/>
            </a:pPr>
            <a:r>
              <a:rPr lang="es-PE" sz="2300" b="1" dirty="0"/>
              <a:t>Conclusiones: </a:t>
            </a:r>
          </a:p>
          <a:p>
            <a:pPr marL="0" indent="0">
              <a:lnSpc>
                <a:spcPct val="150000"/>
              </a:lnSpc>
              <a:buNone/>
            </a:pPr>
            <a:r>
              <a:rPr lang="es-ES" sz="2300" b="1" dirty="0"/>
              <a:t>Primera. </a:t>
            </a:r>
          </a:p>
          <a:p>
            <a:pPr>
              <a:lnSpc>
                <a:spcPct val="150000"/>
              </a:lnSpc>
            </a:pPr>
            <a:r>
              <a:rPr lang="es-ES" sz="2300" b="1" dirty="0"/>
              <a:t>L</a:t>
            </a:r>
            <a:r>
              <a:rPr lang="es-ES" sz="2300" dirty="0"/>
              <a:t>a tasa de interés de los créditos en competencia monopolística es mayor que la tasa de interés de créditos en competencia perfecta por la ganancia extraordinaria. </a:t>
            </a:r>
          </a:p>
          <a:p>
            <a:pPr>
              <a:lnSpc>
                <a:spcPct val="150000"/>
              </a:lnSpc>
            </a:pPr>
            <a:r>
              <a:rPr lang="es-ES" sz="2300" dirty="0"/>
              <a:t>La tasa de interés de crédito en competencia perfecta es mayor que la tasa interbancaria.</a:t>
            </a:r>
          </a:p>
          <a:p>
            <a:pPr>
              <a:lnSpc>
                <a:spcPct val="150000"/>
              </a:lnSpc>
            </a:pPr>
            <a:r>
              <a:rPr lang="es-ES" sz="2300" dirty="0"/>
              <a:t>La tasa interbancaria es mayor que la tasa de interés de depósitos en competencia perfecta. </a:t>
            </a:r>
          </a:p>
          <a:p>
            <a:pPr>
              <a:lnSpc>
                <a:spcPct val="150000"/>
              </a:lnSpc>
            </a:pPr>
            <a:r>
              <a:rPr lang="es-ES" sz="2300" dirty="0"/>
              <a:t>La de depósitos de competencia perfecta es mayor que la de competencia monopolística:</a:t>
            </a:r>
          </a:p>
          <a:p>
            <a:pPr marL="0" indent="0" algn="ctr">
              <a:lnSpc>
                <a:spcPct val="150000"/>
              </a:lnSpc>
              <a:buNone/>
            </a:pPr>
            <a:r>
              <a:rPr lang="es-ES" sz="2300" dirty="0"/>
              <a:t> 𝑹</a:t>
            </a:r>
            <a:r>
              <a:rPr lang="es-ES" sz="2300" baseline="-25000" dirty="0"/>
              <a:t>𝑳</a:t>
            </a:r>
            <a:r>
              <a:rPr lang="es-ES" sz="2300" dirty="0"/>
              <a:t>(𝑳) &gt; 𝑹</a:t>
            </a:r>
            <a:r>
              <a:rPr lang="es-ES" sz="2300" baseline="-25000" dirty="0"/>
              <a:t>𝑳</a:t>
            </a:r>
            <a:r>
              <a:rPr lang="es-ES" sz="2300" dirty="0"/>
              <a:t>&gt;𝑹 &gt;𝑹</a:t>
            </a:r>
            <a:r>
              <a:rPr lang="es-ES" sz="2300" baseline="-25000" dirty="0"/>
              <a:t>𝑫 </a:t>
            </a:r>
            <a:r>
              <a:rPr lang="es-ES" sz="2300" dirty="0"/>
              <a:t>&gt; 𝑹</a:t>
            </a:r>
            <a:r>
              <a:rPr lang="es-ES" sz="2300" baseline="-25000" dirty="0"/>
              <a:t>𝑫</a:t>
            </a:r>
            <a:r>
              <a:rPr lang="es-ES" sz="2300" dirty="0"/>
              <a:t>(𝑫) </a:t>
            </a:r>
            <a:endParaRPr lang="es-PE" sz="2300" dirty="0"/>
          </a:p>
        </p:txBody>
      </p:sp>
      <p:sp>
        <p:nvSpPr>
          <p:cNvPr id="4" name="Marcador de número de diapositiva 3">
            <a:extLst>
              <a:ext uri="{FF2B5EF4-FFF2-40B4-BE49-F238E27FC236}">
                <a16:creationId xmlns:a16="http://schemas.microsoft.com/office/drawing/2014/main" id="{DC7A3875-89FE-AB9D-A35D-A6B8FE78CDC1}"/>
              </a:ext>
            </a:extLst>
          </p:cNvPr>
          <p:cNvSpPr>
            <a:spLocks noGrp="1"/>
          </p:cNvSpPr>
          <p:nvPr>
            <p:ph type="sldNum" sz="quarter" idx="12"/>
          </p:nvPr>
        </p:nvSpPr>
        <p:spPr/>
        <p:txBody>
          <a:bodyPr/>
          <a:lstStyle/>
          <a:p>
            <a:pPr>
              <a:defRPr/>
            </a:pPr>
            <a:fld id="{8E639104-18EF-4017-8EC8-89CC3800080B}" type="slidenum">
              <a:rPr lang="es-PE" altLang="es-PE" smtClean="0"/>
              <a:pPr>
                <a:defRPr/>
              </a:pPr>
              <a:t>46</a:t>
            </a:fld>
            <a:endParaRPr lang="es-PE" altLang="es-PE"/>
          </a:p>
        </p:txBody>
      </p:sp>
    </p:spTree>
    <p:extLst>
      <p:ext uri="{BB962C8B-B14F-4D97-AF65-F5344CB8AC3E}">
        <p14:creationId xmlns:p14="http://schemas.microsoft.com/office/powerpoint/2010/main" val="42029439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68F0C3-561C-776E-E587-18137EF92B96}"/>
              </a:ext>
            </a:extLst>
          </p:cNvPr>
          <p:cNvSpPr>
            <a:spLocks noGrp="1"/>
          </p:cNvSpPr>
          <p:nvPr>
            <p:ph type="title"/>
          </p:nvPr>
        </p:nvSpPr>
        <p:spPr/>
        <p:txBody>
          <a:bodyPr/>
          <a:lstStyle/>
          <a:p>
            <a:r>
              <a:rPr lang="es-PE" sz="4000" b="1" dirty="0"/>
              <a:t>Determinación de T. de Interés: </a:t>
            </a:r>
            <a:br>
              <a:rPr lang="es-PE" sz="4000" b="1" dirty="0"/>
            </a:br>
            <a:r>
              <a:rPr lang="es-PE" sz="4000" b="1" dirty="0"/>
              <a:t>Competencia Monopolística</a:t>
            </a:r>
            <a:endParaRPr lang="es-PE" sz="4000" dirty="0"/>
          </a:p>
        </p:txBody>
      </p:sp>
      <p:sp>
        <p:nvSpPr>
          <p:cNvPr id="3" name="Marcador de contenido 2">
            <a:extLst>
              <a:ext uri="{FF2B5EF4-FFF2-40B4-BE49-F238E27FC236}">
                <a16:creationId xmlns:a16="http://schemas.microsoft.com/office/drawing/2014/main" id="{5A56A212-3014-5518-1E60-271F46FD6F7D}"/>
              </a:ext>
            </a:extLst>
          </p:cNvPr>
          <p:cNvSpPr>
            <a:spLocks noGrp="1"/>
          </p:cNvSpPr>
          <p:nvPr>
            <p:ph idx="1"/>
          </p:nvPr>
        </p:nvSpPr>
        <p:spPr/>
        <p:txBody>
          <a:bodyPr/>
          <a:lstStyle/>
          <a:p>
            <a:pPr marL="0" indent="0">
              <a:lnSpc>
                <a:spcPct val="150000"/>
              </a:lnSpc>
              <a:buNone/>
            </a:pPr>
            <a:r>
              <a:rPr lang="es-ES" sz="2400" b="1" dirty="0"/>
              <a:t>Segunda conclusión:</a:t>
            </a:r>
          </a:p>
          <a:p>
            <a:pPr algn="just">
              <a:lnSpc>
                <a:spcPct val="150000"/>
              </a:lnSpc>
            </a:pPr>
            <a:r>
              <a:rPr lang="es-ES" sz="2400" dirty="0"/>
              <a:t>El spread entre la tasa de interés de los créditos y la de los depósitos será mucho mayor en competencia monopolística que en competencia perfecta.</a:t>
            </a:r>
          </a:p>
          <a:p>
            <a:pPr marL="0" indent="0" algn="ctr">
              <a:lnSpc>
                <a:spcPct val="150000"/>
              </a:lnSpc>
              <a:buNone/>
            </a:pPr>
            <a:r>
              <a:rPr lang="es-ES" sz="2400" dirty="0"/>
              <a:t>𝑹</a:t>
            </a:r>
            <a:r>
              <a:rPr lang="es-ES" sz="2400" baseline="-25000" dirty="0"/>
              <a:t>𝑳</a:t>
            </a:r>
            <a:r>
              <a:rPr lang="es-ES" sz="2400" dirty="0"/>
              <a:t>(𝑳)−𝑹</a:t>
            </a:r>
            <a:r>
              <a:rPr lang="es-ES" sz="2400" baseline="-25000" dirty="0"/>
              <a:t>𝑫</a:t>
            </a:r>
            <a:r>
              <a:rPr lang="es-ES" sz="2400" dirty="0"/>
              <a:t>(𝑫) &gt; 𝑹 </a:t>
            </a:r>
            <a:r>
              <a:rPr lang="es-ES" sz="2400" baseline="-25000" dirty="0"/>
              <a:t>𝑳</a:t>
            </a:r>
            <a:r>
              <a:rPr lang="es-ES" sz="2400" dirty="0"/>
              <a:t>−𝑹</a:t>
            </a:r>
            <a:r>
              <a:rPr lang="es-ES" sz="2400" baseline="-25000" dirty="0"/>
              <a:t>𝑫 </a:t>
            </a:r>
            <a:r>
              <a:rPr lang="es-ES" sz="2400" dirty="0"/>
              <a:t>&gt; 𝟎 </a:t>
            </a:r>
            <a:endParaRPr lang="es-PE" sz="2400" dirty="0"/>
          </a:p>
        </p:txBody>
      </p:sp>
      <p:sp>
        <p:nvSpPr>
          <p:cNvPr id="4" name="Marcador de número de diapositiva 3">
            <a:extLst>
              <a:ext uri="{FF2B5EF4-FFF2-40B4-BE49-F238E27FC236}">
                <a16:creationId xmlns:a16="http://schemas.microsoft.com/office/drawing/2014/main" id="{BE4D9643-83FF-FD44-9634-CFFEC3702EF0}"/>
              </a:ext>
            </a:extLst>
          </p:cNvPr>
          <p:cNvSpPr>
            <a:spLocks noGrp="1"/>
          </p:cNvSpPr>
          <p:nvPr>
            <p:ph type="sldNum" sz="quarter" idx="12"/>
          </p:nvPr>
        </p:nvSpPr>
        <p:spPr/>
        <p:txBody>
          <a:bodyPr/>
          <a:lstStyle/>
          <a:p>
            <a:pPr>
              <a:defRPr/>
            </a:pPr>
            <a:fld id="{8E639104-18EF-4017-8EC8-89CC3800080B}" type="slidenum">
              <a:rPr lang="es-PE" altLang="es-PE" smtClean="0"/>
              <a:pPr>
                <a:defRPr/>
              </a:pPr>
              <a:t>47</a:t>
            </a:fld>
            <a:endParaRPr lang="es-PE" altLang="es-PE"/>
          </a:p>
        </p:txBody>
      </p:sp>
    </p:spTree>
    <p:extLst>
      <p:ext uri="{BB962C8B-B14F-4D97-AF65-F5344CB8AC3E}">
        <p14:creationId xmlns:p14="http://schemas.microsoft.com/office/powerpoint/2010/main" val="2423056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5081BA-67BB-5A5F-5583-22F9D5A6198A}"/>
              </a:ext>
            </a:extLst>
          </p:cNvPr>
          <p:cNvSpPr>
            <a:spLocks noGrp="1"/>
          </p:cNvSpPr>
          <p:nvPr>
            <p:ph type="title"/>
          </p:nvPr>
        </p:nvSpPr>
        <p:spPr>
          <a:xfrm>
            <a:off x="479376" y="119062"/>
            <a:ext cx="10515600" cy="1325563"/>
          </a:xfrm>
        </p:spPr>
        <p:txBody>
          <a:bodyPr/>
          <a:lstStyle/>
          <a:p>
            <a:r>
              <a:rPr lang="es-PE" sz="4000" b="1" dirty="0"/>
              <a:t>Determinación de T. de Interés: </a:t>
            </a:r>
            <a:br>
              <a:rPr lang="es-PE" sz="4000" b="1" dirty="0"/>
            </a:br>
            <a:r>
              <a:rPr lang="es-PE" sz="4000" b="1" dirty="0"/>
              <a:t>Competencia Monopolística</a:t>
            </a:r>
            <a:endParaRPr lang="es-PE" sz="4000" dirty="0"/>
          </a:p>
        </p:txBody>
      </p:sp>
      <p:sp>
        <p:nvSpPr>
          <p:cNvPr id="3" name="Marcador de contenido 2">
            <a:extLst>
              <a:ext uri="{FF2B5EF4-FFF2-40B4-BE49-F238E27FC236}">
                <a16:creationId xmlns:a16="http://schemas.microsoft.com/office/drawing/2014/main" id="{D1701D0A-C295-84B6-154C-637258631674}"/>
              </a:ext>
            </a:extLst>
          </p:cNvPr>
          <p:cNvSpPr>
            <a:spLocks noGrp="1"/>
          </p:cNvSpPr>
          <p:nvPr>
            <p:ph idx="1"/>
          </p:nvPr>
        </p:nvSpPr>
        <p:spPr>
          <a:xfrm>
            <a:off x="494692" y="1444625"/>
            <a:ext cx="11289940" cy="4351338"/>
          </a:xfrm>
        </p:spPr>
        <p:txBody>
          <a:bodyPr/>
          <a:lstStyle/>
          <a:p>
            <a:pPr marL="0" indent="0">
              <a:lnSpc>
                <a:spcPct val="150000"/>
              </a:lnSpc>
              <a:buNone/>
            </a:pPr>
            <a:r>
              <a:rPr lang="es-PE" sz="2400" b="1" dirty="0"/>
              <a:t>Efectividad de la política monetaria</a:t>
            </a:r>
          </a:p>
          <a:p>
            <a:pPr marL="0" indent="0">
              <a:lnSpc>
                <a:spcPct val="150000"/>
              </a:lnSpc>
              <a:buNone/>
            </a:pPr>
            <a:r>
              <a:rPr lang="es-PE" sz="2400" b="1" dirty="0"/>
              <a:t>a) Canal Crediticio </a:t>
            </a:r>
            <a:endParaRPr lang="es-PE" sz="2400" dirty="0"/>
          </a:p>
          <a:p>
            <a:pPr>
              <a:lnSpc>
                <a:spcPct val="150000"/>
              </a:lnSpc>
            </a:pPr>
            <a:r>
              <a:rPr lang="es-ES" sz="2400" dirty="0"/>
              <a:t>Lo importante del canal crediticio es la </a:t>
            </a:r>
            <a:r>
              <a:rPr lang="es-ES" sz="2400" u="sng" dirty="0"/>
              <a:t>tasa de interés de los créditos</a:t>
            </a:r>
            <a:r>
              <a:rPr lang="es-ES" sz="2400" dirty="0"/>
              <a:t>, que ahora incluye la elasticidad.</a:t>
            </a:r>
          </a:p>
          <a:p>
            <a:pPr>
              <a:lnSpc>
                <a:spcPct val="150000"/>
              </a:lnSpc>
            </a:pPr>
            <a:r>
              <a:rPr lang="es-ES" sz="2400" dirty="0" err="1"/>
              <a:t>P.ejm</a:t>
            </a:r>
            <a:r>
              <a:rPr lang="es-ES" sz="2400" dirty="0"/>
              <a:t> el BC anuncia que tiene que subir la tasa de interés de referencia. </a:t>
            </a:r>
          </a:p>
          <a:p>
            <a:pPr>
              <a:lnSpc>
                <a:spcPct val="150000"/>
              </a:lnSpc>
            </a:pPr>
            <a:r>
              <a:rPr lang="es-ES" sz="2400" dirty="0"/>
              <a:t>Para que las tasas cambien deben cambiar las condiciones de liquidez interbancarias, por lo que también usan OMA de ventas de títulos para retirar liquidez interbancaria.</a:t>
            </a:r>
            <a:endParaRPr lang="es-PE" sz="2400" dirty="0"/>
          </a:p>
        </p:txBody>
      </p:sp>
      <p:sp>
        <p:nvSpPr>
          <p:cNvPr id="4" name="Marcador de número de diapositiva 3">
            <a:extLst>
              <a:ext uri="{FF2B5EF4-FFF2-40B4-BE49-F238E27FC236}">
                <a16:creationId xmlns:a16="http://schemas.microsoft.com/office/drawing/2014/main" id="{C5B0A8E5-CC36-ED5E-0827-08FCED4B33BF}"/>
              </a:ext>
            </a:extLst>
          </p:cNvPr>
          <p:cNvSpPr>
            <a:spLocks noGrp="1"/>
          </p:cNvSpPr>
          <p:nvPr>
            <p:ph type="sldNum" sz="quarter" idx="12"/>
          </p:nvPr>
        </p:nvSpPr>
        <p:spPr/>
        <p:txBody>
          <a:bodyPr/>
          <a:lstStyle/>
          <a:p>
            <a:pPr>
              <a:defRPr/>
            </a:pPr>
            <a:fld id="{8E639104-18EF-4017-8EC8-89CC3800080B}" type="slidenum">
              <a:rPr lang="es-PE" altLang="es-PE" smtClean="0"/>
              <a:pPr>
                <a:defRPr/>
              </a:pPr>
              <a:t>48</a:t>
            </a:fld>
            <a:endParaRPr lang="es-PE" altLang="es-PE" dirty="0"/>
          </a:p>
        </p:txBody>
      </p:sp>
    </p:spTree>
    <p:extLst>
      <p:ext uri="{BB962C8B-B14F-4D97-AF65-F5344CB8AC3E}">
        <p14:creationId xmlns:p14="http://schemas.microsoft.com/office/powerpoint/2010/main" val="9528037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85E3F-5ED9-7530-4244-1E29847EF1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5EDEDA-4D60-F651-53D1-DAC83985DF40}"/>
              </a:ext>
            </a:extLst>
          </p:cNvPr>
          <p:cNvSpPr>
            <a:spLocks noGrp="1"/>
          </p:cNvSpPr>
          <p:nvPr>
            <p:ph type="title"/>
          </p:nvPr>
        </p:nvSpPr>
        <p:spPr>
          <a:xfrm>
            <a:off x="479376" y="119062"/>
            <a:ext cx="10515600" cy="1325563"/>
          </a:xfrm>
        </p:spPr>
        <p:txBody>
          <a:bodyPr/>
          <a:lstStyle/>
          <a:p>
            <a:r>
              <a:rPr lang="es-PE" sz="4000" b="1" dirty="0"/>
              <a:t>Determinación de T. de Interés: </a:t>
            </a:r>
            <a:br>
              <a:rPr lang="es-PE" sz="4000" b="1" dirty="0"/>
            </a:br>
            <a:r>
              <a:rPr lang="es-PE" sz="4000" b="1" dirty="0"/>
              <a:t>Competencia Monopolística</a:t>
            </a:r>
            <a:endParaRPr lang="es-PE" sz="400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93D6023-0338-EA15-5791-B9FE72D04187}"/>
                  </a:ext>
                </a:extLst>
              </p:cNvPr>
              <p:cNvSpPr>
                <a:spLocks noGrp="1"/>
              </p:cNvSpPr>
              <p:nvPr>
                <p:ph idx="1"/>
              </p:nvPr>
            </p:nvSpPr>
            <p:spPr>
              <a:xfrm>
                <a:off x="494692" y="1444625"/>
                <a:ext cx="11289940" cy="4929188"/>
              </a:xfrm>
            </p:spPr>
            <p:txBody>
              <a:bodyPr/>
              <a:lstStyle/>
              <a:p>
                <a:pPr marL="0" indent="0">
                  <a:lnSpc>
                    <a:spcPct val="150000"/>
                  </a:lnSpc>
                  <a:buNone/>
                </a:pPr>
                <a:r>
                  <a:rPr lang="es-PE" sz="2400" b="1" dirty="0"/>
                  <a:t>Efectividad de la política monetaria</a:t>
                </a:r>
              </a:p>
              <a:p>
                <a:pPr marL="0" indent="0">
                  <a:lnSpc>
                    <a:spcPct val="150000"/>
                  </a:lnSpc>
                  <a:buNone/>
                </a:pPr>
                <a:r>
                  <a:rPr lang="es-PE" sz="2400" b="1" dirty="0"/>
                  <a:t>a) Canal Crediticio </a:t>
                </a:r>
                <a:endParaRPr lang="es-PE" sz="2400" dirty="0"/>
              </a:p>
              <a:p>
                <a:pPr>
                  <a:lnSpc>
                    <a:spcPct val="150000"/>
                  </a:lnSpc>
                </a:pPr>
                <a:r>
                  <a:rPr lang="es-ES" sz="2400" dirty="0"/>
                  <a:t>Si disminuye la liquidez la tasa interbancaria subiría</a:t>
                </a:r>
              </a:p>
              <a:p>
                <a:pPr marL="0" indent="0" algn="ctr">
                  <a:lnSpc>
                    <a:spcPct val="150000"/>
                  </a:lnSpc>
                  <a:buNone/>
                </a:pPr>
                <a14:m>
                  <m:oMathPara xmlns:m="http://schemas.openxmlformats.org/officeDocument/2006/math">
                    <m:oMathParaPr>
                      <m:jc m:val="centerGroup"/>
                    </m:oMathParaPr>
                    <m:oMath xmlns:m="http://schemas.openxmlformats.org/officeDocument/2006/math">
                      <m:sSub>
                        <m:sSubPr>
                          <m:ctrlPr>
                            <a:rPr lang="es-PE" sz="2400" i="1">
                              <a:latin typeface="Cambria Math" panose="02040503050406030204" pitchFamily="18" charset="0"/>
                            </a:rPr>
                          </m:ctrlPr>
                        </m:sSubPr>
                        <m:e>
                          <m:r>
                            <a:rPr lang="es-PE" sz="2400" i="1">
                              <a:latin typeface="Cambria Math" panose="02040503050406030204" pitchFamily="18" charset="0"/>
                            </a:rPr>
                            <m:t>𝑅</m:t>
                          </m:r>
                        </m:e>
                        <m:sub>
                          <m:r>
                            <a:rPr lang="es-PE" sz="2400" i="1">
                              <a:latin typeface="Cambria Math" panose="02040503050406030204" pitchFamily="18" charset="0"/>
                            </a:rPr>
                            <m:t>𝐿</m:t>
                          </m:r>
                        </m:sub>
                      </m:sSub>
                      <m:d>
                        <m:dPr>
                          <m:ctrlPr>
                            <a:rPr lang="es-PE" sz="2400" i="1">
                              <a:latin typeface="Cambria Math" panose="02040503050406030204" pitchFamily="18" charset="0"/>
                            </a:rPr>
                          </m:ctrlPr>
                        </m:dPr>
                        <m:e>
                          <m:r>
                            <a:rPr lang="es-PE" sz="2400" i="1">
                              <a:latin typeface="Cambria Math" panose="02040503050406030204" pitchFamily="18" charset="0"/>
                            </a:rPr>
                            <m:t>𝐿</m:t>
                          </m:r>
                        </m:e>
                      </m:d>
                      <m:r>
                        <a:rPr lang="es-PE" sz="2400" i="1">
                          <a:latin typeface="Cambria Math" panose="02040503050406030204" pitchFamily="18" charset="0"/>
                        </a:rPr>
                        <m:t>=</m:t>
                      </m:r>
                      <m:d>
                        <m:dPr>
                          <m:begChr m:val="["/>
                          <m:endChr m:val="]"/>
                          <m:ctrlPr>
                            <a:rPr lang="es-PE" sz="2400" i="1">
                              <a:latin typeface="Cambria Math" panose="02040503050406030204" pitchFamily="18" charset="0"/>
                            </a:rPr>
                          </m:ctrlPr>
                        </m:dPr>
                        <m:e>
                          <m:f>
                            <m:fPr>
                              <m:ctrlPr>
                                <a:rPr lang="es-PE" sz="2400" i="1">
                                  <a:latin typeface="Cambria Math" panose="02040503050406030204" pitchFamily="18" charset="0"/>
                                </a:rPr>
                              </m:ctrlPr>
                            </m:fPr>
                            <m:num>
                              <m:sSub>
                                <m:sSubPr>
                                  <m:ctrlPr>
                                    <a:rPr lang="es-PE" sz="2400" i="1">
                                      <a:latin typeface="Cambria Math" panose="02040503050406030204" pitchFamily="18" charset="0"/>
                                    </a:rPr>
                                  </m:ctrlPr>
                                </m:sSubPr>
                                <m:e>
                                  <m:r>
                                    <a:rPr lang="es-PE" sz="2400" i="1">
                                      <a:latin typeface="Cambria Math" panose="02040503050406030204" pitchFamily="18" charset="0"/>
                                      <a:ea typeface="Cambria Math" panose="02040503050406030204" pitchFamily="18" charset="0"/>
                                    </a:rPr>
                                    <m:t>𝜀</m:t>
                                  </m:r>
                                </m:e>
                                <m:sub>
                                  <m:r>
                                    <a:rPr lang="es-PE" sz="2400" i="1">
                                      <a:latin typeface="Cambria Math" panose="02040503050406030204" pitchFamily="18" charset="0"/>
                                    </a:rPr>
                                    <m:t>𝐿</m:t>
                                  </m:r>
                                </m:sub>
                              </m:sSub>
                            </m:num>
                            <m:den>
                              <m:sSub>
                                <m:sSubPr>
                                  <m:ctrlPr>
                                    <a:rPr lang="es-PE" sz="2400" i="1">
                                      <a:latin typeface="Cambria Math" panose="02040503050406030204" pitchFamily="18" charset="0"/>
                                    </a:rPr>
                                  </m:ctrlPr>
                                </m:sSubPr>
                                <m:e>
                                  <m:r>
                                    <a:rPr lang="es-PE" sz="2400" i="1">
                                      <a:latin typeface="Cambria Math" panose="02040503050406030204" pitchFamily="18" charset="0"/>
                                      <a:ea typeface="Cambria Math" panose="02040503050406030204" pitchFamily="18" charset="0"/>
                                    </a:rPr>
                                    <m:t>𝜀</m:t>
                                  </m:r>
                                </m:e>
                                <m:sub>
                                  <m:r>
                                    <a:rPr lang="es-PE" sz="2400" i="1">
                                      <a:latin typeface="Cambria Math" panose="02040503050406030204" pitchFamily="18" charset="0"/>
                                    </a:rPr>
                                    <m:t>𝐿</m:t>
                                  </m:r>
                                </m:sub>
                              </m:sSub>
                              <m:r>
                                <a:rPr lang="es-PE" sz="2400" i="1">
                                  <a:latin typeface="Cambria Math" panose="02040503050406030204" pitchFamily="18" charset="0"/>
                                </a:rPr>
                                <m:t>−1</m:t>
                              </m:r>
                            </m:den>
                          </m:f>
                        </m:e>
                      </m:d>
                      <m:r>
                        <a:rPr lang="es-PE" sz="2400" i="1">
                          <a:latin typeface="Cambria Math" panose="02040503050406030204" pitchFamily="18" charset="0"/>
                        </a:rPr>
                        <m:t>(</m:t>
                      </m:r>
                      <m:r>
                        <a:rPr lang="es-PE" sz="2400" i="1">
                          <a:latin typeface="Cambria Math" panose="02040503050406030204" pitchFamily="18" charset="0"/>
                        </a:rPr>
                        <m:t>𝑅</m:t>
                      </m:r>
                      <m:r>
                        <a:rPr lang="es-PE" sz="2400" i="1">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𝑑</m:t>
                          </m:r>
                          <m:r>
                            <a:rPr lang="es-PE" sz="2400" i="1">
                              <a:latin typeface="Cambria Math" panose="02040503050406030204" pitchFamily="18" charset="0"/>
                              <a:ea typeface="Cambria Math" panose="02040503050406030204" pitchFamily="18" charset="0"/>
                            </a:rPr>
                            <m:t>𝐶</m:t>
                          </m:r>
                        </m:num>
                        <m:den>
                          <m:r>
                            <a:rPr lang="es-ES" sz="2400" i="1">
                              <a:latin typeface="Cambria Math" panose="02040503050406030204" pitchFamily="18" charset="0"/>
                            </a:rPr>
                            <m:t>𝑑</m:t>
                          </m:r>
                          <m:r>
                            <a:rPr lang="es-PE" sz="2400" i="1">
                              <a:latin typeface="Cambria Math" panose="02040503050406030204" pitchFamily="18" charset="0"/>
                            </a:rPr>
                            <m:t>𝐿</m:t>
                          </m:r>
                        </m:den>
                      </m:f>
                      <m:r>
                        <a:rPr lang="es-PE" sz="2400" i="1">
                          <a:latin typeface="Cambria Math" panose="02040503050406030204" pitchFamily="18" charset="0"/>
                        </a:rPr>
                        <m:t>) </m:t>
                      </m:r>
                    </m:oMath>
                  </m:oMathPara>
                </a14:m>
                <a:endParaRPr lang="es-ES" sz="2400" dirty="0"/>
              </a:p>
              <a:p>
                <a:pPr algn="just">
                  <a:lnSpc>
                    <a:spcPct val="150000"/>
                  </a:lnSpc>
                </a:pPr>
                <a:r>
                  <a:rPr lang="es-ES" sz="2400" dirty="0"/>
                  <a:t>Como disminuye la tasa interbancaria, los bancos tienen menos dinero para prestar, por lo que disminuyen los fondos prestables, que hace que disminuya la oferta de crédito de los bancos, y por ello la tasa de interés de los créditos aumentaría. </a:t>
                </a:r>
                <a:endParaRPr lang="es-PE" sz="2400" dirty="0"/>
              </a:p>
            </p:txBody>
          </p:sp>
        </mc:Choice>
        <mc:Fallback xmlns="">
          <p:sp>
            <p:nvSpPr>
              <p:cNvPr id="3" name="Marcador de contenido 2">
                <a:extLst>
                  <a:ext uri="{FF2B5EF4-FFF2-40B4-BE49-F238E27FC236}">
                    <a16:creationId xmlns:a16="http://schemas.microsoft.com/office/drawing/2014/main" id="{A93D6023-0338-EA15-5791-B9FE72D04187}"/>
                  </a:ext>
                </a:extLst>
              </p:cNvPr>
              <p:cNvSpPr>
                <a:spLocks noGrp="1" noRot="1" noChangeAspect="1" noMove="1" noResize="1" noEditPoints="1" noAdjustHandles="1" noChangeArrowheads="1" noChangeShapeType="1" noTextEdit="1"/>
              </p:cNvSpPr>
              <p:nvPr>
                <p:ph idx="1"/>
              </p:nvPr>
            </p:nvSpPr>
            <p:spPr>
              <a:xfrm>
                <a:off x="494692" y="1444625"/>
                <a:ext cx="11289940" cy="4929188"/>
              </a:xfrm>
              <a:blipFill>
                <a:blip r:embed="rId2"/>
                <a:stretch>
                  <a:fillRect l="-810" r="-864" b="-2719"/>
                </a:stretch>
              </a:blipFill>
            </p:spPr>
            <p:txBody>
              <a:bodyPr/>
              <a:lstStyle/>
              <a:p>
                <a:r>
                  <a:rPr lang="es-PE">
                    <a:noFill/>
                  </a:rPr>
                  <a:t> </a:t>
                </a:r>
              </a:p>
            </p:txBody>
          </p:sp>
        </mc:Fallback>
      </mc:AlternateContent>
      <p:sp>
        <p:nvSpPr>
          <p:cNvPr id="4" name="Marcador de número de diapositiva 3">
            <a:extLst>
              <a:ext uri="{FF2B5EF4-FFF2-40B4-BE49-F238E27FC236}">
                <a16:creationId xmlns:a16="http://schemas.microsoft.com/office/drawing/2014/main" id="{2160503B-C8B3-E3C6-DBD6-81DFB966AC1D}"/>
              </a:ext>
            </a:extLst>
          </p:cNvPr>
          <p:cNvSpPr>
            <a:spLocks noGrp="1"/>
          </p:cNvSpPr>
          <p:nvPr>
            <p:ph type="sldNum" sz="quarter" idx="12"/>
          </p:nvPr>
        </p:nvSpPr>
        <p:spPr/>
        <p:txBody>
          <a:bodyPr/>
          <a:lstStyle/>
          <a:p>
            <a:pPr>
              <a:defRPr/>
            </a:pPr>
            <a:fld id="{8E639104-18EF-4017-8EC8-89CC3800080B}" type="slidenum">
              <a:rPr lang="es-PE" altLang="es-PE" smtClean="0"/>
              <a:pPr>
                <a:defRPr/>
              </a:pPr>
              <a:t>49</a:t>
            </a:fld>
            <a:endParaRPr lang="es-PE" altLang="es-PE"/>
          </a:p>
        </p:txBody>
      </p:sp>
    </p:spTree>
    <p:extLst>
      <p:ext uri="{BB962C8B-B14F-4D97-AF65-F5344CB8AC3E}">
        <p14:creationId xmlns:p14="http://schemas.microsoft.com/office/powerpoint/2010/main" val="18354577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B27BA6-3071-AC79-0128-88FC2D0DF8F9}"/>
              </a:ext>
            </a:extLst>
          </p:cNvPr>
          <p:cNvSpPr>
            <a:spLocks noGrp="1"/>
          </p:cNvSpPr>
          <p:nvPr>
            <p:ph type="title"/>
          </p:nvPr>
        </p:nvSpPr>
        <p:spPr>
          <a:xfrm>
            <a:off x="695400" y="119062"/>
            <a:ext cx="10515600" cy="1325563"/>
          </a:xfrm>
        </p:spPr>
        <p:txBody>
          <a:bodyPr/>
          <a:lstStyle/>
          <a:p>
            <a:r>
              <a:rPr lang="es-PE" sz="4000" b="1" dirty="0"/>
              <a:t>Determinación de T. de Interés: </a:t>
            </a:r>
            <a:br>
              <a:rPr lang="es-PE" sz="4000" b="1" dirty="0"/>
            </a:br>
            <a:r>
              <a:rPr lang="es-PE" sz="4000" b="1" dirty="0"/>
              <a:t>Competencia Monopolística</a:t>
            </a:r>
            <a:endParaRPr lang="es-PE" sz="4000" dirty="0"/>
          </a:p>
        </p:txBody>
      </p:sp>
      <p:sp>
        <p:nvSpPr>
          <p:cNvPr id="3" name="Marcador de contenido 2">
            <a:extLst>
              <a:ext uri="{FF2B5EF4-FFF2-40B4-BE49-F238E27FC236}">
                <a16:creationId xmlns:a16="http://schemas.microsoft.com/office/drawing/2014/main" id="{B975AAB7-297B-9915-A388-69E21F30FEB7}"/>
              </a:ext>
            </a:extLst>
          </p:cNvPr>
          <p:cNvSpPr>
            <a:spLocks noGrp="1"/>
          </p:cNvSpPr>
          <p:nvPr>
            <p:ph idx="1"/>
          </p:nvPr>
        </p:nvSpPr>
        <p:spPr>
          <a:xfrm>
            <a:off x="838200" y="1460649"/>
            <a:ext cx="10874424" cy="4913164"/>
          </a:xfrm>
        </p:spPr>
        <p:txBody>
          <a:bodyPr/>
          <a:lstStyle/>
          <a:p>
            <a:pPr marL="0" indent="0">
              <a:lnSpc>
                <a:spcPct val="150000"/>
              </a:lnSpc>
              <a:buNone/>
            </a:pPr>
            <a:r>
              <a:rPr lang="es-PE" sz="2300" b="1" dirty="0"/>
              <a:t>b) Canal Monetario</a:t>
            </a:r>
            <a:endParaRPr lang="es-PE" sz="2300" dirty="0"/>
          </a:p>
          <a:p>
            <a:pPr>
              <a:lnSpc>
                <a:spcPct val="150000"/>
              </a:lnSpc>
            </a:pPr>
            <a:r>
              <a:rPr lang="es-PE" sz="2300" dirty="0"/>
              <a:t>En este canal lo relevante es la </a:t>
            </a:r>
            <a:r>
              <a:rPr lang="es-PE" sz="2300" u="sng" dirty="0"/>
              <a:t>tasa de interés de los depósitos</a:t>
            </a:r>
            <a:r>
              <a:rPr lang="es-PE" sz="2300" dirty="0"/>
              <a:t>.</a:t>
            </a:r>
          </a:p>
          <a:p>
            <a:pPr>
              <a:lnSpc>
                <a:spcPct val="150000"/>
              </a:lnSpc>
            </a:pPr>
            <a:r>
              <a:rPr lang="es-ES" sz="2300" dirty="0"/>
              <a:t>El BCR anunció la subida de tasa de interés de referencia e hizo OMA de venta de </a:t>
            </a:r>
            <a:r>
              <a:rPr lang="es-ES" sz="2300" dirty="0" err="1"/>
              <a:t>BTPs</a:t>
            </a:r>
            <a:r>
              <a:rPr lang="es-ES" sz="2300" dirty="0"/>
              <a:t> para influir en el mercado </a:t>
            </a:r>
          </a:p>
          <a:p>
            <a:pPr>
              <a:lnSpc>
                <a:spcPct val="150000"/>
              </a:lnSpc>
            </a:pPr>
            <a:r>
              <a:rPr lang="es-ES" sz="2300" dirty="0">
                <a:sym typeface="Wingdings" panose="05000000000000000000" pitchFamily="2" charset="2"/>
              </a:rPr>
              <a:t> </a:t>
            </a:r>
            <a:r>
              <a:rPr lang="es-ES" sz="2300" dirty="0"/>
              <a:t>reduce la liquidez interbancaria </a:t>
            </a:r>
          </a:p>
          <a:p>
            <a:pPr>
              <a:lnSpc>
                <a:spcPct val="150000"/>
              </a:lnSpc>
            </a:pPr>
            <a:r>
              <a:rPr lang="es-ES" sz="2300" dirty="0">
                <a:sym typeface="Wingdings" panose="05000000000000000000" pitchFamily="2" charset="2"/>
              </a:rPr>
              <a:t> </a:t>
            </a:r>
            <a:r>
              <a:rPr lang="es-ES" sz="2300" dirty="0"/>
              <a:t>aumenta R</a:t>
            </a:r>
            <a:r>
              <a:rPr lang="es-ES" sz="2300" baseline="-25000" dirty="0"/>
              <a:t>D</a:t>
            </a:r>
            <a:r>
              <a:rPr lang="es-ES" sz="2300" dirty="0"/>
              <a:t> (para atraer depósitos de clientes pues los bancos necesitan liquidez)</a:t>
            </a:r>
          </a:p>
          <a:p>
            <a:pPr>
              <a:lnSpc>
                <a:spcPct val="150000"/>
              </a:lnSpc>
            </a:pPr>
            <a:r>
              <a:rPr lang="es-ES" sz="2300" dirty="0">
                <a:sym typeface="Wingdings" panose="05000000000000000000" pitchFamily="2" charset="2"/>
              </a:rPr>
              <a:t> sube la tasa de interés real </a:t>
            </a:r>
          </a:p>
          <a:p>
            <a:pPr>
              <a:lnSpc>
                <a:spcPct val="150000"/>
              </a:lnSpc>
            </a:pPr>
            <a:r>
              <a:rPr lang="es-ES" sz="2300" dirty="0">
                <a:sym typeface="Wingdings" panose="05000000000000000000" pitchFamily="2" charset="2"/>
              </a:rPr>
              <a:t> baja el consumo presente (sube el ahorro). </a:t>
            </a:r>
          </a:p>
        </p:txBody>
      </p:sp>
      <p:sp>
        <p:nvSpPr>
          <p:cNvPr id="4" name="Marcador de número de diapositiva 3">
            <a:extLst>
              <a:ext uri="{FF2B5EF4-FFF2-40B4-BE49-F238E27FC236}">
                <a16:creationId xmlns:a16="http://schemas.microsoft.com/office/drawing/2014/main" id="{732D86AC-47C8-60C1-334C-DADB6C15F256}"/>
              </a:ext>
            </a:extLst>
          </p:cNvPr>
          <p:cNvSpPr>
            <a:spLocks noGrp="1"/>
          </p:cNvSpPr>
          <p:nvPr>
            <p:ph type="sldNum" sz="quarter" idx="12"/>
          </p:nvPr>
        </p:nvSpPr>
        <p:spPr/>
        <p:txBody>
          <a:bodyPr/>
          <a:lstStyle/>
          <a:p>
            <a:pPr>
              <a:defRPr/>
            </a:pPr>
            <a:fld id="{8E639104-18EF-4017-8EC8-89CC3800080B}" type="slidenum">
              <a:rPr lang="es-PE" altLang="es-PE" smtClean="0"/>
              <a:pPr>
                <a:defRPr/>
              </a:pPr>
              <a:t>50</a:t>
            </a:fld>
            <a:endParaRPr lang="es-PE" altLang="es-PE"/>
          </a:p>
        </p:txBody>
      </p:sp>
    </p:spTree>
    <p:extLst>
      <p:ext uri="{BB962C8B-B14F-4D97-AF65-F5344CB8AC3E}">
        <p14:creationId xmlns:p14="http://schemas.microsoft.com/office/powerpoint/2010/main" val="40654528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7D898-2BEC-8293-4390-5C79B7E3D48B}"/>
              </a:ext>
            </a:extLst>
          </p:cNvPr>
          <p:cNvSpPr>
            <a:spLocks noGrp="1"/>
          </p:cNvSpPr>
          <p:nvPr>
            <p:ph type="title"/>
          </p:nvPr>
        </p:nvSpPr>
        <p:spPr/>
        <p:txBody>
          <a:bodyPr/>
          <a:lstStyle/>
          <a:p>
            <a:r>
              <a:rPr lang="es-PE" sz="4000" b="1" dirty="0"/>
              <a:t>Determinación de T. de Interés: </a:t>
            </a:r>
            <a:br>
              <a:rPr lang="es-PE" sz="4000" b="1" dirty="0"/>
            </a:br>
            <a:r>
              <a:rPr lang="es-PE" sz="4000" b="1" dirty="0"/>
              <a:t>Competencia Monopolística</a:t>
            </a:r>
            <a:endParaRPr lang="es-PE" sz="4000" dirty="0"/>
          </a:p>
        </p:txBody>
      </p:sp>
      <p:sp>
        <p:nvSpPr>
          <p:cNvPr id="3" name="Marcador de contenido 2">
            <a:extLst>
              <a:ext uri="{FF2B5EF4-FFF2-40B4-BE49-F238E27FC236}">
                <a16:creationId xmlns:a16="http://schemas.microsoft.com/office/drawing/2014/main" id="{AE725104-F6DE-824F-AA1C-0CBD8AF1B78A}"/>
              </a:ext>
            </a:extLst>
          </p:cNvPr>
          <p:cNvSpPr>
            <a:spLocks noGrp="1"/>
          </p:cNvSpPr>
          <p:nvPr>
            <p:ph idx="1"/>
          </p:nvPr>
        </p:nvSpPr>
        <p:spPr/>
        <p:txBody>
          <a:bodyPr/>
          <a:lstStyle/>
          <a:p>
            <a:pPr>
              <a:lnSpc>
                <a:spcPct val="150000"/>
              </a:lnSpc>
            </a:pPr>
            <a:r>
              <a:rPr lang="es-ES" sz="2400" dirty="0"/>
              <a:t>Si aumenta la tasa de interés de los depósitos, subiría la tasa de interés real, y para restablecer la relación óptima del consumidor debemos elevar la utilidad marginal de hoy, así que debemos consumir menos. </a:t>
            </a:r>
          </a:p>
          <a:p>
            <a:pPr>
              <a:lnSpc>
                <a:spcPct val="150000"/>
              </a:lnSpc>
            </a:pPr>
            <a:r>
              <a:rPr lang="es-ES" sz="2400" dirty="0"/>
              <a:t>Por ello, el BCR logra que la gente consuma menos para que la inflación baje, así que la política monetaria también sería efectiva por el canal monetario. </a:t>
            </a:r>
            <a:endParaRPr lang="es-PE" sz="2400" dirty="0"/>
          </a:p>
        </p:txBody>
      </p:sp>
      <p:sp>
        <p:nvSpPr>
          <p:cNvPr id="4" name="Marcador de número de diapositiva 3">
            <a:extLst>
              <a:ext uri="{FF2B5EF4-FFF2-40B4-BE49-F238E27FC236}">
                <a16:creationId xmlns:a16="http://schemas.microsoft.com/office/drawing/2014/main" id="{5A74B045-652B-2B2B-F606-52EFBADE241D}"/>
              </a:ext>
            </a:extLst>
          </p:cNvPr>
          <p:cNvSpPr>
            <a:spLocks noGrp="1"/>
          </p:cNvSpPr>
          <p:nvPr>
            <p:ph type="sldNum" sz="quarter" idx="12"/>
          </p:nvPr>
        </p:nvSpPr>
        <p:spPr/>
        <p:txBody>
          <a:bodyPr/>
          <a:lstStyle/>
          <a:p>
            <a:pPr>
              <a:defRPr/>
            </a:pPr>
            <a:fld id="{8E639104-18EF-4017-8EC8-89CC3800080B}" type="slidenum">
              <a:rPr lang="es-PE" altLang="es-PE" smtClean="0"/>
              <a:pPr>
                <a:defRPr/>
              </a:pPr>
              <a:t>51</a:t>
            </a:fld>
            <a:endParaRPr lang="es-PE" altLang="es-PE"/>
          </a:p>
        </p:txBody>
      </p:sp>
    </p:spTree>
    <p:extLst>
      <p:ext uri="{BB962C8B-B14F-4D97-AF65-F5344CB8AC3E}">
        <p14:creationId xmlns:p14="http://schemas.microsoft.com/office/powerpoint/2010/main" val="42104521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0B9EC8-94F1-31CE-B0DC-AE82588333FA}"/>
              </a:ext>
            </a:extLst>
          </p:cNvPr>
          <p:cNvSpPr>
            <a:spLocks noGrp="1"/>
          </p:cNvSpPr>
          <p:nvPr>
            <p:ph type="title"/>
          </p:nvPr>
        </p:nvSpPr>
        <p:spPr/>
        <p:txBody>
          <a:bodyPr/>
          <a:lstStyle/>
          <a:p>
            <a:r>
              <a:rPr lang="es-PE" sz="4000" b="1" dirty="0"/>
              <a:t>Determinación de T. de Interés: </a:t>
            </a:r>
            <a:br>
              <a:rPr lang="es-PE" sz="4000" b="1" dirty="0"/>
            </a:br>
            <a:r>
              <a:rPr lang="es-PE" sz="4000" b="1" dirty="0"/>
              <a:t>Competencia Monopolística</a:t>
            </a:r>
            <a:endParaRPr lang="es-PE" sz="400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678F6F5-2B3A-8CBE-43B1-120374D4A537}"/>
                  </a:ext>
                </a:extLst>
              </p:cNvPr>
              <p:cNvSpPr>
                <a:spLocks noGrp="1"/>
              </p:cNvSpPr>
              <p:nvPr>
                <p:ph idx="1"/>
              </p:nvPr>
            </p:nvSpPr>
            <p:spPr/>
            <p:txBody>
              <a:bodyPr/>
              <a:lstStyle/>
              <a:p>
                <a:pPr>
                  <a:lnSpc>
                    <a:spcPct val="150000"/>
                  </a:lnSpc>
                </a:pPr>
                <a:r>
                  <a:rPr lang="es-PE" sz="2400" dirty="0"/>
                  <a:t>Se considera que: </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s-PE" sz="2400" i="1" smtClean="0">
                              <a:latin typeface="Cambria Math" panose="02040503050406030204" pitchFamily="18" charset="0"/>
                            </a:rPr>
                          </m:ctrlPr>
                        </m:sSubPr>
                        <m:e>
                          <m:r>
                            <a:rPr lang="es-PE" sz="2400" i="1">
                              <a:latin typeface="Cambria Math" panose="02040503050406030204" pitchFamily="18" charset="0"/>
                            </a:rPr>
                            <m:t>𝑅</m:t>
                          </m:r>
                        </m:e>
                        <m:sub>
                          <m:r>
                            <a:rPr lang="es-PE" sz="2400" i="1">
                              <a:latin typeface="Cambria Math" panose="02040503050406030204" pitchFamily="18" charset="0"/>
                            </a:rPr>
                            <m:t>𝐷</m:t>
                          </m:r>
                        </m:sub>
                      </m:sSub>
                      <m:d>
                        <m:dPr>
                          <m:ctrlPr>
                            <a:rPr lang="es-PE" sz="2400" i="1">
                              <a:latin typeface="Cambria Math" panose="02040503050406030204" pitchFamily="18" charset="0"/>
                            </a:rPr>
                          </m:ctrlPr>
                        </m:dPr>
                        <m:e>
                          <m:r>
                            <a:rPr lang="es-PE" sz="2400" i="1">
                              <a:latin typeface="Cambria Math" panose="02040503050406030204" pitchFamily="18" charset="0"/>
                            </a:rPr>
                            <m:t>𝐷</m:t>
                          </m:r>
                        </m:e>
                      </m:d>
                      <m:r>
                        <a:rPr lang="es-PE" sz="2400" i="1">
                          <a:latin typeface="Cambria Math" panose="02040503050406030204" pitchFamily="18" charset="0"/>
                        </a:rPr>
                        <m:t>=</m:t>
                      </m:r>
                      <m:d>
                        <m:dPr>
                          <m:begChr m:val="["/>
                          <m:endChr m:val="]"/>
                          <m:ctrlPr>
                            <a:rPr lang="es-PE" sz="2400" i="1">
                              <a:latin typeface="Cambria Math" panose="02040503050406030204" pitchFamily="18" charset="0"/>
                            </a:rPr>
                          </m:ctrlPr>
                        </m:dPr>
                        <m:e>
                          <m:f>
                            <m:fPr>
                              <m:ctrlPr>
                                <a:rPr lang="es-ES" sz="2400" i="1">
                                  <a:latin typeface="Cambria Math" panose="02040503050406030204" pitchFamily="18" charset="0"/>
                                </a:rPr>
                              </m:ctrlPr>
                            </m:fPr>
                            <m:num>
                              <m:sSub>
                                <m:sSubPr>
                                  <m:ctrlPr>
                                    <a:rPr lang="es-PE" sz="2400" i="1">
                                      <a:latin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𝜀</m:t>
                                  </m:r>
                                </m:e>
                                <m:sub>
                                  <m:r>
                                    <a:rPr lang="es-PE" sz="2400" i="1">
                                      <a:latin typeface="Cambria Math" panose="02040503050406030204" pitchFamily="18" charset="0"/>
                                    </a:rPr>
                                    <m:t>𝐷</m:t>
                                  </m:r>
                                </m:sub>
                              </m:sSub>
                            </m:num>
                            <m:den>
                              <m:sSub>
                                <m:sSubPr>
                                  <m:ctrlPr>
                                    <a:rPr lang="es-PE" sz="2400" i="1">
                                      <a:latin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𝜀</m:t>
                                  </m:r>
                                </m:e>
                                <m:sub>
                                  <m:r>
                                    <a:rPr lang="es-PE" sz="2400" i="1">
                                      <a:latin typeface="Cambria Math" panose="02040503050406030204" pitchFamily="18" charset="0"/>
                                    </a:rPr>
                                    <m:t>𝐷</m:t>
                                  </m:r>
                                </m:sub>
                              </m:sSub>
                              <m:r>
                                <a:rPr lang="es-PE" sz="2400" i="1">
                                  <a:latin typeface="Cambria Math" panose="02040503050406030204" pitchFamily="18" charset="0"/>
                                </a:rPr>
                                <m:t>+1</m:t>
                              </m:r>
                            </m:den>
                          </m:f>
                        </m:e>
                      </m:d>
                      <m:r>
                        <a:rPr lang="es-PE" sz="2400" i="1">
                          <a:latin typeface="Cambria Math" panose="02040503050406030204" pitchFamily="18" charset="0"/>
                        </a:rPr>
                        <m:t>[ </m:t>
                      </m:r>
                      <m:r>
                        <m:rPr>
                          <m:nor/>
                        </m:rPr>
                        <a:rPr lang="es-PE" sz="2400" dirty="0">
                          <a:latin typeface="Times New Roman" panose="02020603050405020304" pitchFamily="18" charset="0"/>
                          <a:cs typeface="Times New Roman" panose="02020603050405020304" pitchFamily="18" charset="0"/>
                        </a:rPr>
                        <m:t>(1−</m:t>
                      </m:r>
                      <m:r>
                        <m:rPr>
                          <m:nor/>
                        </m:rPr>
                        <a:rPr lang="el-GR" sz="2400" dirty="0">
                          <a:latin typeface="Sylfaen" panose="010A0502050306030303" pitchFamily="18" charset="0"/>
                          <a:cs typeface="Times New Roman" panose="02020603050405020304" pitchFamily="18" charset="0"/>
                        </a:rPr>
                        <m:t>θ</m:t>
                      </m:r>
                      <m:r>
                        <m:rPr>
                          <m:nor/>
                        </m:rPr>
                        <a:rPr lang="es-PE" sz="2400" dirty="0">
                          <a:latin typeface="Sylfaen" panose="010A0502050306030303" pitchFamily="18" charset="0"/>
                          <a:cs typeface="Times New Roman" panose="02020603050405020304" pitchFamily="18" charset="0"/>
                        </a:rPr>
                        <m:t>)</m:t>
                      </m:r>
                      <m:r>
                        <a:rPr lang="es-PE" sz="2400" i="1" dirty="0">
                          <a:latin typeface="Cambria Math" panose="02040503050406030204" pitchFamily="18" charset="0"/>
                          <a:cs typeface="Times New Roman" panose="02020603050405020304" pitchFamily="18" charset="0"/>
                        </a:rPr>
                        <m:t>𝑅</m:t>
                      </m:r>
                      <m:r>
                        <a:rPr lang="es-PE" sz="2400" i="1" dirty="0">
                          <a:latin typeface="Cambria Math" panose="02040503050406030204" pitchFamily="18" charset="0"/>
                          <a:cs typeface="Times New Roman" panose="020206030504050203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𝑑</m:t>
                          </m:r>
                          <m:r>
                            <a:rPr lang="es-PE" sz="2400" i="1">
                              <a:latin typeface="Cambria Math" panose="02040503050406030204" pitchFamily="18" charset="0"/>
                              <a:ea typeface="Cambria Math" panose="02040503050406030204" pitchFamily="18" charset="0"/>
                            </a:rPr>
                            <m:t>𝐶</m:t>
                          </m:r>
                        </m:num>
                        <m:den>
                          <m:r>
                            <a:rPr lang="es-ES" sz="2400" i="1">
                              <a:latin typeface="Cambria Math" panose="02040503050406030204" pitchFamily="18" charset="0"/>
                            </a:rPr>
                            <m:t>𝑑</m:t>
                          </m:r>
                          <m:r>
                            <a:rPr lang="es-PE" sz="2400" i="1">
                              <a:latin typeface="Cambria Math" panose="02040503050406030204" pitchFamily="18" charset="0"/>
                            </a:rPr>
                            <m:t>𝐿</m:t>
                          </m:r>
                        </m:den>
                      </m:f>
                      <m:r>
                        <a:rPr lang="es-PE" sz="2400" i="1">
                          <a:latin typeface="Cambria Math" panose="02040503050406030204" pitchFamily="18" charset="0"/>
                        </a:rPr>
                        <m:t>]</m:t>
                      </m:r>
                    </m:oMath>
                  </m:oMathPara>
                </a14:m>
                <a:endParaRPr lang="es-PE" sz="2400" dirty="0"/>
              </a:p>
              <a:p>
                <a:pPr>
                  <a:lnSpc>
                    <a:spcPct val="150000"/>
                  </a:lnSpc>
                </a:pPr>
                <a:r>
                  <a:rPr lang="es-PE" sz="2400" dirty="0"/>
                  <a:t>Y que</a:t>
                </a:r>
              </a:p>
              <a:p>
                <a:pPr marL="0" indent="0" algn="ctr">
                  <a:lnSpc>
                    <a:spcPct val="150000"/>
                  </a:lnSpc>
                  <a:buNone/>
                </a:pPr>
                <a:r>
                  <a:rPr lang="es-PE" sz="2400" dirty="0"/>
                  <a:t> </a:t>
                </a:r>
                <a14:m>
                  <m:oMath xmlns:m="http://schemas.openxmlformats.org/officeDocument/2006/math">
                    <m:f>
                      <m:fPr>
                        <m:ctrlPr>
                          <a:rPr lang="es-PE" sz="2400" i="1">
                            <a:latin typeface="Cambria Math" panose="02040503050406030204" pitchFamily="18" charset="0"/>
                            <a:cs typeface="Tunga" panose="020B0502040204020203" pitchFamily="34" charset="0"/>
                          </a:rPr>
                        </m:ctrlPr>
                      </m:fPr>
                      <m:num>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𝑈</m:t>
                            </m:r>
                          </m:e>
                          <m:sub>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𝑐</m:t>
                                </m:r>
                              </m:e>
                              <m:sub>
                                <m:r>
                                  <a:rPr lang="es-PE" sz="2400" i="1">
                                    <a:latin typeface="Cambria Math" panose="02040503050406030204" pitchFamily="18" charset="0"/>
                                    <a:cs typeface="Tunga" panose="020B0502040204020203" pitchFamily="34" charset="0"/>
                                  </a:rPr>
                                  <m:t>𝑡</m:t>
                                </m:r>
                              </m:sub>
                            </m:sSub>
                          </m:sub>
                        </m:sSub>
                        <m:d>
                          <m:dPr>
                            <m:ctrlPr>
                              <a:rPr lang="es-PE" sz="2400" i="1">
                                <a:latin typeface="Cambria Math" panose="02040503050406030204" pitchFamily="18" charset="0"/>
                                <a:cs typeface="Tunga" panose="020B0502040204020203" pitchFamily="34" charset="0"/>
                              </a:rPr>
                            </m:ctrlPr>
                          </m:dPr>
                          <m:e>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𝑐</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𝑚</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sSub>
                              <m:sSubPr>
                                <m:ctrlPr>
                                  <a:rPr lang="es-PE" sz="2400" i="1">
                                    <a:latin typeface="Cambria Math" panose="02040503050406030204" pitchFamily="18" charset="0"/>
                                    <a:cs typeface="Tunga" panose="020B0502040204020203" pitchFamily="34" charset="0"/>
                                  </a:rPr>
                                </m:ctrlPr>
                              </m:sSubPr>
                              <m:e>
                                <m:r>
                                  <m:rPr>
                                    <m:nor/>
                                  </m:rPr>
                                  <a:rPr lang="el-GR" sz="2400" dirty="0">
                                    <a:latin typeface="Calibri" panose="020F0502020204030204" pitchFamily="34" charset="0"/>
                                    <a:ea typeface="Calibri" panose="020F0502020204030204" pitchFamily="34" charset="0"/>
                                    <a:cs typeface="Calibri" panose="020F0502020204030204" pitchFamily="34" charset="0"/>
                                  </a:rPr>
                                  <m:t>ε</m:t>
                                </m:r>
                              </m:e>
                              <m:sub>
                                <m:r>
                                  <a:rPr lang="es-PE" sz="2400" i="1">
                                    <a:latin typeface="Cambria Math" panose="02040503050406030204" pitchFamily="18" charset="0"/>
                                    <a:cs typeface="Tunga" panose="020B0502040204020203" pitchFamily="34" charset="0"/>
                                  </a:rPr>
                                  <m:t>𝑡</m:t>
                                </m:r>
                              </m:sub>
                            </m:sSub>
                          </m:e>
                        </m:d>
                      </m:num>
                      <m:den>
                        <m:sSub>
                          <m:sSubPr>
                            <m:ctrlPr>
                              <a:rPr lang="es-PE" sz="2400" i="1">
                                <a:latin typeface="Cambria Math" panose="02040503050406030204" pitchFamily="18" charset="0"/>
                                <a:cs typeface="Tunga" panose="020B0502040204020203" pitchFamily="34" charset="0"/>
                              </a:rPr>
                            </m:ctrlPr>
                          </m:sSubPr>
                          <m:e>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ea typeface="Cambria Math" panose="02040503050406030204" pitchFamily="18" charset="0"/>
                                    <a:cs typeface="Tunga" panose="020B0502040204020203" pitchFamily="34" charset="0"/>
                                  </a:rPr>
                                  <m:t>𝛽</m:t>
                                </m:r>
                                <m:r>
                                  <a:rPr lang="es-PE" sz="2400" i="1">
                                    <a:latin typeface="Cambria Math" panose="02040503050406030204" pitchFamily="18" charset="0"/>
                                    <a:cs typeface="Tunga" panose="020B0502040204020203" pitchFamily="34" charset="0"/>
                                  </a:rPr>
                                  <m:t>𝐸</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r>
                              <a:rPr lang="es-PE" sz="2400" i="1">
                                <a:latin typeface="Cambria Math" panose="02040503050406030204" pitchFamily="18" charset="0"/>
                                <a:cs typeface="Tunga" panose="020B0502040204020203" pitchFamily="34" charset="0"/>
                              </a:rPr>
                              <m:t>𝑈</m:t>
                            </m:r>
                          </m:e>
                          <m:sub>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𝑐</m:t>
                                </m:r>
                              </m:e>
                              <m:sub>
                                <m:r>
                                  <a:rPr lang="es-PE" sz="2400" i="1">
                                    <a:latin typeface="Cambria Math" panose="02040503050406030204" pitchFamily="18" charset="0"/>
                                    <a:cs typeface="Tunga" panose="020B0502040204020203" pitchFamily="34" charset="0"/>
                                  </a:rPr>
                                  <m:t>𝑡</m:t>
                                </m:r>
                                <m:r>
                                  <a:rPr lang="es-PE" sz="2400" i="1">
                                    <a:latin typeface="Cambria Math" panose="02040503050406030204" pitchFamily="18" charset="0"/>
                                    <a:cs typeface="Tunga" panose="020B0502040204020203" pitchFamily="34" charset="0"/>
                                  </a:rPr>
                                  <m:t>+1</m:t>
                                </m:r>
                              </m:sub>
                            </m:sSub>
                          </m:sub>
                        </m:sSub>
                        <m:d>
                          <m:dPr>
                            <m:ctrlPr>
                              <a:rPr lang="es-PE" sz="2400" i="1">
                                <a:latin typeface="Cambria Math" panose="02040503050406030204" pitchFamily="18" charset="0"/>
                                <a:cs typeface="Tunga" panose="020B0502040204020203" pitchFamily="34" charset="0"/>
                              </a:rPr>
                            </m:ctrlPr>
                          </m:dPr>
                          <m:e>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𝑐</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𝑚</m:t>
                                </m:r>
                              </m:e>
                              <m:sub>
                                <m:r>
                                  <a:rPr lang="es-PE" sz="2400" i="1">
                                    <a:latin typeface="Cambria Math" panose="02040503050406030204" pitchFamily="18" charset="0"/>
                                    <a:cs typeface="Tunga" panose="020B0502040204020203" pitchFamily="34" charset="0"/>
                                  </a:rPr>
                                  <m:t>𝑡</m:t>
                                </m:r>
                              </m:sub>
                            </m:sSub>
                            <m:r>
                              <a:rPr lang="es-PE" sz="2400" i="1">
                                <a:latin typeface="Cambria Math" panose="02040503050406030204" pitchFamily="18" charset="0"/>
                                <a:cs typeface="Tunga" panose="020B0502040204020203" pitchFamily="34" charset="0"/>
                              </a:rPr>
                              <m:t>;</m:t>
                            </m:r>
                            <m:sSub>
                              <m:sSubPr>
                                <m:ctrlPr>
                                  <a:rPr lang="es-PE" sz="2400" i="1">
                                    <a:latin typeface="Cambria Math" panose="02040503050406030204" pitchFamily="18" charset="0"/>
                                    <a:cs typeface="Tunga" panose="020B0502040204020203" pitchFamily="34" charset="0"/>
                                  </a:rPr>
                                </m:ctrlPr>
                              </m:sSubPr>
                              <m:e>
                                <m:r>
                                  <m:rPr>
                                    <m:nor/>
                                  </m:rPr>
                                  <a:rPr lang="el-GR" sz="2400" dirty="0">
                                    <a:latin typeface="Calibri" panose="020F0502020204030204" pitchFamily="34" charset="0"/>
                                    <a:ea typeface="Calibri" panose="020F0502020204030204" pitchFamily="34" charset="0"/>
                                    <a:cs typeface="Calibri" panose="020F0502020204030204" pitchFamily="34" charset="0"/>
                                  </a:rPr>
                                  <m:t>ε</m:t>
                                </m:r>
                              </m:e>
                              <m:sub>
                                <m:r>
                                  <a:rPr lang="es-PE" sz="2400" i="1">
                                    <a:latin typeface="Cambria Math" panose="02040503050406030204" pitchFamily="18" charset="0"/>
                                    <a:cs typeface="Tunga" panose="020B0502040204020203" pitchFamily="34" charset="0"/>
                                  </a:rPr>
                                  <m:t>𝑡</m:t>
                                </m:r>
                              </m:sub>
                            </m:sSub>
                          </m:e>
                        </m:d>
                        <m:r>
                          <a:rPr lang="es-PE" sz="2400" i="1">
                            <a:latin typeface="Cambria Math" panose="02040503050406030204" pitchFamily="18" charset="0"/>
                            <a:cs typeface="Tunga" panose="020B0502040204020203" pitchFamily="34" charset="0"/>
                          </a:rPr>
                          <m:t>]</m:t>
                        </m:r>
                      </m:den>
                    </m:f>
                    <m:r>
                      <a:rPr lang="es-PE" sz="2400" i="1">
                        <a:latin typeface="Cambria Math" panose="02040503050406030204" pitchFamily="18" charset="0"/>
                        <a:cs typeface="Tunga" panose="020B0502040204020203" pitchFamily="34" charset="0"/>
                      </a:rPr>
                      <m:t>=</m:t>
                    </m:r>
                    <m:f>
                      <m:fPr>
                        <m:ctrlPr>
                          <a:rPr lang="es-PE" sz="2400" i="1">
                            <a:latin typeface="Cambria Math" panose="02040503050406030204" pitchFamily="18" charset="0"/>
                            <a:cs typeface="Tunga" panose="020B0502040204020203" pitchFamily="34" charset="0"/>
                          </a:rPr>
                        </m:ctrlPr>
                      </m:fPr>
                      <m:num>
                        <m:r>
                          <a:rPr lang="es-PE" sz="2400" i="1">
                            <a:latin typeface="Cambria Math" panose="02040503050406030204" pitchFamily="18" charset="0"/>
                            <a:cs typeface="Tunga" panose="020B0502040204020203" pitchFamily="34" charset="0"/>
                          </a:rPr>
                          <m:t> (1+</m:t>
                        </m:r>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𝑅</m:t>
                            </m:r>
                          </m:e>
                          <m:sub>
                            <m:r>
                              <a:rPr lang="es-PE" sz="2400" i="1">
                                <a:latin typeface="Cambria Math" panose="02040503050406030204" pitchFamily="18" charset="0"/>
                                <a:cs typeface="Tunga" panose="020B0502040204020203" pitchFamily="34" charset="0"/>
                              </a:rPr>
                              <m:t>𝐷</m:t>
                            </m:r>
                          </m:sub>
                        </m:sSub>
                        <m:r>
                          <a:rPr lang="es-PE" sz="2400" i="1">
                            <a:latin typeface="Cambria Math" panose="02040503050406030204" pitchFamily="18" charset="0"/>
                            <a:cs typeface="Tunga" panose="020B0502040204020203" pitchFamily="34" charset="0"/>
                          </a:rPr>
                          <m:t>)</m:t>
                        </m:r>
                      </m:num>
                      <m:den>
                        <m:r>
                          <a:rPr lang="es-PE" sz="2400" i="1">
                            <a:latin typeface="Cambria Math" panose="02040503050406030204" pitchFamily="18" charset="0"/>
                            <a:cs typeface="Tunga" panose="020B0502040204020203" pitchFamily="34" charset="0"/>
                          </a:rPr>
                          <m:t>(1+</m:t>
                        </m:r>
                        <m:sSup>
                          <m:sSupPr>
                            <m:ctrlPr>
                              <a:rPr lang="es-PE" sz="2400" i="1">
                                <a:latin typeface="Cambria Math" panose="02040503050406030204" pitchFamily="18" charset="0"/>
                                <a:cs typeface="Tunga" panose="020B0502040204020203" pitchFamily="34" charset="0"/>
                              </a:rPr>
                            </m:ctrlPr>
                          </m:sSupPr>
                          <m:e>
                            <m:r>
                              <a:rPr lang="es-PE" sz="2400" i="1">
                                <a:latin typeface="Cambria Math" panose="02040503050406030204" pitchFamily="18" charset="0"/>
                                <a:ea typeface="Cambria Math" panose="02040503050406030204" pitchFamily="18" charset="0"/>
                                <a:cs typeface="Tunga" panose="020B0502040204020203" pitchFamily="34" charset="0"/>
                              </a:rPr>
                              <m:t>𝜋</m:t>
                            </m:r>
                          </m:e>
                          <m:sup>
                            <m:r>
                              <a:rPr lang="es-PE" sz="2400" i="1">
                                <a:latin typeface="Cambria Math" panose="02040503050406030204" pitchFamily="18" charset="0"/>
                                <a:cs typeface="Tunga" panose="020B0502040204020203" pitchFamily="34" charset="0"/>
                              </a:rPr>
                              <m:t>𝑒</m:t>
                            </m:r>
                          </m:sup>
                        </m:sSup>
                        <m:r>
                          <a:rPr lang="es-PE" sz="2400" i="1">
                            <a:latin typeface="Cambria Math" panose="02040503050406030204" pitchFamily="18" charset="0"/>
                            <a:cs typeface="Tunga" panose="020B0502040204020203" pitchFamily="34" charset="0"/>
                          </a:rPr>
                          <m:t>)</m:t>
                        </m:r>
                      </m:den>
                    </m:f>
                    <m:r>
                      <a:rPr lang="es-PE" sz="2400" i="1">
                        <a:latin typeface="Cambria Math" panose="02040503050406030204" pitchFamily="18" charset="0"/>
                        <a:ea typeface="Cambria Math" panose="02040503050406030204" pitchFamily="18" charset="0"/>
                        <a:cs typeface="Tunga" panose="020B0502040204020203" pitchFamily="34" charset="0"/>
                      </a:rPr>
                      <m:t>≈</m:t>
                    </m:r>
                  </m:oMath>
                </a14:m>
                <a:r>
                  <a:rPr lang="es-PE" sz="2400" dirty="0">
                    <a:cs typeface="Tunga" panose="020B0502040204020203" pitchFamily="34" charset="0"/>
                  </a:rPr>
                  <a:t> </a:t>
                </a:r>
                <a14:m>
                  <m:oMath xmlns:m="http://schemas.openxmlformats.org/officeDocument/2006/math">
                    <m:r>
                      <a:rPr lang="es-PE" sz="2400" i="1">
                        <a:latin typeface="Cambria Math" panose="02040503050406030204" pitchFamily="18" charset="0"/>
                        <a:cs typeface="Tunga" panose="020B0502040204020203" pitchFamily="34" charset="0"/>
                      </a:rPr>
                      <m:t>1+</m:t>
                    </m:r>
                    <m:sSub>
                      <m:sSubPr>
                        <m:ctrlPr>
                          <a:rPr lang="es-PE" sz="2400" i="1">
                            <a:latin typeface="Cambria Math" panose="02040503050406030204" pitchFamily="18" charset="0"/>
                            <a:cs typeface="Tunga" panose="020B0502040204020203" pitchFamily="34" charset="0"/>
                          </a:rPr>
                        </m:ctrlPr>
                      </m:sSubPr>
                      <m:e>
                        <m:r>
                          <a:rPr lang="es-PE" sz="2400" i="1">
                            <a:latin typeface="Cambria Math" panose="02040503050406030204" pitchFamily="18" charset="0"/>
                            <a:cs typeface="Tunga" panose="020B0502040204020203" pitchFamily="34" charset="0"/>
                          </a:rPr>
                          <m:t>𝑅</m:t>
                        </m:r>
                      </m:e>
                      <m:sub>
                        <m:r>
                          <a:rPr lang="es-PE" sz="2400" i="1">
                            <a:latin typeface="Cambria Math" panose="02040503050406030204" pitchFamily="18" charset="0"/>
                            <a:cs typeface="Tunga" panose="020B0502040204020203" pitchFamily="34" charset="0"/>
                          </a:rPr>
                          <m:t>𝐷</m:t>
                        </m:r>
                      </m:sub>
                    </m:sSub>
                  </m:oMath>
                </a14:m>
                <a:endParaRPr lang="es-PE" sz="2400" dirty="0"/>
              </a:p>
            </p:txBody>
          </p:sp>
        </mc:Choice>
        <mc:Fallback xmlns="">
          <p:sp>
            <p:nvSpPr>
              <p:cNvPr id="3" name="Marcador de contenido 2">
                <a:extLst>
                  <a:ext uri="{FF2B5EF4-FFF2-40B4-BE49-F238E27FC236}">
                    <a16:creationId xmlns:a16="http://schemas.microsoft.com/office/drawing/2014/main" id="{3678F6F5-2B3A-8CBE-43B1-120374D4A537}"/>
                  </a:ext>
                </a:extLst>
              </p:cNvPr>
              <p:cNvSpPr>
                <a:spLocks noGrp="1" noRot="1" noChangeAspect="1" noMove="1" noResize="1" noEditPoints="1" noAdjustHandles="1" noChangeArrowheads="1" noChangeShapeType="1" noTextEdit="1"/>
              </p:cNvSpPr>
              <p:nvPr>
                <p:ph idx="1"/>
              </p:nvPr>
            </p:nvSpPr>
            <p:spPr>
              <a:blipFill>
                <a:blip r:embed="rId2"/>
                <a:stretch>
                  <a:fillRect l="-812"/>
                </a:stretch>
              </a:blipFill>
            </p:spPr>
            <p:txBody>
              <a:bodyPr/>
              <a:lstStyle/>
              <a:p>
                <a:r>
                  <a:rPr lang="es-PE">
                    <a:noFill/>
                  </a:rPr>
                  <a:t> </a:t>
                </a:r>
              </a:p>
            </p:txBody>
          </p:sp>
        </mc:Fallback>
      </mc:AlternateContent>
      <p:sp>
        <p:nvSpPr>
          <p:cNvPr id="4" name="Marcador de número de diapositiva 3">
            <a:extLst>
              <a:ext uri="{FF2B5EF4-FFF2-40B4-BE49-F238E27FC236}">
                <a16:creationId xmlns:a16="http://schemas.microsoft.com/office/drawing/2014/main" id="{5026C241-4BF5-2669-C2F6-B0758844D99A}"/>
              </a:ext>
            </a:extLst>
          </p:cNvPr>
          <p:cNvSpPr>
            <a:spLocks noGrp="1"/>
          </p:cNvSpPr>
          <p:nvPr>
            <p:ph type="sldNum" sz="quarter" idx="12"/>
          </p:nvPr>
        </p:nvSpPr>
        <p:spPr/>
        <p:txBody>
          <a:bodyPr/>
          <a:lstStyle/>
          <a:p>
            <a:pPr>
              <a:defRPr/>
            </a:pPr>
            <a:fld id="{8E639104-18EF-4017-8EC8-89CC3800080B}" type="slidenum">
              <a:rPr lang="es-PE" altLang="es-PE" smtClean="0"/>
              <a:pPr>
                <a:defRPr/>
              </a:pPr>
              <a:t>52</a:t>
            </a:fld>
            <a:endParaRPr lang="es-PE" altLang="es-PE"/>
          </a:p>
        </p:txBody>
      </p:sp>
    </p:spTree>
    <p:extLst>
      <p:ext uri="{BB962C8B-B14F-4D97-AF65-F5344CB8AC3E}">
        <p14:creationId xmlns:p14="http://schemas.microsoft.com/office/powerpoint/2010/main" val="23279892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Shape 119"/>
        <p:cNvGrpSpPr/>
        <p:nvPr/>
      </p:nvGrpSpPr>
      <p:grpSpPr>
        <a:xfrm>
          <a:off x="0" y="0"/>
          <a:ext cx="0" cy="0"/>
          <a:chOff x="0" y="0"/>
          <a:chExt cx="0" cy="0"/>
        </a:xfrm>
      </p:grpSpPr>
      <p:sp>
        <p:nvSpPr>
          <p:cNvPr id="120" name="Google Shape;120;p4"/>
          <p:cNvSpPr txBox="1">
            <a:spLocks noGrp="1"/>
          </p:cNvSpPr>
          <p:nvPr>
            <p:ph type="ctrTitle"/>
          </p:nvPr>
        </p:nvSpPr>
        <p:spPr>
          <a:xfrm>
            <a:off x="2698111" y="3070084"/>
            <a:ext cx="6795778" cy="717835"/>
          </a:xfrm>
          <a:prstGeom prst="rect">
            <a:avLst/>
          </a:prstGeom>
          <a:noFill/>
          <a:ln>
            <a:noFill/>
          </a:ln>
        </p:spPr>
        <p:txBody>
          <a:bodyPr spcFirstLastPara="1" vert="horz" wrap="square" lIns="91425" tIns="91425" rIns="91425" bIns="91425" numCol="1" anchor="t" anchorCtr="0" compatLnSpc="1">
            <a:prstTxWarp prst="textNoShape">
              <a:avLst/>
            </a:prstTxWarp>
            <a:noAutofit/>
          </a:bodyPr>
          <a:lstStyle/>
          <a:p>
            <a:r>
              <a:rPr lang="es-ES" sz="6000" dirty="0"/>
              <a:t>ADQUISICIÓN</a:t>
            </a:r>
            <a:br>
              <a:rPr lang="es-ES" sz="6000" dirty="0"/>
            </a:br>
            <a:r>
              <a:rPr lang="es-ES" sz="6000" dirty="0"/>
              <a:t>(IATC)</a:t>
            </a:r>
            <a:endParaRPr sz="6000" dirty="0"/>
          </a:p>
        </p:txBody>
      </p:sp>
    </p:spTree>
    <p:extLst>
      <p:ext uri="{BB962C8B-B14F-4D97-AF65-F5344CB8AC3E}">
        <p14:creationId xmlns:p14="http://schemas.microsoft.com/office/powerpoint/2010/main" val="460809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19444A2-DADC-44F4-755C-889FF9615906}"/>
              </a:ext>
            </a:extLst>
          </p:cNvPr>
          <p:cNvPicPr>
            <a:picLocks noChangeAspect="1"/>
          </p:cNvPicPr>
          <p:nvPr/>
        </p:nvPicPr>
        <p:blipFill>
          <a:blip r:embed="rId2"/>
          <a:stretch>
            <a:fillRect/>
          </a:stretch>
        </p:blipFill>
        <p:spPr>
          <a:xfrm>
            <a:off x="2279576" y="980728"/>
            <a:ext cx="3254022" cy="5349704"/>
          </a:xfrm>
          <a:prstGeom prst="rect">
            <a:avLst/>
          </a:prstGeom>
        </p:spPr>
      </p:pic>
      <p:pic>
        <p:nvPicPr>
          <p:cNvPr id="6" name="Imagen 5">
            <a:extLst>
              <a:ext uri="{FF2B5EF4-FFF2-40B4-BE49-F238E27FC236}">
                <a16:creationId xmlns:a16="http://schemas.microsoft.com/office/drawing/2014/main" id="{AE928516-42D3-9E76-756F-A86AA3013076}"/>
              </a:ext>
            </a:extLst>
          </p:cNvPr>
          <p:cNvPicPr>
            <a:picLocks noChangeAspect="1"/>
          </p:cNvPicPr>
          <p:nvPr/>
        </p:nvPicPr>
        <p:blipFill>
          <a:blip r:embed="rId3"/>
          <a:stretch>
            <a:fillRect/>
          </a:stretch>
        </p:blipFill>
        <p:spPr>
          <a:xfrm>
            <a:off x="6943302" y="987480"/>
            <a:ext cx="3254022" cy="534970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A61045CA-28C7-F74E-9B5C-289444F77890}"/>
              </a:ext>
            </a:extLst>
          </p:cNvPr>
          <p:cNvSpPr txBox="1">
            <a:spLocks noChangeArrowheads="1"/>
          </p:cNvSpPr>
          <p:nvPr/>
        </p:nvSpPr>
        <p:spPr bwMode="auto">
          <a:xfrm>
            <a:off x="810639" y="2102442"/>
            <a:ext cx="10775003" cy="953403"/>
          </a:xfrm>
          <a:prstGeom prst="rect">
            <a:avLst/>
          </a:prstGeom>
          <a:noFill/>
          <a:ln>
            <a:noFill/>
          </a:ln>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None/>
              <a:defRPr/>
            </a:pPr>
            <a:r>
              <a:rPr lang="es-PE" altLang="es-PE" sz="2000" dirty="0">
                <a:latin typeface="Verdana" panose="020B0604030504040204" pitchFamily="34" charset="0"/>
                <a:ea typeface="Verdana" panose="020B0604030504040204" pitchFamily="34" charset="0"/>
                <a:cs typeface="Arial" panose="020B0604020202020204" pitchFamily="34" charset="0"/>
              </a:rPr>
              <a:t>De Gregorio Macroeconomía (7a ed.):</a:t>
            </a:r>
          </a:p>
          <a:p>
            <a:pPr>
              <a:lnSpc>
                <a:spcPct val="150000"/>
              </a:lnSpc>
              <a:spcBef>
                <a:spcPct val="0"/>
              </a:spcBef>
              <a:buNone/>
              <a:defRPr/>
            </a:pPr>
            <a:r>
              <a:rPr lang="es-PE" altLang="es-PE" sz="2000" dirty="0">
                <a:latin typeface="Verdana" panose="020B0604030504040204" pitchFamily="34" charset="0"/>
                <a:ea typeface="Verdana" panose="020B0604030504040204" pitchFamily="34" charset="0"/>
                <a:cs typeface="Arial" panose="020B0604020202020204" pitchFamily="34" charset="0"/>
              </a:rPr>
              <a:t> </a:t>
            </a:r>
            <a:r>
              <a:rPr lang="es-PE" altLang="es-PE" sz="2000" u="sng" dirty="0">
                <a:latin typeface="Verdana" panose="020B0604030504040204" pitchFamily="34" charset="0"/>
                <a:ea typeface="Verdana" panose="020B0604030504040204" pitchFamily="34" charset="0"/>
                <a:cs typeface="Arial" panose="020B0604020202020204" pitchFamily="34" charset="0"/>
              </a:rPr>
              <a:t>Capitulo 16</a:t>
            </a:r>
            <a:r>
              <a:rPr lang="es-PE" altLang="es-PE" sz="2000" dirty="0">
                <a:latin typeface="Verdana" panose="020B0604030504040204" pitchFamily="34" charset="0"/>
                <a:ea typeface="Verdana" panose="020B0604030504040204" pitchFamily="34" charset="0"/>
                <a:cs typeface="Arial" panose="020B0604020202020204" pitchFamily="34" charset="0"/>
              </a:rPr>
              <a:t>: Oferta de dinero, politica monetaria e inflación (415-443)</a:t>
            </a:r>
          </a:p>
        </p:txBody>
      </p:sp>
      <p:sp>
        <p:nvSpPr>
          <p:cNvPr id="3" name="Google Shape;109;p2">
            <a:extLst>
              <a:ext uri="{FF2B5EF4-FFF2-40B4-BE49-F238E27FC236}">
                <a16:creationId xmlns:a16="http://schemas.microsoft.com/office/drawing/2014/main" id="{6E3E92D3-64DD-DFDE-F5B8-873401D42837}"/>
              </a:ext>
            </a:extLst>
          </p:cNvPr>
          <p:cNvSpPr txBox="1">
            <a:spLocks noChangeArrowheads="1"/>
          </p:cNvSpPr>
          <p:nvPr/>
        </p:nvSpPr>
        <p:spPr bwMode="auto">
          <a:xfrm>
            <a:off x="810640" y="987357"/>
            <a:ext cx="7375923" cy="77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121900" tIns="121900" rIns="121900" bIns="121900" numCol="1" anchor="ctr" anchorCtr="0" compatLnSpc="1">
            <a:prstTxWarp prst="textNoShape">
              <a:avLst/>
            </a:prstTxWarp>
            <a:noAutofit/>
          </a:bodyPr>
          <a:lstStyle>
            <a:lvl1pPr lvl="0" algn="ctr" rtl="0" eaLnBrk="0" fontAlgn="base" hangingPunct="0">
              <a:lnSpc>
                <a:spcPct val="100000"/>
              </a:lnSpc>
              <a:spcBef>
                <a:spcPts val="0"/>
              </a:spcBef>
              <a:spcAft>
                <a:spcPts val="0"/>
              </a:spcAft>
              <a:buClr>
                <a:srgbClr val="434343"/>
              </a:buClr>
              <a:buSzPts val="2800"/>
              <a:buNone/>
              <a:defRPr sz="3200" b="1"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rtl="0" eaLnBrk="0" fontAlgn="base" hangingPunct="0">
              <a:lnSpc>
                <a:spcPct val="100000"/>
              </a:lnSpc>
              <a:spcBef>
                <a:spcPts val="0"/>
              </a:spcBef>
              <a:spcAft>
                <a:spcPts val="0"/>
              </a:spcAft>
              <a:buClr>
                <a:srgbClr val="7F8D99"/>
              </a:buClr>
              <a:buSzPts val="2800"/>
              <a:buNone/>
              <a:defRPr sz="2800">
                <a:solidFill>
                  <a:srgbClr val="7F8D99"/>
                </a:solidFill>
                <a:latin typeface="Arial Black" panose="020B0A04020102020204" pitchFamily="34" charset="0"/>
              </a:defRPr>
            </a:lvl2pPr>
            <a:lvl3pPr lvl="2" algn="ctr" rtl="0" eaLnBrk="0" fontAlgn="base" hangingPunct="0">
              <a:lnSpc>
                <a:spcPct val="100000"/>
              </a:lnSpc>
              <a:spcBef>
                <a:spcPts val="0"/>
              </a:spcBef>
              <a:spcAft>
                <a:spcPts val="0"/>
              </a:spcAft>
              <a:buClr>
                <a:srgbClr val="7F8D99"/>
              </a:buClr>
              <a:buSzPts val="2800"/>
              <a:buNone/>
              <a:defRPr sz="2800">
                <a:solidFill>
                  <a:srgbClr val="7F8D99"/>
                </a:solidFill>
                <a:latin typeface="Arial Black" panose="020B0A04020102020204" pitchFamily="34" charset="0"/>
              </a:defRPr>
            </a:lvl3pPr>
            <a:lvl4pPr lvl="3" algn="ctr" rtl="0" eaLnBrk="0" fontAlgn="base" hangingPunct="0">
              <a:lnSpc>
                <a:spcPct val="100000"/>
              </a:lnSpc>
              <a:spcBef>
                <a:spcPts val="0"/>
              </a:spcBef>
              <a:spcAft>
                <a:spcPts val="0"/>
              </a:spcAft>
              <a:buClr>
                <a:srgbClr val="7F8D99"/>
              </a:buClr>
              <a:buSzPts val="2800"/>
              <a:buNone/>
              <a:defRPr sz="2800">
                <a:solidFill>
                  <a:srgbClr val="7F8D99"/>
                </a:solidFill>
                <a:latin typeface="Arial Black" panose="020B0A04020102020204" pitchFamily="34" charset="0"/>
              </a:defRPr>
            </a:lvl4pPr>
            <a:lvl5pPr lvl="4" algn="ctr" rtl="0" eaLnBrk="0" fontAlgn="base" hangingPunct="0">
              <a:lnSpc>
                <a:spcPct val="100000"/>
              </a:lnSpc>
              <a:spcBef>
                <a:spcPts val="0"/>
              </a:spcBef>
              <a:spcAft>
                <a:spcPts val="0"/>
              </a:spcAft>
              <a:buClr>
                <a:srgbClr val="7F8D99"/>
              </a:buClr>
              <a:buSzPts val="2800"/>
              <a:buNone/>
              <a:defRPr sz="2800">
                <a:solidFill>
                  <a:srgbClr val="7F8D99"/>
                </a:solidFill>
                <a:latin typeface="Arial Black" panose="020B0A04020102020204" pitchFamily="34" charset="0"/>
              </a:defRPr>
            </a:lvl5pPr>
            <a:lvl6pPr marL="457200" lvl="5" algn="ctr" rtl="0" fontAlgn="base">
              <a:lnSpc>
                <a:spcPct val="100000"/>
              </a:lnSpc>
              <a:spcBef>
                <a:spcPts val="0"/>
              </a:spcBef>
              <a:spcAft>
                <a:spcPts val="0"/>
              </a:spcAft>
              <a:buClr>
                <a:srgbClr val="7F8D99"/>
              </a:buClr>
              <a:buSzPts val="2800"/>
              <a:buNone/>
              <a:defRPr sz="2800">
                <a:solidFill>
                  <a:srgbClr val="7F8D99"/>
                </a:solidFill>
                <a:latin typeface="Arial Black" panose="020B0A04020102020204" pitchFamily="34" charset="0"/>
              </a:defRPr>
            </a:lvl6pPr>
            <a:lvl7pPr marL="914400" lvl="6" algn="ctr" rtl="0" fontAlgn="base">
              <a:lnSpc>
                <a:spcPct val="100000"/>
              </a:lnSpc>
              <a:spcBef>
                <a:spcPts val="0"/>
              </a:spcBef>
              <a:spcAft>
                <a:spcPts val="0"/>
              </a:spcAft>
              <a:buClr>
                <a:srgbClr val="7F8D99"/>
              </a:buClr>
              <a:buSzPts val="2800"/>
              <a:buNone/>
              <a:defRPr sz="2800">
                <a:solidFill>
                  <a:srgbClr val="7F8D99"/>
                </a:solidFill>
                <a:latin typeface="Arial Black" panose="020B0A04020102020204" pitchFamily="34" charset="0"/>
              </a:defRPr>
            </a:lvl7pPr>
            <a:lvl8pPr marL="1371600" lvl="7" algn="ctr" rtl="0" fontAlgn="base">
              <a:lnSpc>
                <a:spcPct val="100000"/>
              </a:lnSpc>
              <a:spcBef>
                <a:spcPts val="0"/>
              </a:spcBef>
              <a:spcAft>
                <a:spcPts val="0"/>
              </a:spcAft>
              <a:buClr>
                <a:srgbClr val="7F8D99"/>
              </a:buClr>
              <a:buSzPts val="2800"/>
              <a:buNone/>
              <a:defRPr sz="2800">
                <a:solidFill>
                  <a:srgbClr val="7F8D99"/>
                </a:solidFill>
                <a:latin typeface="Arial Black" panose="020B0A04020102020204" pitchFamily="34" charset="0"/>
              </a:defRPr>
            </a:lvl8pPr>
            <a:lvl9pPr marL="1828800" lvl="8" algn="ctr" rtl="0" fontAlgn="base">
              <a:lnSpc>
                <a:spcPct val="100000"/>
              </a:lnSpc>
              <a:spcBef>
                <a:spcPts val="0"/>
              </a:spcBef>
              <a:spcAft>
                <a:spcPts val="0"/>
              </a:spcAft>
              <a:buClr>
                <a:srgbClr val="7F8D99"/>
              </a:buClr>
              <a:buSzPts val="2800"/>
              <a:buNone/>
              <a:defRPr sz="2800">
                <a:solidFill>
                  <a:srgbClr val="7F8D99"/>
                </a:solidFill>
                <a:latin typeface="Arial Black" panose="020B0A04020102020204" pitchFamily="34" charset="0"/>
              </a:defRPr>
            </a:lvl9pPr>
          </a:lstStyle>
          <a:p>
            <a:pPr algn="l">
              <a:spcBef>
                <a:spcPct val="0"/>
              </a:spcBef>
              <a:spcAft>
                <a:spcPct val="0"/>
              </a:spcAft>
            </a:pPr>
            <a:r>
              <a:rPr lang="es-ES" altLang="es-PE" sz="3300" dirty="0">
                <a:solidFill>
                  <a:srgbClr val="FFC000"/>
                </a:solidFill>
              </a:rPr>
              <a:t>Fuente: </a:t>
            </a:r>
            <a:endParaRPr lang="es-PE" altLang="es-PE" sz="3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Shape 119"/>
        <p:cNvGrpSpPr/>
        <p:nvPr/>
      </p:nvGrpSpPr>
      <p:grpSpPr>
        <a:xfrm>
          <a:off x="0" y="0"/>
          <a:ext cx="0" cy="0"/>
          <a:chOff x="0" y="0"/>
          <a:chExt cx="0" cy="0"/>
        </a:xfrm>
      </p:grpSpPr>
      <p:sp>
        <p:nvSpPr>
          <p:cNvPr id="120" name="Google Shape;120;p4"/>
          <p:cNvSpPr txBox="1">
            <a:spLocks noGrp="1"/>
          </p:cNvSpPr>
          <p:nvPr>
            <p:ph type="ctrTitle"/>
          </p:nvPr>
        </p:nvSpPr>
        <p:spPr>
          <a:xfrm>
            <a:off x="2698111" y="3070084"/>
            <a:ext cx="7588889" cy="717835"/>
          </a:xfrm>
          <a:prstGeom prst="rect">
            <a:avLst/>
          </a:prstGeom>
          <a:noFill/>
          <a:ln>
            <a:noFill/>
          </a:ln>
        </p:spPr>
        <p:txBody>
          <a:bodyPr spcFirstLastPara="1" vert="horz" wrap="square" lIns="91425" tIns="91425" rIns="91425" bIns="91425" numCol="1" anchor="t" anchorCtr="0" compatLnSpc="1">
            <a:prstTxWarp prst="textNoShape">
              <a:avLst/>
            </a:prstTxWarp>
            <a:noAutofit/>
          </a:bodyPr>
          <a:lstStyle/>
          <a:p>
            <a:r>
              <a:rPr lang="es-ES" sz="6000" dirty="0"/>
              <a:t>TRANSFERENCIA</a:t>
            </a:r>
            <a:br>
              <a:rPr lang="es-ES" sz="6000" dirty="0"/>
            </a:br>
            <a:r>
              <a:rPr lang="es-ES" sz="6000" dirty="0"/>
              <a:t>(IATC)</a:t>
            </a:r>
            <a:endParaRPr sz="6000" dirty="0"/>
          </a:p>
        </p:txBody>
      </p:sp>
    </p:spTree>
    <p:extLst>
      <p:ext uri="{BB962C8B-B14F-4D97-AF65-F5344CB8AC3E}">
        <p14:creationId xmlns:p14="http://schemas.microsoft.com/office/powerpoint/2010/main" val="15103505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2EF98-59B0-4CCC-9501-870121BDD246}"/>
              </a:ext>
            </a:extLst>
          </p:cNvPr>
          <p:cNvSpPr>
            <a:spLocks noGrp="1"/>
          </p:cNvSpPr>
          <p:nvPr>
            <p:ph type="title"/>
          </p:nvPr>
        </p:nvSpPr>
        <p:spPr>
          <a:xfrm>
            <a:off x="903514" y="332656"/>
            <a:ext cx="10515600" cy="618101"/>
          </a:xfrm>
        </p:spPr>
        <p:txBody>
          <a:bodyPr>
            <a:normAutofit fontScale="90000"/>
          </a:bodyPr>
          <a:lstStyle/>
          <a:p>
            <a:r>
              <a:rPr lang="es-ES" sz="4400" dirty="0"/>
              <a:t>SET DE EJERCICIOS 1</a:t>
            </a:r>
            <a:endParaRPr lang="es-PE" dirty="0"/>
          </a:p>
        </p:txBody>
      </p:sp>
      <p:sp>
        <p:nvSpPr>
          <p:cNvPr id="6" name="Rectangle 1">
            <a:extLst>
              <a:ext uri="{FF2B5EF4-FFF2-40B4-BE49-F238E27FC236}">
                <a16:creationId xmlns:a16="http://schemas.microsoft.com/office/drawing/2014/main" id="{6ED465D4-FB2B-F573-4C98-888CE9D25C23}"/>
              </a:ext>
            </a:extLst>
          </p:cNvPr>
          <p:cNvSpPr>
            <a:spLocks noChangeArrowheads="1"/>
          </p:cNvSpPr>
          <p:nvPr/>
        </p:nvSpPr>
        <p:spPr bwMode="auto">
          <a:xfrm>
            <a:off x="903514" y="1857618"/>
            <a:ext cx="989162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457200" algn="l"/>
              </a:tabLst>
            </a:pPr>
            <a:endParaRPr lang="es-ES" altLang="es-PE" sz="2400" dirty="0">
              <a:ea typeface="Times New Roman" panose="02020603050405020304" pitchFamily="18"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endParaRPr kumimoji="0" lang="es-ES" altLang="es-PE" sz="2400" b="0" i="0" u="none" strike="noStrike" cap="none" normalizeH="0" baseline="0" dirty="0">
              <a:ln>
                <a:noFill/>
              </a:ln>
              <a:solidFill>
                <a:schemeClr val="tx1"/>
              </a:solidFill>
              <a:effectLst/>
              <a:ea typeface="Times New Roman" panose="02020603050405020304" pitchFamily="18"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endParaRPr lang="es-ES" altLang="es-PE" sz="2400" dirty="0">
              <a:ea typeface="Times New Roman" panose="02020603050405020304" pitchFamily="18"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endParaRPr kumimoji="0" lang="es-ES" altLang="es-PE" sz="2400" b="0" i="0" u="none" strike="noStrike" cap="none" normalizeH="0" baseline="0" dirty="0">
              <a:ln>
                <a:noFill/>
              </a:ln>
              <a:solidFill>
                <a:schemeClr val="tx1"/>
              </a:solidFill>
              <a:effectLst/>
              <a:ea typeface="Times New Roman" panose="02020603050405020304" pitchFamily="18"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tab pos="457200" algn="l"/>
              </a:tabLst>
            </a:pPr>
            <a:r>
              <a:rPr kumimoji="0" lang="es-ES" altLang="es-PE" sz="2400" b="0" i="0" u="none" strike="noStrike" cap="none" normalizeH="0" baseline="0" dirty="0">
                <a:ln>
                  <a:noFill/>
                </a:ln>
                <a:solidFill>
                  <a:schemeClr val="tx1"/>
                </a:solidFill>
                <a:effectLst/>
                <a:ea typeface="Times New Roman" panose="02020603050405020304" pitchFamily="18" charset="0"/>
                <a:cs typeface="Arial" panose="020B0604020202020204" pitchFamily="34" charset="0"/>
              </a:rPr>
              <a:t> </a:t>
            </a:r>
            <a:endParaRPr kumimoji="0" lang="es-PE" altLang="es-PE"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es-ES" altLang="es-PE"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8856206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Shape 119"/>
        <p:cNvGrpSpPr/>
        <p:nvPr/>
      </p:nvGrpSpPr>
      <p:grpSpPr>
        <a:xfrm>
          <a:off x="0" y="0"/>
          <a:ext cx="0" cy="0"/>
          <a:chOff x="0" y="0"/>
          <a:chExt cx="0" cy="0"/>
        </a:xfrm>
      </p:grpSpPr>
      <p:sp>
        <p:nvSpPr>
          <p:cNvPr id="120" name="Google Shape;120;p4"/>
          <p:cNvSpPr txBox="1">
            <a:spLocks noGrp="1"/>
          </p:cNvSpPr>
          <p:nvPr>
            <p:ph type="ctrTitle"/>
          </p:nvPr>
        </p:nvSpPr>
        <p:spPr>
          <a:xfrm>
            <a:off x="2698111" y="3070084"/>
            <a:ext cx="7588889" cy="2111517"/>
          </a:xfrm>
          <a:prstGeom prst="rect">
            <a:avLst/>
          </a:prstGeom>
          <a:noFill/>
          <a:ln>
            <a:noFill/>
          </a:ln>
        </p:spPr>
        <p:txBody>
          <a:bodyPr spcFirstLastPara="1" vert="horz" wrap="square" lIns="91425" tIns="91425" rIns="91425" bIns="91425" numCol="1" anchor="t" anchorCtr="0" compatLnSpc="1">
            <a:prstTxWarp prst="textNoShape">
              <a:avLst/>
            </a:prstTxWarp>
            <a:noAutofit/>
          </a:bodyPr>
          <a:lstStyle/>
          <a:p>
            <a:r>
              <a:rPr lang="es-ES" sz="6000" dirty="0"/>
              <a:t>CIERRE</a:t>
            </a:r>
            <a:br>
              <a:rPr lang="es-ES" sz="6000" dirty="0"/>
            </a:br>
            <a:r>
              <a:rPr lang="es-ES" sz="6000" dirty="0"/>
              <a:t>(IATC)</a:t>
            </a:r>
            <a:endParaRPr sz="6000" dirty="0"/>
          </a:p>
        </p:txBody>
      </p:sp>
    </p:spTree>
    <p:extLst>
      <p:ext uri="{BB962C8B-B14F-4D97-AF65-F5344CB8AC3E}">
        <p14:creationId xmlns:p14="http://schemas.microsoft.com/office/powerpoint/2010/main" val="37803971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1;p17">
            <a:extLst>
              <a:ext uri="{FF2B5EF4-FFF2-40B4-BE49-F238E27FC236}">
                <a16:creationId xmlns:a16="http://schemas.microsoft.com/office/drawing/2014/main" id="{6496F065-121F-9968-CCBE-2033527543DF}"/>
              </a:ext>
            </a:extLst>
          </p:cNvPr>
          <p:cNvSpPr txBox="1">
            <a:spLocks noGrp="1"/>
          </p:cNvSpPr>
          <p:nvPr>
            <p:ph type="title"/>
          </p:nvPr>
        </p:nvSpPr>
        <p:spPr>
          <a:xfrm>
            <a:off x="2640013" y="449263"/>
            <a:ext cx="6477000" cy="889000"/>
          </a:xfrm>
        </p:spPr>
        <p:txBody>
          <a:bodyPr lIns="121900" tIns="121900" rIns="121900" bIns="121900" rtlCol="0" anchor="t"/>
          <a:lstStyle/>
          <a:p>
            <a:pPr algn="ctr">
              <a:defRPr/>
            </a:pPr>
            <a:r>
              <a:rPr lang="es-ES" sz="3733" dirty="0">
                <a:solidFill>
                  <a:srgbClr val="FE9B03"/>
                </a:solidFill>
                <a:latin typeface="Tahoma"/>
                <a:ea typeface="Tahoma"/>
                <a:cs typeface="Tahoma"/>
                <a:sym typeface="Tahoma"/>
              </a:rPr>
              <a:t>Actividad de cierre</a:t>
            </a:r>
            <a:endParaRPr sz="3733" dirty="0"/>
          </a:p>
        </p:txBody>
      </p:sp>
      <p:sp>
        <p:nvSpPr>
          <p:cNvPr id="4" name="TextBox 5">
            <a:extLst>
              <a:ext uri="{FF2B5EF4-FFF2-40B4-BE49-F238E27FC236}">
                <a16:creationId xmlns:a16="http://schemas.microsoft.com/office/drawing/2014/main" id="{40690FCD-DD63-A502-439B-B7C52359A7B0}"/>
              </a:ext>
            </a:extLst>
          </p:cNvPr>
          <p:cNvSpPr txBox="1"/>
          <p:nvPr/>
        </p:nvSpPr>
        <p:spPr>
          <a:xfrm>
            <a:off x="649288" y="1908175"/>
            <a:ext cx="5807075" cy="3754874"/>
          </a:xfrm>
          <a:prstGeom prst="rect">
            <a:avLst/>
          </a:prstGeom>
          <a:noFill/>
        </p:spPr>
        <p:txBody>
          <a:bodyPr>
            <a:spAutoFit/>
          </a:bodyPr>
          <a:lstStyle/>
          <a:p>
            <a:pPr>
              <a:lnSpc>
                <a:spcPct val="150000"/>
              </a:lnSpc>
              <a:defRPr/>
            </a:pPr>
            <a:r>
              <a:rPr lang="en-US" sz="2800" dirty="0"/>
              <a:t>Se </a:t>
            </a:r>
            <a:r>
              <a:rPr lang="en-US" sz="2800" dirty="0" err="1"/>
              <a:t>evalúa</a:t>
            </a:r>
            <a:r>
              <a:rPr lang="en-US" sz="2800" dirty="0"/>
              <a:t> lo  </a:t>
            </a:r>
            <a:r>
              <a:rPr lang="en-US" sz="2800" dirty="0" err="1"/>
              <a:t>aprendido</a:t>
            </a:r>
            <a:r>
              <a:rPr lang="en-US" sz="2800" dirty="0"/>
              <a:t> </a:t>
            </a:r>
            <a:r>
              <a:rPr lang="en-US" sz="2800" dirty="0" err="1"/>
              <a:t>por</a:t>
            </a:r>
            <a:r>
              <a:rPr lang="en-US" sz="2800" dirty="0"/>
              <a:t> medio:</a:t>
            </a:r>
          </a:p>
          <a:p>
            <a:pPr marL="342900" indent="-342900">
              <a:lnSpc>
                <a:spcPct val="150000"/>
              </a:lnSpc>
              <a:buFont typeface="Arial" panose="020B0604020202020204" pitchFamily="34" charset="0"/>
              <a:buChar char="•"/>
              <a:defRPr/>
            </a:pPr>
            <a:r>
              <a:rPr lang="en-US" sz="2800" dirty="0"/>
              <a:t>De </a:t>
            </a:r>
            <a:r>
              <a:rPr lang="en-US" sz="2800" dirty="0" err="1"/>
              <a:t>comentarios</a:t>
            </a:r>
            <a:r>
              <a:rPr lang="en-US" sz="2800" dirty="0"/>
              <a:t> de </a:t>
            </a:r>
            <a:r>
              <a:rPr lang="en-US" sz="2800" dirty="0" err="1"/>
              <a:t>noticias</a:t>
            </a:r>
            <a:r>
              <a:rPr lang="en-US" sz="2800" dirty="0"/>
              <a:t> de la </a:t>
            </a:r>
            <a:r>
              <a:rPr lang="en-US" sz="2800" dirty="0" err="1"/>
              <a:t>actualidad</a:t>
            </a:r>
            <a:r>
              <a:rPr lang="en-US" sz="2800" dirty="0"/>
              <a:t> </a:t>
            </a:r>
            <a:r>
              <a:rPr lang="en-US" sz="2800" dirty="0" err="1"/>
              <a:t>relacionados</a:t>
            </a:r>
            <a:r>
              <a:rPr lang="en-US" sz="2800" dirty="0"/>
              <a:t> al consume, inversion y </a:t>
            </a:r>
            <a:r>
              <a:rPr lang="en-US" sz="2800" dirty="0" err="1"/>
              <a:t>gasto</a:t>
            </a:r>
            <a:r>
              <a:rPr lang="en-US" sz="2800" dirty="0"/>
              <a:t> de </a:t>
            </a:r>
            <a:r>
              <a:rPr lang="en-US" sz="2800" dirty="0" err="1"/>
              <a:t>gobierno</a:t>
            </a:r>
            <a:endParaRPr lang="en-US" sz="2800" dirty="0"/>
          </a:p>
          <a:p>
            <a:pPr marL="342900" indent="-342900">
              <a:buFont typeface="Arial" panose="020B0604020202020204" pitchFamily="34" charset="0"/>
              <a:buChar char="•"/>
              <a:defRPr/>
            </a:pPr>
            <a:endParaRPr lang="en-US" sz="2800" dirty="0"/>
          </a:p>
        </p:txBody>
      </p:sp>
      <p:pic>
        <p:nvPicPr>
          <p:cNvPr id="5" name="Imagen 4">
            <a:extLst>
              <a:ext uri="{FF2B5EF4-FFF2-40B4-BE49-F238E27FC236}">
                <a16:creationId xmlns:a16="http://schemas.microsoft.com/office/drawing/2014/main" id="{68A70155-44DB-2A74-8D9B-7072862D354F}"/>
              </a:ext>
            </a:extLst>
          </p:cNvPr>
          <p:cNvPicPr>
            <a:picLocks noChangeAspect="1"/>
          </p:cNvPicPr>
          <p:nvPr/>
        </p:nvPicPr>
        <p:blipFill>
          <a:blip r:embed="rId3"/>
          <a:stretch>
            <a:fillRect/>
          </a:stretch>
        </p:blipFill>
        <p:spPr>
          <a:xfrm>
            <a:off x="7477532" y="1142434"/>
            <a:ext cx="3749171" cy="5094878"/>
          </a:xfrm>
          <a:prstGeom prst="rect">
            <a:avLst/>
          </a:prstGeom>
        </p:spPr>
      </p:pic>
    </p:spTree>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11958</TotalTime>
  <Words>3837</Words>
  <Application>Microsoft Office PowerPoint</Application>
  <PresentationFormat>Panorámica</PresentationFormat>
  <Paragraphs>315</Paragraphs>
  <Slides>59</Slides>
  <Notes>9</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59</vt:i4>
      </vt:variant>
    </vt:vector>
  </HeadingPairs>
  <TitlesOfParts>
    <vt:vector size="72" baseType="lpstr">
      <vt:lpstr>Abril Fatface</vt:lpstr>
      <vt:lpstr>Arial</vt:lpstr>
      <vt:lpstr>Calibri</vt:lpstr>
      <vt:lpstr>Calibri Light</vt:lpstr>
      <vt:lpstr>Cambria Math</vt:lpstr>
      <vt:lpstr>Palatino Linotype</vt:lpstr>
      <vt:lpstr>Sylfaen</vt:lpstr>
      <vt:lpstr>Tahoma</vt:lpstr>
      <vt:lpstr>Times New Roman</vt:lpstr>
      <vt:lpstr>Tunga</vt:lpstr>
      <vt:lpstr>Verdana</vt:lpstr>
      <vt:lpstr>Wingdings</vt:lpstr>
      <vt:lpstr>Tema de Office</vt:lpstr>
      <vt:lpstr>POLITICA MONETARIA</vt:lpstr>
      <vt:lpstr>IMPACTO (IATC)</vt:lpstr>
      <vt:lpstr>Logro de aprendizaje: </vt:lpstr>
      <vt:lpstr>CONTENIDO DETALLADO</vt:lpstr>
      <vt:lpstr>Determinación de tasas de interés</vt:lpstr>
      <vt:lpstr>Determinación de tasas de interés</vt:lpstr>
      <vt:lpstr>Determinación de tasas de interés</vt:lpstr>
      <vt:lpstr>CONTENIDO DETALLADO</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Determinación de tasas de interés</vt:lpstr>
      <vt:lpstr>CONTENIDO DETALLADO</vt:lpstr>
      <vt:lpstr>Determinación de T. de Interés:  Competencia Monopolística</vt:lpstr>
      <vt:lpstr>Determinación de T. de Interés:  Competencia Monopolística</vt:lpstr>
      <vt:lpstr>Determinación de T. de Interés:  Competencia Monopolística</vt:lpstr>
      <vt:lpstr>Determinación de T. de Interés con  Competencia Monopolística: Créditos</vt:lpstr>
      <vt:lpstr>Determinación de T. de Interés con Competencia Monopolística : Créditos</vt:lpstr>
      <vt:lpstr>Determinación de T. de Interés con Competencia Monopolística : Créditos</vt:lpstr>
      <vt:lpstr>Determinación de T. de Interés con Competencia Monopolística : Créditos</vt:lpstr>
      <vt:lpstr>Determinación de T. de Interés con Competencia Monopolística : Créditos</vt:lpstr>
      <vt:lpstr>Determinación de T. de Interés con  Competencia Monopolística : Créditos</vt:lpstr>
      <vt:lpstr>Determinación de T. de Interés con Competencia Monopolística: Depósitos</vt:lpstr>
      <vt:lpstr>Determinación de T. de Interés con  Competencia Monopolística : Depósitos</vt:lpstr>
      <vt:lpstr>Determinación de T. de Interés con Competencia Monopolística : Depósitos</vt:lpstr>
      <vt:lpstr>Determinación de T. de Interés con  Competencia Monopolística : Depósitos</vt:lpstr>
      <vt:lpstr>Determinación de T. de Interés con Competencia Monopolística : Depósitos</vt:lpstr>
      <vt:lpstr>Determinación de T. de Interés:  Competencia Monopolística</vt:lpstr>
      <vt:lpstr>Determinación de T. de Interés:  Competencia Monopolística</vt:lpstr>
      <vt:lpstr>Determinación de T. de Interés:  Competencia Monopolística</vt:lpstr>
      <vt:lpstr>Determinación de T. de Interés:  Competencia Monopolística</vt:lpstr>
      <vt:lpstr>Determinación de T. de Interés:  Competencia Monopolística</vt:lpstr>
      <vt:lpstr>Determinación de T. de Interés:  Competencia Monopolística</vt:lpstr>
      <vt:lpstr>ADQUISICIÓN (IATC)</vt:lpstr>
      <vt:lpstr>Presentación de PowerPoint</vt:lpstr>
      <vt:lpstr>Presentación de PowerPoint</vt:lpstr>
      <vt:lpstr>TRANSFERENCIA (IATC)</vt:lpstr>
      <vt:lpstr>SET DE EJERCICIOS 1</vt:lpstr>
      <vt:lpstr>CIERRE (IATC)</vt:lpstr>
      <vt:lpstr>Actividad de cierre</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Nora</dc:creator>
  <cp:lastModifiedBy>Azanero Saona, Jose  Manuel</cp:lastModifiedBy>
  <cp:revision>303</cp:revision>
  <cp:lastPrinted>2024-03-21T21:38:00Z</cp:lastPrinted>
  <dcterms:created xsi:type="dcterms:W3CDTF">2006-01-13T00:27:24Z</dcterms:created>
  <dcterms:modified xsi:type="dcterms:W3CDTF">2025-06-16T23:21:26Z</dcterms:modified>
</cp:coreProperties>
</file>