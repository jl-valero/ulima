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1"/>
  </p:notesMasterIdLst>
  <p:handoutMasterIdLst>
    <p:handoutMasterId r:id="rId22"/>
  </p:handoutMasterIdLst>
  <p:sldIdLst>
    <p:sldId id="392" r:id="rId3"/>
    <p:sldId id="393" r:id="rId4"/>
    <p:sldId id="397" r:id="rId5"/>
    <p:sldId id="398" r:id="rId6"/>
    <p:sldId id="399" r:id="rId7"/>
    <p:sldId id="400" r:id="rId8"/>
    <p:sldId id="390" r:id="rId9"/>
    <p:sldId id="345" r:id="rId10"/>
    <p:sldId id="346" r:id="rId11"/>
    <p:sldId id="367" r:id="rId12"/>
    <p:sldId id="388" r:id="rId13"/>
    <p:sldId id="348" r:id="rId14"/>
    <p:sldId id="352" r:id="rId15"/>
    <p:sldId id="350" r:id="rId16"/>
    <p:sldId id="401" r:id="rId17"/>
    <p:sldId id="353" r:id="rId18"/>
    <p:sldId id="358" r:id="rId19"/>
    <p:sldId id="359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10000"/>
      </a:spcBef>
      <a:spcAft>
        <a:spcPct val="10000"/>
      </a:spcAft>
      <a:buFont typeface="Wingdings" panose="05000000000000000000" pitchFamily="2" charset="2"/>
      <a:defRPr sz="2000" kern="1200">
        <a:solidFill>
          <a:schemeClr val="tx1"/>
        </a:solidFill>
        <a:latin typeface="Alba" pitchFamily="2" charset="0"/>
        <a:ea typeface="+mn-ea"/>
        <a:cs typeface="+mn-cs"/>
      </a:defRPr>
    </a:lvl1pPr>
    <a:lvl2pPr marL="457200" algn="l" rtl="0" fontAlgn="base">
      <a:spcBef>
        <a:spcPct val="10000"/>
      </a:spcBef>
      <a:spcAft>
        <a:spcPct val="10000"/>
      </a:spcAft>
      <a:buFont typeface="Wingdings" panose="05000000000000000000" pitchFamily="2" charset="2"/>
      <a:defRPr sz="2000" kern="1200">
        <a:solidFill>
          <a:schemeClr val="tx1"/>
        </a:solidFill>
        <a:latin typeface="Alba" pitchFamily="2" charset="0"/>
        <a:ea typeface="+mn-ea"/>
        <a:cs typeface="+mn-cs"/>
      </a:defRPr>
    </a:lvl2pPr>
    <a:lvl3pPr marL="914400" algn="l" rtl="0" fontAlgn="base">
      <a:spcBef>
        <a:spcPct val="10000"/>
      </a:spcBef>
      <a:spcAft>
        <a:spcPct val="10000"/>
      </a:spcAft>
      <a:buFont typeface="Wingdings" panose="05000000000000000000" pitchFamily="2" charset="2"/>
      <a:defRPr sz="2000" kern="1200">
        <a:solidFill>
          <a:schemeClr val="tx1"/>
        </a:solidFill>
        <a:latin typeface="Alba" pitchFamily="2" charset="0"/>
        <a:ea typeface="+mn-ea"/>
        <a:cs typeface="+mn-cs"/>
      </a:defRPr>
    </a:lvl3pPr>
    <a:lvl4pPr marL="1371600" algn="l" rtl="0" fontAlgn="base">
      <a:spcBef>
        <a:spcPct val="10000"/>
      </a:spcBef>
      <a:spcAft>
        <a:spcPct val="10000"/>
      </a:spcAft>
      <a:buFont typeface="Wingdings" panose="05000000000000000000" pitchFamily="2" charset="2"/>
      <a:defRPr sz="2000" kern="1200">
        <a:solidFill>
          <a:schemeClr val="tx1"/>
        </a:solidFill>
        <a:latin typeface="Alba" pitchFamily="2" charset="0"/>
        <a:ea typeface="+mn-ea"/>
        <a:cs typeface="+mn-cs"/>
      </a:defRPr>
    </a:lvl4pPr>
    <a:lvl5pPr marL="1828800" algn="l" rtl="0" fontAlgn="base">
      <a:spcBef>
        <a:spcPct val="10000"/>
      </a:spcBef>
      <a:spcAft>
        <a:spcPct val="10000"/>
      </a:spcAft>
      <a:buFont typeface="Wingdings" panose="05000000000000000000" pitchFamily="2" charset="2"/>
      <a:defRPr sz="2000" kern="1200">
        <a:solidFill>
          <a:schemeClr val="tx1"/>
        </a:solidFill>
        <a:latin typeface="Alba" pitchFamily="2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lba" pitchFamily="2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lba" pitchFamily="2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lba" pitchFamily="2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lba" pitchFamily="2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0606653-9C94-454C-B9BA-0156F4EB21C6}">
          <p14:sldIdLst>
            <p14:sldId id="392"/>
          </p14:sldIdLst>
        </p14:section>
        <p14:section name="II. LA DETERMINACION DE LOS SALARIOS" id="{497813B2-423F-4C0A-B29A-74F285C914AC}">
          <p14:sldIdLst>
            <p14:sldId id="393"/>
            <p14:sldId id="397"/>
            <p14:sldId id="398"/>
            <p14:sldId id="399"/>
            <p14:sldId id="400"/>
          </p14:sldIdLst>
        </p14:section>
        <p14:section name="III. LA DETERMINACION DE LOS PRECIOS" id="{7081C569-7696-44A2-B2F7-AD07D3F9A83C}">
          <p14:sldIdLst>
            <p14:sldId id="390"/>
            <p14:sldId id="345"/>
            <p14:sldId id="346"/>
            <p14:sldId id="367"/>
          </p14:sldIdLst>
        </p14:section>
        <p14:section name="IV LA TASA NATURAL DE DESEMPLEO" id="{FEC8E000-27E7-4025-ACAA-2CC716BD9C0C}">
          <p14:sldIdLst/>
        </p14:section>
        <p14:section name="Sección sin título" id="{6638E993-2B9B-453D-B7F4-F0C0B63A9200}">
          <p14:sldIdLst>
            <p14:sldId id="388"/>
            <p14:sldId id="348"/>
            <p14:sldId id="352"/>
            <p14:sldId id="350"/>
            <p14:sldId id="401"/>
            <p14:sldId id="353"/>
            <p14:sldId id="358"/>
            <p14:sldId id="3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6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D4D4"/>
    <a:srgbClr val="C40075"/>
    <a:srgbClr val="007E8E"/>
    <a:srgbClr val="CCFFCC"/>
    <a:srgbClr val="FCFAF6"/>
    <a:srgbClr val="C0A162"/>
    <a:srgbClr val="E2EAF6"/>
    <a:srgbClr val="ECEA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9509" autoAdjust="0"/>
    <p:restoredTop sz="99245" autoAdjust="0"/>
  </p:normalViewPr>
  <p:slideViewPr>
    <p:cSldViewPr>
      <p:cViewPr varScale="1">
        <p:scale>
          <a:sx n="79" d="100"/>
          <a:sy n="79" d="100"/>
        </p:scale>
        <p:origin x="1776" y="72"/>
      </p:cViewPr>
      <p:guideLst>
        <p:guide orient="horz" pos="466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282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3.xml"/><Relationship Id="rId13" Type="http://schemas.openxmlformats.org/officeDocument/2006/relationships/slide" Target="slides/slide18.xml"/><Relationship Id="rId3" Type="http://schemas.openxmlformats.org/officeDocument/2006/relationships/slide" Target="slides/slide5.xml"/><Relationship Id="rId7" Type="http://schemas.openxmlformats.org/officeDocument/2006/relationships/slide" Target="slides/slide12.xml"/><Relationship Id="rId12" Type="http://schemas.openxmlformats.org/officeDocument/2006/relationships/slide" Target="slides/slide17.xml"/><Relationship Id="rId2" Type="http://schemas.openxmlformats.org/officeDocument/2006/relationships/slide" Target="slides/slide4.xml"/><Relationship Id="rId1" Type="http://schemas.openxmlformats.org/officeDocument/2006/relationships/slide" Target="slides/slide3.xml"/><Relationship Id="rId6" Type="http://schemas.openxmlformats.org/officeDocument/2006/relationships/slide" Target="slides/slide9.xml"/><Relationship Id="rId11" Type="http://schemas.openxmlformats.org/officeDocument/2006/relationships/slide" Target="slides/slide16.xml"/><Relationship Id="rId5" Type="http://schemas.openxmlformats.org/officeDocument/2006/relationships/slide" Target="slides/slide8.xml"/><Relationship Id="rId10" Type="http://schemas.openxmlformats.org/officeDocument/2006/relationships/slide" Target="slides/slide15.xml"/><Relationship Id="rId4" Type="http://schemas.openxmlformats.org/officeDocument/2006/relationships/slide" Target="slides/slide6.xml"/><Relationship Id="rId9" Type="http://schemas.openxmlformats.org/officeDocument/2006/relationships/slide" Target="slides/slide1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A5B7E-ABCC-4FF2-97EB-013AB532635C}" type="datetimeFigureOut">
              <a:rPr lang="es-PE" smtClean="0"/>
              <a:t>22/06/2025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EA451-9F0F-414A-A91F-1D5B40C51E5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211568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spcAft>
                <a:spcPct val="0"/>
              </a:spcAft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spcAft>
                <a:spcPct val="0"/>
              </a:spcAft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spcAft>
                <a:spcPct val="0"/>
              </a:spcAft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spcAft>
                <a:spcPct val="0"/>
              </a:spcAft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fld id="{D4BED63B-3444-4955-A31A-ED7F3479AEA3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139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B85A403-69FB-4B12-985A-5D8D7747F116}" type="slidenum">
              <a:rPr lang="en-US"/>
              <a:t>3</a:t>
            </a:fld>
            <a:endParaRPr lang="en-US"/>
          </a:p>
        </p:txBody>
      </p:sp>
      <p:sp>
        <p:nvSpPr>
          <p:cNvPr id="450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0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2883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5AFA63B-9CCC-4E63-ACE7-6EFE52334E16}" type="slidenum">
              <a:rPr lang="en-US"/>
              <a:t>4</a:t>
            </a:fld>
            <a:endParaRPr lang="en-US"/>
          </a:p>
        </p:txBody>
      </p:sp>
      <p:sp>
        <p:nvSpPr>
          <p:cNvPr id="452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2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337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4FD34646-CD62-400E-B281-2984A0DBFBDA}" type="slidenum">
              <a:rPr lang="en-US"/>
              <a:t>5</a:t>
            </a:fld>
            <a:endParaRPr lang="en-US"/>
          </a:p>
        </p:txBody>
      </p:sp>
      <p:sp>
        <p:nvSpPr>
          <p:cNvPr id="454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4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5408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4D03A398-B5C6-438C-8093-AC0F37369B45}" type="slidenum">
              <a:rPr lang="en-US"/>
              <a:t>6</a:t>
            </a:fld>
            <a:endParaRPr lang="en-US"/>
          </a:p>
        </p:txBody>
      </p:sp>
      <p:sp>
        <p:nvSpPr>
          <p:cNvPr id="456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6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4048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BA89038-25F8-4F62-A465-DFCDCA552168}" type="slidenum">
              <a:rPr lang="en-US"/>
              <a:t>8</a:t>
            </a:fld>
            <a:endParaRPr lang="en-US"/>
          </a:p>
        </p:txBody>
      </p:sp>
      <p:sp>
        <p:nvSpPr>
          <p:cNvPr id="458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8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5832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B82195A-4E91-4AAB-9F21-CBC90B93D5E4}" type="slidenum">
              <a:rPr lang="en-US"/>
              <a:t>9</a:t>
            </a:fld>
            <a:endParaRPr lang="en-US"/>
          </a:p>
        </p:txBody>
      </p:sp>
      <p:sp>
        <p:nvSpPr>
          <p:cNvPr id="463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3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26956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BAA04BD-5F57-4493-BD56-4BA05B3886CA}" type="slidenum">
              <a:rPr lang="en-US"/>
              <a:t>12</a:t>
            </a:fld>
            <a:endParaRPr lang="en-US"/>
          </a:p>
        </p:txBody>
      </p:sp>
      <p:sp>
        <p:nvSpPr>
          <p:cNvPr id="470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57047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7532E5D-8C88-4418-819A-1CEA72AA22BC}" type="slidenum">
              <a:rPr lang="en-US"/>
              <a:t>13</a:t>
            </a:fld>
            <a:endParaRPr lang="en-US"/>
          </a:p>
        </p:txBody>
      </p:sp>
      <p:sp>
        <p:nvSpPr>
          <p:cNvPr id="483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3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3613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BA32859-30BC-4935-8F24-9E01704A0C0E}" type="slidenum">
              <a:rPr lang="en-US"/>
              <a:t>14</a:t>
            </a:fld>
            <a:endParaRPr lang="en-US"/>
          </a:p>
        </p:txBody>
      </p:sp>
      <p:sp>
        <p:nvSpPr>
          <p:cNvPr id="475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5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47636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1DB9AD2-139D-4341-9A10-7FFFBC856605}" type="slidenum">
              <a:rPr lang="en-US"/>
              <a:t>15</a:t>
            </a:fld>
            <a:endParaRPr lang="en-US"/>
          </a:p>
        </p:txBody>
      </p:sp>
      <p:sp>
        <p:nvSpPr>
          <p:cNvPr id="473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3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06694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53257F8-FC82-4A80-A258-954F3B1F014E}" type="slidenum">
              <a:rPr lang="en-US"/>
              <a:t>16</a:t>
            </a:fld>
            <a:endParaRPr lang="en-US"/>
          </a:p>
        </p:txBody>
      </p:sp>
      <p:sp>
        <p:nvSpPr>
          <p:cNvPr id="485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5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09999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1C0787B-C61C-474F-B2A0-BDE635B56385}" type="slidenum">
              <a:rPr lang="en-US"/>
              <a:t>17</a:t>
            </a:fld>
            <a:endParaRPr lang="en-US"/>
          </a:p>
        </p:txBody>
      </p:sp>
      <p:sp>
        <p:nvSpPr>
          <p:cNvPr id="497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7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70755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7FD4B3D-B4C0-459B-9909-C9CD6E794E7B}" type="slidenum">
              <a:rPr lang="en-US"/>
              <a:t>18</a:t>
            </a:fld>
            <a:endParaRPr lang="en-US"/>
          </a:p>
        </p:txBody>
      </p:sp>
      <p:sp>
        <p:nvSpPr>
          <p:cNvPr id="499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9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5475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179388" y="692150"/>
            <a:ext cx="8913812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588" y="549275"/>
            <a:ext cx="9144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08175" y="2492375"/>
            <a:ext cx="5545138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ctrTitle"/>
          </p:nvPr>
        </p:nvSpPr>
        <p:spPr>
          <a:xfrm>
            <a:off x="755650" y="620713"/>
            <a:ext cx="77724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2D4729-2D1D-4523-A4FA-34ACCC2281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‹Nº›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467D8-DB9D-4467-8EAB-49CA1355E5A2}" type="slidenum">
              <a:rPr lang="en-US"/>
              <a:t>‹Nº›</a:t>
            </a:fld>
            <a:r>
              <a:rPr lang="en-US"/>
              <a:t> of 35</a:t>
            </a: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E6271-3DE7-4F2C-8D3D-9EB4DF8FF287}" type="slidenum">
              <a:rPr lang="en-US"/>
              <a:t>‹Nº›</a:t>
            </a:fld>
            <a:r>
              <a:rPr lang="en-US"/>
              <a:t> of 35</a:t>
            </a: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8142F-521E-4260-822B-9A07831B93D8}" type="slidenum">
              <a:rPr lang="en-US"/>
              <a:t>‹Nº›</a:t>
            </a:fld>
            <a:r>
              <a:rPr lang="en-US"/>
              <a:t> of 35</a:t>
            </a: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ABCB4-2BF0-4CE2-9472-4A8AB57DBF3C}" type="slidenum">
              <a:rPr lang="en-US"/>
              <a:t>‹Nº›</a:t>
            </a:fld>
            <a:r>
              <a:rPr lang="en-US"/>
              <a:t> of 35</a:t>
            </a: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FCEE9-A467-40A7-ABAC-0207034BB92D}" type="slidenum">
              <a:rPr lang="en-US"/>
              <a:t>‹Nº›</a:t>
            </a:fld>
            <a:r>
              <a:rPr lang="en-US"/>
              <a:t> of 35</a:t>
            </a: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2972-3694-4B94-8934-632077CA328A}" type="slidenum">
              <a:rPr lang="en-US"/>
              <a:t>‹Nº›</a:t>
            </a:fld>
            <a:r>
              <a:rPr lang="en-US"/>
              <a:t> of 35</a:t>
            </a: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BCB90-F780-4913-A545-139A01C4E0CD}" type="slidenum">
              <a:rPr lang="en-US"/>
              <a:t>‹Nº›</a:t>
            </a:fld>
            <a:r>
              <a:rPr lang="en-US"/>
              <a:t> of 35</a:t>
            </a: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7229C-08A0-4509-9E56-2F0EB6BDC0DB}" type="slidenum">
              <a:rPr lang="en-US"/>
              <a:t>‹Nº›</a:t>
            </a:fld>
            <a:r>
              <a:rPr lang="en-US"/>
              <a:t> of 35</a:t>
            </a: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4EF9C-3E7B-402E-A890-5909C1339249}" type="slidenum">
              <a:rPr lang="en-US"/>
              <a:t>‹Nº›</a:t>
            </a:fld>
            <a:r>
              <a:rPr lang="en-US"/>
              <a:t> of 35</a:t>
            </a: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0A74E-52B7-485E-96FA-9986FF25D73A}" type="slidenum">
              <a:rPr lang="en-US"/>
              <a:t>‹Nº›</a:t>
            </a:fld>
            <a:r>
              <a:rPr lang="en-US"/>
              <a:t> of 35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9EC5B-5917-49FB-8215-011EE52C823E}" type="datetimeFigureOut">
              <a:rPr lang="es-PE" smtClean="0"/>
              <a:t>22/06/2025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48AD-C2EB-4F9E-9749-FB972FD3AD9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57272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9EC5B-5917-49FB-8215-011EE52C823E}" type="datetimeFigureOut">
              <a:rPr lang="es-PE" smtClean="0"/>
              <a:t>22/06/2025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48AD-C2EB-4F9E-9749-FB972FD3AD9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561307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9EC5B-5917-49FB-8215-011EE52C823E}" type="datetimeFigureOut">
              <a:rPr lang="es-PE" smtClean="0"/>
              <a:t>22/06/2025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48AD-C2EB-4F9E-9749-FB972FD3AD9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85118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9EC5B-5917-49FB-8215-011EE52C823E}" type="datetimeFigureOut">
              <a:rPr lang="es-PE" smtClean="0"/>
              <a:t>22/06/2025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48AD-C2EB-4F9E-9749-FB972FD3AD9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11715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9EC5B-5917-49FB-8215-011EE52C823E}" type="datetimeFigureOut">
              <a:rPr lang="es-PE" smtClean="0"/>
              <a:t>22/06/2025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48AD-C2EB-4F9E-9749-FB972FD3AD9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522858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9EC5B-5917-49FB-8215-011EE52C823E}" type="datetimeFigureOut">
              <a:rPr lang="es-PE" smtClean="0"/>
              <a:t>22/06/2025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48AD-C2EB-4F9E-9749-FB972FD3AD9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629779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9EC5B-5917-49FB-8215-011EE52C823E}" type="datetimeFigureOut">
              <a:rPr lang="es-PE" smtClean="0"/>
              <a:t>22/06/2025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48AD-C2EB-4F9E-9749-FB972FD3AD9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131983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9EC5B-5917-49FB-8215-011EE52C823E}" type="datetimeFigureOut">
              <a:rPr lang="es-PE" smtClean="0"/>
              <a:t>22/06/2025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48AD-C2EB-4F9E-9749-FB972FD3AD9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120617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9EC5B-5917-49FB-8215-011EE52C823E}" type="datetimeFigureOut">
              <a:rPr lang="es-PE" smtClean="0"/>
              <a:t>22/06/2025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48AD-C2EB-4F9E-9749-FB972FD3AD9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399209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9EC5B-5917-49FB-8215-011EE52C823E}" type="datetimeFigureOut">
              <a:rPr lang="es-PE" smtClean="0"/>
              <a:t>22/06/2025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48AD-C2EB-4F9E-9749-FB972FD3AD9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835666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9EC5B-5917-49FB-8215-011EE52C823E}" type="datetimeFigureOut">
              <a:rPr lang="es-PE" smtClean="0"/>
              <a:t>22/06/2025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48AD-C2EB-4F9E-9749-FB972FD3AD9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45475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88" y="333375"/>
            <a:ext cx="9144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4"/>
          <a:srcRect t="1094" r="8122" b="13318"/>
          <a:stretch>
            <a:fillRect/>
          </a:stretch>
        </p:blipFill>
        <p:spPr>
          <a:xfrm>
            <a:off x="5797550" y="4438650"/>
            <a:ext cx="3340100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9" name="Rectangle 5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360A74E-52B7-485E-96FA-9986FF25D73A}" type="slidenum">
              <a:rPr lang="en-US"/>
              <a:t>‹Nº›</a:t>
            </a:fld>
            <a:r>
              <a:rPr lang="en-US"/>
              <a:t> of 35</a:t>
            </a:r>
          </a:p>
        </p:txBody>
      </p:sp>
      <p:grpSp>
        <p:nvGrpSpPr>
          <p:cNvPr id="1073" name="Group 49"/>
          <p:cNvGrpSpPr/>
          <p:nvPr userDrawn="1"/>
        </p:nvGrpSpPr>
        <p:grpSpPr bwMode="auto">
          <a:xfrm>
            <a:off x="0" y="0"/>
            <a:ext cx="9144000" cy="762000"/>
            <a:chOff x="0" y="336"/>
            <a:chExt cx="5760" cy="480"/>
          </a:xfrm>
        </p:grpSpPr>
        <p:sp>
          <p:nvSpPr>
            <p:cNvPr id="1071" name="Rectangle 47"/>
            <p:cNvSpPr>
              <a:spLocks noChangeArrowheads="1"/>
            </p:cNvSpPr>
            <p:nvPr userDrawn="1"/>
          </p:nvSpPr>
          <p:spPr bwMode="auto">
            <a:xfrm>
              <a:off x="336" y="528"/>
              <a:ext cx="5424" cy="288"/>
            </a:xfrm>
            <a:prstGeom prst="rect">
              <a:avLst/>
            </a:prstGeom>
            <a:gradFill rotWithShape="1">
              <a:gsLst>
                <a:gs pos="0">
                  <a:srgbClr val="D7B973"/>
                </a:gs>
                <a:gs pos="100000">
                  <a:srgbClr val="F7F2E7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de-DE" sz="1800">
                <a:latin typeface="Arial" panose="020B0604020202020204" pitchFamily="34" charset="0"/>
              </a:endParaRPr>
            </a:p>
          </p:txBody>
        </p:sp>
        <p:sp>
          <p:nvSpPr>
            <p:cNvPr id="1072" name="Rectangle 48"/>
            <p:cNvSpPr>
              <a:spLocks noChangeArrowheads="1"/>
            </p:cNvSpPr>
            <p:nvPr userDrawn="1"/>
          </p:nvSpPr>
          <p:spPr bwMode="auto">
            <a:xfrm>
              <a:off x="0" y="336"/>
              <a:ext cx="5760" cy="288"/>
            </a:xfrm>
            <a:prstGeom prst="rect">
              <a:avLst/>
            </a:prstGeom>
            <a:gradFill rotWithShape="1">
              <a:gsLst>
                <a:gs pos="0">
                  <a:srgbClr val="D7B973"/>
                </a:gs>
                <a:gs pos="100000">
                  <a:srgbClr val="F7F2E7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de-DE" sz="1800">
                <a:latin typeface="Arial" panose="020B0604020202020204" pitchFamily="34" charset="0"/>
              </a:endParaRPr>
            </a:p>
          </p:txBody>
        </p:sp>
      </p:grpSp>
      <p:sp>
        <p:nvSpPr>
          <p:cNvPr id="1065" name="Text Box 41"/>
          <p:cNvSpPr txBox="1">
            <a:spLocks noChangeArrowheads="1"/>
          </p:cNvSpPr>
          <p:nvPr userDrawn="1"/>
        </p:nvSpPr>
        <p:spPr bwMode="auto">
          <a:xfrm rot="10800000">
            <a:off x="-53876" y="0"/>
            <a:ext cx="307777" cy="6858000"/>
          </a:xfrm>
          <a:prstGeom prst="rect">
            <a:avLst/>
          </a:prstGeom>
          <a:solidFill>
            <a:srgbClr val="008080"/>
          </a:solidFill>
          <a:ln w="9525" algn="ctr">
            <a:noFill/>
            <a:miter lim="800000"/>
          </a:ln>
          <a:effectLst/>
        </p:spPr>
        <p:txBody>
          <a:bodyPr vert="eaVert" lIns="45720" tIns="91440" rIns="45720" bIns="91440" anchor="ctr">
            <a:spAutoFit/>
          </a:bodyPr>
          <a:lstStyle/>
          <a:p>
            <a:pPr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400" dirty="0">
                <a:solidFill>
                  <a:srgbClr val="DDDDDD"/>
                </a:solidFill>
                <a:latin typeface="Arial" panose="020B0604020202020204" pitchFamily="34" charset="0"/>
              </a:rPr>
              <a:t>Cap : Mercado </a:t>
            </a:r>
            <a:r>
              <a:rPr lang="en-US" sz="1400" dirty="0" err="1">
                <a:solidFill>
                  <a:srgbClr val="DDDDDD"/>
                </a:solidFill>
                <a:latin typeface="Arial" panose="020B0604020202020204" pitchFamily="34" charset="0"/>
              </a:rPr>
              <a:t>Laboral</a:t>
            </a:r>
            <a:endParaRPr lang="en-US" sz="1400" dirty="0">
              <a:solidFill>
                <a:srgbClr val="DDDDDD"/>
              </a:solidFill>
              <a:latin typeface="Arial" panose="020B0604020202020204" pitchFamily="34" charset="0"/>
            </a:endParaRPr>
          </a:p>
        </p:txBody>
      </p:sp>
      <p:sp>
        <p:nvSpPr>
          <p:cNvPr id="1074" name="Line 50"/>
          <p:cNvSpPr>
            <a:spLocks noChangeShapeType="1"/>
          </p:cNvSpPr>
          <p:nvPr userDrawn="1"/>
        </p:nvSpPr>
        <p:spPr bwMode="auto">
          <a:xfrm flipV="1">
            <a:off x="228600" y="0"/>
            <a:ext cx="0" cy="6858000"/>
          </a:xfrm>
          <a:prstGeom prst="line">
            <a:avLst/>
          </a:prstGeom>
          <a:noFill/>
          <a:ln w="28575">
            <a:solidFill>
              <a:srgbClr val="C40075"/>
            </a:solidFill>
            <a:rou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075" name="Line 51"/>
          <p:cNvSpPr>
            <a:spLocks noChangeShapeType="1"/>
          </p:cNvSpPr>
          <p:nvPr userDrawn="1"/>
        </p:nvSpPr>
        <p:spPr bwMode="auto">
          <a:xfrm>
            <a:off x="1371600" y="762000"/>
            <a:ext cx="7772400" cy="0"/>
          </a:xfrm>
          <a:prstGeom prst="line">
            <a:avLst/>
          </a:prstGeom>
          <a:noFill/>
          <a:ln w="3175">
            <a:solidFill>
              <a:srgbClr val="C40075"/>
            </a:solidFill>
            <a:round/>
          </a:ln>
          <a:effectLst/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9EC5B-5917-49FB-8215-011EE52C823E}" type="datetimeFigureOut">
              <a:rPr lang="es-PE" smtClean="0"/>
              <a:t>22/06/2025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548AD-C2EB-4F9E-9749-FB972FD3AD9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7940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9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4" Type="http://schemas.openxmlformats.org/officeDocument/2006/relationships/image" Target="../media/image1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sz="4400" b="1" dirty="0"/>
              <a:t>Mercado Laboral</a:t>
            </a:r>
          </a:p>
        </p:txBody>
      </p:sp>
      <p:sp>
        <p:nvSpPr>
          <p:cNvPr id="3" name="Título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5925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en-US" sz="2800" b="1" dirty="0" err="1"/>
              <a:t>Determinación</a:t>
            </a:r>
            <a:r>
              <a:rPr lang="en-US" sz="2800" b="1" dirty="0"/>
              <a:t> </a:t>
            </a:r>
          </a:p>
          <a:p>
            <a:pPr algn="r"/>
            <a:r>
              <a:rPr lang="en-US" sz="2800" b="1" dirty="0"/>
              <a:t>de </a:t>
            </a:r>
            <a:r>
              <a:rPr lang="en-US" sz="2800" b="1" dirty="0" err="1"/>
              <a:t>los</a:t>
            </a:r>
            <a:r>
              <a:rPr lang="en-US" sz="2800" b="1" dirty="0"/>
              <a:t> </a:t>
            </a:r>
            <a:r>
              <a:rPr lang="en-US" sz="2800" b="1" dirty="0" err="1"/>
              <a:t>Salarios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802006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938"/>
            <a:ext cx="8229600" cy="411162"/>
          </a:xfrm>
          <a:noFill/>
        </p:spPr>
        <p:txBody>
          <a:bodyPr/>
          <a:lstStyle/>
          <a:p>
            <a:pPr marL="739775" indent="-739775"/>
            <a:r>
              <a:rPr lang="en-US" sz="3200" dirty="0"/>
              <a:t>2.  </a:t>
            </a:r>
            <a:r>
              <a:rPr lang="en-US" sz="3200" dirty="0" err="1"/>
              <a:t>Determinación</a:t>
            </a:r>
            <a:r>
              <a:rPr lang="en-US" sz="3200" dirty="0"/>
              <a:t> de </a:t>
            </a:r>
            <a:r>
              <a:rPr lang="en-US" sz="3200" dirty="0" err="1"/>
              <a:t>los</a:t>
            </a:r>
            <a:r>
              <a:rPr lang="en-US" sz="3200" dirty="0"/>
              <a:t> </a:t>
            </a:r>
            <a:r>
              <a:rPr lang="en-US" sz="3200" dirty="0" err="1"/>
              <a:t>Salarios</a:t>
            </a:r>
            <a:endParaRPr lang="en-US" sz="3200" dirty="0"/>
          </a:p>
        </p:txBody>
      </p:sp>
      <p:sp>
        <p:nvSpPr>
          <p:cNvPr id="449542" name="Rectangle 6"/>
          <p:cNvSpPr>
            <a:spLocks noChangeArrowheads="1"/>
          </p:cNvSpPr>
          <p:nvPr/>
        </p:nvSpPr>
        <p:spPr bwMode="auto"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Salarios</a:t>
            </a:r>
            <a:r>
              <a:rPr lang="en-US" sz="2400" b="1" dirty="0">
                <a:solidFill>
                  <a:srgbClr val="008080"/>
                </a:solidFill>
                <a:latin typeface="Arial" panose="020B0604020202020204" pitchFamily="34" charset="0"/>
              </a:rPr>
              <a:t>, </a:t>
            </a: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Precios</a:t>
            </a:r>
            <a:r>
              <a:rPr lang="en-US" sz="2400" b="1" dirty="0">
                <a:solidFill>
                  <a:srgbClr val="008080"/>
                </a:solidFill>
                <a:latin typeface="Arial" panose="020B0604020202020204" pitchFamily="34" charset="0"/>
              </a:rPr>
              <a:t> y </a:t>
            </a: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Desempleo</a:t>
            </a:r>
            <a:endParaRPr lang="en-US" sz="2400" b="1" dirty="0">
              <a:solidFill>
                <a:srgbClr val="008080"/>
              </a:solidFill>
              <a:latin typeface="Arial" panose="020B0604020202020204" pitchFamily="34" charset="0"/>
            </a:endParaRPr>
          </a:p>
        </p:txBody>
      </p:sp>
      <p:sp>
        <p:nvSpPr>
          <p:cNvPr id="449543" name="Text Box 7"/>
          <p:cNvSpPr txBox="1">
            <a:spLocks noChangeArrowheads="1"/>
          </p:cNvSpPr>
          <p:nvPr/>
        </p:nvSpPr>
        <p:spPr bwMode="auto">
          <a:xfrm>
            <a:off x="762000" y="2525713"/>
            <a:ext cx="7467600" cy="331270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defTabSz="464820">
              <a:lnSpc>
                <a:spcPct val="150000"/>
              </a:lnSpc>
              <a:spcBef>
                <a:spcPct val="50000"/>
              </a:spcBef>
            </a:pPr>
            <a:r>
              <a:rPr lang="en-US" u="sng" dirty="0" err="1">
                <a:latin typeface="Arial" panose="020B0604020202020204" pitchFamily="34" charset="0"/>
              </a:rPr>
              <a:t>Ecuación</a:t>
            </a:r>
            <a:r>
              <a:rPr lang="en-US" u="sng" dirty="0">
                <a:latin typeface="Arial" panose="020B0604020202020204" pitchFamily="34" charset="0"/>
              </a:rPr>
              <a:t> del </a:t>
            </a:r>
            <a:r>
              <a:rPr lang="en-US" u="sng" dirty="0" err="1">
                <a:latin typeface="Arial" panose="020B0604020202020204" pitchFamily="34" charset="0"/>
              </a:rPr>
              <a:t>salario</a:t>
            </a:r>
            <a:r>
              <a:rPr lang="en-US" dirty="0">
                <a:latin typeface="Arial" panose="020B0604020202020204" pitchFamily="34" charset="0"/>
              </a:rPr>
              <a:t>:</a:t>
            </a:r>
          </a:p>
          <a:p>
            <a:pPr defTabSz="464820">
              <a:lnSpc>
                <a:spcPct val="150000"/>
              </a:lnSpc>
              <a:spcBef>
                <a:spcPct val="50000"/>
              </a:spcBef>
            </a:pPr>
            <a:r>
              <a:rPr lang="en-US" dirty="0">
                <a:latin typeface="Arial" panose="020B0604020202020204" pitchFamily="34" charset="0"/>
              </a:rPr>
              <a:t>El </a:t>
            </a:r>
            <a:r>
              <a:rPr lang="en-US" dirty="0" err="1">
                <a:latin typeface="Arial" panose="020B0604020202020204" pitchFamily="34" charset="0"/>
              </a:rPr>
              <a:t>salario</a:t>
            </a:r>
            <a:r>
              <a:rPr lang="en-US" dirty="0">
                <a:latin typeface="Arial" panose="020B0604020202020204" pitchFamily="34" charset="0"/>
              </a:rPr>
              <a:t> nominal </a:t>
            </a:r>
            <a:r>
              <a:rPr lang="en-US" dirty="0" err="1">
                <a:latin typeface="Arial" panose="020B0604020202020204" pitchFamily="34" charset="0"/>
              </a:rPr>
              <a:t>agregado</a:t>
            </a:r>
            <a:r>
              <a:rPr lang="en-US" dirty="0">
                <a:latin typeface="Arial" panose="020B0604020202020204" pitchFamily="34" charset="0"/>
              </a:rPr>
              <a:t>, W , </a:t>
            </a:r>
            <a:r>
              <a:rPr lang="en-US" dirty="0" err="1">
                <a:latin typeface="Arial" panose="020B0604020202020204" pitchFamily="34" charset="0"/>
              </a:rPr>
              <a:t>depende</a:t>
            </a:r>
            <a:r>
              <a:rPr lang="en-US" dirty="0">
                <a:latin typeface="Arial" panose="020B0604020202020204" pitchFamily="34" charset="0"/>
              </a:rPr>
              <a:t> de 3 </a:t>
            </a:r>
            <a:r>
              <a:rPr lang="en-US" dirty="0" err="1">
                <a:latin typeface="Arial" panose="020B0604020202020204" pitchFamily="34" charset="0"/>
              </a:rPr>
              <a:t>factores</a:t>
            </a:r>
            <a:r>
              <a:rPr lang="en-US" dirty="0">
                <a:latin typeface="Arial" panose="020B0604020202020204" pitchFamily="34" charset="0"/>
              </a:rPr>
              <a:t>:</a:t>
            </a:r>
          </a:p>
          <a:p>
            <a:pPr marL="342900" indent="-342900" defTabSz="464820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</a:rPr>
              <a:t>El </a:t>
            </a:r>
            <a:r>
              <a:rPr lang="en-US" sz="1800" dirty="0" err="1">
                <a:latin typeface="Arial" panose="020B0604020202020204" pitchFamily="34" charset="0"/>
              </a:rPr>
              <a:t>nivel</a:t>
            </a:r>
            <a:r>
              <a:rPr lang="en-US" sz="1800" dirty="0">
                <a:latin typeface="Arial" panose="020B0604020202020204" pitchFamily="34" charset="0"/>
              </a:rPr>
              <a:t> de </a:t>
            </a:r>
            <a:r>
              <a:rPr lang="en-US" sz="1800" dirty="0" err="1">
                <a:latin typeface="Arial" panose="020B0604020202020204" pitchFamily="34" charset="0"/>
              </a:rPr>
              <a:t>precios</a:t>
            </a:r>
            <a:r>
              <a:rPr lang="en-US" sz="1800" dirty="0">
                <a:latin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</a:rPr>
              <a:t>esperado</a:t>
            </a:r>
            <a:r>
              <a:rPr lang="en-US" sz="1800" dirty="0">
                <a:latin typeface="Arial" panose="020B0604020202020204" pitchFamily="34" charset="0"/>
              </a:rPr>
              <a:t>,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80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1800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464820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</a:rPr>
              <a:t>La </a:t>
            </a:r>
            <a:r>
              <a:rPr lang="en-US" sz="1800" dirty="0" err="1">
                <a:latin typeface="Arial" panose="020B0604020202020204" pitchFamily="34" charset="0"/>
              </a:rPr>
              <a:t>tasa</a:t>
            </a:r>
            <a:r>
              <a:rPr lang="en-US" sz="1800" dirty="0">
                <a:latin typeface="Arial" panose="020B0604020202020204" pitchFamily="34" charset="0"/>
              </a:rPr>
              <a:t> de </a:t>
            </a:r>
            <a:r>
              <a:rPr lang="en-US" sz="1800" dirty="0" err="1">
                <a:latin typeface="Arial" panose="020B0604020202020204" pitchFamily="34" charset="0"/>
              </a:rPr>
              <a:t>desempleo</a:t>
            </a:r>
            <a:r>
              <a:rPr lang="en-US" sz="1800" dirty="0">
                <a:latin typeface="Arial" panose="020B0604020202020204" pitchFamily="34" charset="0"/>
              </a:rPr>
              <a:t>,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  <a:p>
            <a:pPr marL="342900" indent="-342900" defTabSz="464820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</a:rPr>
              <a:t>Una variable residual,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800" i="1" dirty="0">
                <a:latin typeface="Arial" panose="020B0604020202020204" pitchFamily="34" charset="0"/>
              </a:rPr>
              <a:t>, </a:t>
            </a:r>
            <a:r>
              <a:rPr lang="en-US" sz="1800" dirty="0">
                <a:latin typeface="Arial" panose="020B0604020202020204" pitchFamily="34" charset="0"/>
              </a:rPr>
              <a:t>que </a:t>
            </a:r>
            <a:r>
              <a:rPr lang="en-US" sz="1800" dirty="0" err="1">
                <a:latin typeface="Arial" panose="020B0604020202020204" pitchFamily="34" charset="0"/>
              </a:rPr>
              <a:t>recoge</a:t>
            </a:r>
            <a:r>
              <a:rPr lang="en-US" sz="1800" dirty="0">
                <a:latin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</a:rPr>
              <a:t>todas</a:t>
            </a:r>
            <a:r>
              <a:rPr lang="en-US" sz="1800" dirty="0">
                <a:latin typeface="Arial" panose="020B0604020202020204" pitchFamily="34" charset="0"/>
              </a:rPr>
              <a:t> las </a:t>
            </a:r>
            <a:r>
              <a:rPr lang="en-US" sz="1800" dirty="0" err="1">
                <a:latin typeface="Arial" panose="020B0604020202020204" pitchFamily="34" charset="0"/>
              </a:rPr>
              <a:t>otras</a:t>
            </a:r>
            <a:r>
              <a:rPr lang="en-US" sz="1800" dirty="0">
                <a:latin typeface="Arial" panose="020B0604020202020204" pitchFamily="34" charset="0"/>
              </a:rPr>
              <a:t> variables que </a:t>
            </a:r>
            <a:r>
              <a:rPr lang="en-US" sz="1800" dirty="0" err="1">
                <a:latin typeface="Arial" panose="020B0604020202020204" pitchFamily="34" charset="0"/>
              </a:rPr>
              <a:t>pueden</a:t>
            </a:r>
            <a:r>
              <a:rPr lang="en-US" sz="1800" dirty="0">
                <a:latin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</a:rPr>
              <a:t>influir</a:t>
            </a:r>
            <a:r>
              <a:rPr lang="en-US" sz="1800" dirty="0">
                <a:latin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</a:rPr>
              <a:t>en</a:t>
            </a:r>
            <a:r>
              <a:rPr lang="en-US" sz="1800" dirty="0">
                <a:latin typeface="Arial" panose="020B0604020202020204" pitchFamily="34" charset="0"/>
              </a:rPr>
              <a:t> la </a:t>
            </a:r>
            <a:r>
              <a:rPr lang="en-US" sz="1800" dirty="0" err="1">
                <a:latin typeface="Arial" panose="020B0604020202020204" pitchFamily="34" charset="0"/>
              </a:rPr>
              <a:t>determinación</a:t>
            </a:r>
            <a:r>
              <a:rPr lang="en-US" sz="1800" dirty="0">
                <a:latin typeface="Arial" panose="020B0604020202020204" pitchFamily="34" charset="0"/>
              </a:rPr>
              <a:t> del </a:t>
            </a:r>
            <a:r>
              <a:rPr lang="en-US" sz="1800" dirty="0" err="1">
                <a:latin typeface="Arial" panose="020B0604020202020204" pitchFamily="34" charset="0"/>
              </a:rPr>
              <a:t>salario</a:t>
            </a:r>
            <a:r>
              <a:rPr lang="en-US" sz="1800" dirty="0">
                <a:latin typeface="Arial" panose="020B0604020202020204" pitchFamily="34" charset="0"/>
              </a:rPr>
              <a:t>.</a:t>
            </a:r>
          </a:p>
        </p:txBody>
      </p:sp>
      <p:grpSp>
        <p:nvGrpSpPr>
          <p:cNvPr id="449544" name="Group 8"/>
          <p:cNvGrpSpPr/>
          <p:nvPr/>
        </p:nvGrpSpPr>
        <p:grpSpPr bwMode="auto">
          <a:xfrm>
            <a:off x="3276600" y="1752600"/>
            <a:ext cx="2127250" cy="773113"/>
            <a:chOff x="2317" y="1104"/>
            <a:chExt cx="1340" cy="487"/>
          </a:xfrm>
        </p:grpSpPr>
        <p:graphicFrame>
          <p:nvGraphicFramePr>
            <p:cNvPr id="449545" name="Object 9"/>
            <p:cNvGraphicFramePr>
              <a:graphicFrameLocks noChangeAspect="1"/>
            </p:cNvGraphicFramePr>
            <p:nvPr/>
          </p:nvGraphicFramePr>
          <p:xfrm>
            <a:off x="2317" y="1104"/>
            <a:ext cx="1340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939800" imgH="228600" progId="Equation.COEE2">
                    <p:embed/>
                  </p:oleObj>
                </mc:Choice>
                <mc:Fallback>
                  <p:oleObj name="Equation" r:id="rId3" imgW="939800" imgH="228600" progId="Equation.COEE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7" y="1104"/>
                          <a:ext cx="1340" cy="3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9546" name="Object 10"/>
            <p:cNvGraphicFramePr>
              <a:graphicFrameLocks noChangeAspect="1"/>
            </p:cNvGraphicFramePr>
            <p:nvPr/>
          </p:nvGraphicFramePr>
          <p:xfrm>
            <a:off x="3216" y="1392"/>
            <a:ext cx="384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68300" imgH="190500" progId="Equation.COEE2">
                    <p:embed/>
                  </p:oleObj>
                </mc:Choice>
                <mc:Fallback>
                  <p:oleObj name="Equation" r:id="rId5" imgW="368300" imgH="190500" progId="Equation.COEE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1392"/>
                          <a:ext cx="384" cy="1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5121412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91067" y="101600"/>
            <a:ext cx="8229600" cy="563562"/>
          </a:xfrm>
          <a:noFill/>
        </p:spPr>
        <p:txBody>
          <a:bodyPr/>
          <a:lstStyle/>
          <a:p>
            <a:pPr marL="739775" indent="-739775"/>
            <a:r>
              <a:rPr lang="en-US" sz="3200" dirty="0"/>
              <a:t>2.  </a:t>
            </a:r>
            <a:r>
              <a:rPr lang="en-US" sz="3200" dirty="0" err="1"/>
              <a:t>Determinación</a:t>
            </a:r>
            <a:r>
              <a:rPr lang="en-US" sz="3200" dirty="0"/>
              <a:t> de </a:t>
            </a:r>
            <a:r>
              <a:rPr lang="en-US" sz="3200" dirty="0" err="1"/>
              <a:t>los</a:t>
            </a:r>
            <a:r>
              <a:rPr lang="en-US" sz="3200" dirty="0"/>
              <a:t> </a:t>
            </a:r>
            <a:r>
              <a:rPr lang="en-US" sz="3200" dirty="0" err="1"/>
              <a:t>Salarios</a:t>
            </a:r>
            <a:endParaRPr lang="en-US" sz="3200" dirty="0"/>
          </a:p>
        </p:txBody>
      </p:sp>
      <p:sp>
        <p:nvSpPr>
          <p:cNvPr id="451589" name="Rectangle 5"/>
          <p:cNvSpPr>
            <a:spLocks noChangeArrowheads="1"/>
          </p:cNvSpPr>
          <p:nvPr/>
        </p:nvSpPr>
        <p:spPr bwMode="auto">
          <a:xfrm>
            <a:off x="512838" y="1094370"/>
            <a:ext cx="8229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Salarios</a:t>
            </a:r>
            <a:r>
              <a:rPr lang="en-US" sz="2400" b="1" dirty="0">
                <a:solidFill>
                  <a:srgbClr val="008080"/>
                </a:solidFill>
                <a:latin typeface="Arial" panose="020B0604020202020204" pitchFamily="34" charset="0"/>
              </a:rPr>
              <a:t>, </a:t>
            </a: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Precios</a:t>
            </a:r>
            <a:r>
              <a:rPr lang="en-US" sz="2400" b="1" dirty="0">
                <a:solidFill>
                  <a:srgbClr val="008080"/>
                </a:solidFill>
                <a:latin typeface="Arial" panose="020B0604020202020204" pitchFamily="34" charset="0"/>
              </a:rPr>
              <a:t> y </a:t>
            </a: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Desempleo</a:t>
            </a:r>
            <a:endParaRPr lang="en-US" sz="2400" b="1" dirty="0">
              <a:solidFill>
                <a:srgbClr val="008080"/>
              </a:solidFill>
              <a:latin typeface="Arial" panose="020B0604020202020204" pitchFamily="34" charset="0"/>
            </a:endParaRPr>
          </a:p>
        </p:txBody>
      </p:sp>
      <p:sp>
        <p:nvSpPr>
          <p:cNvPr id="451590" name="Text Box 6"/>
          <p:cNvSpPr txBox="1">
            <a:spLocks noChangeArrowheads="1"/>
          </p:cNvSpPr>
          <p:nvPr/>
        </p:nvSpPr>
        <p:spPr bwMode="auto">
          <a:xfrm>
            <a:off x="548951" y="2286000"/>
            <a:ext cx="8229600" cy="384720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 defTabSz="464820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dirty="0" err="1">
                <a:latin typeface="Arial" panose="020B0604020202020204" pitchFamily="34" charset="0"/>
              </a:rPr>
              <a:t>Tanto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trabajadores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como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empresas</a:t>
            </a:r>
            <a:r>
              <a:rPr lang="en-US" dirty="0">
                <a:latin typeface="Arial" panose="020B0604020202020204" pitchFamily="34" charset="0"/>
              </a:rPr>
              <a:t> se </a:t>
            </a:r>
            <a:r>
              <a:rPr lang="en-US" dirty="0" err="1">
                <a:latin typeface="Arial" panose="020B0604020202020204" pitchFamily="34" charset="0"/>
              </a:rPr>
              <a:t>preocupan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por</a:t>
            </a:r>
            <a:r>
              <a:rPr lang="en-US" dirty="0">
                <a:latin typeface="Arial" panose="020B0604020202020204" pitchFamily="34" charset="0"/>
              </a:rPr>
              <a:t> el </a:t>
            </a:r>
            <a:r>
              <a:rPr lang="en-US" b="1" u="sng" dirty="0" err="1">
                <a:latin typeface="Arial" panose="020B0604020202020204" pitchFamily="34" charset="0"/>
              </a:rPr>
              <a:t>salario</a:t>
            </a:r>
            <a:r>
              <a:rPr lang="en-US" b="1" u="sng" dirty="0">
                <a:latin typeface="Arial" panose="020B0604020202020204" pitchFamily="34" charset="0"/>
              </a:rPr>
              <a:t> real </a:t>
            </a:r>
            <a:r>
              <a:rPr lang="en-US" i="1" dirty="0">
                <a:latin typeface="Arial" panose="020B0604020202020204" pitchFamily="34" charset="0"/>
              </a:rPr>
              <a:t>(W/P),</a:t>
            </a:r>
            <a:r>
              <a:rPr lang="en-US" dirty="0">
                <a:latin typeface="Arial" panose="020B0604020202020204" pitchFamily="34" charset="0"/>
              </a:rPr>
              <a:t> no el </a:t>
            </a:r>
            <a:r>
              <a:rPr lang="en-US" dirty="0" err="1">
                <a:latin typeface="Arial" panose="020B0604020202020204" pitchFamily="34" charset="0"/>
              </a:rPr>
              <a:t>salario</a:t>
            </a:r>
            <a:r>
              <a:rPr lang="en-US" dirty="0">
                <a:latin typeface="Arial" panose="020B0604020202020204" pitchFamily="34" charset="0"/>
              </a:rPr>
              <a:t> nominal </a:t>
            </a:r>
            <a:r>
              <a:rPr lang="en-US" i="1" dirty="0">
                <a:latin typeface="Arial" panose="020B0604020202020204" pitchFamily="34" charset="0"/>
              </a:rPr>
              <a:t>(W).</a:t>
            </a:r>
          </a:p>
          <a:p>
            <a:pPr marL="342900" indent="-342900" algn="just" defTabSz="464820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</a:rPr>
              <a:t>Los </a:t>
            </a:r>
            <a:r>
              <a:rPr lang="en-US" u="sng" dirty="0" err="1">
                <a:latin typeface="Arial" panose="020B0604020202020204" pitchFamily="34" charset="0"/>
              </a:rPr>
              <a:t>trabajadores</a:t>
            </a:r>
            <a:r>
              <a:rPr lang="en-US" dirty="0">
                <a:latin typeface="Arial" panose="020B0604020202020204" pitchFamily="34" charset="0"/>
              </a:rPr>
              <a:t> no se </a:t>
            </a:r>
            <a:r>
              <a:rPr lang="en-US" dirty="0" err="1">
                <a:latin typeface="Arial" panose="020B0604020202020204" pitchFamily="34" charset="0"/>
              </a:rPr>
              <a:t>preocupan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por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cuantos</a:t>
            </a:r>
            <a:r>
              <a:rPr lang="en-US" dirty="0">
                <a:latin typeface="Arial" panose="020B0604020202020204" pitchFamily="34" charset="0"/>
              </a:rPr>
              <a:t> Soles </a:t>
            </a:r>
            <a:r>
              <a:rPr lang="en-US" dirty="0" err="1">
                <a:latin typeface="Arial" panose="020B0604020202020204" pitchFamily="34" charset="0"/>
              </a:rPr>
              <a:t>reciben</a:t>
            </a:r>
            <a:r>
              <a:rPr lang="en-US" dirty="0">
                <a:latin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</a:rPr>
              <a:t>sino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por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u="sng" dirty="0" err="1">
                <a:latin typeface="Arial" panose="020B0604020202020204" pitchFamily="34" charset="0"/>
              </a:rPr>
              <a:t>cuantos</a:t>
            </a:r>
            <a:r>
              <a:rPr lang="en-US" u="sng" dirty="0">
                <a:latin typeface="Arial" panose="020B0604020202020204" pitchFamily="34" charset="0"/>
              </a:rPr>
              <a:t> </a:t>
            </a:r>
            <a:r>
              <a:rPr lang="en-US" u="sng" dirty="0" err="1">
                <a:latin typeface="Arial" panose="020B0604020202020204" pitchFamily="34" charset="0"/>
              </a:rPr>
              <a:t>bienes</a:t>
            </a:r>
            <a:r>
              <a:rPr lang="en-US" u="sng" dirty="0">
                <a:latin typeface="Arial" panose="020B0604020202020204" pitchFamily="34" charset="0"/>
              </a:rPr>
              <a:t> y </a:t>
            </a:r>
            <a:r>
              <a:rPr lang="en-US" u="sng" dirty="0" err="1">
                <a:latin typeface="Arial" panose="020B0604020202020204" pitchFamily="34" charset="0"/>
              </a:rPr>
              <a:t>servicios</a:t>
            </a:r>
            <a:r>
              <a:rPr lang="en-US" u="sng" dirty="0">
                <a:latin typeface="Arial" panose="020B0604020202020204" pitchFamily="34" charset="0"/>
              </a:rPr>
              <a:t> </a:t>
            </a:r>
            <a:r>
              <a:rPr lang="en-US" u="sng" dirty="0" err="1">
                <a:latin typeface="Arial" panose="020B0604020202020204" pitchFamily="34" charset="0"/>
              </a:rPr>
              <a:t>pueden</a:t>
            </a:r>
            <a:r>
              <a:rPr lang="en-US" u="sng" dirty="0">
                <a:latin typeface="Arial" panose="020B0604020202020204" pitchFamily="34" charset="0"/>
              </a:rPr>
              <a:t> </a:t>
            </a:r>
            <a:r>
              <a:rPr lang="en-US" u="sng" dirty="0" err="1">
                <a:latin typeface="Arial" panose="020B0604020202020204" pitchFamily="34" charset="0"/>
              </a:rPr>
              <a:t>comprar</a:t>
            </a:r>
            <a:r>
              <a:rPr lang="en-US" u="sng" dirty="0">
                <a:latin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</a:rPr>
              <a:t>con </a:t>
            </a:r>
            <a:r>
              <a:rPr lang="en-US" dirty="0" err="1">
                <a:latin typeface="Arial" panose="020B0604020202020204" pitchFamily="34" charset="0"/>
              </a:rPr>
              <a:t>dichos</a:t>
            </a:r>
            <a:r>
              <a:rPr lang="en-US" dirty="0">
                <a:latin typeface="Arial" panose="020B0604020202020204" pitchFamily="34" charset="0"/>
              </a:rPr>
              <a:t> Soles: se </a:t>
            </a:r>
            <a:r>
              <a:rPr lang="en-US" dirty="0" err="1">
                <a:latin typeface="Arial" panose="020B0604020202020204" pitchFamily="34" charset="0"/>
              </a:rPr>
              <a:t>preocupan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por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i="1" dirty="0">
                <a:latin typeface="Arial" panose="020B0604020202020204" pitchFamily="34" charset="0"/>
              </a:rPr>
              <a:t>W/P.</a:t>
            </a:r>
          </a:p>
          <a:p>
            <a:pPr marL="342900" indent="-342900" algn="just" defTabSz="464820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</a:rPr>
              <a:t>Las </a:t>
            </a:r>
            <a:r>
              <a:rPr lang="en-US" u="sng" dirty="0" err="1">
                <a:latin typeface="Arial" panose="020B0604020202020204" pitchFamily="34" charset="0"/>
              </a:rPr>
              <a:t>empresas</a:t>
            </a:r>
            <a:r>
              <a:rPr lang="en-US" dirty="0">
                <a:latin typeface="Arial" panose="020B0604020202020204" pitchFamily="34" charset="0"/>
              </a:rPr>
              <a:t> no se </a:t>
            </a:r>
            <a:r>
              <a:rPr lang="en-US" dirty="0" err="1">
                <a:latin typeface="Arial" panose="020B0604020202020204" pitchFamily="34" charset="0"/>
              </a:rPr>
              <a:t>preocupan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en</a:t>
            </a:r>
            <a:r>
              <a:rPr lang="en-US" dirty="0">
                <a:latin typeface="Arial" panose="020B0604020202020204" pitchFamily="34" charset="0"/>
              </a:rPr>
              <a:t> el </a:t>
            </a:r>
            <a:r>
              <a:rPr lang="en-US" dirty="0" err="1">
                <a:latin typeface="Arial" panose="020B0604020202020204" pitchFamily="34" charset="0"/>
              </a:rPr>
              <a:t>salario</a:t>
            </a:r>
            <a:r>
              <a:rPr lang="en-US" dirty="0">
                <a:latin typeface="Arial" panose="020B0604020202020204" pitchFamily="34" charset="0"/>
              </a:rPr>
              <a:t> nominal que pagan, </a:t>
            </a:r>
            <a:r>
              <a:rPr lang="en-US" dirty="0" err="1">
                <a:latin typeface="Arial" panose="020B0604020202020204" pitchFamily="34" charset="0"/>
              </a:rPr>
              <a:t>sino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en</a:t>
            </a:r>
            <a:r>
              <a:rPr lang="en-US" dirty="0">
                <a:latin typeface="Arial" panose="020B0604020202020204" pitchFamily="34" charset="0"/>
              </a:rPr>
              <a:t> el </a:t>
            </a:r>
            <a:r>
              <a:rPr lang="en-US" dirty="0" err="1">
                <a:latin typeface="Arial" panose="020B0604020202020204" pitchFamily="34" charset="0"/>
              </a:rPr>
              <a:t>salario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u="sng" dirty="0">
                <a:latin typeface="Arial" panose="020B0604020202020204" pitchFamily="34" charset="0"/>
              </a:rPr>
              <a:t>W que pagan </a:t>
            </a:r>
            <a:r>
              <a:rPr lang="en-US" u="sng" dirty="0" err="1">
                <a:latin typeface="Arial" panose="020B0604020202020204" pitchFamily="34" charset="0"/>
              </a:rPr>
              <a:t>relativo</a:t>
            </a:r>
            <a:r>
              <a:rPr lang="en-US" u="sng" dirty="0">
                <a:latin typeface="Arial" panose="020B0604020202020204" pitchFamily="34" charset="0"/>
              </a:rPr>
              <a:t> al </a:t>
            </a:r>
            <a:r>
              <a:rPr lang="en-US" u="sng" dirty="0" err="1">
                <a:latin typeface="Arial" panose="020B0604020202020204" pitchFamily="34" charset="0"/>
              </a:rPr>
              <a:t>precio</a:t>
            </a:r>
            <a:r>
              <a:rPr lang="en-US" u="sng" dirty="0">
                <a:latin typeface="Arial" panose="020B0604020202020204" pitchFamily="34" charset="0"/>
              </a:rPr>
              <a:t> de los </a:t>
            </a:r>
            <a:r>
              <a:rPr lang="en-US" u="sng" dirty="0" err="1">
                <a:latin typeface="Arial" panose="020B0604020202020204" pitchFamily="34" charset="0"/>
              </a:rPr>
              <a:t>bienes</a:t>
            </a:r>
            <a:r>
              <a:rPr lang="en-US" u="sng" dirty="0">
                <a:latin typeface="Arial" panose="020B0604020202020204" pitchFamily="34" charset="0"/>
              </a:rPr>
              <a:t> que </a:t>
            </a:r>
            <a:r>
              <a:rPr lang="en-US" u="sng" dirty="0" err="1">
                <a:latin typeface="Arial" panose="020B0604020202020204" pitchFamily="34" charset="0"/>
              </a:rPr>
              <a:t>ellas</a:t>
            </a:r>
            <a:r>
              <a:rPr lang="en-US" u="sng" dirty="0">
                <a:latin typeface="Arial" panose="020B0604020202020204" pitchFamily="34" charset="0"/>
              </a:rPr>
              <a:t> </a:t>
            </a:r>
            <a:r>
              <a:rPr lang="en-US" u="sng" dirty="0" err="1">
                <a:latin typeface="Arial" panose="020B0604020202020204" pitchFamily="34" charset="0"/>
              </a:rPr>
              <a:t>venden</a:t>
            </a:r>
            <a:r>
              <a:rPr lang="en-US" dirty="0">
                <a:latin typeface="Arial" panose="020B0604020202020204" pitchFamily="34" charset="0"/>
              </a:rPr>
              <a:t>. </a:t>
            </a:r>
            <a:r>
              <a:rPr lang="en-US" dirty="0" err="1">
                <a:latin typeface="Arial" panose="020B0604020202020204" pitchFamily="34" charset="0"/>
              </a:rPr>
              <a:t>Ellos</a:t>
            </a:r>
            <a:r>
              <a:rPr lang="en-US" dirty="0">
                <a:latin typeface="Arial" panose="020B0604020202020204" pitchFamily="34" charset="0"/>
              </a:rPr>
              <a:t> se </a:t>
            </a:r>
            <a:r>
              <a:rPr lang="en-US" dirty="0" err="1">
                <a:latin typeface="Arial" panose="020B0604020202020204" pitchFamily="34" charset="0"/>
              </a:rPr>
              <a:t>preocupan</a:t>
            </a:r>
            <a:r>
              <a:rPr lang="en-US" dirty="0">
                <a:latin typeface="Arial" panose="020B0604020202020204" pitchFamily="34" charset="0"/>
              </a:rPr>
              <a:t> por </a:t>
            </a:r>
            <a:r>
              <a:rPr lang="en-US" i="1" dirty="0">
                <a:latin typeface="Arial" panose="020B0604020202020204" pitchFamily="34" charset="0"/>
              </a:rPr>
              <a:t>W/P.</a:t>
            </a:r>
          </a:p>
        </p:txBody>
      </p:sp>
      <p:sp>
        <p:nvSpPr>
          <p:cNvPr id="451598" name="Rectangle 14"/>
          <p:cNvSpPr>
            <a:spLocks noChangeArrowheads="1"/>
          </p:cNvSpPr>
          <p:nvPr/>
        </p:nvSpPr>
        <p:spPr bwMode="auto">
          <a:xfrm>
            <a:off x="512838" y="1828800"/>
            <a:ext cx="7086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sz="2200" b="1" dirty="0">
                <a:solidFill>
                  <a:srgbClr val="C40075"/>
                </a:solidFill>
                <a:latin typeface="Arial" panose="020B0604020202020204" pitchFamily="34" charset="0"/>
              </a:rPr>
              <a:t>El </a:t>
            </a:r>
            <a:r>
              <a:rPr lang="en-US" sz="2200" b="1" dirty="0" err="1">
                <a:solidFill>
                  <a:srgbClr val="C40075"/>
                </a:solidFill>
                <a:latin typeface="Arial" panose="020B0604020202020204" pitchFamily="34" charset="0"/>
              </a:rPr>
              <a:t>nivel</a:t>
            </a:r>
            <a:r>
              <a:rPr lang="en-US" sz="2200" b="1" dirty="0">
                <a:solidFill>
                  <a:srgbClr val="C40075"/>
                </a:solidFill>
                <a:latin typeface="Arial" panose="020B0604020202020204" pitchFamily="34" charset="0"/>
              </a:rPr>
              <a:t> de </a:t>
            </a:r>
            <a:r>
              <a:rPr lang="en-US" sz="2200" b="1" dirty="0" err="1">
                <a:solidFill>
                  <a:srgbClr val="C40075"/>
                </a:solidFill>
                <a:latin typeface="Arial" panose="020B0604020202020204" pitchFamily="34" charset="0"/>
              </a:rPr>
              <a:t>precios</a:t>
            </a:r>
            <a:r>
              <a:rPr lang="en-US" sz="2200" b="1" dirty="0">
                <a:solidFill>
                  <a:srgbClr val="C40075"/>
                </a:solidFill>
                <a:latin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C40075"/>
                </a:solidFill>
                <a:latin typeface="Arial" panose="020B0604020202020204" pitchFamily="34" charset="0"/>
              </a:rPr>
              <a:t>esperados</a:t>
            </a:r>
            <a:endParaRPr lang="en-US" sz="2200" b="1" dirty="0">
              <a:solidFill>
                <a:srgbClr val="C40075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8620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>
          <a:xfrm>
            <a:off x="550333" y="37307"/>
            <a:ext cx="8229600" cy="677862"/>
          </a:xfrm>
          <a:noFill/>
        </p:spPr>
        <p:txBody>
          <a:bodyPr/>
          <a:lstStyle/>
          <a:p>
            <a:pPr marL="739775" indent="-739775"/>
            <a:r>
              <a:rPr lang="en-US" sz="3200" dirty="0"/>
              <a:t>2.  </a:t>
            </a:r>
            <a:r>
              <a:rPr lang="en-US" sz="3200" dirty="0" err="1"/>
              <a:t>Determinación</a:t>
            </a:r>
            <a:r>
              <a:rPr lang="en-US" sz="3200" dirty="0"/>
              <a:t> de </a:t>
            </a:r>
            <a:r>
              <a:rPr lang="en-US" sz="3200" dirty="0" err="1"/>
              <a:t>los</a:t>
            </a:r>
            <a:r>
              <a:rPr lang="en-US" sz="3200" dirty="0"/>
              <a:t> </a:t>
            </a:r>
            <a:r>
              <a:rPr lang="en-US" sz="3200" dirty="0" err="1"/>
              <a:t>Salarios</a:t>
            </a:r>
            <a:endParaRPr lang="en-US" sz="3200" dirty="0"/>
          </a:p>
        </p:txBody>
      </p:sp>
      <p:sp>
        <p:nvSpPr>
          <p:cNvPr id="453636" name="Rectangle 4"/>
          <p:cNvSpPr>
            <a:spLocks noChangeArrowheads="1"/>
          </p:cNvSpPr>
          <p:nvPr/>
        </p:nvSpPr>
        <p:spPr bwMode="auto">
          <a:xfrm>
            <a:off x="533400" y="914400"/>
            <a:ext cx="8229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Salarios</a:t>
            </a:r>
            <a:r>
              <a:rPr lang="en-US" sz="2400" b="1" dirty="0">
                <a:solidFill>
                  <a:srgbClr val="008080"/>
                </a:solidFill>
                <a:latin typeface="Arial" panose="020B0604020202020204" pitchFamily="34" charset="0"/>
              </a:rPr>
              <a:t>, </a:t>
            </a: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Precios</a:t>
            </a:r>
            <a:r>
              <a:rPr lang="en-US" sz="2400" b="1" dirty="0">
                <a:solidFill>
                  <a:srgbClr val="008080"/>
                </a:solidFill>
                <a:latin typeface="Arial" panose="020B0604020202020204" pitchFamily="34" charset="0"/>
              </a:rPr>
              <a:t> y </a:t>
            </a: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Desempleo</a:t>
            </a:r>
            <a:endParaRPr lang="en-US" sz="2400" b="1" dirty="0">
              <a:solidFill>
                <a:srgbClr val="008080"/>
              </a:solidFill>
              <a:latin typeface="Arial" panose="020B0604020202020204" pitchFamily="34" charset="0"/>
            </a:endParaRPr>
          </a:p>
        </p:txBody>
      </p:sp>
      <p:sp>
        <p:nvSpPr>
          <p:cNvPr id="453637" name="Text Box 5"/>
          <p:cNvSpPr txBox="1">
            <a:spLocks noChangeArrowheads="1"/>
          </p:cNvSpPr>
          <p:nvPr/>
        </p:nvSpPr>
        <p:spPr bwMode="auto">
          <a:xfrm>
            <a:off x="685800" y="2438400"/>
            <a:ext cx="7924800" cy="368100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42900" indent="-342900" defTabSz="464820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  <a:tabLst>
                <a:tab pos="115570" algn="l"/>
              </a:tabLst>
            </a:pPr>
            <a:r>
              <a:rPr lang="en-US" sz="2200" dirty="0">
                <a:latin typeface="Arial" panose="020B0604020202020204" pitchFamily="34" charset="0"/>
              </a:rPr>
              <a:t>Si se </a:t>
            </a:r>
            <a:r>
              <a:rPr lang="en-US" sz="2200" dirty="0" err="1">
                <a:latin typeface="Arial" panose="020B0604020202020204" pitchFamily="34" charset="0"/>
              </a:rPr>
              <a:t>asume</a:t>
            </a:r>
            <a:r>
              <a:rPr lang="en-US" sz="2200" dirty="0">
                <a:latin typeface="Arial" panose="020B0604020202020204" pitchFamily="34" charset="0"/>
              </a:rPr>
              <a:t> que los </a:t>
            </a:r>
            <a:r>
              <a:rPr lang="en-US" sz="2200" dirty="0" err="1">
                <a:latin typeface="Arial" panose="020B0604020202020204" pitchFamily="34" charset="0"/>
              </a:rPr>
              <a:t>salarios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estan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determinados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por</a:t>
            </a:r>
            <a:r>
              <a:rPr lang="en-US" sz="2200" dirty="0">
                <a:latin typeface="Arial" panose="020B0604020202020204" pitchFamily="34" charset="0"/>
              </a:rPr>
              <a:t> la </a:t>
            </a:r>
            <a:r>
              <a:rPr lang="en-US" sz="2200" dirty="0" err="1">
                <a:latin typeface="Arial" panose="020B0604020202020204" pitchFamily="34" charset="0"/>
              </a:rPr>
              <a:t>negociación</a:t>
            </a:r>
            <a:r>
              <a:rPr lang="en-US" sz="2200" dirty="0">
                <a:latin typeface="Arial" panose="020B0604020202020204" pitchFamily="34" charset="0"/>
              </a:rPr>
              <a:t>, luego, mayor </a:t>
            </a:r>
            <a:r>
              <a:rPr lang="en-US" sz="2200" dirty="0" err="1">
                <a:latin typeface="Arial" panose="020B0604020202020204" pitchFamily="34" charset="0"/>
              </a:rPr>
              <a:t>desempleo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debilita</a:t>
            </a:r>
            <a:r>
              <a:rPr lang="en-US" sz="2200" dirty="0">
                <a:latin typeface="Arial" panose="020B0604020202020204" pitchFamily="34" charset="0"/>
              </a:rPr>
              <a:t> el </a:t>
            </a:r>
            <a:r>
              <a:rPr lang="en-US" sz="2200" dirty="0" err="1">
                <a:latin typeface="Arial" panose="020B0604020202020204" pitchFamily="34" charset="0"/>
              </a:rPr>
              <a:t>poder</a:t>
            </a:r>
            <a:r>
              <a:rPr lang="en-US" sz="2200" dirty="0">
                <a:latin typeface="Arial" panose="020B0604020202020204" pitchFamily="34" charset="0"/>
              </a:rPr>
              <a:t> de </a:t>
            </a:r>
            <a:r>
              <a:rPr lang="en-US" sz="2200" dirty="0" err="1">
                <a:latin typeface="Arial" panose="020B0604020202020204" pitchFamily="34" charset="0"/>
              </a:rPr>
              <a:t>negociación</a:t>
            </a:r>
            <a:r>
              <a:rPr lang="en-US" sz="2200" dirty="0">
                <a:latin typeface="Arial" panose="020B0604020202020204" pitchFamily="34" charset="0"/>
              </a:rPr>
              <a:t> de los </a:t>
            </a:r>
            <a:r>
              <a:rPr lang="en-US" sz="2200" dirty="0" err="1">
                <a:latin typeface="Arial" panose="020B0604020202020204" pitchFamily="34" charset="0"/>
              </a:rPr>
              <a:t>trabajadores</a:t>
            </a:r>
            <a:r>
              <a:rPr lang="en-US" sz="2200" dirty="0">
                <a:latin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</a:rPr>
              <a:t>forzándolos</a:t>
            </a:r>
            <a:r>
              <a:rPr lang="en-US" sz="2200" dirty="0">
                <a:latin typeface="Arial" panose="020B0604020202020204" pitchFamily="34" charset="0"/>
              </a:rPr>
              <a:t> a </a:t>
            </a:r>
            <a:r>
              <a:rPr lang="en-US" sz="2200" dirty="0" err="1">
                <a:latin typeface="Arial" panose="020B0604020202020204" pitchFamily="34" charset="0"/>
              </a:rPr>
              <a:t>aceptar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menores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salarios</a:t>
            </a:r>
            <a:r>
              <a:rPr lang="en-US" sz="2200" dirty="0">
                <a:latin typeface="Arial" panose="020B0604020202020204" pitchFamily="34" charset="0"/>
              </a:rPr>
              <a:t>.</a:t>
            </a:r>
          </a:p>
          <a:p>
            <a:pPr marL="342900" indent="-342900" defTabSz="464820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  <a:tabLst>
                <a:tab pos="115570" algn="l"/>
              </a:tabLst>
            </a:pPr>
            <a:r>
              <a:rPr lang="en-US" sz="2200" dirty="0">
                <a:latin typeface="Arial" panose="020B0604020202020204" pitchFamily="34" charset="0"/>
              </a:rPr>
              <a:t>Un </a:t>
            </a:r>
            <a:r>
              <a:rPr lang="en-US" sz="2200" dirty="0" err="1">
                <a:latin typeface="Arial" panose="020B0604020202020204" pitchFamily="34" charset="0"/>
              </a:rPr>
              <a:t>elevado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desempleo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permite</a:t>
            </a:r>
            <a:r>
              <a:rPr lang="en-US" sz="2200" dirty="0">
                <a:latin typeface="Arial" panose="020B0604020202020204" pitchFamily="34" charset="0"/>
              </a:rPr>
              <a:t> a las </a:t>
            </a:r>
            <a:r>
              <a:rPr lang="en-US" sz="2200" dirty="0" err="1">
                <a:latin typeface="Arial" panose="020B0604020202020204" pitchFamily="34" charset="0"/>
              </a:rPr>
              <a:t>empresas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pagar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menores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salarios</a:t>
            </a:r>
            <a:r>
              <a:rPr lang="en-US" sz="2200" dirty="0">
                <a:latin typeface="Arial" panose="020B0604020202020204" pitchFamily="34" charset="0"/>
              </a:rPr>
              <a:t> y </a:t>
            </a:r>
            <a:r>
              <a:rPr lang="en-US" sz="2200" dirty="0" err="1">
                <a:latin typeface="Arial" panose="020B0604020202020204" pitchFamily="34" charset="0"/>
              </a:rPr>
              <a:t>mantener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trabajadores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queriendo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trabajar</a:t>
            </a:r>
            <a:r>
              <a:rPr lang="en-US" sz="2200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53641" name="Rectangle 9"/>
          <p:cNvSpPr>
            <a:spLocks noChangeArrowheads="1"/>
          </p:cNvSpPr>
          <p:nvPr/>
        </p:nvSpPr>
        <p:spPr bwMode="auto">
          <a:xfrm>
            <a:off x="562947" y="1906555"/>
            <a:ext cx="7086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sz="2200" b="1" dirty="0">
                <a:solidFill>
                  <a:srgbClr val="C40075"/>
                </a:solidFill>
                <a:latin typeface="Arial" panose="020B0604020202020204" pitchFamily="34" charset="0"/>
              </a:rPr>
              <a:t>La </a:t>
            </a:r>
            <a:r>
              <a:rPr lang="en-US" sz="2200" b="1" dirty="0" err="1">
                <a:solidFill>
                  <a:srgbClr val="C40075"/>
                </a:solidFill>
                <a:latin typeface="Arial" panose="020B0604020202020204" pitchFamily="34" charset="0"/>
              </a:rPr>
              <a:t>tasa</a:t>
            </a:r>
            <a:r>
              <a:rPr lang="en-US" sz="2200" b="1" dirty="0">
                <a:solidFill>
                  <a:srgbClr val="C40075"/>
                </a:solidFill>
                <a:latin typeface="Arial" panose="020B0604020202020204" pitchFamily="34" charset="0"/>
              </a:rPr>
              <a:t> de </a:t>
            </a:r>
            <a:r>
              <a:rPr lang="en-US" sz="2200" b="1" dirty="0" err="1">
                <a:solidFill>
                  <a:srgbClr val="C40075"/>
                </a:solidFill>
                <a:latin typeface="Arial" panose="020B0604020202020204" pitchFamily="34" charset="0"/>
              </a:rPr>
              <a:t>desempleo</a:t>
            </a:r>
            <a:endParaRPr lang="en-US" sz="2200" b="1" dirty="0">
              <a:solidFill>
                <a:srgbClr val="C40075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76988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3867"/>
            <a:ext cx="8229600" cy="639762"/>
          </a:xfrm>
          <a:noFill/>
        </p:spPr>
        <p:txBody>
          <a:bodyPr/>
          <a:lstStyle/>
          <a:p>
            <a:pPr marL="739775" indent="-739775"/>
            <a:r>
              <a:rPr lang="en-US" sz="3200" dirty="0"/>
              <a:t>2.  </a:t>
            </a:r>
            <a:r>
              <a:rPr lang="en-US" sz="3200" dirty="0" err="1"/>
              <a:t>Determinación</a:t>
            </a:r>
            <a:r>
              <a:rPr lang="en-US" sz="3200" dirty="0"/>
              <a:t> de </a:t>
            </a:r>
            <a:r>
              <a:rPr lang="en-US" sz="3200" dirty="0" err="1"/>
              <a:t>los</a:t>
            </a:r>
            <a:r>
              <a:rPr lang="en-US" sz="3200" dirty="0"/>
              <a:t> </a:t>
            </a:r>
            <a:r>
              <a:rPr lang="en-US" sz="3200" dirty="0" err="1"/>
              <a:t>Salarios</a:t>
            </a:r>
            <a:endParaRPr lang="en-US" sz="3200" dirty="0"/>
          </a:p>
        </p:txBody>
      </p:sp>
      <p:sp>
        <p:nvSpPr>
          <p:cNvPr id="455683" name="Rectangle 3"/>
          <p:cNvSpPr>
            <a:spLocks noChangeArrowheads="1"/>
          </p:cNvSpPr>
          <p:nvPr/>
        </p:nvSpPr>
        <p:spPr bwMode="auto">
          <a:xfrm>
            <a:off x="533400" y="1158059"/>
            <a:ext cx="8229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Salarios</a:t>
            </a:r>
            <a:r>
              <a:rPr lang="en-US" sz="2400" b="1" dirty="0">
                <a:solidFill>
                  <a:srgbClr val="008080"/>
                </a:solidFill>
                <a:latin typeface="Arial" panose="020B0604020202020204" pitchFamily="34" charset="0"/>
              </a:rPr>
              <a:t>, </a:t>
            </a: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Precios</a:t>
            </a:r>
            <a:r>
              <a:rPr lang="en-US" sz="2400" b="1" dirty="0">
                <a:solidFill>
                  <a:srgbClr val="008080"/>
                </a:solidFill>
                <a:latin typeface="Arial" panose="020B0604020202020204" pitchFamily="34" charset="0"/>
              </a:rPr>
              <a:t> y </a:t>
            </a: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Desempleo</a:t>
            </a:r>
            <a:endParaRPr lang="en-US" sz="2400" b="1" dirty="0">
              <a:solidFill>
                <a:srgbClr val="008080"/>
              </a:solidFill>
              <a:latin typeface="Arial" panose="020B0604020202020204" pitchFamily="34" charset="0"/>
            </a:endParaRPr>
          </a:p>
        </p:txBody>
      </p:sp>
      <p:sp>
        <p:nvSpPr>
          <p:cNvPr id="455684" name="Text Box 4"/>
          <p:cNvSpPr txBox="1">
            <a:spLocks noChangeArrowheads="1"/>
          </p:cNvSpPr>
          <p:nvPr/>
        </p:nvSpPr>
        <p:spPr bwMode="auto">
          <a:xfrm>
            <a:off x="990600" y="2438400"/>
            <a:ext cx="8001000" cy="1553054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 defTabSz="464820">
              <a:lnSpc>
                <a:spcPct val="150000"/>
              </a:lnSpc>
              <a:spcBef>
                <a:spcPct val="50000"/>
              </a:spcBef>
              <a:tabLst>
                <a:tab pos="115570" algn="l"/>
              </a:tabLst>
            </a:pPr>
            <a:r>
              <a:rPr lang="en-US" sz="2200" dirty="0">
                <a:latin typeface="Arial" panose="020B0604020202020204" pitchFamily="34" charset="0"/>
              </a:rPr>
              <a:t>La variable, </a:t>
            </a:r>
            <a:r>
              <a:rPr lang="en-US" sz="2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200" dirty="0">
                <a:latin typeface="Arial" panose="020B0604020202020204" pitchFamily="34" charset="0"/>
              </a:rPr>
              <a:t>, </a:t>
            </a:r>
            <a:r>
              <a:rPr lang="es-PE" sz="2200" dirty="0">
                <a:latin typeface="Arial" panose="020B0604020202020204" pitchFamily="34" charset="0"/>
              </a:rPr>
              <a:t>representa todos los otros factores que afectan los salarios, dado el nivel de precios esperado y la tasa de desempleo.</a:t>
            </a:r>
            <a:endParaRPr lang="en-US" sz="2200" dirty="0">
              <a:latin typeface="Arial" panose="020B0604020202020204" pitchFamily="34" charset="0"/>
            </a:endParaRPr>
          </a:p>
        </p:txBody>
      </p:sp>
      <p:sp>
        <p:nvSpPr>
          <p:cNvPr id="455686" name="Text Box 6"/>
          <p:cNvSpPr txBox="1">
            <a:spLocks noChangeArrowheads="1"/>
          </p:cNvSpPr>
          <p:nvPr/>
        </p:nvSpPr>
        <p:spPr bwMode="auto">
          <a:xfrm>
            <a:off x="990600" y="4068070"/>
            <a:ext cx="7924800" cy="1107996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 defTabSz="464820">
              <a:lnSpc>
                <a:spcPct val="150000"/>
              </a:lnSpc>
              <a:spcBef>
                <a:spcPct val="50000"/>
              </a:spcBef>
              <a:tabLst>
                <a:tab pos="115570" algn="l"/>
              </a:tabLst>
            </a:pPr>
            <a:r>
              <a:rPr lang="en-US" sz="2200" b="1" dirty="0" err="1">
                <a:latin typeface="Arial" panose="020B0604020202020204" pitchFamily="34" charset="0"/>
              </a:rPr>
              <a:t>Seguro</a:t>
            </a:r>
            <a:r>
              <a:rPr lang="en-US" sz="2200" b="1" dirty="0">
                <a:latin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</a:rPr>
              <a:t>por</a:t>
            </a:r>
            <a:r>
              <a:rPr lang="en-US" sz="2200" b="1" dirty="0">
                <a:latin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</a:rPr>
              <a:t>desempleo</a:t>
            </a:r>
            <a:r>
              <a:rPr lang="en-US" sz="2200" b="1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es</a:t>
            </a:r>
            <a:r>
              <a:rPr lang="en-US" sz="2200" dirty="0">
                <a:latin typeface="Arial" panose="020B0604020202020204" pitchFamily="34" charset="0"/>
              </a:rPr>
              <a:t> el </a:t>
            </a:r>
            <a:r>
              <a:rPr lang="en-US" sz="2200" dirty="0" err="1">
                <a:latin typeface="Arial" panose="020B0604020202020204" pitchFamily="34" charset="0"/>
              </a:rPr>
              <a:t>pago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beneficios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por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desempleo</a:t>
            </a:r>
            <a:r>
              <a:rPr lang="en-US" sz="2200" dirty="0">
                <a:latin typeface="Arial" panose="020B0604020202020204" pitchFamily="34" charset="0"/>
              </a:rPr>
              <a:t> para </a:t>
            </a:r>
            <a:r>
              <a:rPr lang="en-US" sz="2200" dirty="0" err="1">
                <a:latin typeface="Arial" panose="020B0604020202020204" pitchFamily="34" charset="0"/>
              </a:rPr>
              <a:t>los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trabajadores</a:t>
            </a:r>
            <a:r>
              <a:rPr lang="en-US" sz="2200" dirty="0">
                <a:latin typeface="Arial" panose="020B0604020202020204" pitchFamily="34" charset="0"/>
              </a:rPr>
              <a:t> que </a:t>
            </a:r>
            <a:r>
              <a:rPr lang="en-US" sz="2200" dirty="0" err="1">
                <a:latin typeface="Arial" panose="020B0604020202020204" pitchFamily="34" charset="0"/>
              </a:rPr>
              <a:t>pierden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su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puesto</a:t>
            </a:r>
            <a:r>
              <a:rPr lang="en-US" sz="2200" dirty="0">
                <a:latin typeface="Arial" panose="020B0604020202020204" pitchFamily="34" charset="0"/>
              </a:rPr>
              <a:t> de </a:t>
            </a:r>
            <a:r>
              <a:rPr lang="en-US" sz="2200" dirty="0" err="1">
                <a:latin typeface="Arial" panose="020B0604020202020204" pitchFamily="34" charset="0"/>
              </a:rPr>
              <a:t>trabajo</a:t>
            </a:r>
            <a:r>
              <a:rPr lang="en-US" sz="2200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55687" name="Rectangle 7"/>
          <p:cNvSpPr>
            <a:spLocks noChangeArrowheads="1"/>
          </p:cNvSpPr>
          <p:nvPr/>
        </p:nvSpPr>
        <p:spPr bwMode="auto">
          <a:xfrm>
            <a:off x="990600" y="1828384"/>
            <a:ext cx="7086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sz="2200" b="1" dirty="0" err="1">
                <a:solidFill>
                  <a:srgbClr val="C40075"/>
                </a:solidFill>
                <a:latin typeface="Arial" panose="020B0604020202020204" pitchFamily="34" charset="0"/>
              </a:rPr>
              <a:t>Otros</a:t>
            </a:r>
            <a:r>
              <a:rPr lang="en-US" sz="2200" b="1" dirty="0">
                <a:solidFill>
                  <a:srgbClr val="C40075"/>
                </a:solidFill>
                <a:latin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C40075"/>
                </a:solidFill>
                <a:latin typeface="Arial" panose="020B0604020202020204" pitchFamily="34" charset="0"/>
              </a:rPr>
              <a:t>factores</a:t>
            </a:r>
            <a:endParaRPr lang="en-US" sz="2200" b="1" dirty="0">
              <a:solidFill>
                <a:srgbClr val="C40075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73479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en-US" sz="2800" b="1" dirty="0" err="1"/>
              <a:t>Determinación</a:t>
            </a:r>
            <a:r>
              <a:rPr lang="en-US" sz="2800" b="1" dirty="0"/>
              <a:t> de </a:t>
            </a:r>
            <a:r>
              <a:rPr lang="en-US" sz="2800" b="1" dirty="0" err="1"/>
              <a:t>Precios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597114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229600" cy="430966"/>
          </a:xfrm>
          <a:noFill/>
        </p:spPr>
        <p:txBody>
          <a:bodyPr/>
          <a:lstStyle/>
          <a:p>
            <a:pPr marL="739775" indent="-739775"/>
            <a:r>
              <a:rPr lang="en-US" sz="3200" dirty="0"/>
              <a:t>3.  </a:t>
            </a:r>
            <a:r>
              <a:rPr lang="en-US" sz="3200" dirty="0" err="1"/>
              <a:t>Establecimiento</a:t>
            </a:r>
            <a:r>
              <a:rPr lang="en-US" sz="3200" dirty="0"/>
              <a:t> de </a:t>
            </a:r>
            <a:r>
              <a:rPr lang="en-US" sz="3200" dirty="0" err="1"/>
              <a:t>Precios</a:t>
            </a:r>
            <a:endParaRPr lang="en-US" sz="3200" dirty="0"/>
          </a:p>
        </p:txBody>
      </p:sp>
      <p:graphicFrame>
        <p:nvGraphicFramePr>
          <p:cNvPr id="457742" name="Object 14"/>
          <p:cNvGraphicFramePr>
            <a:graphicFrameLocks noChangeAspect="1"/>
          </p:cNvGraphicFramePr>
          <p:nvPr/>
        </p:nvGraphicFramePr>
        <p:xfrm>
          <a:off x="3905250" y="2971800"/>
          <a:ext cx="129540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33400" imgH="152400" progId="Equation.COEE2">
                  <p:embed/>
                </p:oleObj>
              </mc:Choice>
              <mc:Fallback>
                <p:oleObj name="Equation" r:id="rId3" imgW="533400" imgH="152400" progId="Equation.COEE2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5250" y="2971800"/>
                        <a:ext cx="1295400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7743" name="Rectangle 15"/>
          <p:cNvSpPr>
            <a:spLocks noChangeArrowheads="1"/>
          </p:cNvSpPr>
          <p:nvPr/>
        </p:nvSpPr>
        <p:spPr bwMode="auto">
          <a:xfrm>
            <a:off x="609600" y="3417094"/>
            <a:ext cx="8229600" cy="13835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i="1" dirty="0">
                <a:latin typeface="Arial" panose="020B0604020202020204" pitchFamily="34" charset="0"/>
              </a:rPr>
              <a:t>Y</a:t>
            </a:r>
            <a:r>
              <a:rPr lang="en-US" dirty="0">
                <a:latin typeface="Arial" panose="020B0604020202020204" pitchFamily="34" charset="0"/>
              </a:rPr>
              <a:t> = </a:t>
            </a:r>
            <a:r>
              <a:rPr lang="en-US" dirty="0" err="1">
                <a:latin typeface="Arial" panose="020B0604020202020204" pitchFamily="34" charset="0"/>
              </a:rPr>
              <a:t>producción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en-US" i="1" dirty="0">
                <a:latin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</a:rPr>
              <a:t> = </a:t>
            </a:r>
            <a:r>
              <a:rPr lang="en-US" dirty="0" err="1">
                <a:latin typeface="Arial" panose="020B0604020202020204" pitchFamily="34" charset="0"/>
              </a:rPr>
              <a:t>empleo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en-US" i="1" dirty="0">
                <a:latin typeface="Arial" panose="020B0604020202020204" pitchFamily="34" charset="0"/>
              </a:rPr>
              <a:t>A</a:t>
            </a:r>
            <a:r>
              <a:rPr lang="en-US" dirty="0">
                <a:latin typeface="Arial" panose="020B0604020202020204" pitchFamily="34" charset="0"/>
              </a:rPr>
              <a:t> = </a:t>
            </a:r>
            <a:r>
              <a:rPr lang="en-US" b="1" dirty="0" err="1">
                <a:latin typeface="Arial" panose="020B0604020202020204" pitchFamily="34" charset="0"/>
              </a:rPr>
              <a:t>productividad</a:t>
            </a:r>
            <a:r>
              <a:rPr lang="en-US" b="1" dirty="0">
                <a:latin typeface="Arial" panose="020B0604020202020204" pitchFamily="34" charset="0"/>
              </a:rPr>
              <a:t> del </a:t>
            </a:r>
            <a:r>
              <a:rPr lang="en-US" b="1" dirty="0" err="1">
                <a:latin typeface="Arial" panose="020B0604020202020204" pitchFamily="34" charset="0"/>
              </a:rPr>
              <a:t>trabajo</a:t>
            </a:r>
            <a:r>
              <a:rPr lang="en-US" b="1" dirty="0">
                <a:latin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</a:rPr>
              <a:t>o </a:t>
            </a:r>
            <a:r>
              <a:rPr lang="en-US" dirty="0" err="1">
                <a:latin typeface="Arial" panose="020B0604020202020204" pitchFamily="34" charset="0"/>
              </a:rPr>
              <a:t>producción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por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trabajador</a:t>
            </a:r>
            <a:endParaRPr lang="en-US" b="1" dirty="0">
              <a:latin typeface="Arial" panose="020B0604020202020204" pitchFamily="34" charset="0"/>
            </a:endParaRPr>
          </a:p>
        </p:txBody>
      </p:sp>
      <p:sp>
        <p:nvSpPr>
          <p:cNvPr id="457744" name="Rectangle 16"/>
          <p:cNvSpPr>
            <a:spLocks noChangeArrowheads="1"/>
          </p:cNvSpPr>
          <p:nvPr/>
        </p:nvSpPr>
        <p:spPr bwMode="auto">
          <a:xfrm>
            <a:off x="609600" y="4971519"/>
            <a:ext cx="8001000" cy="990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003300"/>
              </a:buClr>
            </a:pPr>
            <a:r>
              <a:rPr lang="en-US" dirty="0" err="1">
                <a:latin typeface="Arial" panose="020B0604020202020204" pitchFamily="34" charset="0"/>
              </a:rPr>
              <a:t>Asumiendo</a:t>
            </a:r>
            <a:r>
              <a:rPr lang="en-US" dirty="0">
                <a:latin typeface="Arial" panose="020B0604020202020204" pitchFamily="34" charset="0"/>
              </a:rPr>
              <a:t> que un </a:t>
            </a:r>
            <a:r>
              <a:rPr lang="en-US" dirty="0" err="1">
                <a:latin typeface="Arial" panose="020B0604020202020204" pitchFamily="34" charset="0"/>
              </a:rPr>
              <a:t>trabajador</a:t>
            </a:r>
            <a:r>
              <a:rPr lang="en-US" dirty="0">
                <a:latin typeface="Arial" panose="020B0604020202020204" pitchFamily="34" charset="0"/>
              </a:rPr>
              <a:t> produce </a:t>
            </a:r>
            <a:r>
              <a:rPr lang="en-US" dirty="0" err="1">
                <a:latin typeface="Arial" panose="020B0604020202020204" pitchFamily="34" charset="0"/>
              </a:rPr>
              <a:t>una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unidad</a:t>
            </a:r>
            <a:r>
              <a:rPr lang="en-US" dirty="0">
                <a:latin typeface="Arial" panose="020B0604020202020204" pitchFamily="34" charset="0"/>
              </a:rPr>
              <a:t> de </a:t>
            </a:r>
            <a:r>
              <a:rPr lang="en-US" dirty="0" err="1">
                <a:latin typeface="Arial" panose="020B0604020202020204" pitchFamily="34" charset="0"/>
              </a:rPr>
              <a:t>producto</a:t>
            </a:r>
            <a:r>
              <a:rPr lang="en-US" dirty="0">
                <a:latin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</a:rPr>
              <a:t>tal</a:t>
            </a:r>
            <a:r>
              <a:rPr lang="en-US" dirty="0">
                <a:latin typeface="Arial" panose="020B0604020202020204" pitchFamily="34" charset="0"/>
              </a:rPr>
              <a:t> que A = 1, </a:t>
            </a:r>
            <a:r>
              <a:rPr lang="en-US" dirty="0" err="1">
                <a:latin typeface="Arial" panose="020B0604020202020204" pitchFamily="34" charset="0"/>
              </a:rPr>
              <a:t>luego</a:t>
            </a:r>
            <a:r>
              <a:rPr lang="en-US" dirty="0">
                <a:latin typeface="Arial" panose="020B0604020202020204" pitchFamily="34" charset="0"/>
              </a:rPr>
              <a:t> la </a:t>
            </a:r>
            <a:r>
              <a:rPr lang="en-US" dirty="0" err="1">
                <a:latin typeface="Arial" panose="020B0604020202020204" pitchFamily="34" charset="0"/>
              </a:rPr>
              <a:t>función</a:t>
            </a:r>
            <a:r>
              <a:rPr lang="en-US" dirty="0">
                <a:latin typeface="Arial" panose="020B0604020202020204" pitchFamily="34" charset="0"/>
              </a:rPr>
              <a:t> de </a:t>
            </a:r>
            <a:r>
              <a:rPr lang="en-US" dirty="0" err="1">
                <a:latin typeface="Arial" panose="020B0604020202020204" pitchFamily="34" charset="0"/>
              </a:rPr>
              <a:t>producción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es</a:t>
            </a:r>
            <a:r>
              <a:rPr lang="en-US" dirty="0">
                <a:latin typeface="Arial" panose="020B0604020202020204" pitchFamily="34" charset="0"/>
              </a:rPr>
              <a:t>:</a:t>
            </a:r>
          </a:p>
        </p:txBody>
      </p:sp>
      <p:graphicFrame>
        <p:nvGraphicFramePr>
          <p:cNvPr id="457745" name="Object 17"/>
          <p:cNvGraphicFramePr>
            <a:graphicFrameLocks noChangeAspect="1"/>
          </p:cNvGraphicFramePr>
          <p:nvPr/>
        </p:nvGraphicFramePr>
        <p:xfrm>
          <a:off x="4032250" y="6096000"/>
          <a:ext cx="104933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31800" imgH="152400" progId="Equation.COEE2">
                  <p:embed/>
                </p:oleObj>
              </mc:Choice>
              <mc:Fallback>
                <p:oleObj name="Equation" r:id="rId5" imgW="431800" imgH="152400" progId="Equation.COEE2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0" y="6096000"/>
                        <a:ext cx="1049338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9"/>
          <p:cNvSpPr>
            <a:spLocks noGrp="1" noChangeArrowheads="1"/>
          </p:cNvSpPr>
          <p:nvPr>
            <p:ph type="body" idx="1"/>
          </p:nvPr>
        </p:nvSpPr>
        <p:spPr>
          <a:xfrm>
            <a:off x="457200" y="883705"/>
            <a:ext cx="8686800" cy="1954214"/>
          </a:xfrm>
          <a:noFill/>
        </p:spPr>
        <p:txBody>
          <a:bodyPr/>
          <a:lstStyle/>
          <a:p>
            <a:pPr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sz="2000" b="0" dirty="0">
                <a:solidFill>
                  <a:schemeClr val="tx1"/>
                </a:solidFill>
              </a:rPr>
              <a:t>La </a:t>
            </a:r>
            <a:r>
              <a:rPr lang="en-US" sz="2000" b="1" u="sng" dirty="0" err="1">
                <a:solidFill>
                  <a:schemeClr val="tx1"/>
                </a:solidFill>
              </a:rPr>
              <a:t>función</a:t>
            </a:r>
            <a:r>
              <a:rPr lang="en-US" sz="2000" b="1" u="sng" dirty="0">
                <a:solidFill>
                  <a:schemeClr val="tx1"/>
                </a:solidFill>
              </a:rPr>
              <a:t> de </a:t>
            </a:r>
            <a:r>
              <a:rPr lang="en-US" sz="2000" b="1" u="sng" dirty="0" err="1">
                <a:solidFill>
                  <a:schemeClr val="tx1"/>
                </a:solidFill>
              </a:rPr>
              <a:t>producción</a:t>
            </a:r>
            <a:r>
              <a:rPr lang="en-US" sz="2000" b="1" u="sng" dirty="0">
                <a:solidFill>
                  <a:schemeClr val="tx1"/>
                </a:solidFill>
              </a:rPr>
              <a:t> </a:t>
            </a:r>
            <a:r>
              <a:rPr lang="en-US" sz="2000" b="0" dirty="0" err="1">
                <a:solidFill>
                  <a:schemeClr val="tx1"/>
                </a:solidFill>
              </a:rPr>
              <a:t>es</a:t>
            </a:r>
            <a:r>
              <a:rPr lang="en-US" sz="2000" b="0" dirty="0">
                <a:solidFill>
                  <a:schemeClr val="tx1"/>
                </a:solidFill>
              </a:rPr>
              <a:t> la </a:t>
            </a:r>
            <a:r>
              <a:rPr lang="en-US" sz="2000" b="0" dirty="0" err="1">
                <a:solidFill>
                  <a:schemeClr val="tx1"/>
                </a:solidFill>
              </a:rPr>
              <a:t>relación</a:t>
            </a:r>
            <a:r>
              <a:rPr lang="en-US" sz="2000" b="0" dirty="0">
                <a:solidFill>
                  <a:schemeClr val="tx1"/>
                </a:solidFill>
              </a:rPr>
              <a:t> entre </a:t>
            </a:r>
            <a:r>
              <a:rPr lang="en-US" sz="2000" b="0" dirty="0" err="1">
                <a:solidFill>
                  <a:schemeClr val="tx1"/>
                </a:solidFill>
              </a:rPr>
              <a:t>los</a:t>
            </a:r>
            <a:r>
              <a:rPr lang="en-US" sz="2000" b="0" dirty="0">
                <a:solidFill>
                  <a:schemeClr val="tx1"/>
                </a:solidFill>
              </a:rPr>
              <a:t> </a:t>
            </a:r>
            <a:r>
              <a:rPr lang="en-US" sz="2000" b="0" dirty="0" err="1">
                <a:solidFill>
                  <a:schemeClr val="tx1"/>
                </a:solidFill>
              </a:rPr>
              <a:t>factores</a:t>
            </a:r>
            <a:r>
              <a:rPr lang="en-US" sz="2000" b="0" dirty="0">
                <a:solidFill>
                  <a:schemeClr val="tx1"/>
                </a:solidFill>
              </a:rPr>
              <a:t> </a:t>
            </a:r>
            <a:r>
              <a:rPr lang="en-US" sz="2000" b="0" dirty="0" err="1">
                <a:solidFill>
                  <a:schemeClr val="tx1"/>
                </a:solidFill>
              </a:rPr>
              <a:t>económicos</a:t>
            </a:r>
            <a:r>
              <a:rPr lang="en-US" sz="2000" b="0" dirty="0">
                <a:solidFill>
                  <a:schemeClr val="tx1"/>
                </a:solidFill>
              </a:rPr>
              <a:t> </a:t>
            </a:r>
            <a:r>
              <a:rPr lang="en-US" sz="2000" b="0" dirty="0" err="1">
                <a:solidFill>
                  <a:schemeClr val="tx1"/>
                </a:solidFill>
              </a:rPr>
              <a:t>utilizados</a:t>
            </a:r>
            <a:r>
              <a:rPr lang="en-US" sz="2000" b="0" dirty="0">
                <a:solidFill>
                  <a:schemeClr val="tx1"/>
                </a:solidFill>
              </a:rPr>
              <a:t> </a:t>
            </a:r>
            <a:r>
              <a:rPr lang="en-US" sz="2000" b="0" dirty="0" err="1">
                <a:solidFill>
                  <a:schemeClr val="tx1"/>
                </a:solidFill>
              </a:rPr>
              <a:t>en</a:t>
            </a:r>
            <a:r>
              <a:rPr lang="en-US" sz="2000" b="0" dirty="0">
                <a:solidFill>
                  <a:schemeClr val="tx1"/>
                </a:solidFill>
              </a:rPr>
              <a:t> la </a:t>
            </a:r>
            <a:r>
              <a:rPr lang="en-US" sz="2000" b="0" dirty="0" err="1">
                <a:solidFill>
                  <a:schemeClr val="tx1"/>
                </a:solidFill>
              </a:rPr>
              <a:t>producción</a:t>
            </a:r>
            <a:r>
              <a:rPr lang="en-US" sz="2000" b="0" dirty="0">
                <a:solidFill>
                  <a:schemeClr val="tx1"/>
                </a:solidFill>
              </a:rPr>
              <a:t> y la </a:t>
            </a:r>
            <a:r>
              <a:rPr lang="en-US" sz="2000" b="0" dirty="0" err="1">
                <a:solidFill>
                  <a:schemeClr val="tx1"/>
                </a:solidFill>
              </a:rPr>
              <a:t>cantidad</a:t>
            </a:r>
            <a:r>
              <a:rPr lang="en-US" sz="2000" b="0" dirty="0">
                <a:solidFill>
                  <a:schemeClr val="tx1"/>
                </a:solidFill>
              </a:rPr>
              <a:t> </a:t>
            </a:r>
            <a:r>
              <a:rPr lang="en-US" sz="2000" b="0" dirty="0" err="1">
                <a:solidFill>
                  <a:schemeClr val="tx1"/>
                </a:solidFill>
              </a:rPr>
              <a:t>producida</a:t>
            </a:r>
            <a:r>
              <a:rPr lang="en-US" sz="2000" b="0" dirty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sz="2000" b="0" dirty="0" err="1">
                <a:solidFill>
                  <a:schemeClr val="tx1"/>
                </a:solidFill>
              </a:rPr>
              <a:t>Asumiendo</a:t>
            </a:r>
            <a:r>
              <a:rPr lang="en-US" sz="2000" b="0" dirty="0">
                <a:solidFill>
                  <a:schemeClr val="tx1"/>
                </a:solidFill>
              </a:rPr>
              <a:t> que las </a:t>
            </a:r>
            <a:r>
              <a:rPr lang="en-US" sz="2000" b="0" dirty="0" err="1">
                <a:solidFill>
                  <a:schemeClr val="tx1"/>
                </a:solidFill>
              </a:rPr>
              <a:t>empresas</a:t>
            </a:r>
            <a:r>
              <a:rPr lang="en-US" sz="2000" b="0" dirty="0">
                <a:solidFill>
                  <a:schemeClr val="tx1"/>
                </a:solidFill>
              </a:rPr>
              <a:t> </a:t>
            </a:r>
            <a:r>
              <a:rPr lang="en-US" sz="2000" b="0" dirty="0" err="1">
                <a:solidFill>
                  <a:schemeClr val="tx1"/>
                </a:solidFill>
              </a:rPr>
              <a:t>producen</a:t>
            </a:r>
            <a:r>
              <a:rPr lang="en-US" sz="2000" b="0" dirty="0">
                <a:solidFill>
                  <a:schemeClr val="tx1"/>
                </a:solidFill>
              </a:rPr>
              <a:t> </a:t>
            </a:r>
            <a:r>
              <a:rPr lang="en-US" sz="2000" b="0" dirty="0" err="1">
                <a:solidFill>
                  <a:schemeClr val="tx1"/>
                </a:solidFill>
              </a:rPr>
              <a:t>utilizando</a:t>
            </a:r>
            <a:r>
              <a:rPr lang="en-US" sz="2000" b="0" dirty="0">
                <a:solidFill>
                  <a:schemeClr val="tx1"/>
                </a:solidFill>
              </a:rPr>
              <a:t> ‘mano de </a:t>
            </a:r>
            <a:r>
              <a:rPr lang="en-US" sz="2000" b="0" dirty="0" err="1">
                <a:solidFill>
                  <a:schemeClr val="tx1"/>
                </a:solidFill>
              </a:rPr>
              <a:t>obra</a:t>
            </a:r>
            <a:r>
              <a:rPr lang="en-US" sz="2000" b="0" dirty="0">
                <a:solidFill>
                  <a:schemeClr val="tx1"/>
                </a:solidFill>
              </a:rPr>
              <a:t>´ </a:t>
            </a:r>
            <a:r>
              <a:rPr lang="en-US" sz="2000" b="0" dirty="0" err="1">
                <a:solidFill>
                  <a:schemeClr val="tx1"/>
                </a:solidFill>
              </a:rPr>
              <a:t>como</a:t>
            </a:r>
            <a:r>
              <a:rPr lang="en-US" sz="2000" b="0" dirty="0">
                <a:solidFill>
                  <a:schemeClr val="tx1"/>
                </a:solidFill>
              </a:rPr>
              <a:t> </a:t>
            </a:r>
            <a:r>
              <a:rPr lang="en-US" sz="2000" b="0" dirty="0" err="1">
                <a:solidFill>
                  <a:schemeClr val="tx1"/>
                </a:solidFill>
              </a:rPr>
              <a:t>único</a:t>
            </a:r>
            <a:r>
              <a:rPr lang="en-US" sz="2000" b="0" dirty="0">
                <a:solidFill>
                  <a:schemeClr val="tx1"/>
                </a:solidFill>
              </a:rPr>
              <a:t> factor de </a:t>
            </a:r>
            <a:r>
              <a:rPr lang="en-US" sz="2000" b="0" dirty="0" err="1">
                <a:solidFill>
                  <a:schemeClr val="tx1"/>
                </a:solidFill>
              </a:rPr>
              <a:t>producción</a:t>
            </a:r>
            <a:r>
              <a:rPr lang="en-US" sz="2000" b="0" dirty="0">
                <a:solidFill>
                  <a:schemeClr val="tx1"/>
                </a:solidFill>
              </a:rPr>
              <a:t>, la </a:t>
            </a:r>
            <a:r>
              <a:rPr lang="en-US" sz="2000" b="0" dirty="0" err="1">
                <a:solidFill>
                  <a:schemeClr val="tx1"/>
                </a:solidFill>
              </a:rPr>
              <a:t>función</a:t>
            </a:r>
            <a:r>
              <a:rPr lang="en-US" sz="2000" b="0" dirty="0">
                <a:solidFill>
                  <a:schemeClr val="tx1"/>
                </a:solidFill>
              </a:rPr>
              <a:t> de </a:t>
            </a:r>
            <a:r>
              <a:rPr lang="en-US" sz="2000" b="0" dirty="0" err="1">
                <a:solidFill>
                  <a:schemeClr val="tx1"/>
                </a:solidFill>
              </a:rPr>
              <a:t>producción</a:t>
            </a:r>
            <a:r>
              <a:rPr lang="en-US" sz="2000" b="0" dirty="0">
                <a:solidFill>
                  <a:schemeClr val="tx1"/>
                </a:solidFill>
              </a:rPr>
              <a:t> es: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7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7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577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577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92075"/>
            <a:ext cx="8229600" cy="411162"/>
          </a:xfrm>
          <a:noFill/>
        </p:spPr>
        <p:txBody>
          <a:bodyPr/>
          <a:lstStyle/>
          <a:p>
            <a:pPr marL="739775" indent="-739775"/>
            <a:r>
              <a:rPr lang="en-US" sz="3200" dirty="0"/>
              <a:t>3.  </a:t>
            </a:r>
            <a:r>
              <a:rPr lang="en-US" sz="3200" dirty="0" err="1"/>
              <a:t>Establecimiento</a:t>
            </a:r>
            <a:r>
              <a:rPr lang="en-US" sz="3200" dirty="0"/>
              <a:t> de </a:t>
            </a:r>
            <a:r>
              <a:rPr lang="en-US" sz="3200" dirty="0" err="1"/>
              <a:t>Precios</a:t>
            </a:r>
            <a:endParaRPr lang="en-US" sz="3200" dirty="0"/>
          </a:p>
        </p:txBody>
      </p:sp>
      <p:sp>
        <p:nvSpPr>
          <p:cNvPr id="4628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90600" y="838200"/>
            <a:ext cx="7010400" cy="1143000"/>
          </a:xfrm>
          <a:noFill/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b="0" u="sng" dirty="0" err="1">
                <a:solidFill>
                  <a:schemeClr val="tx1"/>
                </a:solidFill>
              </a:rPr>
              <a:t>Ecuación</a:t>
            </a:r>
            <a:r>
              <a:rPr lang="en-US" sz="2200" b="0" u="sng" dirty="0">
                <a:solidFill>
                  <a:schemeClr val="tx1"/>
                </a:solidFill>
              </a:rPr>
              <a:t> de </a:t>
            </a:r>
            <a:r>
              <a:rPr lang="en-US" sz="2200" b="0" u="sng" dirty="0" err="1">
                <a:solidFill>
                  <a:schemeClr val="tx1"/>
                </a:solidFill>
              </a:rPr>
              <a:t>Precios</a:t>
            </a:r>
            <a:r>
              <a:rPr lang="en-US" sz="2200" b="0" u="sng" dirty="0">
                <a:solidFill>
                  <a:schemeClr val="tx1"/>
                </a:solidFill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200" b="0" dirty="0" err="1">
                <a:solidFill>
                  <a:schemeClr val="tx1"/>
                </a:solidFill>
              </a:rPr>
              <a:t>Empresas</a:t>
            </a:r>
            <a:r>
              <a:rPr lang="en-US" sz="2200" b="0" dirty="0">
                <a:solidFill>
                  <a:schemeClr val="tx1"/>
                </a:solidFill>
              </a:rPr>
              <a:t> </a:t>
            </a:r>
            <a:r>
              <a:rPr lang="en-US" sz="2200" b="0" dirty="0" err="1">
                <a:solidFill>
                  <a:schemeClr val="tx1"/>
                </a:solidFill>
              </a:rPr>
              <a:t>determinan</a:t>
            </a:r>
            <a:r>
              <a:rPr lang="en-US" sz="2200" b="0" dirty="0">
                <a:solidFill>
                  <a:schemeClr val="tx1"/>
                </a:solidFill>
              </a:rPr>
              <a:t> </a:t>
            </a:r>
            <a:r>
              <a:rPr lang="en-US" sz="2200" b="0" dirty="0" err="1">
                <a:solidFill>
                  <a:schemeClr val="tx1"/>
                </a:solidFill>
              </a:rPr>
              <a:t>su</a:t>
            </a:r>
            <a:r>
              <a:rPr lang="en-US" sz="2200" b="0" dirty="0">
                <a:solidFill>
                  <a:schemeClr val="tx1"/>
                </a:solidFill>
              </a:rPr>
              <a:t> </a:t>
            </a:r>
            <a:r>
              <a:rPr lang="en-US" sz="2200" b="0" dirty="0" err="1">
                <a:solidFill>
                  <a:schemeClr val="tx1"/>
                </a:solidFill>
              </a:rPr>
              <a:t>precio</a:t>
            </a:r>
            <a:r>
              <a:rPr lang="en-US" sz="2200" b="0" dirty="0">
                <a:solidFill>
                  <a:schemeClr val="tx1"/>
                </a:solidFill>
              </a:rPr>
              <a:t> de </a:t>
            </a:r>
            <a:r>
              <a:rPr lang="en-US" sz="2200" b="0" dirty="0" err="1">
                <a:solidFill>
                  <a:schemeClr val="tx1"/>
                </a:solidFill>
              </a:rPr>
              <a:t>acuerdo</a:t>
            </a:r>
            <a:r>
              <a:rPr lang="en-US" sz="2200" b="0" dirty="0">
                <a:solidFill>
                  <a:schemeClr val="tx1"/>
                </a:solidFill>
              </a:rPr>
              <a:t> con:</a:t>
            </a:r>
          </a:p>
        </p:txBody>
      </p:sp>
      <p:sp>
        <p:nvSpPr>
          <p:cNvPr id="462852" name="Text Box 4"/>
          <p:cNvSpPr txBox="1">
            <a:spLocks noChangeArrowheads="1"/>
          </p:cNvSpPr>
          <p:nvPr/>
        </p:nvSpPr>
        <p:spPr bwMode="auto">
          <a:xfrm>
            <a:off x="990600" y="3048000"/>
            <a:ext cx="7467600" cy="351173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42900" indent="-342900" defTabSz="464820">
              <a:lnSpc>
                <a:spcPct val="150000"/>
              </a:lnSpc>
              <a:spcBef>
                <a:spcPct val="50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</a:rPr>
              <a:t>El </a:t>
            </a:r>
            <a:r>
              <a:rPr lang="en-US" sz="2200" dirty="0" err="1">
                <a:latin typeface="Arial" panose="020B0604020202020204" pitchFamily="34" charset="0"/>
              </a:rPr>
              <a:t>término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200" b="1" u="sng" dirty="0">
                <a:latin typeface="Arial" panose="020B0604020202020204" pitchFamily="34" charset="0"/>
              </a:rPr>
              <a:t> </a:t>
            </a:r>
            <a:r>
              <a:rPr lang="en-US" sz="2200" b="1" u="sng" dirty="0" err="1">
                <a:latin typeface="Arial" panose="020B0604020202020204" pitchFamily="34" charset="0"/>
              </a:rPr>
              <a:t>es</a:t>
            </a:r>
            <a:r>
              <a:rPr lang="en-US" sz="2200" b="1" u="sng" dirty="0">
                <a:latin typeface="Arial" panose="020B0604020202020204" pitchFamily="34" charset="0"/>
              </a:rPr>
              <a:t> el </a:t>
            </a:r>
            <a:r>
              <a:rPr lang="en-US" sz="2200" b="1" u="sng" dirty="0" err="1">
                <a:latin typeface="Arial" panose="020B0604020202020204" pitchFamily="34" charset="0"/>
              </a:rPr>
              <a:t>margen</a:t>
            </a:r>
            <a:r>
              <a:rPr lang="en-US" sz="2200" b="1" u="sng" dirty="0">
                <a:latin typeface="Arial" panose="020B0604020202020204" pitchFamily="34" charset="0"/>
              </a:rPr>
              <a:t> (mark-up</a:t>
            </a:r>
            <a:r>
              <a:rPr lang="en-US" sz="2200" dirty="0">
                <a:latin typeface="Arial" panose="020B0604020202020204" pitchFamily="34" charset="0"/>
              </a:rPr>
              <a:t>) del </a:t>
            </a:r>
            <a:r>
              <a:rPr lang="en-US" sz="2200" dirty="0" err="1">
                <a:latin typeface="Arial" panose="020B0604020202020204" pitchFamily="34" charset="0"/>
              </a:rPr>
              <a:t>precio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sobre</a:t>
            </a:r>
            <a:r>
              <a:rPr lang="en-US" sz="2200" dirty="0">
                <a:latin typeface="Arial" panose="020B0604020202020204" pitchFamily="34" charset="0"/>
              </a:rPr>
              <a:t> el </a:t>
            </a:r>
            <a:r>
              <a:rPr lang="en-US" sz="2200" dirty="0" err="1">
                <a:latin typeface="Arial" panose="020B0604020202020204" pitchFamily="34" charset="0"/>
              </a:rPr>
              <a:t>costo</a:t>
            </a:r>
            <a:r>
              <a:rPr lang="en-US" sz="2200" dirty="0">
                <a:latin typeface="Arial" panose="020B0604020202020204" pitchFamily="34" charset="0"/>
              </a:rPr>
              <a:t> de </a:t>
            </a:r>
            <a:r>
              <a:rPr lang="en-US" sz="2200" dirty="0" err="1">
                <a:latin typeface="Arial" panose="020B0604020202020204" pitchFamily="34" charset="0"/>
              </a:rPr>
              <a:t>producción</a:t>
            </a:r>
            <a:r>
              <a:rPr lang="en-US" sz="2200" dirty="0">
                <a:latin typeface="Arial" panose="020B0604020202020204" pitchFamily="34" charset="0"/>
              </a:rPr>
              <a:t>.</a:t>
            </a:r>
          </a:p>
          <a:p>
            <a:pPr marL="249238" indent="-342900" defTabSz="464820">
              <a:lnSpc>
                <a:spcPct val="150000"/>
              </a:lnSpc>
              <a:spcBef>
                <a:spcPct val="50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n-US" sz="2200" b="1" u="sng" dirty="0">
                <a:latin typeface="Arial" panose="020B0604020202020204" pitchFamily="34" charset="0"/>
              </a:rPr>
              <a:t>El mark-up </a:t>
            </a:r>
            <a:r>
              <a:rPr lang="en-US" sz="2200" dirty="0" err="1">
                <a:latin typeface="Arial" panose="020B0604020202020204" pitchFamily="34" charset="0"/>
              </a:rPr>
              <a:t>depende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negativamente</a:t>
            </a:r>
            <a:r>
              <a:rPr lang="en-US" sz="2200" dirty="0">
                <a:latin typeface="Arial" panose="020B0604020202020204" pitchFamily="34" charset="0"/>
              </a:rPr>
              <a:t> del </a:t>
            </a:r>
            <a:r>
              <a:rPr lang="en-US" sz="2200" dirty="0" err="1">
                <a:latin typeface="Arial" panose="020B0604020202020204" pitchFamily="34" charset="0"/>
              </a:rPr>
              <a:t>nivel</a:t>
            </a:r>
            <a:r>
              <a:rPr lang="en-US" sz="2200" dirty="0">
                <a:latin typeface="Arial" panose="020B0604020202020204" pitchFamily="34" charset="0"/>
              </a:rPr>
              <a:t> de </a:t>
            </a:r>
            <a:r>
              <a:rPr lang="en-US" sz="2200" dirty="0" err="1">
                <a:latin typeface="Arial" panose="020B0604020202020204" pitchFamily="34" charset="0"/>
              </a:rPr>
              <a:t>competencia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existente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en</a:t>
            </a:r>
            <a:r>
              <a:rPr lang="en-US" sz="2200" dirty="0">
                <a:latin typeface="Arial" panose="020B0604020202020204" pitchFamily="34" charset="0"/>
              </a:rPr>
              <a:t> el </a:t>
            </a:r>
            <a:r>
              <a:rPr lang="en-US" sz="2200" dirty="0" err="1">
                <a:latin typeface="Arial" panose="020B0604020202020204" pitchFamily="34" charset="0"/>
              </a:rPr>
              <a:t>mercado</a:t>
            </a:r>
            <a:r>
              <a:rPr lang="en-US" sz="2200" dirty="0">
                <a:latin typeface="Arial" panose="020B0604020202020204" pitchFamily="34" charset="0"/>
              </a:rPr>
              <a:t>.</a:t>
            </a:r>
          </a:p>
          <a:p>
            <a:pPr marL="342900" indent="-342900" defTabSz="464820">
              <a:lnSpc>
                <a:spcPct val="150000"/>
              </a:lnSpc>
              <a:spcBef>
                <a:spcPct val="50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</a:rPr>
              <a:t>Si </a:t>
            </a:r>
            <a:r>
              <a:rPr lang="en-US" sz="2200" dirty="0" err="1">
                <a:latin typeface="Arial" panose="020B0604020202020204" pitchFamily="34" charset="0"/>
              </a:rPr>
              <a:t>todos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los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mercados</a:t>
            </a:r>
            <a:r>
              <a:rPr lang="en-US" sz="2200" dirty="0">
                <a:latin typeface="Arial" panose="020B0604020202020204" pitchFamily="34" charset="0"/>
              </a:rPr>
              <a:t> son </a:t>
            </a:r>
            <a:r>
              <a:rPr lang="en-US" sz="2200" dirty="0" err="1">
                <a:latin typeface="Arial" panose="020B0604020202020204" pitchFamily="34" charset="0"/>
              </a:rPr>
              <a:t>perfectamente</a:t>
            </a:r>
            <a:r>
              <a:rPr lang="en-US" sz="2200" dirty="0">
                <a:latin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</a:rPr>
              <a:t>competitivos</a:t>
            </a:r>
            <a:r>
              <a:rPr lang="en-US" sz="2200" dirty="0">
                <a:latin typeface="Arial" panose="020B0604020202020204" pitchFamily="34" charset="0"/>
              </a:rPr>
              <a:t>,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200" dirty="0">
                <a:latin typeface="Arial" panose="020B0604020202020204" pitchFamily="34" charset="0"/>
              </a:rPr>
              <a:t> = 0 y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P=W.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/>
              <p:cNvSpPr txBox="1"/>
              <p:nvPr/>
            </p:nvSpPr>
            <p:spPr>
              <a:xfrm>
                <a:off x="3581400" y="2079694"/>
                <a:ext cx="2109295" cy="4062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s-PE" sz="2400" dirty="0"/>
              </a:p>
            </p:txBody>
          </p:sp>
        </mc:Choice>
        <mc:Fallback xmlns="">
          <p:sp>
            <p:nvSpPr>
              <p:cNvPr id="2" name="Cuadro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2079694"/>
                <a:ext cx="2109295" cy="4062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253572" y="0"/>
            <a:ext cx="8738027" cy="815874"/>
          </a:xfrm>
        </p:spPr>
        <p:txBody>
          <a:bodyPr vert="horz" wrap="square" lIns="91440" tIns="548640" rIns="91440" bIns="457200" anchor="ctr">
            <a:noAutofit/>
          </a:bodyPr>
          <a:lstStyle/>
          <a:p>
            <a:pPr eaLnBrk="1" hangingPunct="1"/>
            <a:r>
              <a:rPr lang="en-US" sz="3600" dirty="0" err="1"/>
              <a:t>Establecimiento</a:t>
            </a:r>
            <a:r>
              <a:rPr lang="en-US" sz="3600" dirty="0"/>
              <a:t> de </a:t>
            </a:r>
            <a:r>
              <a:rPr lang="en-US" sz="3600" dirty="0" err="1"/>
              <a:t>Precios</a:t>
            </a:r>
            <a:r>
              <a:rPr lang="en-US" sz="3600" dirty="0"/>
              <a:t> y </a:t>
            </a:r>
            <a:r>
              <a:rPr lang="en-US" sz="3600" dirty="0" err="1"/>
              <a:t>Salarios</a:t>
            </a:r>
            <a:endParaRPr lang="en-US" altLang="es-PE" sz="3600" dirty="0">
              <a:solidFill>
                <a:srgbClr val="C8AD76"/>
              </a:solidFill>
            </a:endParaRPr>
          </a:p>
        </p:txBody>
      </p:sp>
      <p:sp>
        <p:nvSpPr>
          <p:cNvPr id="190467" name="Rectangle 3"/>
          <p:cNvSpPr>
            <a:spLocks noGrp="1"/>
          </p:cNvSpPr>
          <p:nvPr>
            <p:ph idx="1"/>
          </p:nvPr>
        </p:nvSpPr>
        <p:spPr>
          <a:xfrm>
            <a:off x="258436" y="685800"/>
            <a:ext cx="8352164" cy="2624455"/>
          </a:xfrm>
        </p:spPr>
        <p:txBody>
          <a:bodyPr vert="horz" wrap="square" lIns="91440" tIns="45720" rIns="91440" bIns="4572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De </a:t>
            </a:r>
            <a:r>
              <a:rPr lang="en-US" altLang="es-P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manera</a:t>
            </a: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 particular la </a:t>
            </a:r>
            <a:r>
              <a:rPr lang="en-US" altLang="es-P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ecuaciones</a:t>
            </a: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comportamiento</a:t>
            </a: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 del </a:t>
            </a:r>
            <a:r>
              <a:rPr lang="en-US" altLang="es-P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salario</a:t>
            </a: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 y </a:t>
            </a:r>
            <a:r>
              <a:rPr lang="en-US" altLang="es-P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precios</a:t>
            </a: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pueden</a:t>
            </a: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 ser:</a:t>
            </a:r>
          </a:p>
          <a:p>
            <a:pPr>
              <a:lnSpc>
                <a:spcPct val="150000"/>
              </a:lnSpc>
            </a:pPr>
            <a:r>
              <a:rPr lang="en-US" altLang="es-P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Salario</a:t>
            </a: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</a:p>
          <a:p>
            <a:pPr marL="354013" indent="0">
              <a:lnSpc>
                <a:spcPct val="150000"/>
              </a:lnSpc>
              <a:buNone/>
            </a:pP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Si A=1, </a:t>
            </a:r>
          </a:p>
        </p:txBody>
      </p:sp>
      <p:sp>
        <p:nvSpPr>
          <p:cNvPr id="4099" name="Marcador de número de diapositiva 4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53200"/>
            <a:ext cx="1143000" cy="304800"/>
          </a:xfr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s-PE" sz="1400" dirty="0">
                <a:solidFill>
                  <a:schemeClr val="bg1"/>
                </a:solidFill>
              </a:rPr>
              <a:t>10</a:t>
            </a:fld>
            <a:r>
              <a:rPr lang="en-US" altLang="es-PE" sz="1400" dirty="0">
                <a:solidFill>
                  <a:schemeClr val="bg1"/>
                </a:solidFill>
              </a:rPr>
              <a:t> of 49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1741630" y="2957440"/>
                <a:ext cx="3896901" cy="32439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s-PE" sz="2400" b="0" dirty="0">
                  <a:latin typeface="Alb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PE" sz="2400" b="0" dirty="0"/>
                  <a:t> </a:t>
                </a:r>
                <a:r>
                  <a:rPr lang="es-PE" sz="2400" b="0" dirty="0" err="1"/>
                  <a:t>ó</a:t>
                </a:r>
                <a:r>
                  <a:rPr lang="es-PE" sz="2400" b="0" dirty="0"/>
                  <a:t>	</a:t>
                </a:r>
                <a14:m>
                  <m:oMath xmlns:m="http://schemas.openxmlformats.org/officeDocument/2006/math">
                    <m:r>
                      <a:rPr lang="es-PE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PE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P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PE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PE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PE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s-PE" sz="2400" b="0" i="1" smtClean="0">
                        <a:latin typeface="Cambria Math" panose="02040503050406030204" pitchFamily="18" charset="0"/>
                      </a:rPr>
                      <m:t>𝐶𝑀𝑔</m:t>
                    </m:r>
                  </m:oMath>
                </a14:m>
                <a:endParaRPr lang="es-PE" sz="2400" b="0" dirty="0">
                  <a:latin typeface="Alb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PE" sz="2400" dirty="0">
                    <a:latin typeface="Alba"/>
                  </a:rPr>
                  <a:t>Debido a </a:t>
                </a:r>
                <a:r>
                  <a:rPr lang="en-US" altLang="es-PE" sz="2400" dirty="0">
                    <a:latin typeface="Alba"/>
                  </a:rPr>
                  <a:t>que	</a:t>
                </a:r>
                <a:r>
                  <a:rPr lang="es-PE" sz="2800" dirty="0">
                    <a:latin typeface="Alba"/>
                  </a:rPr>
                  <a:t> </a:t>
                </a:r>
                <a14:m>
                  <m:oMath xmlns:m="http://schemas.openxmlformats.org/officeDocument/2006/math"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𝐶𝑇</m:t>
                    </m:r>
                    <m:r>
                      <a:rPr lang="es-P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𝑤𝑁</m:t>
                    </m:r>
                  </m:oMath>
                </a14:m>
                <a:r>
                  <a:rPr lang="es-PE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+CF</a:t>
                </a:r>
                <a:endParaRPr lang="es-PE" sz="2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s-PE" sz="2400" dirty="0">
                    <a:latin typeface="Alba"/>
                  </a:rPr>
                  <a:t>De Minimizar 	</a:t>
                </a:r>
                <a:r>
                  <a:rPr lang="es-PE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CT = WN + CF</a:t>
                </a:r>
                <a:r>
                  <a:rPr lang="es-PE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</a:p>
              <a:p>
                <a:r>
                  <a:rPr lang="es-PE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	           </a:t>
                </a:r>
                <a:r>
                  <a:rPr lang="es-PE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s.a</a:t>
                </a:r>
                <a:r>
                  <a:rPr lang="es-PE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Y=AN</a:t>
                </a:r>
              </a:p>
              <a:p>
                <a:r>
                  <a:rPr lang="es-PE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CMg</a:t>
                </a:r>
                <a:r>
                  <a:rPr lang="es-PE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W/A</a:t>
                </a:r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630" y="2957440"/>
                <a:ext cx="3896901" cy="3243965"/>
              </a:xfrm>
              <a:prstGeom prst="rect">
                <a:avLst/>
              </a:prstGeom>
              <a:blipFill>
                <a:blip r:embed="rId2"/>
                <a:stretch>
                  <a:fillRect l="-4851" r="-313" b="-488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6D666BE7-7BF1-4272-B070-239EA180CEE0}"/>
                  </a:ext>
                </a:extLst>
              </p:cNvPr>
              <p:cNvSpPr txBox="1"/>
              <p:nvPr/>
            </p:nvSpPr>
            <p:spPr>
              <a:xfrm>
                <a:off x="1933855" y="1814761"/>
                <a:ext cx="2438400" cy="4062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s-PE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PE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PE" sz="240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6D666BE7-7BF1-4272-B070-239EA180C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3855" y="1814761"/>
                <a:ext cx="2438400" cy="4062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DD9B4670-2409-46C0-97E9-B041AF0A0ABB}"/>
              </a:ext>
            </a:extLst>
          </p:cNvPr>
          <p:cNvSpPr txBox="1"/>
          <p:nvPr/>
        </p:nvSpPr>
        <p:spPr>
          <a:xfrm>
            <a:off x="279512" y="2920151"/>
            <a:ext cx="1423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>
                <a:latin typeface="Arial" panose="020B0604020202020204" pitchFamily="34" charset="0"/>
              </a:rPr>
              <a:t>Precios: </a:t>
            </a:r>
          </a:p>
        </p:txBody>
      </p:sp>
      <p:graphicFrame>
        <p:nvGraphicFramePr>
          <p:cNvPr id="3" name="Object 9">
            <a:extLst>
              <a:ext uri="{FF2B5EF4-FFF2-40B4-BE49-F238E27FC236}">
                <a16:creationId xmlns:a16="http://schemas.microsoft.com/office/drawing/2014/main" id="{7C642802-1D6F-1C77-7426-E90CE95748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0449207"/>
              </p:ext>
            </p:extLst>
          </p:nvPr>
        </p:nvGraphicFramePr>
        <p:xfrm>
          <a:off x="1981200" y="2248115"/>
          <a:ext cx="21272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39800" imgH="228600" progId="Equation.COEE2">
                  <p:embed/>
                </p:oleObj>
              </mc:Choice>
              <mc:Fallback>
                <p:oleObj name="Equation" r:id="rId4" imgW="939800" imgH="228600" progId="Equation.COEE2">
                  <p:embed/>
                  <p:pic>
                    <p:nvPicPr>
                      <p:cNvPr id="44954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248115"/>
                        <a:ext cx="2127250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7906015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en-US" b="1" dirty="0"/>
              <a:t>La </a:t>
            </a:r>
            <a:r>
              <a:rPr lang="en-US" b="1" dirty="0" err="1"/>
              <a:t>Tasa</a:t>
            </a:r>
            <a:r>
              <a:rPr lang="en-US" b="1" dirty="0"/>
              <a:t> Natural de </a:t>
            </a:r>
            <a:r>
              <a:rPr lang="en-US" b="1" dirty="0" err="1"/>
              <a:t>Desempleo</a:t>
            </a:r>
            <a:endParaRPr lang="en-US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72244"/>
            <a:ext cx="8229600" cy="334962"/>
          </a:xfrm>
          <a:noFill/>
        </p:spPr>
        <p:txBody>
          <a:bodyPr/>
          <a:lstStyle/>
          <a:p>
            <a:pPr marL="739775" indent="-739775"/>
            <a:r>
              <a:rPr lang="en-US" sz="3200" dirty="0"/>
              <a:t>4. La </a:t>
            </a:r>
            <a:r>
              <a:rPr lang="en-US" sz="3200" dirty="0" err="1"/>
              <a:t>Tasa</a:t>
            </a:r>
            <a:r>
              <a:rPr lang="en-US" sz="3200" dirty="0"/>
              <a:t> Natural de </a:t>
            </a:r>
            <a:r>
              <a:rPr lang="en-US" sz="3200" dirty="0" err="1"/>
              <a:t>Desempleo</a:t>
            </a:r>
            <a:endParaRPr lang="en-US" sz="3200" dirty="0"/>
          </a:p>
        </p:txBody>
      </p:sp>
      <p:sp>
        <p:nvSpPr>
          <p:cNvPr id="4689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28738" y="1550987"/>
            <a:ext cx="6705600" cy="563563"/>
          </a:xfrm>
          <a:noFill/>
        </p:spPr>
        <p:txBody>
          <a:bodyPr/>
          <a:lstStyle/>
          <a:p>
            <a:pPr marL="174625" indent="-174625"/>
            <a:r>
              <a:rPr lang="en-US" sz="2000" b="0" dirty="0">
                <a:solidFill>
                  <a:schemeClr val="tx1"/>
                </a:solidFill>
              </a:rPr>
              <a:t>Si </a:t>
            </a:r>
            <a:r>
              <a:rPr lang="en-US" sz="2000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b="1" i="1" u="sng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b="1" u="sng" dirty="0">
                <a:solidFill>
                  <a:srgbClr val="0070C0"/>
                </a:solidFill>
              </a:rPr>
              <a:t> es </a:t>
            </a:r>
            <a:r>
              <a:rPr lang="en-US" sz="2000" b="1" u="sng" dirty="0" err="1">
                <a:solidFill>
                  <a:srgbClr val="0070C0"/>
                </a:solidFill>
              </a:rPr>
              <a:t>igual</a:t>
            </a:r>
            <a:r>
              <a:rPr lang="en-US" sz="2000" b="1" u="sng" dirty="0">
                <a:solidFill>
                  <a:srgbClr val="0070C0"/>
                </a:solidFill>
              </a:rPr>
              <a:t> a </a:t>
            </a:r>
            <a:r>
              <a:rPr lang="en-US" sz="2000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b="0" i="1" dirty="0">
                <a:solidFill>
                  <a:schemeClr val="tx1"/>
                </a:solidFill>
              </a:rPr>
              <a:t>, </a:t>
            </a:r>
            <a:r>
              <a:rPr lang="en-US" sz="2000" dirty="0" err="1"/>
              <a:t>entonces</a:t>
            </a:r>
            <a:r>
              <a:rPr lang="en-US" sz="2000" dirty="0"/>
              <a:t>:</a:t>
            </a:r>
            <a:endParaRPr lang="en-US" sz="2000" b="0" dirty="0">
              <a:solidFill>
                <a:schemeClr val="tx1"/>
              </a:solidFill>
            </a:endParaRPr>
          </a:p>
        </p:txBody>
      </p:sp>
      <p:sp>
        <p:nvSpPr>
          <p:cNvPr id="468997" name="Text Box 5"/>
          <p:cNvSpPr txBox="1">
            <a:spLocks noChangeArrowheads="1"/>
          </p:cNvSpPr>
          <p:nvPr/>
        </p:nvSpPr>
        <p:spPr bwMode="auto">
          <a:xfrm>
            <a:off x="1447800" y="3048000"/>
            <a:ext cx="6248400" cy="40011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defTabSz="464820">
              <a:spcBef>
                <a:spcPct val="50000"/>
              </a:spcBef>
            </a:pPr>
            <a:r>
              <a:rPr lang="en-US" dirty="0" err="1">
                <a:latin typeface="Arial" panose="020B0604020202020204" pitchFamily="34" charset="0"/>
              </a:rPr>
              <a:t>Dividiendo</a:t>
            </a:r>
            <a:r>
              <a:rPr lang="en-US" dirty="0">
                <a:latin typeface="Arial" panose="020B0604020202020204" pitchFamily="34" charset="0"/>
              </a:rPr>
              <a:t> ambos </a:t>
            </a:r>
            <a:r>
              <a:rPr lang="en-US" dirty="0" err="1">
                <a:latin typeface="Arial" panose="020B0604020202020204" pitchFamily="34" charset="0"/>
              </a:rPr>
              <a:t>lados</a:t>
            </a:r>
            <a:r>
              <a:rPr lang="en-US" dirty="0">
                <a:latin typeface="Arial" panose="020B0604020202020204" pitchFamily="34" charset="0"/>
              </a:rPr>
              <a:t> por el </a:t>
            </a:r>
            <a:r>
              <a:rPr lang="en-US" dirty="0" err="1">
                <a:latin typeface="Arial" panose="020B0604020202020204" pitchFamily="34" charset="0"/>
              </a:rPr>
              <a:t>nivel</a:t>
            </a:r>
            <a:r>
              <a:rPr lang="en-US" dirty="0">
                <a:latin typeface="Arial" panose="020B0604020202020204" pitchFamily="34" charset="0"/>
              </a:rPr>
              <a:t> de </a:t>
            </a:r>
            <a:r>
              <a:rPr lang="en-US" dirty="0" err="1">
                <a:latin typeface="Arial" panose="020B0604020202020204" pitchFamily="34" charset="0"/>
              </a:rPr>
              <a:t>precios</a:t>
            </a:r>
            <a:r>
              <a:rPr lang="en-US" dirty="0"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468999" name="Rectangle 7"/>
          <p:cNvSpPr>
            <a:spLocks noChangeArrowheads="1"/>
          </p:cNvSpPr>
          <p:nvPr/>
        </p:nvSpPr>
        <p:spPr bwMode="auto">
          <a:xfrm>
            <a:off x="1276350" y="4811713"/>
            <a:ext cx="7486650" cy="914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dirty="0">
                <a:latin typeface="Arial" panose="020B0604020202020204" pitchFamily="34" charset="0"/>
              </a:rPr>
              <a:t>La </a:t>
            </a:r>
            <a:r>
              <a:rPr lang="en-US" dirty="0" err="1">
                <a:latin typeface="Arial" panose="020B0604020202020204" pitchFamily="34" charset="0"/>
              </a:rPr>
              <a:t>relación</a:t>
            </a:r>
            <a:r>
              <a:rPr lang="en-US" dirty="0">
                <a:latin typeface="Arial" panose="020B0604020202020204" pitchFamily="34" charset="0"/>
              </a:rPr>
              <a:t> entre el </a:t>
            </a:r>
            <a:r>
              <a:rPr lang="en-US" dirty="0" err="1">
                <a:latin typeface="Arial" panose="020B0604020202020204" pitchFamily="34" charset="0"/>
              </a:rPr>
              <a:t>salario</a:t>
            </a:r>
            <a:r>
              <a:rPr lang="en-US" dirty="0">
                <a:latin typeface="Arial" panose="020B0604020202020204" pitchFamily="34" charset="0"/>
              </a:rPr>
              <a:t> real y la </a:t>
            </a:r>
            <a:r>
              <a:rPr lang="en-US" dirty="0" err="1">
                <a:latin typeface="Arial" panose="020B0604020202020204" pitchFamily="34" charset="0"/>
              </a:rPr>
              <a:t>tasa</a:t>
            </a:r>
            <a:r>
              <a:rPr lang="en-US" dirty="0">
                <a:latin typeface="Arial" panose="020B0604020202020204" pitchFamily="34" charset="0"/>
              </a:rPr>
              <a:t> de </a:t>
            </a:r>
            <a:r>
              <a:rPr lang="en-US" dirty="0" err="1">
                <a:latin typeface="Arial" panose="020B0604020202020204" pitchFamily="34" charset="0"/>
              </a:rPr>
              <a:t>desempleo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es</a:t>
            </a:r>
            <a:r>
              <a:rPr lang="en-US" dirty="0">
                <a:latin typeface="Arial" panose="020B0604020202020204" pitchFamily="34" charset="0"/>
              </a:rPr>
              <a:t> la </a:t>
            </a:r>
            <a:r>
              <a:rPr lang="en-US" b="1" dirty="0" err="1">
                <a:latin typeface="Arial" panose="020B0604020202020204" pitchFamily="34" charset="0"/>
              </a:rPr>
              <a:t>ecuación</a:t>
            </a:r>
            <a:r>
              <a:rPr lang="en-US" b="1" dirty="0">
                <a:latin typeface="Arial" panose="020B0604020202020204" pitchFamily="34" charset="0"/>
              </a:rPr>
              <a:t> de </a:t>
            </a:r>
            <a:r>
              <a:rPr lang="en-US" b="1" dirty="0" err="1">
                <a:latin typeface="Arial" panose="020B0604020202020204" pitchFamily="34" charset="0"/>
              </a:rPr>
              <a:t>salarios</a:t>
            </a:r>
            <a:r>
              <a:rPr lang="en-US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69000" name="Rectangle 8"/>
          <p:cNvSpPr>
            <a:spLocks noChangeArrowheads="1"/>
          </p:cNvSpPr>
          <p:nvPr/>
        </p:nvSpPr>
        <p:spPr bwMode="auto"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Ecuación</a:t>
            </a:r>
            <a:r>
              <a:rPr lang="en-US" sz="2400" b="1" dirty="0">
                <a:solidFill>
                  <a:srgbClr val="008080"/>
                </a:solidFill>
                <a:latin typeface="Arial" panose="020B0604020202020204" pitchFamily="34" charset="0"/>
              </a:rPr>
              <a:t> de </a:t>
            </a: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Salarios</a:t>
            </a:r>
            <a:endParaRPr lang="en-US" sz="2400" b="1" dirty="0">
              <a:solidFill>
                <a:srgbClr val="00808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69001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530600" y="2286000"/>
          <a:ext cx="20828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62965" imgH="190500" progId="Equation.COEE2">
                  <p:embed/>
                </p:oleObj>
              </mc:Choice>
              <mc:Fallback>
                <p:oleObj name="Equation" r:id="rId3" imgW="862965" imgH="190500" progId="Equation.COEE2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600" y="2286000"/>
                        <a:ext cx="2082800" cy="458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9003" name="Group 11"/>
          <p:cNvGrpSpPr/>
          <p:nvPr/>
        </p:nvGrpSpPr>
        <p:grpSpPr bwMode="auto">
          <a:xfrm>
            <a:off x="3662363" y="3581400"/>
            <a:ext cx="1781175" cy="1001713"/>
            <a:chOff x="2238" y="3264"/>
            <a:chExt cx="1122" cy="631"/>
          </a:xfrm>
        </p:grpSpPr>
        <p:graphicFrame>
          <p:nvGraphicFramePr>
            <p:cNvPr id="469004" name="Object 12"/>
            <p:cNvGraphicFramePr>
              <a:graphicFrameLocks noChangeAspect="1"/>
            </p:cNvGraphicFramePr>
            <p:nvPr/>
          </p:nvGraphicFramePr>
          <p:xfrm>
            <a:off x="2238" y="3264"/>
            <a:ext cx="1122" cy="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786765" imgH="393700" progId="Equation.COEE2">
                    <p:embed/>
                  </p:oleObj>
                </mc:Choice>
                <mc:Fallback>
                  <p:oleObj name="Equation" r:id="rId5" imgW="786765" imgH="393700" progId="Equation.COEE2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8" y="3264"/>
                          <a:ext cx="1122" cy="5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9005" name="Object 13"/>
            <p:cNvGraphicFramePr>
              <a:graphicFrameLocks noChangeAspect="1"/>
            </p:cNvGraphicFramePr>
            <p:nvPr/>
          </p:nvGraphicFramePr>
          <p:xfrm>
            <a:off x="2880" y="3696"/>
            <a:ext cx="384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68300" imgH="190500" progId="Equation.COEE2">
                    <p:embed/>
                  </p:oleObj>
                </mc:Choice>
                <mc:Fallback>
                  <p:oleObj name="Equation" r:id="rId7" imgW="368300" imgH="190500" progId="Equation.COEE2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3696"/>
                          <a:ext cx="384" cy="1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0327"/>
            <a:ext cx="8229600" cy="457199"/>
          </a:xfrm>
          <a:noFill/>
        </p:spPr>
        <p:txBody>
          <a:bodyPr/>
          <a:lstStyle/>
          <a:p>
            <a:pPr marL="739775" indent="-739775"/>
            <a:r>
              <a:rPr lang="en-US" sz="3200" dirty="0"/>
              <a:t>4. La </a:t>
            </a:r>
            <a:r>
              <a:rPr lang="en-US" sz="3200" dirty="0" err="1"/>
              <a:t>Tasa</a:t>
            </a:r>
            <a:r>
              <a:rPr lang="en-US" sz="3200" dirty="0"/>
              <a:t> Natural de </a:t>
            </a:r>
            <a:r>
              <a:rPr lang="en-US" sz="3200" dirty="0" err="1"/>
              <a:t>Desempleo</a:t>
            </a:r>
            <a:endParaRPr lang="en-US" sz="3200" dirty="0"/>
          </a:p>
        </p:txBody>
      </p:sp>
      <p:sp>
        <p:nvSpPr>
          <p:cNvPr id="4823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76400"/>
            <a:ext cx="6096000" cy="1447800"/>
          </a:xfrm>
          <a:noFill/>
        </p:spPr>
        <p:txBody>
          <a:bodyPr/>
          <a:lstStyle/>
          <a:p>
            <a:r>
              <a:rPr lang="en-US" sz="2000" b="0" dirty="0">
                <a:solidFill>
                  <a:schemeClr val="tx1"/>
                </a:solidFill>
              </a:rPr>
              <a:t>La </a:t>
            </a:r>
            <a:r>
              <a:rPr lang="en-US" sz="2000" b="0" dirty="0" err="1">
                <a:solidFill>
                  <a:schemeClr val="tx1"/>
                </a:solidFill>
              </a:rPr>
              <a:t>ecuación</a:t>
            </a:r>
            <a:r>
              <a:rPr lang="en-US" sz="2000" b="0" dirty="0">
                <a:solidFill>
                  <a:schemeClr val="tx1"/>
                </a:solidFill>
              </a:rPr>
              <a:t> de </a:t>
            </a:r>
            <a:r>
              <a:rPr lang="en-US" sz="2000" b="0" dirty="0" err="1">
                <a:solidFill>
                  <a:schemeClr val="tx1"/>
                </a:solidFill>
              </a:rPr>
              <a:t>precio</a:t>
            </a:r>
            <a:r>
              <a:rPr lang="en-US" sz="2000" dirty="0" err="1"/>
              <a:t>s</a:t>
            </a:r>
            <a:r>
              <a:rPr lang="en-US" sz="2000" dirty="0"/>
              <a:t> </a:t>
            </a:r>
            <a:r>
              <a:rPr lang="en-US" sz="2000" dirty="0" err="1"/>
              <a:t>es</a:t>
            </a:r>
            <a:r>
              <a:rPr lang="en-US" sz="2000" b="0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482308" name="Rectangle 4"/>
          <p:cNvSpPr>
            <a:spLocks noChangeArrowheads="1"/>
          </p:cNvSpPr>
          <p:nvPr/>
        </p:nvSpPr>
        <p:spPr bwMode="auto">
          <a:xfrm>
            <a:off x="533400" y="990600"/>
            <a:ext cx="8229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spcAft>
                <a:spcPct val="0"/>
              </a:spcAft>
            </a:pP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Ecuación</a:t>
            </a:r>
            <a:r>
              <a:rPr lang="en-US" sz="2400" b="1" dirty="0">
                <a:solidFill>
                  <a:srgbClr val="008080"/>
                </a:solidFill>
                <a:latin typeface="Arial" panose="020B0604020202020204" pitchFamily="34" charset="0"/>
              </a:rPr>
              <a:t> de </a:t>
            </a: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Precios</a:t>
            </a:r>
            <a:endParaRPr lang="en-US" sz="2400" b="1" dirty="0">
              <a:solidFill>
                <a:srgbClr val="008080"/>
              </a:solidFill>
              <a:latin typeface="Arial" panose="020B0604020202020204" pitchFamily="34" charset="0"/>
            </a:endParaRPr>
          </a:p>
        </p:txBody>
      </p:sp>
      <p:sp>
        <p:nvSpPr>
          <p:cNvPr id="482317" name="Rectangle 13"/>
          <p:cNvSpPr>
            <a:spLocks noChangeArrowheads="1"/>
          </p:cNvSpPr>
          <p:nvPr/>
        </p:nvSpPr>
        <p:spPr bwMode="auto">
          <a:xfrm>
            <a:off x="609600" y="2895600"/>
            <a:ext cx="716280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buClr>
                <a:srgbClr val="003300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Si se divide ambos </a:t>
            </a:r>
            <a:r>
              <a:rPr lang="en-US" dirty="0" err="1">
                <a:latin typeface="Arial" panose="020B0604020202020204" pitchFamily="34" charset="0"/>
              </a:rPr>
              <a:t>lados</a:t>
            </a:r>
            <a:r>
              <a:rPr lang="en-US" dirty="0">
                <a:latin typeface="Arial" panose="020B0604020202020204" pitchFamily="34" charset="0"/>
              </a:rPr>
              <a:t> por </a:t>
            </a:r>
            <a:r>
              <a:rPr lang="en-US" i="1" dirty="0">
                <a:latin typeface="Arial" panose="020B0604020202020204" pitchFamily="34" charset="0"/>
              </a:rPr>
              <a:t>W/A</a:t>
            </a:r>
            <a:r>
              <a:rPr lang="en-US" dirty="0"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482319" name="Rectangle 15"/>
          <p:cNvSpPr>
            <a:spLocks noChangeArrowheads="1"/>
          </p:cNvSpPr>
          <p:nvPr/>
        </p:nvSpPr>
        <p:spPr bwMode="auto">
          <a:xfrm>
            <a:off x="609600" y="4495800"/>
            <a:ext cx="8153400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buClr>
                <a:srgbClr val="003300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Para </a:t>
            </a:r>
            <a:r>
              <a:rPr lang="en-US" dirty="0" err="1">
                <a:latin typeface="Arial" panose="020B0604020202020204" pitchFamily="34" charset="0"/>
              </a:rPr>
              <a:t>establecer</a:t>
            </a:r>
            <a:r>
              <a:rPr lang="en-US" dirty="0">
                <a:latin typeface="Arial" panose="020B0604020202020204" pitchFamily="34" charset="0"/>
              </a:rPr>
              <a:t> la </a:t>
            </a:r>
            <a:r>
              <a:rPr lang="en-US" dirty="0" err="1">
                <a:latin typeface="Arial" panose="020B0604020202020204" pitchFamily="34" charset="0"/>
              </a:rPr>
              <a:t>ecuación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en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términos</a:t>
            </a:r>
            <a:r>
              <a:rPr lang="en-US" dirty="0">
                <a:latin typeface="Arial" panose="020B0604020202020204" pitchFamily="34" charset="0"/>
              </a:rPr>
              <a:t> del </a:t>
            </a:r>
            <a:r>
              <a:rPr lang="en-US" dirty="0" err="1">
                <a:latin typeface="Arial" panose="020B0604020202020204" pitchFamily="34" charset="0"/>
              </a:rPr>
              <a:t>salario</a:t>
            </a:r>
            <a:r>
              <a:rPr lang="en-US" dirty="0">
                <a:latin typeface="Arial" panose="020B0604020202020204" pitchFamily="34" charset="0"/>
              </a:rPr>
              <a:t> real se </a:t>
            </a:r>
            <a:r>
              <a:rPr lang="en-US" dirty="0" err="1">
                <a:latin typeface="Arial" panose="020B0604020202020204" pitchFamily="34" charset="0"/>
              </a:rPr>
              <a:t>invierte</a:t>
            </a:r>
            <a:r>
              <a:rPr lang="en-US" dirty="0">
                <a:latin typeface="Arial" panose="020B0604020202020204" pitchFamily="34" charset="0"/>
              </a:rPr>
              <a:t> ambos </a:t>
            </a:r>
            <a:r>
              <a:rPr lang="en-US" dirty="0" err="1">
                <a:latin typeface="Arial" panose="020B0604020202020204" pitchFamily="34" charset="0"/>
              </a:rPr>
              <a:t>lados</a:t>
            </a:r>
            <a:r>
              <a:rPr lang="en-US" dirty="0">
                <a:latin typeface="Arial" panose="020B060402020202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/>
              <p:cNvSpPr txBox="1"/>
              <p:nvPr/>
            </p:nvSpPr>
            <p:spPr>
              <a:xfrm>
                <a:off x="3276600" y="2230572"/>
                <a:ext cx="2442528" cy="4062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s-PE" sz="2400" dirty="0"/>
              </a:p>
            </p:txBody>
          </p:sp>
        </mc:Choice>
        <mc:Fallback xmlns="">
          <p:sp>
            <p:nvSpPr>
              <p:cNvPr id="12" name="Cuadro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2230572"/>
                <a:ext cx="2442528" cy="4062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/>
              <p:cNvSpPr txBox="1"/>
              <p:nvPr/>
            </p:nvSpPr>
            <p:spPr>
              <a:xfrm>
                <a:off x="3375729" y="3476893"/>
                <a:ext cx="2244269" cy="8290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s-PE" sz="2400" dirty="0"/>
              </a:p>
            </p:txBody>
          </p:sp>
        </mc:Choice>
        <mc:Fallback xmlns="">
          <p:sp>
            <p:nvSpPr>
              <p:cNvPr id="14" name="CuadroTexto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5729" y="3476893"/>
                <a:ext cx="2244269" cy="8290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/>
              <p:cNvSpPr txBox="1"/>
              <p:nvPr/>
            </p:nvSpPr>
            <p:spPr>
              <a:xfrm>
                <a:off x="3276600" y="5367803"/>
                <a:ext cx="1911036" cy="8207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d>
                            <m:dPr>
                              <m:ctrlPr>
                                <a:rPr lang="es-P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PE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PE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PE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PE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PE" sz="2400" dirty="0"/>
              </a:p>
            </p:txBody>
          </p:sp>
        </mc:Choice>
        <mc:Fallback xmlns="">
          <p:sp>
            <p:nvSpPr>
              <p:cNvPr id="16" name="CuadroTexto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5367803"/>
                <a:ext cx="1911036" cy="8207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Grp="1" noChangeArrowheads="1"/>
          </p:cNvSpPr>
          <p:nvPr>
            <p:ph type="title"/>
          </p:nvPr>
        </p:nvSpPr>
        <p:spPr>
          <a:xfrm>
            <a:off x="558800" y="76200"/>
            <a:ext cx="8229600" cy="411162"/>
          </a:xfrm>
          <a:noFill/>
        </p:spPr>
        <p:txBody>
          <a:bodyPr/>
          <a:lstStyle/>
          <a:p>
            <a:pPr marL="739775" indent="-739775"/>
            <a:r>
              <a:rPr lang="en-US" sz="3200" dirty="0"/>
              <a:t>4. La </a:t>
            </a:r>
            <a:r>
              <a:rPr lang="en-US" sz="3200" dirty="0" err="1"/>
              <a:t>Tasa</a:t>
            </a:r>
            <a:r>
              <a:rPr lang="en-US" sz="3200" dirty="0"/>
              <a:t> Natural de </a:t>
            </a:r>
            <a:r>
              <a:rPr lang="en-US" sz="3200" dirty="0" err="1"/>
              <a:t>Desempleo</a:t>
            </a:r>
            <a:endParaRPr lang="en-US" sz="3200" dirty="0"/>
          </a:p>
        </p:txBody>
      </p:sp>
      <p:sp>
        <p:nvSpPr>
          <p:cNvPr id="474120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28774"/>
            <a:ext cx="8077200" cy="2943226"/>
          </a:xfrm>
          <a:noFill/>
        </p:spPr>
        <p:txBody>
          <a:bodyPr/>
          <a:lstStyle/>
          <a:p>
            <a:pPr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sz="2200" b="0" dirty="0">
                <a:solidFill>
                  <a:schemeClr val="tx1"/>
                </a:solidFill>
              </a:rPr>
              <a:t>La </a:t>
            </a:r>
            <a:r>
              <a:rPr lang="en-US" sz="2200" b="0" dirty="0" err="1">
                <a:solidFill>
                  <a:schemeClr val="tx1"/>
                </a:solidFill>
              </a:rPr>
              <a:t>ecuación</a:t>
            </a:r>
            <a:r>
              <a:rPr lang="en-US" sz="2200" b="0" dirty="0">
                <a:solidFill>
                  <a:schemeClr val="tx1"/>
                </a:solidFill>
              </a:rPr>
              <a:t> de </a:t>
            </a:r>
            <a:r>
              <a:rPr lang="en-US" sz="2200" b="0" dirty="0" err="1">
                <a:solidFill>
                  <a:schemeClr val="tx1"/>
                </a:solidFill>
              </a:rPr>
              <a:t>precios</a:t>
            </a:r>
            <a:r>
              <a:rPr lang="en-US" sz="2200" b="0" dirty="0">
                <a:solidFill>
                  <a:schemeClr val="tx1"/>
                </a:solidFill>
              </a:rPr>
              <a:t> se </a:t>
            </a:r>
            <a:r>
              <a:rPr lang="en-US" sz="2200" b="0" dirty="0" err="1">
                <a:solidFill>
                  <a:schemeClr val="tx1"/>
                </a:solidFill>
              </a:rPr>
              <a:t>grafica</a:t>
            </a:r>
            <a:r>
              <a:rPr lang="en-US" sz="2200" b="0" dirty="0">
                <a:solidFill>
                  <a:schemeClr val="tx1"/>
                </a:solidFill>
              </a:rPr>
              <a:t> </a:t>
            </a:r>
            <a:r>
              <a:rPr lang="en-US" sz="2200" b="0" dirty="0" err="1">
                <a:solidFill>
                  <a:schemeClr val="tx1"/>
                </a:solidFill>
              </a:rPr>
              <a:t>como</a:t>
            </a:r>
            <a:r>
              <a:rPr lang="en-US" sz="2200" b="0" dirty="0">
                <a:solidFill>
                  <a:schemeClr val="tx1"/>
                </a:solidFill>
              </a:rPr>
              <a:t> </a:t>
            </a:r>
            <a:r>
              <a:rPr lang="en-US" sz="2200" b="0" dirty="0" err="1">
                <a:solidFill>
                  <a:schemeClr val="tx1"/>
                </a:solidFill>
              </a:rPr>
              <a:t>una</a:t>
            </a:r>
            <a:r>
              <a:rPr lang="en-US" sz="2200" b="0" dirty="0">
                <a:solidFill>
                  <a:schemeClr val="tx1"/>
                </a:solidFill>
              </a:rPr>
              <a:t> </a:t>
            </a:r>
            <a:r>
              <a:rPr lang="en-US" sz="2200" b="0" dirty="0" err="1">
                <a:solidFill>
                  <a:schemeClr val="tx1"/>
                </a:solidFill>
              </a:rPr>
              <a:t>línea</a:t>
            </a:r>
            <a:r>
              <a:rPr lang="en-US" sz="2200" b="0" dirty="0">
                <a:solidFill>
                  <a:schemeClr val="tx1"/>
                </a:solidFill>
              </a:rPr>
              <a:t> horizontal PS (</a:t>
            </a:r>
            <a:r>
              <a:rPr lang="en-US" sz="2200" b="0" dirty="0" err="1">
                <a:solidFill>
                  <a:schemeClr val="tx1"/>
                </a:solidFill>
              </a:rPr>
              <a:t>ecuación</a:t>
            </a:r>
            <a:r>
              <a:rPr lang="en-US" sz="2200" b="0" dirty="0">
                <a:solidFill>
                  <a:schemeClr val="tx1"/>
                </a:solidFill>
              </a:rPr>
              <a:t> de </a:t>
            </a:r>
            <a:r>
              <a:rPr lang="en-US" sz="2200" b="0" dirty="0" err="1">
                <a:solidFill>
                  <a:schemeClr val="tx1"/>
                </a:solidFill>
              </a:rPr>
              <a:t>precios</a:t>
            </a:r>
            <a:r>
              <a:rPr lang="en-US" sz="2200" b="0" dirty="0">
                <a:solidFill>
                  <a:schemeClr val="tx1"/>
                </a:solidFill>
              </a:rPr>
              <a:t>).</a:t>
            </a:r>
          </a:p>
          <a:p>
            <a:pPr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sz="2200" b="0" dirty="0">
                <a:solidFill>
                  <a:schemeClr val="tx1"/>
                </a:solidFill>
              </a:rPr>
              <a:t>El </a:t>
            </a:r>
            <a:r>
              <a:rPr lang="en-US" sz="2200" b="0" dirty="0" err="1">
                <a:solidFill>
                  <a:schemeClr val="tx1"/>
                </a:solidFill>
              </a:rPr>
              <a:t>salario</a:t>
            </a:r>
            <a:r>
              <a:rPr lang="en-US" sz="2200" b="0" dirty="0">
                <a:solidFill>
                  <a:schemeClr val="tx1"/>
                </a:solidFill>
              </a:rPr>
              <a:t> real </a:t>
            </a:r>
            <a:r>
              <a:rPr lang="en-US" sz="2200" b="0" dirty="0" err="1">
                <a:solidFill>
                  <a:schemeClr val="tx1"/>
                </a:solidFill>
              </a:rPr>
              <a:t>implícito</a:t>
            </a:r>
            <a:r>
              <a:rPr lang="en-US" sz="2200" b="0" dirty="0">
                <a:solidFill>
                  <a:schemeClr val="tx1"/>
                </a:solidFill>
              </a:rPr>
              <a:t> por </a:t>
            </a:r>
            <a:r>
              <a:rPr lang="en-US" sz="2200" dirty="0"/>
              <a:t>la </a:t>
            </a:r>
            <a:r>
              <a:rPr lang="en-US" sz="2200" dirty="0" err="1"/>
              <a:t>ecuación</a:t>
            </a:r>
            <a:r>
              <a:rPr lang="en-US" sz="2200" dirty="0"/>
              <a:t> de </a:t>
            </a:r>
            <a:r>
              <a:rPr lang="en-US" sz="2200" dirty="0" err="1"/>
              <a:t>precios</a:t>
            </a:r>
            <a:r>
              <a:rPr lang="en-US" sz="2200" dirty="0"/>
              <a:t> </a:t>
            </a:r>
            <a:r>
              <a:rPr lang="en-US" sz="2200" b="0" dirty="0">
                <a:solidFill>
                  <a:schemeClr val="tx1"/>
                </a:solidFill>
              </a:rPr>
              <a:t>es A/(1+</a:t>
            </a:r>
            <a:r>
              <a:rPr lang="en-US" sz="22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200" b="0" dirty="0">
                <a:solidFill>
                  <a:schemeClr val="tx1"/>
                </a:solidFill>
              </a:rPr>
              <a:t>), que no </a:t>
            </a:r>
            <a:r>
              <a:rPr lang="en-US" sz="2200" b="0" dirty="0" err="1">
                <a:solidFill>
                  <a:schemeClr val="tx1"/>
                </a:solidFill>
              </a:rPr>
              <a:t>depende</a:t>
            </a:r>
            <a:r>
              <a:rPr lang="en-US" sz="2200" b="0" dirty="0">
                <a:solidFill>
                  <a:schemeClr val="tx1"/>
                </a:solidFill>
              </a:rPr>
              <a:t> de la </a:t>
            </a:r>
            <a:r>
              <a:rPr lang="en-US" sz="2200" b="0" dirty="0" err="1">
                <a:solidFill>
                  <a:schemeClr val="tx1"/>
                </a:solidFill>
              </a:rPr>
              <a:t>tasa</a:t>
            </a:r>
            <a:r>
              <a:rPr lang="en-US" sz="2200" b="0" dirty="0">
                <a:solidFill>
                  <a:schemeClr val="tx1"/>
                </a:solidFill>
              </a:rPr>
              <a:t> de </a:t>
            </a:r>
            <a:r>
              <a:rPr lang="en-US" sz="2200" b="0" dirty="0" err="1">
                <a:solidFill>
                  <a:schemeClr val="tx1"/>
                </a:solidFill>
              </a:rPr>
              <a:t>desempleo</a:t>
            </a:r>
            <a:r>
              <a:rPr lang="en-US" sz="2200" b="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74115" name="Rectangle 3"/>
          <p:cNvSpPr>
            <a:spLocks noChangeArrowheads="1"/>
          </p:cNvSpPr>
          <p:nvPr/>
        </p:nvSpPr>
        <p:spPr bwMode="auto">
          <a:xfrm>
            <a:off x="533400" y="990600"/>
            <a:ext cx="8229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spcAft>
                <a:spcPct val="0"/>
              </a:spcAft>
            </a:pP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Ecuación</a:t>
            </a:r>
            <a:r>
              <a:rPr lang="en-US" sz="2400" b="1" dirty="0">
                <a:solidFill>
                  <a:srgbClr val="008080"/>
                </a:solidFill>
                <a:latin typeface="Arial" panose="020B0604020202020204" pitchFamily="34" charset="0"/>
              </a:rPr>
              <a:t> de </a:t>
            </a: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Precios</a:t>
            </a:r>
            <a:endParaRPr lang="en-US" sz="2400" b="1" dirty="0">
              <a:solidFill>
                <a:srgbClr val="00808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-9525"/>
            <a:ext cx="8229600" cy="747712"/>
          </a:xfrm>
          <a:noFill/>
        </p:spPr>
        <p:txBody>
          <a:bodyPr/>
          <a:lstStyle/>
          <a:p>
            <a:pPr marL="739775" indent="-739775"/>
            <a:r>
              <a:rPr lang="en-US" sz="3200" dirty="0"/>
              <a:t>4. La </a:t>
            </a:r>
            <a:r>
              <a:rPr lang="en-US" sz="3200" dirty="0" err="1"/>
              <a:t>Tasa</a:t>
            </a:r>
            <a:r>
              <a:rPr lang="en-US" sz="3200" dirty="0"/>
              <a:t> Natural de </a:t>
            </a:r>
            <a:r>
              <a:rPr lang="en-US" sz="3200" dirty="0" err="1"/>
              <a:t>Desempleo</a:t>
            </a:r>
            <a:endParaRPr lang="en-US" sz="3200" dirty="0"/>
          </a:p>
        </p:txBody>
      </p:sp>
      <p:sp>
        <p:nvSpPr>
          <p:cNvPr id="472071" name="Rectangle 7"/>
          <p:cNvSpPr>
            <a:spLocks noChangeArrowheads="1"/>
          </p:cNvSpPr>
          <p:nvPr/>
        </p:nvSpPr>
        <p:spPr bwMode="auto"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sz="2400" b="1" dirty="0">
                <a:solidFill>
                  <a:srgbClr val="008080"/>
                </a:solidFill>
                <a:latin typeface="Arial" panose="020B0604020202020204" pitchFamily="34" charset="0"/>
              </a:rPr>
              <a:t>El </a:t>
            </a: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nivel</a:t>
            </a:r>
            <a:r>
              <a:rPr lang="en-US" sz="2400" b="1" dirty="0">
                <a:solidFill>
                  <a:srgbClr val="008080"/>
                </a:solidFill>
                <a:latin typeface="Arial" panose="020B0604020202020204" pitchFamily="34" charset="0"/>
              </a:rPr>
              <a:t> de </a:t>
            </a: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equilibrio</a:t>
            </a:r>
            <a:r>
              <a:rPr lang="en-US" sz="2400" b="1" dirty="0">
                <a:solidFill>
                  <a:srgbClr val="008080"/>
                </a:solidFill>
                <a:latin typeface="Arial" panose="020B0604020202020204" pitchFamily="34" charset="0"/>
              </a:rPr>
              <a:t> del </a:t>
            </a: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Salarios</a:t>
            </a:r>
            <a:r>
              <a:rPr lang="en-US" sz="2400" b="1" dirty="0">
                <a:solidFill>
                  <a:srgbClr val="008080"/>
                </a:solidFill>
                <a:latin typeface="Arial" panose="020B0604020202020204" pitchFamily="34" charset="0"/>
              </a:rPr>
              <a:t> Real y el </a:t>
            </a: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Desempleo</a:t>
            </a:r>
            <a:endParaRPr lang="en-US" sz="2400" b="1" dirty="0">
              <a:solidFill>
                <a:srgbClr val="008080"/>
              </a:solidFill>
              <a:latin typeface="Arial" panose="020B0604020202020204" pitchFamily="34" charset="0"/>
            </a:endParaRPr>
          </a:p>
        </p:txBody>
      </p:sp>
      <p:sp>
        <p:nvSpPr>
          <p:cNvPr id="472085" name="Rectangle 21"/>
          <p:cNvSpPr>
            <a:spLocks noChangeArrowheads="1"/>
          </p:cNvSpPr>
          <p:nvPr/>
        </p:nvSpPr>
        <p:spPr bwMode="auto">
          <a:xfrm>
            <a:off x="585788" y="3107264"/>
            <a:ext cx="2309812" cy="31411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Arial Narrow" panose="020B0606020202030204" pitchFamily="34" charset="0"/>
              </a:rPr>
              <a:t>La </a:t>
            </a:r>
            <a:r>
              <a:rPr lang="en-US" sz="1600" dirty="0" err="1">
                <a:latin typeface="Arial Narrow" panose="020B0606020202030204" pitchFamily="34" charset="0"/>
              </a:rPr>
              <a:t>tasa</a:t>
            </a:r>
            <a:r>
              <a:rPr lang="en-US" sz="1600" dirty="0">
                <a:latin typeface="Arial Narrow" panose="020B0606020202030204" pitchFamily="34" charset="0"/>
              </a:rPr>
              <a:t> natural de </a:t>
            </a:r>
            <a:r>
              <a:rPr lang="en-US" sz="1600" dirty="0" err="1">
                <a:latin typeface="Arial Narrow" panose="020B0606020202030204" pitchFamily="34" charset="0"/>
              </a:rPr>
              <a:t>desempleo</a:t>
            </a:r>
            <a:r>
              <a:rPr lang="en-US" sz="1600" dirty="0">
                <a:latin typeface="Arial Narrow" panose="020B0606020202030204" pitchFamily="34" charset="0"/>
              </a:rPr>
              <a:t> es la </a:t>
            </a:r>
            <a:r>
              <a:rPr lang="en-US" sz="1600" dirty="0" err="1">
                <a:latin typeface="Arial Narrow" panose="020B0606020202030204" pitchFamily="34" charset="0"/>
              </a:rPr>
              <a:t>tasa</a:t>
            </a:r>
            <a:r>
              <a:rPr lang="en-US" sz="1600" dirty="0">
                <a:latin typeface="Arial Narrow" panose="020B0606020202030204" pitchFamily="34" charset="0"/>
              </a:rPr>
              <a:t> de </a:t>
            </a:r>
            <a:r>
              <a:rPr lang="en-US" sz="1600" dirty="0" err="1">
                <a:latin typeface="Arial Narrow" panose="020B0606020202030204" pitchFamily="34" charset="0"/>
              </a:rPr>
              <a:t>desempleo</a:t>
            </a:r>
            <a:r>
              <a:rPr lang="en-US" sz="1600" dirty="0">
                <a:latin typeface="Arial Narrow" panose="020B0606020202030204" pitchFamily="34" charset="0"/>
              </a:rPr>
              <a:t> </a:t>
            </a:r>
            <a:r>
              <a:rPr lang="en-US" sz="1600" dirty="0" err="1">
                <a:latin typeface="Arial Narrow" panose="020B0606020202030204" pitchFamily="34" charset="0"/>
              </a:rPr>
              <a:t>tal</a:t>
            </a:r>
            <a:r>
              <a:rPr lang="en-US" sz="1600" dirty="0">
                <a:latin typeface="Arial Narrow" panose="020B0606020202030204" pitchFamily="34" charset="0"/>
              </a:rPr>
              <a:t> que el </a:t>
            </a:r>
            <a:r>
              <a:rPr lang="en-US" sz="1600" dirty="0" err="1">
                <a:latin typeface="Arial Narrow" panose="020B0606020202030204" pitchFamily="34" charset="0"/>
              </a:rPr>
              <a:t>salario</a:t>
            </a:r>
            <a:r>
              <a:rPr lang="en-US" sz="1600" dirty="0">
                <a:latin typeface="Arial Narrow" panose="020B0606020202030204" pitchFamily="34" charset="0"/>
              </a:rPr>
              <a:t> real </a:t>
            </a:r>
            <a:r>
              <a:rPr lang="en-US" sz="1600" dirty="0" err="1">
                <a:latin typeface="Arial Narrow" panose="020B0606020202030204" pitchFamily="34" charset="0"/>
              </a:rPr>
              <a:t>elegido</a:t>
            </a:r>
            <a:r>
              <a:rPr lang="en-US" sz="1600" dirty="0">
                <a:latin typeface="Arial Narrow" panose="020B0606020202030204" pitchFamily="34" charset="0"/>
              </a:rPr>
              <a:t> </a:t>
            </a:r>
            <a:r>
              <a:rPr lang="en-US" sz="1600" dirty="0" err="1">
                <a:latin typeface="Arial Narrow" panose="020B0606020202030204" pitchFamily="34" charset="0"/>
              </a:rPr>
              <a:t>en</a:t>
            </a:r>
            <a:r>
              <a:rPr lang="en-US" sz="1600" dirty="0">
                <a:latin typeface="Arial Narrow" panose="020B0606020202030204" pitchFamily="34" charset="0"/>
              </a:rPr>
              <a:t> la </a:t>
            </a:r>
            <a:r>
              <a:rPr lang="en-US" sz="1600" dirty="0" err="1">
                <a:latin typeface="Arial Narrow" panose="020B0606020202030204" pitchFamily="34" charset="0"/>
              </a:rPr>
              <a:t>ecuación</a:t>
            </a:r>
            <a:r>
              <a:rPr lang="en-US" sz="1600" dirty="0">
                <a:latin typeface="Arial Narrow" panose="020B0606020202030204" pitchFamily="34" charset="0"/>
              </a:rPr>
              <a:t> de </a:t>
            </a:r>
            <a:r>
              <a:rPr lang="en-US" sz="1600" dirty="0" err="1">
                <a:latin typeface="Arial Narrow" panose="020B0606020202030204" pitchFamily="34" charset="0"/>
              </a:rPr>
              <a:t>salarios</a:t>
            </a:r>
            <a:r>
              <a:rPr lang="en-US" sz="1600" dirty="0">
                <a:latin typeface="Arial Narrow" panose="020B0606020202030204" pitchFamily="34" charset="0"/>
              </a:rPr>
              <a:t> es </a:t>
            </a:r>
            <a:r>
              <a:rPr lang="en-US" sz="1600" dirty="0" err="1">
                <a:latin typeface="Arial Narrow" panose="020B0606020202030204" pitchFamily="34" charset="0"/>
              </a:rPr>
              <a:t>igual</a:t>
            </a:r>
            <a:r>
              <a:rPr lang="en-US" sz="1600" dirty="0">
                <a:latin typeface="Arial Narrow" panose="020B0606020202030204" pitchFamily="34" charset="0"/>
              </a:rPr>
              <a:t> al </a:t>
            </a:r>
            <a:r>
              <a:rPr lang="en-US" sz="1600" dirty="0" err="1">
                <a:latin typeface="Arial Narrow" panose="020B0606020202030204" pitchFamily="34" charset="0"/>
              </a:rPr>
              <a:t>salario</a:t>
            </a:r>
            <a:r>
              <a:rPr lang="en-US" sz="1600" dirty="0">
                <a:latin typeface="Arial Narrow" panose="020B0606020202030204" pitchFamily="34" charset="0"/>
              </a:rPr>
              <a:t> real (</a:t>
            </a:r>
            <a:r>
              <a:rPr lang="en-US" sz="1600" dirty="0" err="1">
                <a:latin typeface="Arial Narrow" panose="020B0606020202030204" pitchFamily="34" charset="0"/>
              </a:rPr>
              <a:t>implicito</a:t>
            </a:r>
            <a:r>
              <a:rPr lang="en-US" sz="1600" dirty="0">
                <a:latin typeface="Arial Narrow" panose="020B0606020202030204" pitchFamily="34" charset="0"/>
              </a:rPr>
              <a:t>) </a:t>
            </a:r>
            <a:r>
              <a:rPr lang="en-US" sz="1600" dirty="0" err="1">
                <a:latin typeface="Arial Narrow" panose="020B0606020202030204" pitchFamily="34" charset="0"/>
              </a:rPr>
              <a:t>en</a:t>
            </a:r>
            <a:r>
              <a:rPr lang="en-US" sz="1600" dirty="0">
                <a:latin typeface="Arial Narrow" panose="020B0606020202030204" pitchFamily="34" charset="0"/>
              </a:rPr>
              <a:t> la </a:t>
            </a:r>
            <a:r>
              <a:rPr lang="en-US" sz="1600" dirty="0" err="1">
                <a:latin typeface="Arial Narrow" panose="020B0606020202030204" pitchFamily="34" charset="0"/>
              </a:rPr>
              <a:t>ecuación</a:t>
            </a:r>
            <a:r>
              <a:rPr lang="en-US" sz="1600" dirty="0">
                <a:latin typeface="Arial Narrow" panose="020B0606020202030204" pitchFamily="34" charset="0"/>
              </a:rPr>
              <a:t> de </a:t>
            </a:r>
            <a:r>
              <a:rPr lang="en-US" sz="1600" dirty="0" err="1">
                <a:latin typeface="Arial Narrow" panose="020B0606020202030204" pitchFamily="34" charset="0"/>
              </a:rPr>
              <a:t>precios</a:t>
            </a:r>
            <a:r>
              <a:rPr lang="en-US" sz="1600" dirty="0"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472087" name="Text Box 23"/>
          <p:cNvSpPr txBox="1">
            <a:spLocks noChangeArrowheads="1"/>
          </p:cNvSpPr>
          <p:nvPr/>
        </p:nvSpPr>
        <p:spPr bwMode="auto">
          <a:xfrm>
            <a:off x="585788" y="1639268"/>
            <a:ext cx="2590800" cy="11546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sz="1600" b="1" i="1" dirty="0" err="1">
                <a:latin typeface="Arial" panose="020B0604020202020204" pitchFamily="34" charset="0"/>
              </a:rPr>
              <a:t>Salarios</a:t>
            </a:r>
            <a:r>
              <a:rPr lang="en-US" sz="1600" b="1" i="1" dirty="0">
                <a:latin typeface="Arial" panose="020B0604020202020204" pitchFamily="34" charset="0"/>
              </a:rPr>
              <a:t>, </a:t>
            </a:r>
            <a:r>
              <a:rPr lang="en-US" sz="1600" b="1" i="1" dirty="0" err="1">
                <a:latin typeface="Arial" panose="020B0604020202020204" pitchFamily="34" charset="0"/>
              </a:rPr>
              <a:t>Precios</a:t>
            </a:r>
            <a:r>
              <a:rPr lang="en-US" sz="1600" b="1" i="1" dirty="0">
                <a:latin typeface="Arial" panose="020B0604020202020204" pitchFamily="34" charset="0"/>
              </a:rPr>
              <a:t> y la </a:t>
            </a:r>
            <a:r>
              <a:rPr lang="en-US" sz="1600" b="1" i="1" dirty="0" err="1">
                <a:latin typeface="Arial" panose="020B0604020202020204" pitchFamily="34" charset="0"/>
              </a:rPr>
              <a:t>Tasa</a:t>
            </a:r>
            <a:r>
              <a:rPr lang="en-US" sz="1600" b="1" i="1" dirty="0">
                <a:latin typeface="Arial" panose="020B0604020202020204" pitchFamily="34" charset="0"/>
              </a:rPr>
              <a:t> Natural de </a:t>
            </a:r>
            <a:r>
              <a:rPr lang="en-US" sz="1600" b="1" i="1" dirty="0" err="1">
                <a:latin typeface="Arial" panose="020B0604020202020204" pitchFamily="34" charset="0"/>
              </a:rPr>
              <a:t>Desempleo</a:t>
            </a:r>
            <a:endParaRPr lang="en-US" sz="1600" b="1" i="1" dirty="0">
              <a:latin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CA543A3-054C-45F5-B7F4-DDF74F5CC6CD}"/>
              </a:ext>
            </a:extLst>
          </p:cNvPr>
          <p:cNvSpPr/>
          <p:nvPr/>
        </p:nvSpPr>
        <p:spPr bwMode="auto">
          <a:xfrm>
            <a:off x="3586163" y="3429000"/>
            <a:ext cx="452437" cy="457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s-P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7D6B303-C197-0E47-25EA-3E2BF6207F4E}"/>
              </a:ext>
            </a:extLst>
          </p:cNvPr>
          <p:cNvSpPr/>
          <p:nvPr/>
        </p:nvSpPr>
        <p:spPr bwMode="auto">
          <a:xfrm>
            <a:off x="7010400" y="3276600"/>
            <a:ext cx="1752597" cy="22858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s-P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C8522C9-BB06-6B11-0E0E-B89A40DB64E8}"/>
              </a:ext>
            </a:extLst>
          </p:cNvPr>
          <p:cNvSpPr/>
          <p:nvPr/>
        </p:nvSpPr>
        <p:spPr bwMode="auto">
          <a:xfrm>
            <a:off x="7010399" y="4977913"/>
            <a:ext cx="1752597" cy="22858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s-P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F4C40E7D-74F0-7479-1271-3B661C9E7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332" y="1651506"/>
            <a:ext cx="5131868" cy="413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80629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2"/>
          <p:cNvSpPr>
            <a:spLocks noGrp="1" noChangeArrowheads="1"/>
          </p:cNvSpPr>
          <p:nvPr>
            <p:ph type="title"/>
          </p:nvPr>
        </p:nvSpPr>
        <p:spPr>
          <a:xfrm>
            <a:off x="550333" y="80963"/>
            <a:ext cx="8229600" cy="487362"/>
          </a:xfrm>
          <a:noFill/>
        </p:spPr>
        <p:txBody>
          <a:bodyPr/>
          <a:lstStyle/>
          <a:p>
            <a:pPr marL="739775" indent="-739775"/>
            <a:r>
              <a:rPr lang="en-US" sz="3200" dirty="0"/>
              <a:t>4. La </a:t>
            </a:r>
            <a:r>
              <a:rPr lang="en-US" sz="3200" dirty="0" err="1"/>
              <a:t>Tasa</a:t>
            </a:r>
            <a:r>
              <a:rPr lang="en-US" sz="3200" dirty="0"/>
              <a:t> Natural de </a:t>
            </a:r>
            <a:r>
              <a:rPr lang="en-US" sz="3200" dirty="0" err="1"/>
              <a:t>Desempleo</a:t>
            </a:r>
            <a:endParaRPr lang="en-US" sz="3200" dirty="0"/>
          </a:p>
        </p:txBody>
      </p:sp>
      <p:sp>
        <p:nvSpPr>
          <p:cNvPr id="484358" name="Rectangle 6"/>
          <p:cNvSpPr>
            <a:spLocks noChangeArrowheads="1"/>
          </p:cNvSpPr>
          <p:nvPr/>
        </p:nvSpPr>
        <p:spPr bwMode="auto"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sz="2400" b="1" dirty="0">
                <a:solidFill>
                  <a:srgbClr val="008080"/>
                </a:solidFill>
                <a:latin typeface="Arial" panose="020B0604020202020204" pitchFamily="34" charset="0"/>
              </a:rPr>
              <a:t>El </a:t>
            </a: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nivel</a:t>
            </a:r>
            <a:r>
              <a:rPr lang="en-US" sz="2400" b="1" dirty="0">
                <a:solidFill>
                  <a:srgbClr val="008080"/>
                </a:solidFill>
                <a:latin typeface="Arial" panose="020B0604020202020204" pitchFamily="34" charset="0"/>
              </a:rPr>
              <a:t> de </a:t>
            </a: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equilibrio</a:t>
            </a:r>
            <a:r>
              <a:rPr lang="en-US" sz="2400" b="1" dirty="0">
                <a:solidFill>
                  <a:srgbClr val="008080"/>
                </a:solidFill>
                <a:latin typeface="Arial" panose="020B0604020202020204" pitchFamily="34" charset="0"/>
              </a:rPr>
              <a:t> del </a:t>
            </a: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Salario</a:t>
            </a:r>
            <a:r>
              <a:rPr lang="en-US" sz="2400" b="1" dirty="0">
                <a:solidFill>
                  <a:srgbClr val="008080"/>
                </a:solidFill>
                <a:latin typeface="Arial" panose="020B0604020202020204" pitchFamily="34" charset="0"/>
              </a:rPr>
              <a:t> Real y el </a:t>
            </a: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Desempleo</a:t>
            </a:r>
            <a:endParaRPr lang="en-US" sz="2400" b="1" dirty="0">
              <a:solidFill>
                <a:srgbClr val="008080"/>
              </a:solidFill>
              <a:latin typeface="Arial" panose="020B0604020202020204" pitchFamily="34" charset="0"/>
            </a:endParaRPr>
          </a:p>
        </p:txBody>
      </p:sp>
      <p:sp>
        <p:nvSpPr>
          <p:cNvPr id="48436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609599" y="1676400"/>
            <a:ext cx="8170333" cy="1447800"/>
          </a:xfr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b="0" dirty="0">
                <a:solidFill>
                  <a:schemeClr val="tx1"/>
                </a:solidFill>
              </a:rPr>
              <a:t>De la </a:t>
            </a:r>
            <a:r>
              <a:rPr lang="en-US" sz="2000" b="0" dirty="0" err="1">
                <a:solidFill>
                  <a:schemeClr val="tx1"/>
                </a:solidFill>
              </a:rPr>
              <a:t>ecuación</a:t>
            </a:r>
            <a:r>
              <a:rPr lang="en-US" sz="2000" b="0" dirty="0">
                <a:solidFill>
                  <a:schemeClr val="tx1"/>
                </a:solidFill>
              </a:rPr>
              <a:t> de </a:t>
            </a:r>
            <a:r>
              <a:rPr lang="en-US" sz="2000" b="0" dirty="0" err="1">
                <a:solidFill>
                  <a:schemeClr val="tx1"/>
                </a:solidFill>
              </a:rPr>
              <a:t>salarios</a:t>
            </a:r>
            <a:r>
              <a:rPr lang="en-US" sz="2000" b="0" dirty="0">
                <a:solidFill>
                  <a:schemeClr val="tx1"/>
                </a:solidFill>
              </a:rPr>
              <a:t> y la </a:t>
            </a:r>
            <a:r>
              <a:rPr lang="en-US" sz="2000" b="0" dirty="0" err="1">
                <a:solidFill>
                  <a:schemeClr val="tx1"/>
                </a:solidFill>
              </a:rPr>
              <a:t>ecuación</a:t>
            </a:r>
            <a:r>
              <a:rPr lang="en-US" sz="2000" b="0" dirty="0">
                <a:solidFill>
                  <a:schemeClr val="tx1"/>
                </a:solidFill>
              </a:rPr>
              <a:t> de </a:t>
            </a:r>
            <a:r>
              <a:rPr lang="en-US" sz="2000" b="0" dirty="0" err="1">
                <a:solidFill>
                  <a:schemeClr val="tx1"/>
                </a:solidFill>
              </a:rPr>
              <a:t>precios</a:t>
            </a:r>
            <a:r>
              <a:rPr lang="en-US" sz="2000" b="0" dirty="0">
                <a:solidFill>
                  <a:schemeClr val="tx1"/>
                </a:solidFill>
              </a:rPr>
              <a:t> se </a:t>
            </a:r>
            <a:r>
              <a:rPr lang="en-US" sz="2000" b="0" dirty="0" err="1">
                <a:solidFill>
                  <a:schemeClr val="tx1"/>
                </a:solidFill>
              </a:rPr>
              <a:t>puede</a:t>
            </a:r>
            <a:r>
              <a:rPr lang="en-US" sz="2000" b="0" dirty="0">
                <a:solidFill>
                  <a:schemeClr val="tx1"/>
                </a:solidFill>
              </a:rPr>
              <a:t> </a:t>
            </a:r>
            <a:r>
              <a:rPr lang="en-US" sz="2000" b="0" dirty="0" err="1">
                <a:solidFill>
                  <a:schemeClr val="tx1"/>
                </a:solidFill>
              </a:rPr>
              <a:t>obtener</a:t>
            </a:r>
            <a:r>
              <a:rPr lang="en-US" sz="2000" b="0" dirty="0">
                <a:solidFill>
                  <a:schemeClr val="tx1"/>
                </a:solidFill>
              </a:rPr>
              <a:t> la </a:t>
            </a:r>
            <a:r>
              <a:rPr lang="en-US" sz="2000" b="0" u="sng" dirty="0" err="1">
                <a:solidFill>
                  <a:schemeClr val="tx1"/>
                </a:solidFill>
              </a:rPr>
              <a:t>tasa</a:t>
            </a:r>
            <a:r>
              <a:rPr lang="en-US" sz="2000" b="0" u="sng" dirty="0">
                <a:solidFill>
                  <a:schemeClr val="tx1"/>
                </a:solidFill>
              </a:rPr>
              <a:t> de </a:t>
            </a:r>
            <a:r>
              <a:rPr lang="en-US" sz="2000" b="0" u="sng" dirty="0" err="1">
                <a:solidFill>
                  <a:schemeClr val="tx1"/>
                </a:solidFill>
              </a:rPr>
              <a:t>desempleo</a:t>
            </a:r>
            <a:r>
              <a:rPr lang="en-US" sz="2000" b="0" u="sng" dirty="0">
                <a:solidFill>
                  <a:schemeClr val="tx1"/>
                </a:solidFill>
              </a:rPr>
              <a:t> de </a:t>
            </a:r>
            <a:r>
              <a:rPr lang="en-US" sz="2000" b="0" u="sng" dirty="0" err="1">
                <a:solidFill>
                  <a:schemeClr val="tx1"/>
                </a:solidFill>
              </a:rPr>
              <a:t>equilibrio</a:t>
            </a:r>
            <a:endParaRPr lang="en-US" sz="2000" b="0" dirty="0">
              <a:solidFill>
                <a:schemeClr val="tx1"/>
              </a:solidFill>
            </a:endParaRPr>
          </a:p>
        </p:txBody>
      </p:sp>
      <p:sp>
        <p:nvSpPr>
          <p:cNvPr id="484362" name="Text Box 10"/>
          <p:cNvSpPr txBox="1">
            <a:spLocks noChangeArrowheads="1"/>
          </p:cNvSpPr>
          <p:nvPr/>
        </p:nvSpPr>
        <p:spPr bwMode="auto">
          <a:xfrm>
            <a:off x="609599" y="4200899"/>
            <a:ext cx="8170333" cy="104124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La </a:t>
            </a:r>
            <a:r>
              <a:rPr lang="en-US" dirty="0" err="1">
                <a:latin typeface="Arial" panose="020B0604020202020204" pitchFamily="34" charset="0"/>
              </a:rPr>
              <a:t>tasa</a:t>
            </a:r>
            <a:r>
              <a:rPr lang="en-US" dirty="0">
                <a:latin typeface="Arial" panose="020B0604020202020204" pitchFamily="34" charset="0"/>
              </a:rPr>
              <a:t> de </a:t>
            </a:r>
            <a:r>
              <a:rPr lang="en-US" dirty="0" err="1">
                <a:latin typeface="Arial" panose="020B0604020202020204" pitchFamily="34" charset="0"/>
              </a:rPr>
              <a:t>desempleo</a:t>
            </a:r>
            <a:r>
              <a:rPr lang="en-US" dirty="0">
                <a:latin typeface="Arial" panose="020B0604020202020204" pitchFamily="34" charset="0"/>
              </a:rPr>
              <a:t> de </a:t>
            </a:r>
            <a:r>
              <a:rPr lang="en-US" dirty="0" err="1">
                <a:latin typeface="Arial" panose="020B0604020202020204" pitchFamily="34" charset="0"/>
              </a:rPr>
              <a:t>equilibrio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+mn-lt"/>
                <a:cs typeface="Times New Roman" panose="02020603050405020304" pitchFamily="18" charset="0"/>
              </a:rPr>
              <a:t> se </a:t>
            </a:r>
            <a:r>
              <a:rPr lang="en-US" dirty="0" err="1">
                <a:latin typeface="+mn-lt"/>
                <a:cs typeface="Times New Roman" panose="02020603050405020304" pitchFamily="18" charset="0"/>
              </a:rPr>
              <a:t>denomina</a:t>
            </a:r>
            <a:r>
              <a:rPr lang="en-US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b="1" u="sng" dirty="0" err="1">
                <a:latin typeface="+mn-lt"/>
                <a:cs typeface="Times New Roman" panose="02020603050405020304" pitchFamily="18" charset="0"/>
              </a:rPr>
              <a:t>tasa</a:t>
            </a:r>
            <a:r>
              <a:rPr lang="en-US" b="1" u="sng" dirty="0">
                <a:latin typeface="+mn-lt"/>
                <a:cs typeface="Times New Roman" panose="02020603050405020304" pitchFamily="18" charset="0"/>
              </a:rPr>
              <a:t> natural de </a:t>
            </a:r>
            <a:r>
              <a:rPr lang="en-US" b="1" u="sng" dirty="0" err="1">
                <a:latin typeface="+mn-lt"/>
                <a:cs typeface="Times New Roman" panose="02020603050405020304" pitchFamily="18" charset="0"/>
              </a:rPr>
              <a:t>desempleo</a:t>
            </a:r>
            <a:r>
              <a:rPr lang="en-US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1" dirty="0">
                <a:latin typeface="+mn-lt"/>
                <a:cs typeface="Times New Roman" panose="02020603050405020304" pitchFamily="18" charset="0"/>
              </a:rPr>
              <a:t>.</a:t>
            </a:r>
            <a:endParaRPr lang="en-US" b="1" i="1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/>
              <p:cNvSpPr txBox="1"/>
              <p:nvPr/>
            </p:nvSpPr>
            <p:spPr>
              <a:xfrm>
                <a:off x="2743200" y="3043958"/>
                <a:ext cx="4102084" cy="7700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P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P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s-PE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P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𝑒𝑞𝑢𝑖𝑙𝑖𝑏𝑟𝑖𝑜</m:t>
                          </m:r>
                        </m:sub>
                      </m:sSub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s-PE" sz="2400" i="1" dirty="0"/>
              </a:p>
            </p:txBody>
          </p:sp>
        </mc:Choice>
        <mc:Fallback xmlns="">
          <p:sp>
            <p:nvSpPr>
              <p:cNvPr id="2" name="Cuadro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043958"/>
                <a:ext cx="4102084" cy="7700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6037"/>
            <a:ext cx="8229600" cy="444500"/>
          </a:xfrm>
          <a:noFill/>
        </p:spPr>
        <p:txBody>
          <a:bodyPr/>
          <a:lstStyle/>
          <a:p>
            <a:pPr marL="739775" indent="-739775"/>
            <a:r>
              <a:rPr lang="en-US" sz="3200" dirty="0"/>
              <a:t>4. La </a:t>
            </a:r>
            <a:r>
              <a:rPr lang="en-US" sz="3200" dirty="0" err="1"/>
              <a:t>Tasa</a:t>
            </a:r>
            <a:r>
              <a:rPr lang="en-US" sz="3200" dirty="0"/>
              <a:t> Natural de </a:t>
            </a:r>
            <a:r>
              <a:rPr lang="en-US" sz="3200" dirty="0" err="1"/>
              <a:t>Desempleo</a:t>
            </a:r>
            <a:endParaRPr lang="en-US" sz="3200" dirty="0"/>
          </a:p>
        </p:txBody>
      </p:sp>
      <p:sp>
        <p:nvSpPr>
          <p:cNvPr id="496643" name="Rectangle 3"/>
          <p:cNvSpPr>
            <a:spLocks noChangeArrowheads="1"/>
          </p:cNvSpPr>
          <p:nvPr/>
        </p:nvSpPr>
        <p:spPr bwMode="auto"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sz="2400" b="1" dirty="0">
                <a:solidFill>
                  <a:srgbClr val="008080"/>
                </a:solidFill>
                <a:latin typeface="Arial" panose="020B0604020202020204" pitchFamily="34" charset="0"/>
              </a:rPr>
              <a:t>De </a:t>
            </a: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Desempleo</a:t>
            </a:r>
            <a:r>
              <a:rPr lang="en-US" sz="2400" b="1" dirty="0">
                <a:solidFill>
                  <a:srgbClr val="008080"/>
                </a:solidFill>
                <a:latin typeface="Arial" panose="020B0604020202020204" pitchFamily="34" charset="0"/>
              </a:rPr>
              <a:t> a </a:t>
            </a: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Empleo</a:t>
            </a:r>
            <a:endParaRPr lang="en-US" sz="2400" b="1" dirty="0">
              <a:solidFill>
                <a:srgbClr val="008080"/>
              </a:solidFill>
              <a:latin typeface="Arial" panose="020B0604020202020204" pitchFamily="34" charset="0"/>
            </a:endParaRPr>
          </a:p>
        </p:txBody>
      </p:sp>
      <p:sp>
        <p:nvSpPr>
          <p:cNvPr id="49664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54106" y="1385886"/>
            <a:ext cx="8633012" cy="1903037"/>
          </a:xfr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b="0" dirty="0" err="1">
                <a:solidFill>
                  <a:schemeClr val="tx1"/>
                </a:solidFill>
              </a:rPr>
              <a:t>Asociada</a:t>
            </a:r>
            <a:r>
              <a:rPr lang="en-US" sz="2000" b="0" dirty="0">
                <a:solidFill>
                  <a:schemeClr val="tx1"/>
                </a:solidFill>
              </a:rPr>
              <a:t> a la Tasa Natural de </a:t>
            </a:r>
            <a:r>
              <a:rPr lang="en-US" sz="2000" b="0" dirty="0" err="1">
                <a:solidFill>
                  <a:schemeClr val="tx1"/>
                </a:solidFill>
              </a:rPr>
              <a:t>Desempleo</a:t>
            </a:r>
            <a:r>
              <a:rPr lang="en-US" sz="2000" b="0" dirty="0">
                <a:solidFill>
                  <a:schemeClr val="tx1"/>
                </a:solidFill>
              </a:rPr>
              <a:t> </a:t>
            </a:r>
            <a:r>
              <a:rPr lang="en-US" sz="2000" b="0" dirty="0" err="1">
                <a:solidFill>
                  <a:schemeClr val="tx1"/>
                </a:solidFill>
              </a:rPr>
              <a:t>está</a:t>
            </a:r>
            <a:r>
              <a:rPr lang="en-US" sz="2000" b="0" dirty="0">
                <a:solidFill>
                  <a:schemeClr val="tx1"/>
                </a:solidFill>
              </a:rPr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b="1" u="sng" dirty="0"/>
              <a:t>Nivel Natural </a:t>
            </a:r>
            <a:r>
              <a:rPr lang="en-US" sz="2000" b="1" u="sng" dirty="0">
                <a:solidFill>
                  <a:schemeClr val="tx1"/>
                </a:solidFill>
              </a:rPr>
              <a:t>de </a:t>
            </a:r>
            <a:r>
              <a:rPr lang="en-US" sz="2000" b="1" u="sng" dirty="0" err="1">
                <a:solidFill>
                  <a:schemeClr val="tx1"/>
                </a:solidFill>
              </a:rPr>
              <a:t>Empleo</a:t>
            </a:r>
            <a:r>
              <a:rPr lang="en-US" sz="2000" b="0" dirty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Si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000" dirty="0"/>
              <a:t> </a:t>
            </a:r>
            <a:r>
              <a:rPr lang="en-US" sz="2000" dirty="0" err="1"/>
              <a:t>es</a:t>
            </a:r>
            <a:r>
              <a:rPr lang="en-US" sz="2000" dirty="0"/>
              <a:t> el </a:t>
            </a:r>
            <a:r>
              <a:rPr lang="en-US" sz="2000" u="sng" dirty="0" err="1"/>
              <a:t>desempleo</a:t>
            </a:r>
            <a:r>
              <a:rPr lang="en-US" sz="2000" dirty="0"/>
              <a:t>,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/>
              <a:t>es</a:t>
            </a:r>
            <a:r>
              <a:rPr lang="en-US" sz="2000" dirty="0"/>
              <a:t> </a:t>
            </a:r>
            <a:r>
              <a:rPr lang="en-US" sz="2000" u="sng" dirty="0" err="1"/>
              <a:t>empleo</a:t>
            </a:r>
            <a:r>
              <a:rPr lang="en-US" sz="2000" dirty="0"/>
              <a:t> y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000" dirty="0"/>
              <a:t> </a:t>
            </a:r>
            <a:r>
              <a:rPr lang="en-US" sz="2000" dirty="0" err="1"/>
              <a:t>es</a:t>
            </a:r>
            <a:r>
              <a:rPr lang="en-US" sz="2000" dirty="0"/>
              <a:t> la </a:t>
            </a:r>
            <a:r>
              <a:rPr lang="en-US" sz="2000" u="sng" dirty="0" err="1"/>
              <a:t>fuerza</a:t>
            </a:r>
            <a:r>
              <a:rPr lang="en-US" sz="2000" u="sng" dirty="0"/>
              <a:t> </a:t>
            </a:r>
            <a:r>
              <a:rPr lang="en-US" sz="2000" u="sng" dirty="0" err="1"/>
              <a:t>laboral</a:t>
            </a:r>
            <a:r>
              <a:rPr lang="en-US" sz="2000" dirty="0"/>
              <a:t> (</a:t>
            </a:r>
            <a:r>
              <a:rPr lang="en-US" sz="2000" dirty="0" err="1"/>
              <a:t>población</a:t>
            </a:r>
            <a:r>
              <a:rPr lang="en-US" sz="2000" dirty="0"/>
              <a:t> </a:t>
            </a:r>
            <a:r>
              <a:rPr lang="en-US" sz="2000" dirty="0" err="1"/>
              <a:t>activa</a:t>
            </a:r>
            <a:r>
              <a:rPr lang="en-US" sz="2000" dirty="0"/>
              <a:t>):</a:t>
            </a:r>
            <a:endParaRPr lang="en-US" sz="2000" b="0" dirty="0">
              <a:solidFill>
                <a:schemeClr val="tx1"/>
              </a:solidFill>
            </a:endParaRPr>
          </a:p>
        </p:txBody>
      </p:sp>
      <p:sp>
        <p:nvSpPr>
          <p:cNvPr id="496646" name="Rectangle 6"/>
          <p:cNvSpPr>
            <a:spLocks noChangeArrowheads="1"/>
          </p:cNvSpPr>
          <p:nvPr/>
        </p:nvSpPr>
        <p:spPr bwMode="auto">
          <a:xfrm>
            <a:off x="246528" y="4166764"/>
            <a:ext cx="8650942" cy="6065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El </a:t>
            </a:r>
            <a:r>
              <a:rPr lang="en-US" b="1" u="sng" dirty="0" err="1">
                <a:latin typeface="Arial" panose="020B0604020202020204" pitchFamily="34" charset="0"/>
              </a:rPr>
              <a:t>empleo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en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términos</a:t>
            </a:r>
            <a:r>
              <a:rPr lang="en-US" dirty="0">
                <a:latin typeface="Arial" panose="020B0604020202020204" pitchFamily="34" charset="0"/>
              </a:rPr>
              <a:t> de la </a:t>
            </a:r>
            <a:r>
              <a:rPr lang="en-US" dirty="0" err="1">
                <a:latin typeface="Arial" panose="020B0604020202020204" pitchFamily="34" charset="0"/>
              </a:rPr>
              <a:t>fuerza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laboral</a:t>
            </a:r>
            <a:r>
              <a:rPr lang="en-US" dirty="0">
                <a:latin typeface="Arial" panose="020B0604020202020204" pitchFamily="34" charset="0"/>
              </a:rPr>
              <a:t> y la </a:t>
            </a:r>
            <a:r>
              <a:rPr lang="en-US" dirty="0" err="1">
                <a:latin typeface="Arial" panose="020B0604020202020204" pitchFamily="34" charset="0"/>
              </a:rPr>
              <a:t>tasa</a:t>
            </a:r>
            <a:r>
              <a:rPr lang="en-US" dirty="0">
                <a:latin typeface="Arial" panose="020B0604020202020204" pitchFamily="34" charset="0"/>
              </a:rPr>
              <a:t> de </a:t>
            </a:r>
            <a:r>
              <a:rPr lang="en-US" dirty="0" err="1">
                <a:latin typeface="Arial" panose="020B0604020202020204" pitchFamily="34" charset="0"/>
              </a:rPr>
              <a:t>desempleo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es</a:t>
            </a:r>
            <a:r>
              <a:rPr lang="en-US" dirty="0">
                <a:latin typeface="Arial" panose="020B0604020202020204" pitchFamily="34" charset="0"/>
              </a:rPr>
              <a:t>:</a:t>
            </a:r>
          </a:p>
        </p:txBody>
      </p:sp>
      <p:graphicFrame>
        <p:nvGraphicFramePr>
          <p:cNvPr id="4966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649403"/>
              </p:ext>
            </p:extLst>
          </p:nvPr>
        </p:nvGraphicFramePr>
        <p:xfrm>
          <a:off x="3784413" y="4938338"/>
          <a:ext cx="153035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38200" imgH="190500" progId="Equation.COEE2">
                  <p:embed/>
                </p:oleObj>
              </mc:Choice>
              <mc:Fallback>
                <p:oleObj name="Equation" r:id="rId3" imgW="838200" imgH="190500" progId="Equation.COEE2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413" y="4938338"/>
                        <a:ext cx="1530350" cy="34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648" name="Rectangle 8"/>
          <p:cNvSpPr>
            <a:spLocks noChangeArrowheads="1"/>
          </p:cNvSpPr>
          <p:nvPr/>
        </p:nvSpPr>
        <p:spPr bwMode="auto">
          <a:xfrm>
            <a:off x="313764" y="5287308"/>
            <a:ext cx="7848600" cy="6556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El </a:t>
            </a:r>
            <a:r>
              <a:rPr lang="en-US" b="1" u="sng" dirty="0" err="1">
                <a:latin typeface="Arial" panose="020B0604020202020204" pitchFamily="34" charset="0"/>
              </a:rPr>
              <a:t>nivel</a:t>
            </a:r>
            <a:r>
              <a:rPr lang="en-US" b="1" u="sng" dirty="0">
                <a:latin typeface="Arial" panose="020B0604020202020204" pitchFamily="34" charset="0"/>
              </a:rPr>
              <a:t> natural de </a:t>
            </a:r>
            <a:r>
              <a:rPr lang="en-US" b="1" u="sng" dirty="0" err="1">
                <a:latin typeface="Arial" panose="020B0604020202020204" pitchFamily="34" charset="0"/>
              </a:rPr>
              <a:t>empleo</a:t>
            </a:r>
            <a:r>
              <a:rPr lang="en-US" b="1" dirty="0">
                <a:latin typeface="Arial" panose="020B0604020202020204" pitchFamily="34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está</a:t>
            </a:r>
            <a:r>
              <a:rPr lang="en-US" dirty="0">
                <a:latin typeface="Arial" panose="020B0604020202020204" pitchFamily="34" charset="0"/>
              </a:rPr>
              <a:t> dado </a:t>
            </a:r>
            <a:r>
              <a:rPr lang="en-US" dirty="0" err="1">
                <a:latin typeface="Arial" panose="020B0604020202020204" pitchFamily="34" charset="0"/>
              </a:rPr>
              <a:t>por</a:t>
            </a:r>
            <a:r>
              <a:rPr lang="en-US" dirty="0">
                <a:latin typeface="Arial" panose="020B0604020202020204" pitchFamily="34" charset="0"/>
              </a:rPr>
              <a:t>:</a:t>
            </a:r>
          </a:p>
        </p:txBody>
      </p:sp>
      <p:graphicFrame>
        <p:nvGraphicFramePr>
          <p:cNvPr id="4966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157737"/>
              </p:ext>
            </p:extLst>
          </p:nvPr>
        </p:nvGraphicFramePr>
        <p:xfrm>
          <a:off x="3690937" y="6107952"/>
          <a:ext cx="176212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65200" imgH="203200" progId="Equation.COEE2">
                  <p:embed/>
                </p:oleObj>
              </mc:Choice>
              <mc:Fallback>
                <p:oleObj name="Equation" r:id="rId5" imgW="965200" imgH="203200" progId="Equation.COEE2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0937" y="6107952"/>
                        <a:ext cx="1762125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/>
              <p:cNvSpPr txBox="1"/>
              <p:nvPr/>
            </p:nvSpPr>
            <p:spPr>
              <a:xfrm>
                <a:off x="3811979" y="3303209"/>
                <a:ext cx="1717265" cy="6316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PE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" name="Cuadro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1979" y="3303209"/>
                <a:ext cx="1717265" cy="63164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6933"/>
            <a:ext cx="8229600" cy="592667"/>
          </a:xfrm>
          <a:noFill/>
        </p:spPr>
        <p:txBody>
          <a:bodyPr/>
          <a:lstStyle/>
          <a:p>
            <a:pPr marL="739775" indent="-739775"/>
            <a:r>
              <a:rPr lang="en-US" sz="3200" dirty="0"/>
              <a:t>4. La </a:t>
            </a:r>
            <a:r>
              <a:rPr lang="en-US" sz="3200" dirty="0" err="1"/>
              <a:t>Tasa</a:t>
            </a:r>
            <a:r>
              <a:rPr lang="en-US" sz="3200" dirty="0"/>
              <a:t> Natural de </a:t>
            </a:r>
            <a:r>
              <a:rPr lang="en-US" sz="3200" dirty="0" err="1"/>
              <a:t>Desempleo</a:t>
            </a:r>
            <a:endParaRPr lang="en-US" sz="3200" dirty="0"/>
          </a:p>
        </p:txBody>
      </p:sp>
      <p:sp>
        <p:nvSpPr>
          <p:cNvPr id="498692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375965"/>
            <a:ext cx="8382000" cy="1248438"/>
          </a:xfrm>
          <a:noFill/>
        </p:spPr>
        <p:txBody>
          <a:bodyPr/>
          <a:lstStyle/>
          <a:p>
            <a:pPr>
              <a:lnSpc>
                <a:spcPct val="20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sz="2000" dirty="0"/>
              <a:t>E</a:t>
            </a:r>
            <a:r>
              <a:rPr lang="en-US" sz="2000" b="0" dirty="0">
                <a:solidFill>
                  <a:schemeClr val="tx1"/>
                </a:solidFill>
              </a:rPr>
              <a:t>l </a:t>
            </a:r>
            <a:r>
              <a:rPr lang="en-US" sz="2000" b="0" dirty="0" err="1">
                <a:solidFill>
                  <a:schemeClr val="tx1"/>
                </a:solidFill>
              </a:rPr>
              <a:t>nivel</a:t>
            </a:r>
            <a:r>
              <a:rPr lang="en-US" sz="2000" b="0" dirty="0">
                <a:solidFill>
                  <a:schemeClr val="tx1"/>
                </a:solidFill>
              </a:rPr>
              <a:t> natural de </a:t>
            </a:r>
            <a:r>
              <a:rPr lang="en-US" sz="2000" b="0" dirty="0" err="1">
                <a:solidFill>
                  <a:schemeClr val="tx1"/>
                </a:solidFill>
              </a:rPr>
              <a:t>empleo</a:t>
            </a:r>
            <a:r>
              <a:rPr lang="en-US" sz="2000" b="0" dirty="0">
                <a:solidFill>
                  <a:schemeClr val="tx1"/>
                </a:solidFill>
              </a:rPr>
              <a:t> </a:t>
            </a:r>
            <a:r>
              <a:rPr lang="en-US" sz="2000" b="0" dirty="0" err="1">
                <a:solidFill>
                  <a:schemeClr val="tx1"/>
                </a:solidFill>
              </a:rPr>
              <a:t>va</a:t>
            </a:r>
            <a:r>
              <a:rPr lang="en-US" sz="2000" b="0" dirty="0">
                <a:solidFill>
                  <a:schemeClr val="tx1"/>
                </a:solidFill>
              </a:rPr>
              <a:t> </a:t>
            </a:r>
            <a:r>
              <a:rPr lang="en-US" sz="2000" b="0" dirty="0" err="1">
                <a:solidFill>
                  <a:schemeClr val="tx1"/>
                </a:solidFill>
              </a:rPr>
              <a:t>asociado</a:t>
            </a:r>
            <a:r>
              <a:rPr lang="en-US" sz="2000" b="0" dirty="0">
                <a:solidFill>
                  <a:schemeClr val="tx1"/>
                </a:solidFill>
              </a:rPr>
              <a:t> con un </a:t>
            </a:r>
            <a:r>
              <a:rPr lang="en-US" sz="2000" b="1" u="sng" dirty="0" err="1">
                <a:solidFill>
                  <a:schemeClr val="tx1"/>
                </a:solidFill>
              </a:rPr>
              <a:t>nivel</a:t>
            </a:r>
            <a:r>
              <a:rPr lang="en-US" sz="2000" b="1" u="sng" dirty="0">
                <a:solidFill>
                  <a:schemeClr val="tx1"/>
                </a:solidFill>
              </a:rPr>
              <a:t> natural de </a:t>
            </a:r>
            <a:r>
              <a:rPr lang="en-US" sz="2000" b="1" u="sng" dirty="0" err="1">
                <a:solidFill>
                  <a:schemeClr val="tx1"/>
                </a:solidFill>
              </a:rPr>
              <a:t>producción</a:t>
            </a:r>
            <a:r>
              <a:rPr lang="en-US" sz="2000" dirty="0"/>
              <a:t> </a:t>
            </a:r>
            <a:r>
              <a:rPr lang="en-US" sz="2000" b="0" dirty="0">
                <a:solidFill>
                  <a:schemeClr val="tx1"/>
                </a:solidFill>
              </a:rPr>
              <a:t>(</a:t>
            </a:r>
            <a:r>
              <a:rPr lang="en-US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Y=N</a:t>
            </a:r>
            <a:r>
              <a:rPr lang="en-US" sz="2000" b="0" dirty="0">
                <a:solidFill>
                  <a:schemeClr val="tx1"/>
                </a:solidFill>
              </a:rPr>
              <a:t>):</a:t>
            </a:r>
          </a:p>
        </p:txBody>
      </p:sp>
      <p:graphicFrame>
        <p:nvGraphicFramePr>
          <p:cNvPr id="498698" name="Object 10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534483041"/>
              </p:ext>
            </p:extLst>
          </p:nvPr>
        </p:nvGraphicFramePr>
        <p:xfrm>
          <a:off x="3743775" y="2235500"/>
          <a:ext cx="2057400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9365" imgH="203200" progId="Equation.COEE2">
                  <p:embed/>
                </p:oleObj>
              </mc:Choice>
              <mc:Fallback>
                <p:oleObj name="Equation" r:id="rId3" imgW="1269365" imgH="203200" progId="Equation.COEE2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3775" y="2235500"/>
                        <a:ext cx="2057400" cy="3286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8691" name="Rectangle 3"/>
          <p:cNvSpPr>
            <a:spLocks noChangeArrowheads="1"/>
          </p:cNvSpPr>
          <p:nvPr/>
        </p:nvSpPr>
        <p:spPr bwMode="auto"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8080"/>
                </a:solidFill>
                <a:latin typeface="Arial" panose="020B0604020202020204" pitchFamily="34" charset="0"/>
              </a:rPr>
              <a:t>Del </a:t>
            </a: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Empleo</a:t>
            </a:r>
            <a:r>
              <a:rPr lang="en-US" sz="2400" b="1" dirty="0">
                <a:solidFill>
                  <a:srgbClr val="008080"/>
                </a:solidFill>
                <a:latin typeface="Arial" panose="020B0604020202020204" pitchFamily="34" charset="0"/>
              </a:rPr>
              <a:t> a la </a:t>
            </a:r>
            <a:r>
              <a:rPr lang="en-US" sz="2400" b="1" dirty="0" err="1">
                <a:solidFill>
                  <a:srgbClr val="008080"/>
                </a:solidFill>
                <a:latin typeface="Arial" panose="020B0604020202020204" pitchFamily="34" charset="0"/>
              </a:rPr>
              <a:t>Producción</a:t>
            </a:r>
            <a:endParaRPr lang="en-US" sz="2400" b="1" dirty="0">
              <a:solidFill>
                <a:srgbClr val="00808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8704" name="Rectangle 16"/>
              <p:cNvSpPr>
                <a:spLocks noChangeArrowheads="1"/>
              </p:cNvSpPr>
              <p:nvPr/>
            </p:nvSpPr>
            <p:spPr bwMode="auto">
              <a:xfrm>
                <a:off x="685800" y="2832433"/>
                <a:ext cx="7848600" cy="60813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+mn-lt"/>
                  </a:rPr>
                  <a:t>El </a:t>
                </a:r>
                <a:r>
                  <a:rPr lang="en-US" u="sng" dirty="0" err="1">
                    <a:latin typeface="+mn-lt"/>
                  </a:rPr>
                  <a:t>nivel</a:t>
                </a:r>
                <a:r>
                  <a:rPr lang="en-US" u="sng" dirty="0">
                    <a:latin typeface="+mn-lt"/>
                  </a:rPr>
                  <a:t> natural de </a:t>
                </a:r>
                <a:r>
                  <a:rPr lang="en-US" u="sng" dirty="0" err="1">
                    <a:latin typeface="+mn-lt"/>
                  </a:rPr>
                  <a:t>producción</a:t>
                </a:r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cumple</a:t>
                </a:r>
                <a:r>
                  <a:rPr lang="en-US" dirty="0">
                    <a:latin typeface="+mn-lt"/>
                  </a:rPr>
                  <a:t> la </a:t>
                </a:r>
                <a:r>
                  <a:rPr lang="en-US" dirty="0" err="1">
                    <a:latin typeface="+mn-lt"/>
                  </a:rPr>
                  <a:t>siguiente</a:t>
                </a:r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ecuación</a:t>
                </a:r>
                <a:r>
                  <a:rPr lang="en-US" dirty="0">
                    <a:latin typeface="Arial" panose="020B0604020202020204" pitchFamily="34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PE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PE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P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PE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PE" b="0" i="1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s-PE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PE" b="0" i="1" dirty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es-PE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PE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s-PE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s-PE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PE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PE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s-PE" b="0" i="1" dirty="0" smtClean="0">
                          <a:latin typeface="Cambria Math" panose="02040503050406030204" pitchFamily="18" charset="0"/>
                        </a:rPr>
                        <m:t>                 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es-PE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PE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s-PE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PE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PE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PE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PE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PE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PE" i="1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s-PE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PE" i="1" dirty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i="1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98704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" y="2832433"/>
                <a:ext cx="7848600" cy="608139"/>
              </a:xfrm>
              <a:prstGeom prst="rect">
                <a:avLst/>
              </a:prstGeom>
              <a:blipFill>
                <a:blip r:embed="rId6"/>
                <a:stretch>
                  <a:fillRect l="-699" b="-143434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8711" name="Group 23"/>
          <p:cNvGrpSpPr/>
          <p:nvPr/>
        </p:nvGrpSpPr>
        <p:grpSpPr bwMode="auto">
          <a:xfrm>
            <a:off x="657909" y="4230422"/>
            <a:ext cx="7984067" cy="2491053"/>
            <a:chOff x="1128" y="2976"/>
            <a:chExt cx="3912" cy="1056"/>
          </a:xfrm>
        </p:grpSpPr>
        <p:sp>
          <p:nvSpPr>
            <p:cNvPr id="498707" name="Rectangle 19"/>
            <p:cNvSpPr>
              <a:spLocks noChangeArrowheads="1"/>
            </p:cNvSpPr>
            <p:nvPr/>
          </p:nvSpPr>
          <p:spPr bwMode="auto">
            <a:xfrm>
              <a:off x="1128" y="2976"/>
              <a:ext cx="3504" cy="105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latin typeface="Arial" panose="020B0604020202020204" pitchFamily="34" charset="0"/>
                </a:rPr>
                <a:t>La </a:t>
              </a:r>
              <a:r>
                <a:rPr lang="en-US" u="sng" dirty="0" err="1">
                  <a:latin typeface="Arial" panose="020B0604020202020204" pitchFamily="34" charset="0"/>
                </a:rPr>
                <a:t>tasa</a:t>
              </a:r>
              <a:r>
                <a:rPr lang="en-US" u="sng" dirty="0">
                  <a:latin typeface="Arial" panose="020B0604020202020204" pitchFamily="34" charset="0"/>
                </a:rPr>
                <a:t> natural de </a:t>
              </a:r>
              <a:r>
                <a:rPr lang="en-US" u="sng" dirty="0" err="1">
                  <a:latin typeface="Arial" panose="020B0604020202020204" pitchFamily="34" charset="0"/>
                </a:rPr>
                <a:t>producción</a:t>
              </a:r>
              <a:r>
                <a:rPr lang="en-US" dirty="0">
                  <a:latin typeface="Arial" panose="020B0604020202020204" pitchFamily="34" charset="0"/>
                </a:rPr>
                <a:t> es </a:t>
              </a:r>
              <a:r>
                <a:rPr lang="en-US" dirty="0" err="1">
                  <a:latin typeface="Arial" panose="020B0604020202020204" pitchFamily="34" charset="0"/>
                </a:rPr>
                <a:t>tal</a:t>
              </a:r>
              <a:r>
                <a:rPr lang="en-US" dirty="0">
                  <a:latin typeface="Arial" panose="020B0604020202020204" pitchFamily="34" charset="0"/>
                </a:rPr>
                <a:t> que, a la </a:t>
              </a:r>
              <a:r>
                <a:rPr lang="en-US" dirty="0" err="1">
                  <a:latin typeface="Arial" panose="020B0604020202020204" pitchFamily="34" charset="0"/>
                </a:rPr>
                <a:t>tasa</a:t>
              </a:r>
              <a:r>
                <a:rPr lang="en-US" dirty="0">
                  <a:latin typeface="Arial" panose="020B0604020202020204" pitchFamily="34" charset="0"/>
                </a:rPr>
                <a:t> de </a:t>
              </a:r>
              <a:r>
                <a:rPr lang="en-US" dirty="0" err="1">
                  <a:latin typeface="Arial" panose="020B0604020202020204" pitchFamily="34" charset="0"/>
                </a:rPr>
                <a:t>desempleo</a:t>
              </a:r>
              <a:r>
                <a:rPr lang="en-US" dirty="0">
                  <a:latin typeface="Arial" panose="020B0604020202020204" pitchFamily="34" charset="0"/>
                </a:rPr>
                <a:t> </a:t>
              </a:r>
              <a:r>
                <a:rPr lang="en-US" dirty="0" err="1">
                  <a:latin typeface="Arial" panose="020B0604020202020204" pitchFamily="34" charset="0"/>
                </a:rPr>
                <a:t>asociada</a:t>
              </a:r>
              <a:r>
                <a:rPr lang="en-US" dirty="0">
                  <a:latin typeface="Arial" panose="020B0604020202020204" pitchFamily="34" charset="0"/>
                </a:rPr>
                <a:t>                  </a:t>
              </a:r>
              <a:br>
                <a:rPr lang="en-US" dirty="0">
                  <a:latin typeface="Arial" panose="020B0604020202020204" pitchFamily="34" charset="0"/>
                </a:rPr>
              </a:br>
              <a:r>
                <a:rPr lang="en-US" dirty="0">
                  <a:latin typeface="Arial" panose="020B0604020202020204" pitchFamily="34" charset="0"/>
                </a:rPr>
                <a:t>el </a:t>
              </a:r>
              <a:r>
                <a:rPr lang="en-US" dirty="0" err="1">
                  <a:latin typeface="Arial" panose="020B0604020202020204" pitchFamily="34" charset="0"/>
                </a:rPr>
                <a:t>salario</a:t>
              </a:r>
              <a:r>
                <a:rPr lang="en-US" dirty="0">
                  <a:latin typeface="Arial" panose="020B0604020202020204" pitchFamily="34" charset="0"/>
                </a:rPr>
                <a:t> real </a:t>
              </a:r>
              <a:r>
                <a:rPr lang="en-US" dirty="0" err="1">
                  <a:latin typeface="Arial" panose="020B0604020202020204" pitchFamily="34" charset="0"/>
                </a:rPr>
                <a:t>elegido</a:t>
              </a:r>
              <a:r>
                <a:rPr lang="en-US" dirty="0">
                  <a:latin typeface="Arial" panose="020B0604020202020204" pitchFamily="34" charset="0"/>
                </a:rPr>
                <a:t> </a:t>
              </a:r>
              <a:r>
                <a:rPr lang="en-US" dirty="0" err="1">
                  <a:latin typeface="Arial" panose="020B0604020202020204" pitchFamily="34" charset="0"/>
                </a:rPr>
                <a:t>en</a:t>
              </a:r>
              <a:r>
                <a:rPr lang="en-US" dirty="0">
                  <a:latin typeface="Arial" panose="020B0604020202020204" pitchFamily="34" charset="0"/>
                </a:rPr>
                <a:t> la </a:t>
              </a:r>
              <a:r>
                <a:rPr lang="en-US" dirty="0" err="1">
                  <a:latin typeface="Arial" panose="020B0604020202020204" pitchFamily="34" charset="0"/>
                </a:rPr>
                <a:t>ecuación</a:t>
              </a:r>
              <a:r>
                <a:rPr lang="en-US" dirty="0">
                  <a:latin typeface="Arial" panose="020B0604020202020204" pitchFamily="34" charset="0"/>
                </a:rPr>
                <a:t> de </a:t>
              </a:r>
              <a:r>
                <a:rPr lang="en-US" dirty="0" err="1">
                  <a:latin typeface="Arial" panose="020B0604020202020204" pitchFamily="34" charset="0"/>
                </a:rPr>
                <a:t>salarios</a:t>
              </a:r>
              <a:r>
                <a:rPr lang="en-US" dirty="0">
                  <a:latin typeface="Arial" panose="020B0604020202020204" pitchFamily="34" charset="0"/>
                </a:rPr>
                <a:t> es </a:t>
              </a:r>
              <a:r>
                <a:rPr lang="en-US" dirty="0" err="1">
                  <a:latin typeface="Arial" panose="020B0604020202020204" pitchFamily="34" charset="0"/>
                </a:rPr>
                <a:t>igual</a:t>
              </a:r>
              <a:r>
                <a:rPr lang="en-US" dirty="0">
                  <a:latin typeface="Arial" panose="020B0604020202020204" pitchFamily="34" charset="0"/>
                </a:rPr>
                <a:t> al </a:t>
              </a:r>
              <a:r>
                <a:rPr lang="en-US" dirty="0" err="1">
                  <a:latin typeface="Arial" panose="020B0604020202020204" pitchFamily="34" charset="0"/>
                </a:rPr>
                <a:t>salario</a:t>
              </a:r>
              <a:r>
                <a:rPr lang="en-US" dirty="0">
                  <a:latin typeface="Arial" panose="020B0604020202020204" pitchFamily="34" charset="0"/>
                </a:rPr>
                <a:t> real que </a:t>
              </a:r>
              <a:r>
                <a:rPr lang="en-US" dirty="0" err="1">
                  <a:latin typeface="Arial" panose="020B0604020202020204" pitchFamily="34" charset="0"/>
                </a:rPr>
                <a:t>implica</a:t>
              </a:r>
              <a:r>
                <a:rPr lang="en-US" dirty="0">
                  <a:latin typeface="Arial" panose="020B0604020202020204" pitchFamily="34" charset="0"/>
                </a:rPr>
                <a:t> </a:t>
              </a:r>
              <a:r>
                <a:rPr lang="en-US" dirty="0" err="1">
                  <a:latin typeface="Arial" panose="020B0604020202020204" pitchFamily="34" charset="0"/>
                </a:rPr>
                <a:t>tasa</a:t>
              </a:r>
              <a:r>
                <a:rPr lang="en-US" dirty="0">
                  <a:latin typeface="Arial" panose="020B0604020202020204" pitchFamily="34" charset="0"/>
                </a:rPr>
                <a:t> natural de </a:t>
              </a:r>
              <a:r>
                <a:rPr lang="en-US" dirty="0" err="1">
                  <a:latin typeface="Arial" panose="020B0604020202020204" pitchFamily="34" charset="0"/>
                </a:rPr>
                <a:t>producción</a:t>
              </a:r>
              <a:r>
                <a:rPr lang="en-US" dirty="0">
                  <a:latin typeface="Arial" panose="020B0604020202020204" pitchFamily="34" charset="0"/>
                </a:rPr>
                <a:t>.</a:t>
              </a:r>
            </a:p>
          </p:txBody>
        </p:sp>
        <p:graphicFrame>
          <p:nvGraphicFramePr>
            <p:cNvPr id="498708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3107927"/>
                </p:ext>
              </p:extLst>
            </p:nvPr>
          </p:nvGraphicFramePr>
          <p:xfrm>
            <a:off x="2603" y="3287"/>
            <a:ext cx="480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711200" imgH="393700" progId="Equation.COEE2">
                    <p:embed/>
                  </p:oleObj>
                </mc:Choice>
                <mc:Fallback>
                  <p:oleObj name="Equation" r:id="rId7" imgW="711200" imgH="393700" progId="Equation.COEE2">
                    <p:embed/>
                    <p:pic>
                      <p:nvPicPr>
                        <p:cNvPr id="0" name="Picture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3" y="3287"/>
                          <a:ext cx="480" cy="26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Rectangle 22"/>
            <p:cNvSpPr>
              <a:spLocks noChangeArrowheads="1"/>
            </p:cNvSpPr>
            <p:nvPr/>
          </p:nvSpPr>
          <p:spPr bwMode="auto">
            <a:xfrm>
              <a:off x="4848" y="3168"/>
              <a:ext cx="192" cy="38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marL="339725" indent="-339725"/>
              <a:r>
                <a:rPr lang="en-US">
                  <a:latin typeface="Arial" panose="020B0604020202020204" pitchFamily="34" charset="0"/>
                </a:rPr>
                <a:t>,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8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8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1679</TotalTime>
  <Words>975</Words>
  <Application>Microsoft Office PowerPoint</Application>
  <PresentationFormat>Presentación en pantalla (4:3)</PresentationFormat>
  <Paragraphs>106</Paragraphs>
  <Slides>18</Slides>
  <Notes>13</Notes>
  <HiddenSlides>0</HiddenSlides>
  <MMClips>0</MMClips>
  <ScaleCrop>false</ScaleCrop>
  <HeadingPairs>
    <vt:vector size="8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9" baseType="lpstr">
      <vt:lpstr>Alba</vt:lpstr>
      <vt:lpstr>Arial</vt:lpstr>
      <vt:lpstr>Arial Narrow</vt:lpstr>
      <vt:lpstr>Calibri</vt:lpstr>
      <vt:lpstr>Calibri Light</vt:lpstr>
      <vt:lpstr>Cambria Math</vt:lpstr>
      <vt:lpstr>Times New Roman</vt:lpstr>
      <vt:lpstr>Wingdings</vt:lpstr>
      <vt:lpstr>Business Cooperate</vt:lpstr>
      <vt:lpstr>Diseño personalizado</vt:lpstr>
      <vt:lpstr>Equation</vt:lpstr>
      <vt:lpstr>Presentación de PowerPoint</vt:lpstr>
      <vt:lpstr>Presentación de PowerPoint</vt:lpstr>
      <vt:lpstr>2.  Determinación de los Salarios</vt:lpstr>
      <vt:lpstr>2.  Determinación de los Salarios</vt:lpstr>
      <vt:lpstr>2.  Determinación de los Salarios</vt:lpstr>
      <vt:lpstr>2.  Determinación de los Salarios</vt:lpstr>
      <vt:lpstr>Presentación de PowerPoint</vt:lpstr>
      <vt:lpstr>3.  Establecimiento de Precios</vt:lpstr>
      <vt:lpstr>3.  Establecimiento de Precios</vt:lpstr>
      <vt:lpstr>Establecimiento de Precios y Salarios</vt:lpstr>
      <vt:lpstr>Presentación de PowerPoint</vt:lpstr>
      <vt:lpstr>4. La Tasa Natural de Desempleo</vt:lpstr>
      <vt:lpstr>4. La Tasa Natural de Desempleo</vt:lpstr>
      <vt:lpstr>4. La Tasa Natural de Desempleo</vt:lpstr>
      <vt:lpstr>4. La Tasa Natural de Desempleo</vt:lpstr>
      <vt:lpstr>4. La Tasa Natural de Desempleo</vt:lpstr>
      <vt:lpstr>4. La Tasa Natural de Desempleo</vt:lpstr>
      <vt:lpstr>4. La Tasa Natural de Desempleo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Yvonn Quijano</dc:creator>
  <cp:lastModifiedBy>Azanero Saona, Jose  Manuel</cp:lastModifiedBy>
  <cp:revision>252</cp:revision>
  <dcterms:created xsi:type="dcterms:W3CDTF">2005-05-11T00:59:00Z</dcterms:created>
  <dcterms:modified xsi:type="dcterms:W3CDTF">2025-06-23T03:02:40Z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1033-10.2.0.6020</vt:lpwstr>
  </property>
</Properties>
</file>