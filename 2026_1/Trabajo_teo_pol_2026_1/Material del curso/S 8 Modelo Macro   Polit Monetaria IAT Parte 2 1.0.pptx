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62"/>
  </p:notesMasterIdLst>
  <p:handoutMasterIdLst>
    <p:handoutMasterId r:id="rId63"/>
  </p:handoutMasterIdLst>
  <p:sldIdLst>
    <p:sldId id="256" r:id="rId5"/>
    <p:sldId id="296" r:id="rId6"/>
    <p:sldId id="399" r:id="rId7"/>
    <p:sldId id="400" r:id="rId8"/>
    <p:sldId id="334" r:id="rId9"/>
    <p:sldId id="551" r:id="rId10"/>
    <p:sldId id="552" r:id="rId11"/>
    <p:sldId id="554" r:id="rId12"/>
    <p:sldId id="553" r:id="rId13"/>
    <p:sldId id="301" r:id="rId14"/>
    <p:sldId id="312" r:id="rId15"/>
    <p:sldId id="310" r:id="rId16"/>
    <p:sldId id="309" r:id="rId17"/>
    <p:sldId id="311" r:id="rId18"/>
    <p:sldId id="307" r:id="rId19"/>
    <p:sldId id="302" r:id="rId20"/>
    <p:sldId id="303" r:id="rId21"/>
    <p:sldId id="308" r:id="rId22"/>
    <p:sldId id="304" r:id="rId23"/>
    <p:sldId id="313" r:id="rId24"/>
    <p:sldId id="305" r:id="rId25"/>
    <p:sldId id="314" r:id="rId26"/>
    <p:sldId id="306" r:id="rId27"/>
    <p:sldId id="315" r:id="rId28"/>
    <p:sldId id="316" r:id="rId29"/>
    <p:sldId id="317" r:id="rId30"/>
    <p:sldId id="318" r:id="rId31"/>
    <p:sldId id="319" r:id="rId32"/>
    <p:sldId id="320" r:id="rId33"/>
    <p:sldId id="321" r:id="rId34"/>
    <p:sldId id="322" r:id="rId35"/>
    <p:sldId id="555" r:id="rId36"/>
    <p:sldId id="559" r:id="rId37"/>
    <p:sldId id="560" r:id="rId38"/>
    <p:sldId id="561" r:id="rId39"/>
    <p:sldId id="562" r:id="rId40"/>
    <p:sldId id="563" r:id="rId41"/>
    <p:sldId id="564" r:id="rId42"/>
    <p:sldId id="565" r:id="rId43"/>
    <p:sldId id="556" r:id="rId44"/>
    <p:sldId id="566" r:id="rId45"/>
    <p:sldId id="567" r:id="rId46"/>
    <p:sldId id="568" r:id="rId47"/>
    <p:sldId id="569" r:id="rId48"/>
    <p:sldId id="570" r:id="rId49"/>
    <p:sldId id="571" r:id="rId50"/>
    <p:sldId id="572" r:id="rId51"/>
    <p:sldId id="558" r:id="rId52"/>
    <p:sldId id="573" r:id="rId53"/>
    <p:sldId id="574" r:id="rId54"/>
    <p:sldId id="579" r:id="rId55"/>
    <p:sldId id="580" r:id="rId56"/>
    <p:sldId id="581" r:id="rId57"/>
    <p:sldId id="582" r:id="rId58"/>
    <p:sldId id="264" r:id="rId59"/>
    <p:sldId id="583" r:id="rId60"/>
    <p:sldId id="401" r:id="rId61"/>
  </p:sldIdLst>
  <p:sldSz cx="12192000" cy="6858000"/>
  <p:notesSz cx="6858000" cy="9144000"/>
  <p:defaultTextStyle>
    <a:defPPr rtl="0">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ción predeterminada" id="{D77F8854-39AE-4370-A8DD-04C5E0290F03}">
          <p14:sldIdLst>
            <p14:sldId id="256"/>
            <p14:sldId id="296"/>
            <p14:sldId id="399"/>
            <p14:sldId id="400"/>
            <p14:sldId id="334"/>
            <p14:sldId id="551"/>
            <p14:sldId id="552"/>
          </p14:sldIdLst>
        </p14:section>
        <p14:section name="Sección sin título" id="{11040AB1-03F3-4BFA-A0C8-A5CA85E6DF46}">
          <p14:sldIdLst>
            <p14:sldId id="554"/>
          </p14:sldIdLst>
        </p14:section>
        <p14:section name="Modelo Lucas" id="{ED91E992-311F-4257-BF6D-BF18A7E3E254}">
          <p14:sldIdLst>
            <p14:sldId id="553"/>
            <p14:sldId id="301"/>
            <p14:sldId id="312"/>
            <p14:sldId id="310"/>
          </p14:sldIdLst>
        </p14:section>
        <p14:section name="Modelo" id="{72AFB3D5-8912-40A9-BD0B-896A526B9A1B}">
          <p14:sldIdLst>
            <p14:sldId id="309"/>
            <p14:sldId id="311"/>
            <p14:sldId id="307"/>
            <p14:sldId id="302"/>
            <p14:sldId id="303"/>
            <p14:sldId id="308"/>
            <p14:sldId id="304"/>
            <p14:sldId id="313"/>
            <p14:sldId id="305"/>
            <p14:sldId id="314"/>
          </p14:sldIdLst>
        </p14:section>
        <p14:section name="Sección sin título" id="{A213BF08-BE6A-47DB-B324-52F77DF7D09A}">
          <p14:sldIdLst>
            <p14:sldId id="306"/>
            <p14:sldId id="315"/>
            <p14:sldId id="316"/>
            <p14:sldId id="317"/>
            <p14:sldId id="318"/>
            <p14:sldId id="319"/>
            <p14:sldId id="320"/>
            <p14:sldId id="321"/>
            <p14:sldId id="322"/>
          </p14:sldIdLst>
        </p14:section>
        <p14:section name="Rigideces salariales y Expectativas" id="{38A54B43-7333-419A-B3F3-980C29D2928A}">
          <p14:sldIdLst>
            <p14:sldId id="555"/>
            <p14:sldId id="559"/>
            <p14:sldId id="560"/>
            <p14:sldId id="561"/>
            <p14:sldId id="562"/>
            <p14:sldId id="563"/>
            <p14:sldId id="564"/>
            <p14:sldId id="565"/>
          </p14:sldIdLst>
        </p14:section>
        <p14:section name="Rigidez de px e indexacion" id="{0A5785F9-3A2D-48B4-A78B-BA4629B69541}">
          <p14:sldIdLst>
            <p14:sldId id="556"/>
            <p14:sldId id="566"/>
            <p14:sldId id="567"/>
            <p14:sldId id="568"/>
            <p14:sldId id="569"/>
            <p14:sldId id="570"/>
            <p14:sldId id="571"/>
            <p14:sldId id="572"/>
          </p14:sldIdLst>
        </p14:section>
        <p14:section name="La nueva PC" id="{5CEF78DC-ECC6-4750-AE44-603D9E744475}">
          <p14:sldIdLst>
            <p14:sldId id="558"/>
            <p14:sldId id="573"/>
            <p14:sldId id="574"/>
            <p14:sldId id="579"/>
            <p14:sldId id="580"/>
            <p14:sldId id="581"/>
            <p14:sldId id="582"/>
            <p14:sldId id="264"/>
            <p14:sldId id="583"/>
            <p14:sldId id="401"/>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987" autoAdjust="0"/>
    <p:restoredTop sz="94641" autoAdjust="0"/>
  </p:normalViewPr>
  <p:slideViewPr>
    <p:cSldViewPr snapToGrid="0">
      <p:cViewPr varScale="1">
        <p:scale>
          <a:sx n="75" d="100"/>
          <a:sy n="75" d="100"/>
        </p:scale>
        <p:origin x="854" y="43"/>
      </p:cViewPr>
      <p:guideLst/>
    </p:cSldViewPr>
  </p:slideViewPr>
  <p:notesTextViewPr>
    <p:cViewPr>
      <p:scale>
        <a:sx n="1" d="1"/>
        <a:sy n="1" d="1"/>
      </p:scale>
      <p:origin x="0" y="0"/>
    </p:cViewPr>
  </p:notesTextViewPr>
  <p:sorterViewPr>
    <p:cViewPr>
      <p:scale>
        <a:sx n="120" d="100"/>
        <a:sy n="120" d="100"/>
      </p:scale>
      <p:origin x="0" y="0"/>
    </p:cViewPr>
  </p:sorterViewPr>
  <p:notesViewPr>
    <p:cSldViewPr snapToGrid="0">
      <p:cViewPr varScale="1">
        <p:scale>
          <a:sx n="88" d="100"/>
          <a:sy n="88" d="100"/>
        </p:scale>
        <p:origin x="3822" y="66"/>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handoutMaster" Target="handoutMasters/handoutMaster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theme" Target="theme/theme1.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dirty="0"/>
          </a:p>
        </p:txBody>
      </p:sp>
      <p:sp>
        <p:nvSpPr>
          <p:cNvPr id="3" name="Marcador de fecha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8E74E1C-1808-45B2-B75C-4D9001095507}" type="datetime1">
              <a:rPr lang="es-ES" smtClean="0"/>
              <a:t>27/10/2025</a:t>
            </a:fld>
            <a:endParaRPr lang="es-ES" dirty="0"/>
          </a:p>
        </p:txBody>
      </p:sp>
      <p:sp>
        <p:nvSpPr>
          <p:cNvPr id="4" name="Marcador de pie de página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dirty="0"/>
          </a:p>
        </p:txBody>
      </p:sp>
      <p:sp>
        <p:nvSpPr>
          <p:cNvPr id="5" name="Marcador de número de diapositiva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8418C9D-7709-4A95-8F43-BBF0364748ED}" type="slidenum">
              <a:rPr lang="es-ES" smtClean="0"/>
              <a:t>‹Nº›</a:t>
            </a:fld>
            <a:endParaRPr lang="es-ES" dirty="0"/>
          </a:p>
        </p:txBody>
      </p:sp>
    </p:spTree>
    <p:extLst>
      <p:ext uri="{BB962C8B-B14F-4D97-AF65-F5344CB8AC3E}">
        <p14:creationId xmlns:p14="http://schemas.microsoft.com/office/powerpoint/2010/main" val="532028513"/>
      </p:ext>
    </p:extLst>
  </p:cSld>
  <p:clrMap bg1="lt1" tx1="dk1" bg2="lt2" tx2="dk2" accent1="accent1" accent2="accent2" accent3="accent3" accent4="accent4" accent5="accent5" accent6="accent6" hlink="hlink" folHlink="folHlink"/>
  <p:hf hdr="0" ftr="0" dt="0"/>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20T19:53:10.918"/>
    </inkml:context>
    <inkml:brush xml:id="br0">
      <inkml:brushProperty name="width" value="0.035" units="cm"/>
      <inkml:brushProperty name="height" value="0.035" units="cm"/>
      <inkml:brushProperty name="color" value="#E71224"/>
    </inkml:brush>
  </inkml:definitions>
  <inkml:trace contextRef="#ctx0" brushRef="#br0">0 1 24575,'40'2'0,"64"11"0,-64-7 0,61 3 0,21-11 0,87 4 0,-74 22-1365,-108-21-5461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20T19:53:14.215"/>
    </inkml:context>
    <inkml:brush xml:id="br0">
      <inkml:brushProperty name="width" value="0.035" units="cm"/>
      <inkml:brushProperty name="height" value="0.035" units="cm"/>
      <inkml:brushProperty name="color" value="#E71224"/>
    </inkml:brush>
  </inkml:definitions>
  <inkml:trace contextRef="#ctx0" brushRef="#br0">1 0 24575,'-1'18'0,"2"0"0,0-1 0,1 1 0,0 0 0,8 24 0,-9-37 0,1 0 0,1 0 0,-1 0 0,1 0 0,0 0 0,0 0 0,0-1 0,1 1 0,-1-1 0,1 0 0,0 0 0,0 0 0,1-1 0,-1 1 0,1-1 0,0 0 0,0-1 0,0 1 0,0-1 0,0 0 0,8 2 0,41 12 0,143 45 0,-137-45 0,-47-14 0,0 1 0,0 1 0,-1 0 0,17 7 0,-16-5-273,1 0 0,-1-2 0,1 1 0,19 2 0,-6-3-6553</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20T19:53:17.168"/>
    </inkml:context>
    <inkml:brush xml:id="br0">
      <inkml:brushProperty name="width" value="0.035" units="cm"/>
      <inkml:brushProperty name="height" value="0.035" units="cm"/>
      <inkml:brushProperty name="color" value="#E71224"/>
    </inkml:brush>
  </inkml:definitions>
  <inkml:trace contextRef="#ctx0" brushRef="#br0">0 174 24575,'1'-2'0,"0"0"0,0-1 0,1 1 0,-1 0 0,0 0 0,1 0 0,-1 1 0,1-1 0,0 0 0,-1 0 0,1 1 0,0-1 0,0 1 0,0 0 0,0 0 0,3-2 0,-1 0 0,15-7 0,0 1 0,0 0 0,1 2 0,0 0 0,1 1 0,23-3 0,29-10 0,-31 4 0,0 3 0,1 1 0,0 3 0,0 1 0,53-1 0,-33 7 0,-27 0 0,0 1 0,-1 1 0,1 2 0,0 2 0,45 12 0,22 13 0,83 30 0,-167-53 0,1-1 0,0-1 0,1-1 0,36 3 0,83-6 0,-81-2 0,-48 0 0,-1-1 0,0 0 0,0 0 0,0-1 0,0 0 0,0-1 0,-1 0 0,1-1 0,-1 0 0,0 0 0,10-9 0,-6 5 0,1 1 0,1 0 0,24-10 0,-15 11 0,0 2 0,1 0 0,-1 1 0,27 0 0,102 4 0,-93 1 0,718 3 0,-755-3 0,1 1 0,36 9 0,-35-6 0,49 4 0,-49-7 0,47 10 0,-47-7 0,50 4 0,42-9-1365,-87 0-5461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noProof="0" dirty="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DDD639-B493-4C6F-8888-3252BB671C65}" type="datetime1">
              <a:rPr lang="es-ES" noProof="0" smtClean="0"/>
              <a:t>27/10/2025</a:t>
            </a:fld>
            <a:endParaRPr lang="es-ES" noProof="0" dirty="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noProof="0" dirty="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s-ES" noProof="0" dirty="0"/>
              <a:t>Haga clic para modificar los estilos de texto del patrón</a:t>
            </a:r>
          </a:p>
          <a:p>
            <a:pPr lvl="1"/>
            <a:r>
              <a:rPr lang="es-ES" noProof="0" dirty="0"/>
              <a:t>Segundo nivel</a:t>
            </a:r>
          </a:p>
          <a:p>
            <a:pPr lvl="2"/>
            <a:r>
              <a:rPr lang="es-ES" noProof="0" dirty="0"/>
              <a:t>Tercer nivel</a:t>
            </a:r>
          </a:p>
          <a:p>
            <a:pPr lvl="3"/>
            <a:r>
              <a:rPr lang="es-ES" noProof="0" dirty="0"/>
              <a:t>Cuarto nivel</a:t>
            </a:r>
          </a:p>
          <a:p>
            <a:pPr lvl="4"/>
            <a:r>
              <a:rPr lang="es-ES" noProof="0" dirty="0"/>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noProof="0" dirty="0"/>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0909E6-4FD5-449B-938E-8FE1DD2E6C2B}" type="slidenum">
              <a:rPr lang="es-ES" noProof="0" smtClean="0"/>
              <a:t>‹Nº›</a:t>
            </a:fld>
            <a:endParaRPr lang="es-ES" noProof="0" dirty="0"/>
          </a:p>
        </p:txBody>
      </p:sp>
    </p:spTree>
    <p:extLst>
      <p:ext uri="{BB962C8B-B14F-4D97-AF65-F5344CB8AC3E}">
        <p14:creationId xmlns:p14="http://schemas.microsoft.com/office/powerpoint/2010/main" val="226386029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4578" name="Google Shape;196;p1:notes">
            <a:extLst>
              <a:ext uri="{FF2B5EF4-FFF2-40B4-BE49-F238E27FC236}">
                <a16:creationId xmlns:a16="http://schemas.microsoft.com/office/drawing/2014/main" id="{A0BEBC2E-9D28-DF92-4A2D-01B0C5A6592F}"/>
              </a:ext>
            </a:extLst>
          </p:cNvPr>
          <p:cNvSpPr>
            <a:spLocks noGrp="1" noRot="1" noChangeAspect="1" noTextEdit="1"/>
          </p:cNvSpPr>
          <p:nvPr>
            <p:ph type="sldImg" idx="2"/>
          </p:nvPr>
        </p:nvSpPr>
        <p:spPr>
          <a:xfrm>
            <a:off x="466725" y="692150"/>
            <a:ext cx="6151563" cy="3460750"/>
          </a:xfrm>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cap="flat">
            <a:round/>
            <a:headEnd type="none" w="sm" len="sm"/>
            <a:tailEnd type="none" w="sm" len="sm"/>
          </a:ln>
        </p:spPr>
      </p:sp>
      <p:sp>
        <p:nvSpPr>
          <p:cNvPr id="24579" name="Google Shape;197;p1:notes">
            <a:extLst>
              <a:ext uri="{FF2B5EF4-FFF2-40B4-BE49-F238E27FC236}">
                <a16:creationId xmlns:a16="http://schemas.microsoft.com/office/drawing/2014/main" id="{06E7E2B9-AF14-6917-47EB-09F2D82E6112}"/>
              </a:ext>
            </a:extLst>
          </p:cNvPr>
          <p:cNvSpPr>
            <a:spLocks noGrp="1" noChangeArrowheads="1"/>
          </p:cNvSpPr>
          <p:nvPr>
            <p:ph type="body" idx="1"/>
          </p:nvPr>
        </p:nvSpPr>
        <p:spPr>
          <a:xfrm>
            <a:off x="708025" y="4384675"/>
            <a:ext cx="5668963" cy="41529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53" tIns="93153" rIns="93153" bIns="93153"/>
          <a:lstStyle/>
          <a:p>
            <a:pPr>
              <a:spcBef>
                <a:spcPct val="0"/>
              </a:spcBef>
              <a:buSzPts val="1100"/>
            </a:pPr>
            <a:endParaRPr lang="es-PE" altLang="es-P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Marcador de imagen de diapositiva 1">
            <a:extLst>
              <a:ext uri="{FF2B5EF4-FFF2-40B4-BE49-F238E27FC236}">
                <a16:creationId xmlns:a16="http://schemas.microsoft.com/office/drawing/2014/main" id="{120196F7-F4D3-06B0-8EB0-0A27B19D4C4F}"/>
              </a:ext>
            </a:extLst>
          </p:cNvPr>
          <p:cNvSpPr>
            <a:spLocks noGrp="1" noRot="1" noChangeAspect="1" noChangeArrowheads="1" noTextEdit="1"/>
          </p:cNvSpPr>
          <p:nvPr>
            <p:ph type="sldImg"/>
          </p:nvPr>
        </p:nvSpPr>
        <p:spPr>
          <a:ln/>
        </p:spPr>
      </p:sp>
      <p:sp>
        <p:nvSpPr>
          <p:cNvPr id="28675" name="Marcador de notas 2">
            <a:extLst>
              <a:ext uri="{FF2B5EF4-FFF2-40B4-BE49-F238E27FC236}">
                <a16:creationId xmlns:a16="http://schemas.microsoft.com/office/drawing/2014/main" id="{66E9EEE7-85E9-52A0-8124-AB551264688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s-PE" altLang="es-PE"/>
          </a:p>
        </p:txBody>
      </p:sp>
      <p:sp>
        <p:nvSpPr>
          <p:cNvPr id="28676" name="Marcador de número de diapositiva 3">
            <a:extLst>
              <a:ext uri="{FF2B5EF4-FFF2-40B4-BE49-F238E27FC236}">
                <a16:creationId xmlns:a16="http://schemas.microsoft.com/office/drawing/2014/main" id="{316EE2D4-4957-F757-EF85-89E3D04E6EC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700">
                <a:solidFill>
                  <a:schemeClr val="tx1"/>
                </a:solidFill>
                <a:latin typeface="Arial" panose="020B0604020202020204" pitchFamily="34" charset="0"/>
              </a:defRPr>
            </a:lvl1pPr>
            <a:lvl2pPr marL="742950" indent="-285750">
              <a:defRPr sz="2700">
                <a:solidFill>
                  <a:schemeClr val="tx1"/>
                </a:solidFill>
                <a:latin typeface="Arial" panose="020B0604020202020204" pitchFamily="34" charset="0"/>
              </a:defRPr>
            </a:lvl2pPr>
            <a:lvl3pPr marL="1143000" indent="-228600">
              <a:defRPr sz="2700">
                <a:solidFill>
                  <a:schemeClr val="tx1"/>
                </a:solidFill>
                <a:latin typeface="Arial" panose="020B0604020202020204" pitchFamily="34" charset="0"/>
              </a:defRPr>
            </a:lvl3pPr>
            <a:lvl4pPr marL="1600200" indent="-228600">
              <a:defRPr sz="2700">
                <a:solidFill>
                  <a:schemeClr val="tx1"/>
                </a:solidFill>
                <a:latin typeface="Arial" panose="020B0604020202020204" pitchFamily="34" charset="0"/>
              </a:defRPr>
            </a:lvl4pPr>
            <a:lvl5pPr marL="2057400" indent="-228600">
              <a:defRPr sz="2700">
                <a:solidFill>
                  <a:schemeClr val="tx1"/>
                </a:solidFill>
                <a:latin typeface="Arial" panose="020B0604020202020204" pitchFamily="34" charset="0"/>
              </a:defRPr>
            </a:lvl5pPr>
            <a:lvl6pPr marL="2514600" indent="-228600" eaLnBrk="0" fontAlgn="base" hangingPunct="0">
              <a:spcBef>
                <a:spcPct val="0"/>
              </a:spcBef>
              <a:spcAft>
                <a:spcPct val="0"/>
              </a:spcAft>
              <a:defRPr sz="2700">
                <a:solidFill>
                  <a:schemeClr val="tx1"/>
                </a:solidFill>
                <a:latin typeface="Arial" panose="020B0604020202020204" pitchFamily="34" charset="0"/>
              </a:defRPr>
            </a:lvl6pPr>
            <a:lvl7pPr marL="2971800" indent="-228600" eaLnBrk="0" fontAlgn="base" hangingPunct="0">
              <a:spcBef>
                <a:spcPct val="0"/>
              </a:spcBef>
              <a:spcAft>
                <a:spcPct val="0"/>
              </a:spcAft>
              <a:defRPr sz="2700">
                <a:solidFill>
                  <a:schemeClr val="tx1"/>
                </a:solidFill>
                <a:latin typeface="Arial" panose="020B0604020202020204" pitchFamily="34" charset="0"/>
              </a:defRPr>
            </a:lvl7pPr>
            <a:lvl8pPr marL="3429000" indent="-228600" eaLnBrk="0" fontAlgn="base" hangingPunct="0">
              <a:spcBef>
                <a:spcPct val="0"/>
              </a:spcBef>
              <a:spcAft>
                <a:spcPct val="0"/>
              </a:spcAft>
              <a:defRPr sz="2700">
                <a:solidFill>
                  <a:schemeClr val="tx1"/>
                </a:solidFill>
                <a:latin typeface="Arial" panose="020B0604020202020204" pitchFamily="34" charset="0"/>
              </a:defRPr>
            </a:lvl8pPr>
            <a:lvl9pPr marL="3886200" indent="-228600" eaLnBrk="0" fontAlgn="base" hangingPunct="0">
              <a:spcBef>
                <a:spcPct val="0"/>
              </a:spcBef>
              <a:spcAft>
                <a:spcPct val="0"/>
              </a:spcAft>
              <a:defRPr sz="2700">
                <a:solidFill>
                  <a:schemeClr val="tx1"/>
                </a:solidFill>
                <a:latin typeface="Arial" panose="020B0604020202020204" pitchFamily="34" charset="0"/>
              </a:defRPr>
            </a:lvl9pPr>
          </a:lstStyle>
          <a:p>
            <a:fld id="{AE7255CA-B4FF-440F-8430-253832AC7578}" type="slidenum">
              <a:rPr lang="es-ES" altLang="es-PE" sz="1200" smtClean="0">
                <a:latin typeface="Times New Roman" panose="02020603050405020304" pitchFamily="18" charset="0"/>
              </a:rPr>
              <a:pPr/>
              <a:t>4</a:t>
            </a:fld>
            <a:endParaRPr lang="es-ES" altLang="es-PE" sz="1200">
              <a:latin typeface="Times New Roman" panose="02020603050405020304" pitchFamily="18" charset="0"/>
            </a:endParaRPr>
          </a:p>
        </p:txBody>
      </p:sp>
      <p:sp>
        <p:nvSpPr>
          <p:cNvPr id="28677" name="Marcador de encabezado 4">
            <a:extLst>
              <a:ext uri="{FF2B5EF4-FFF2-40B4-BE49-F238E27FC236}">
                <a16:creationId xmlns:a16="http://schemas.microsoft.com/office/drawing/2014/main" id="{75E5FA43-92E2-E6CE-8B95-B341A1375107}"/>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700">
                <a:solidFill>
                  <a:schemeClr val="tx1"/>
                </a:solidFill>
                <a:latin typeface="Arial" panose="020B0604020202020204" pitchFamily="34" charset="0"/>
              </a:defRPr>
            </a:lvl1pPr>
            <a:lvl2pPr marL="742950" indent="-285750">
              <a:defRPr sz="2700">
                <a:solidFill>
                  <a:schemeClr val="tx1"/>
                </a:solidFill>
                <a:latin typeface="Arial" panose="020B0604020202020204" pitchFamily="34" charset="0"/>
              </a:defRPr>
            </a:lvl2pPr>
            <a:lvl3pPr marL="1143000" indent="-228600">
              <a:defRPr sz="2700">
                <a:solidFill>
                  <a:schemeClr val="tx1"/>
                </a:solidFill>
                <a:latin typeface="Arial" panose="020B0604020202020204" pitchFamily="34" charset="0"/>
              </a:defRPr>
            </a:lvl3pPr>
            <a:lvl4pPr marL="1600200" indent="-228600">
              <a:defRPr sz="2700">
                <a:solidFill>
                  <a:schemeClr val="tx1"/>
                </a:solidFill>
                <a:latin typeface="Arial" panose="020B0604020202020204" pitchFamily="34" charset="0"/>
              </a:defRPr>
            </a:lvl4pPr>
            <a:lvl5pPr marL="2057400" indent="-228600">
              <a:defRPr sz="2700">
                <a:solidFill>
                  <a:schemeClr val="tx1"/>
                </a:solidFill>
                <a:latin typeface="Arial" panose="020B0604020202020204" pitchFamily="34" charset="0"/>
              </a:defRPr>
            </a:lvl5pPr>
            <a:lvl6pPr marL="2514600" indent="-228600" eaLnBrk="0" fontAlgn="base" hangingPunct="0">
              <a:spcBef>
                <a:spcPct val="0"/>
              </a:spcBef>
              <a:spcAft>
                <a:spcPct val="0"/>
              </a:spcAft>
              <a:defRPr sz="2700">
                <a:solidFill>
                  <a:schemeClr val="tx1"/>
                </a:solidFill>
                <a:latin typeface="Arial" panose="020B0604020202020204" pitchFamily="34" charset="0"/>
              </a:defRPr>
            </a:lvl6pPr>
            <a:lvl7pPr marL="2971800" indent="-228600" eaLnBrk="0" fontAlgn="base" hangingPunct="0">
              <a:spcBef>
                <a:spcPct val="0"/>
              </a:spcBef>
              <a:spcAft>
                <a:spcPct val="0"/>
              </a:spcAft>
              <a:defRPr sz="2700">
                <a:solidFill>
                  <a:schemeClr val="tx1"/>
                </a:solidFill>
                <a:latin typeface="Arial" panose="020B0604020202020204" pitchFamily="34" charset="0"/>
              </a:defRPr>
            </a:lvl7pPr>
            <a:lvl8pPr marL="3429000" indent="-228600" eaLnBrk="0" fontAlgn="base" hangingPunct="0">
              <a:spcBef>
                <a:spcPct val="0"/>
              </a:spcBef>
              <a:spcAft>
                <a:spcPct val="0"/>
              </a:spcAft>
              <a:defRPr sz="2700">
                <a:solidFill>
                  <a:schemeClr val="tx1"/>
                </a:solidFill>
                <a:latin typeface="Arial" panose="020B0604020202020204" pitchFamily="34" charset="0"/>
              </a:defRPr>
            </a:lvl8pPr>
            <a:lvl9pPr marL="3886200" indent="-228600" eaLnBrk="0" fontAlgn="base" hangingPunct="0">
              <a:spcBef>
                <a:spcPct val="0"/>
              </a:spcBef>
              <a:spcAft>
                <a:spcPct val="0"/>
              </a:spcAft>
              <a:defRPr sz="2700">
                <a:solidFill>
                  <a:schemeClr val="tx1"/>
                </a:solidFill>
                <a:latin typeface="Arial" panose="020B0604020202020204" pitchFamily="34" charset="0"/>
              </a:defRPr>
            </a:lvl9pPr>
          </a:lstStyle>
          <a:p>
            <a:endParaRPr lang="es-PE" altLang="es-PE" sz="1200">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57698" name="Google Shape;226;p5:notes">
            <a:extLst>
              <a:ext uri="{FF2B5EF4-FFF2-40B4-BE49-F238E27FC236}">
                <a16:creationId xmlns:a16="http://schemas.microsoft.com/office/drawing/2014/main" id="{20BF765F-27F8-7D95-7A97-84832F43F67C}"/>
              </a:ext>
            </a:extLst>
          </p:cNvPr>
          <p:cNvSpPr>
            <a:spLocks noGrp="1" noRot="1" noChangeAspect="1" noTextEdit="1"/>
          </p:cNvSpPr>
          <p:nvPr>
            <p:ph type="sldImg" idx="2"/>
          </p:nvPr>
        </p:nvSpPr>
        <p:spPr>
          <a:xfrm>
            <a:off x="466725" y="692150"/>
            <a:ext cx="6151563" cy="3460750"/>
          </a:xfrm>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cap="flat">
            <a:round/>
            <a:headEnd type="none" w="sm" len="sm"/>
            <a:tailEnd type="none" w="sm" len="sm"/>
          </a:ln>
        </p:spPr>
      </p:sp>
      <p:sp>
        <p:nvSpPr>
          <p:cNvPr id="157699" name="Google Shape;227;p5:notes">
            <a:extLst>
              <a:ext uri="{FF2B5EF4-FFF2-40B4-BE49-F238E27FC236}">
                <a16:creationId xmlns:a16="http://schemas.microsoft.com/office/drawing/2014/main" id="{B026F19E-927D-656D-F718-06BCC4546A3A}"/>
              </a:ext>
            </a:extLst>
          </p:cNvPr>
          <p:cNvSpPr>
            <a:spLocks noGrp="1" noChangeArrowheads="1"/>
          </p:cNvSpPr>
          <p:nvPr>
            <p:ph type="body" idx="1"/>
          </p:nvPr>
        </p:nvSpPr>
        <p:spPr>
          <a:xfrm>
            <a:off x="708025" y="4384675"/>
            <a:ext cx="5668963" cy="41529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53" tIns="93153" rIns="93153" bIns="93153"/>
          <a:lstStyle/>
          <a:p>
            <a:pPr>
              <a:spcBef>
                <a:spcPct val="0"/>
              </a:spcBef>
              <a:buSzPts val="1100"/>
            </a:pPr>
            <a:endParaRPr lang="es-PE" altLang="es-P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10" name="Rectángulo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ítulo 1"/>
          <p:cNvSpPr>
            <a:spLocks noGrp="1"/>
          </p:cNvSpPr>
          <p:nvPr>
            <p:ph type="ctrTitle"/>
          </p:nvPr>
        </p:nvSpPr>
        <p:spPr>
          <a:xfrm>
            <a:off x="1097280" y="758952"/>
            <a:ext cx="10058400" cy="3566160"/>
          </a:xfrm>
        </p:spPr>
        <p:txBody>
          <a:bodyPr rtlCol="0" anchor="b">
            <a:normAutofit/>
          </a:bodyPr>
          <a:lstStyle>
            <a:lvl1pPr algn="l">
              <a:lnSpc>
                <a:spcPct val="90000"/>
              </a:lnSpc>
              <a:defRPr sz="8000" spc="-50" baseline="0">
                <a:solidFill>
                  <a:schemeClr val="tx1">
                    <a:lumMod val="85000"/>
                    <a:lumOff val="15000"/>
                  </a:schemeClr>
                </a:solidFill>
              </a:defRPr>
            </a:lvl1pPr>
          </a:lstStyle>
          <a:p>
            <a:pPr rtl="0"/>
            <a:r>
              <a:rPr lang="es-ES" noProof="0"/>
              <a:t>Haga clic para modificar el estilo de título del patrón</a:t>
            </a:r>
            <a:endParaRPr lang="es-ES" noProof="0" dirty="0"/>
          </a:p>
        </p:txBody>
      </p:sp>
      <p:sp>
        <p:nvSpPr>
          <p:cNvPr id="3" name="Subtítulo 2"/>
          <p:cNvSpPr>
            <a:spLocks noGrp="1"/>
          </p:cNvSpPr>
          <p:nvPr>
            <p:ph type="subTitle" idx="1"/>
          </p:nvPr>
        </p:nvSpPr>
        <p:spPr>
          <a:xfrm>
            <a:off x="1100051" y="4645152"/>
            <a:ext cx="10058400" cy="1143000"/>
          </a:xfrm>
        </p:spPr>
        <p:txBody>
          <a:bodyPr lIns="91440" rIns="91440" rtlCol="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pPr rtl="0"/>
            <a:r>
              <a:rPr lang="es-ES" noProof="0"/>
              <a:t>Haga clic para modificar el estilo de subtítulo del patrón</a:t>
            </a:r>
            <a:endParaRPr lang="es-ES" noProof="0" dirty="0"/>
          </a:p>
        </p:txBody>
      </p:sp>
      <p:cxnSp>
        <p:nvCxnSpPr>
          <p:cNvPr id="9" name="Conector recto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Marcador de fecha 3">
            <a:extLst>
              <a:ext uri="{FF2B5EF4-FFF2-40B4-BE49-F238E27FC236}">
                <a16:creationId xmlns:a16="http://schemas.microsoft.com/office/drawing/2014/main" id="{9925CCF1-92C0-4AF3-BFAF-4921631915AB}"/>
              </a:ext>
            </a:extLst>
          </p:cNvPr>
          <p:cNvSpPr>
            <a:spLocks noGrp="1"/>
          </p:cNvSpPr>
          <p:nvPr>
            <p:ph type="dt" sz="half" idx="10"/>
          </p:nvPr>
        </p:nvSpPr>
        <p:spPr/>
        <p:txBody>
          <a:bodyPr rtlCol="0"/>
          <a:lstStyle/>
          <a:p>
            <a:pPr rtl="0"/>
            <a:fld id="{E8BC9D2E-4262-4D66-B695-BE788D84072B}" type="datetime1">
              <a:rPr lang="es-ES" noProof="0" smtClean="0"/>
              <a:t>27/10/2025</a:t>
            </a:fld>
            <a:endParaRPr lang="es-ES" noProof="0" dirty="0"/>
          </a:p>
        </p:txBody>
      </p:sp>
      <p:sp>
        <p:nvSpPr>
          <p:cNvPr id="5" name="Marcador de pie de página 4">
            <a:extLst>
              <a:ext uri="{FF2B5EF4-FFF2-40B4-BE49-F238E27FC236}">
                <a16:creationId xmlns:a16="http://schemas.microsoft.com/office/drawing/2014/main" id="{051A78A9-3DFF-4937-A9F2-5D8CF495F367}"/>
              </a:ext>
            </a:extLst>
          </p:cNvPr>
          <p:cNvSpPr>
            <a:spLocks noGrp="1"/>
          </p:cNvSpPr>
          <p:nvPr>
            <p:ph type="ftr" sz="quarter" idx="11"/>
          </p:nvPr>
        </p:nvSpPr>
        <p:spPr/>
        <p:txBody>
          <a:bodyPr rtlCol="0"/>
          <a:lstStyle/>
          <a:p>
            <a:pPr rtl="0"/>
            <a:endParaRPr lang="es-ES" noProof="0" dirty="0"/>
          </a:p>
        </p:txBody>
      </p:sp>
      <p:sp>
        <p:nvSpPr>
          <p:cNvPr id="6" name="Marcador de posición de número de diapositiva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rtlCol="0"/>
          <a:lstStyle/>
          <a:p>
            <a:pPr rtl="0"/>
            <a:fld id="{3A98EE3D-8CD1-4C3F-BD1C-C98C9596463C}" type="slidenum">
              <a:rPr lang="es-ES" noProof="0" smtClean="0"/>
              <a:t>‹Nº›</a:t>
            </a:fld>
            <a:endParaRPr lang="es-ES" noProof="0" dirty="0"/>
          </a:p>
        </p:txBody>
      </p:sp>
    </p:spTree>
    <p:extLst>
      <p:ext uri="{BB962C8B-B14F-4D97-AF65-F5344CB8AC3E}">
        <p14:creationId xmlns:p14="http://schemas.microsoft.com/office/powerpoint/2010/main" val="26234375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contenido">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p>
            <a:pPr rtl="0"/>
            <a:r>
              <a:rPr lang="es-ES" noProof="0"/>
              <a:t>Haga clic para modificar el estilo de título del patrón</a:t>
            </a:r>
            <a:endParaRPr lang="es-ES" noProof="0" dirty="0"/>
          </a:p>
        </p:txBody>
      </p:sp>
      <p:sp>
        <p:nvSpPr>
          <p:cNvPr id="3" name="Marcador de posición de contenido 2"/>
          <p:cNvSpPr>
            <a:spLocks noGrp="1"/>
          </p:cNvSpPr>
          <p:nvPr>
            <p:ph idx="1"/>
          </p:nvPr>
        </p:nvSpPr>
        <p:spPr/>
        <p:txBody>
          <a:bodyPr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7" name="Marcador de fecha 6">
            <a:extLst>
              <a:ext uri="{FF2B5EF4-FFF2-40B4-BE49-F238E27FC236}">
                <a16:creationId xmlns:a16="http://schemas.microsoft.com/office/drawing/2014/main" id="{354D8B55-9EA8-4B81-8E84-9B93B0A27559}"/>
              </a:ext>
            </a:extLst>
          </p:cNvPr>
          <p:cNvSpPr>
            <a:spLocks noGrp="1"/>
          </p:cNvSpPr>
          <p:nvPr>
            <p:ph type="dt" sz="half" idx="10"/>
          </p:nvPr>
        </p:nvSpPr>
        <p:spPr/>
        <p:txBody>
          <a:bodyPr rtlCol="0"/>
          <a:lstStyle/>
          <a:p>
            <a:pPr rtl="0"/>
            <a:fld id="{BB17B069-C176-49CE-B015-141C4094D82C}" type="datetime1">
              <a:rPr lang="es-ES" noProof="0" smtClean="0"/>
              <a:t>27/10/2025</a:t>
            </a:fld>
            <a:endParaRPr lang="es-ES" noProof="0" dirty="0"/>
          </a:p>
        </p:txBody>
      </p:sp>
      <p:sp>
        <p:nvSpPr>
          <p:cNvPr id="8" name="Marcador de pie de página 7">
            <a:extLst>
              <a:ext uri="{FF2B5EF4-FFF2-40B4-BE49-F238E27FC236}">
                <a16:creationId xmlns:a16="http://schemas.microsoft.com/office/drawing/2014/main" id="{062CA021-2578-47CB-822C-BDDFF7223B28}"/>
              </a:ext>
            </a:extLst>
          </p:cNvPr>
          <p:cNvSpPr>
            <a:spLocks noGrp="1"/>
          </p:cNvSpPr>
          <p:nvPr>
            <p:ph type="ftr" sz="quarter" idx="11"/>
          </p:nvPr>
        </p:nvSpPr>
        <p:spPr/>
        <p:txBody>
          <a:bodyPr rtlCol="0"/>
          <a:lstStyle/>
          <a:p>
            <a:pPr rtl="0"/>
            <a:endParaRPr lang="es-ES" noProof="0" dirty="0"/>
          </a:p>
        </p:txBody>
      </p:sp>
      <p:sp>
        <p:nvSpPr>
          <p:cNvPr id="9" name="Marcador de número de diapositiva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rtlCol="0"/>
          <a:lstStyle/>
          <a:p>
            <a:pPr rtl="0"/>
            <a:fld id="{3A98EE3D-8CD1-4C3F-BD1C-C98C9596463C}" type="slidenum">
              <a:rPr lang="es-ES" noProof="0" smtClean="0"/>
              <a:t>‹Nº›</a:t>
            </a:fld>
            <a:endParaRPr lang="es-ES" noProof="0" dirty="0"/>
          </a:p>
        </p:txBody>
      </p:sp>
    </p:spTree>
    <p:extLst>
      <p:ext uri="{BB962C8B-B14F-4D97-AF65-F5344CB8AC3E}">
        <p14:creationId xmlns:p14="http://schemas.microsoft.com/office/powerpoint/2010/main" val="25404659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Pr>
        <a:solidFill>
          <a:schemeClr val="bg1"/>
        </a:solidFill>
        <a:effectLst/>
      </p:bgPr>
    </p:bg>
    <p:spTree>
      <p:nvGrpSpPr>
        <p:cNvPr id="1" name=""/>
        <p:cNvGrpSpPr/>
        <p:nvPr/>
      </p:nvGrpSpPr>
      <p:grpSpPr>
        <a:xfrm>
          <a:off x="0" y="0"/>
          <a:ext cx="0" cy="0"/>
          <a:chOff x="0" y="0"/>
          <a:chExt cx="0" cy="0"/>
        </a:xfrm>
      </p:grpSpPr>
      <p:sp>
        <p:nvSpPr>
          <p:cNvPr id="10" name="Rectángulo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PE"/>
          </a:p>
        </p:txBody>
      </p:sp>
      <p:sp>
        <p:nvSpPr>
          <p:cNvPr id="2" name="Título 1"/>
          <p:cNvSpPr>
            <a:spLocks noGrp="1"/>
          </p:cNvSpPr>
          <p:nvPr>
            <p:ph type="title"/>
          </p:nvPr>
        </p:nvSpPr>
        <p:spPr>
          <a:xfrm>
            <a:off x="1097280" y="758952"/>
            <a:ext cx="10058400" cy="3566160"/>
          </a:xfrm>
        </p:spPr>
        <p:txBody>
          <a:bodyPr rtlCol="0" anchor="b" anchorCtr="0">
            <a:normAutofit/>
          </a:bodyPr>
          <a:lstStyle>
            <a:lvl1pPr>
              <a:lnSpc>
                <a:spcPct val="90000"/>
              </a:lnSpc>
              <a:defRPr sz="8000" b="0">
                <a:solidFill>
                  <a:schemeClr val="tx1">
                    <a:lumMod val="85000"/>
                    <a:lumOff val="15000"/>
                  </a:schemeClr>
                </a:solidFill>
              </a:defRPr>
            </a:lvl1pPr>
          </a:lstStyle>
          <a:p>
            <a:pPr rtl="0"/>
            <a:r>
              <a:rPr lang="es-ES" noProof="0"/>
              <a:t>Haga clic para modificar el estilo de título del patrón</a:t>
            </a:r>
            <a:endParaRPr lang="es-ES" noProof="0" dirty="0"/>
          </a:p>
        </p:txBody>
      </p:sp>
      <p:sp>
        <p:nvSpPr>
          <p:cNvPr id="3" name="Marcador de texto 2"/>
          <p:cNvSpPr>
            <a:spLocks noGrp="1"/>
          </p:cNvSpPr>
          <p:nvPr>
            <p:ph type="body" idx="1"/>
          </p:nvPr>
        </p:nvSpPr>
        <p:spPr>
          <a:xfrm>
            <a:off x="1097280" y="4663440"/>
            <a:ext cx="10058400" cy="1143000"/>
          </a:xfrm>
        </p:spPr>
        <p:txBody>
          <a:bodyPr lIns="91440" rIns="91440" rtlCol="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es-ES" noProof="0"/>
              <a:t>Haga clic para modificar los estilos de texto del patrón</a:t>
            </a:r>
          </a:p>
        </p:txBody>
      </p:sp>
      <p:cxnSp>
        <p:nvCxnSpPr>
          <p:cNvPr id="9" name="Conector recto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Marcador de fecha 6">
            <a:extLst>
              <a:ext uri="{FF2B5EF4-FFF2-40B4-BE49-F238E27FC236}">
                <a16:creationId xmlns:a16="http://schemas.microsoft.com/office/drawing/2014/main" id="{AAF2E137-EC28-48F8-9198-1F02539029B6}"/>
              </a:ext>
            </a:extLst>
          </p:cNvPr>
          <p:cNvSpPr>
            <a:spLocks noGrp="1"/>
          </p:cNvSpPr>
          <p:nvPr>
            <p:ph type="dt" sz="half" idx="10"/>
          </p:nvPr>
        </p:nvSpPr>
        <p:spPr/>
        <p:txBody>
          <a:bodyPr rtlCol="0"/>
          <a:lstStyle/>
          <a:p>
            <a:pPr rtl="0"/>
            <a:fld id="{185FED23-3BF1-4A68-B660-492C651EE795}" type="datetime1">
              <a:rPr lang="es-ES" noProof="0" smtClean="0"/>
              <a:t>27/10/2025</a:t>
            </a:fld>
            <a:endParaRPr lang="es-ES" noProof="0" dirty="0"/>
          </a:p>
        </p:txBody>
      </p:sp>
      <p:sp>
        <p:nvSpPr>
          <p:cNvPr id="8" name="Marcador de pie de página 7">
            <a:extLst>
              <a:ext uri="{FF2B5EF4-FFF2-40B4-BE49-F238E27FC236}">
                <a16:creationId xmlns:a16="http://schemas.microsoft.com/office/drawing/2014/main" id="{189422CD-6F62-4DD6-89EF-07A60B42D219}"/>
              </a:ext>
            </a:extLst>
          </p:cNvPr>
          <p:cNvSpPr>
            <a:spLocks noGrp="1"/>
          </p:cNvSpPr>
          <p:nvPr>
            <p:ph type="ftr" sz="quarter" idx="11"/>
          </p:nvPr>
        </p:nvSpPr>
        <p:spPr/>
        <p:txBody>
          <a:bodyPr rtlCol="0"/>
          <a:lstStyle/>
          <a:p>
            <a:pPr rtl="0"/>
            <a:endParaRPr lang="es-ES" noProof="0" dirty="0"/>
          </a:p>
        </p:txBody>
      </p:sp>
      <p:sp>
        <p:nvSpPr>
          <p:cNvPr id="11" name="Marcador de número de diapositiva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rtlCol="0"/>
          <a:lstStyle/>
          <a:p>
            <a:pPr rtl="0"/>
            <a:fld id="{3A98EE3D-8CD1-4C3F-BD1C-C98C9596463C}" type="slidenum">
              <a:rPr lang="es-ES" noProof="0" smtClean="0"/>
              <a:t>‹Nº›</a:t>
            </a:fld>
            <a:endParaRPr lang="es-ES" noProof="0" dirty="0"/>
          </a:p>
        </p:txBody>
      </p:sp>
    </p:spTree>
    <p:extLst>
      <p:ext uri="{BB962C8B-B14F-4D97-AF65-F5344CB8AC3E}">
        <p14:creationId xmlns:p14="http://schemas.microsoft.com/office/powerpoint/2010/main" val="7627835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ítulo 7"/>
          <p:cNvSpPr>
            <a:spLocks noGrp="1"/>
          </p:cNvSpPr>
          <p:nvPr>
            <p:ph type="title"/>
          </p:nvPr>
        </p:nvSpPr>
        <p:spPr>
          <a:xfrm>
            <a:off x="1097280" y="286603"/>
            <a:ext cx="10058400" cy="1450757"/>
          </a:xfrm>
        </p:spPr>
        <p:txBody>
          <a:bodyPr rtlCol="0"/>
          <a:lstStyle/>
          <a:p>
            <a:pPr rtl="0"/>
            <a:r>
              <a:rPr lang="es-ES" noProof="0"/>
              <a:t>Haga clic para modificar el estilo de título del patrón</a:t>
            </a:r>
            <a:endParaRPr lang="es-ES" noProof="0" dirty="0"/>
          </a:p>
        </p:txBody>
      </p:sp>
      <p:sp>
        <p:nvSpPr>
          <p:cNvPr id="3" name="Marcador de posición de contenido 2"/>
          <p:cNvSpPr>
            <a:spLocks noGrp="1"/>
          </p:cNvSpPr>
          <p:nvPr>
            <p:ph sz="half" idx="1"/>
          </p:nvPr>
        </p:nvSpPr>
        <p:spPr>
          <a:xfrm>
            <a:off x="1097280" y="2120900"/>
            <a:ext cx="4639736" cy="3748193"/>
          </a:xfrm>
        </p:spPr>
        <p:txBody>
          <a:bodyPr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4" name="Marcador de posición de contenido 3"/>
          <p:cNvSpPr>
            <a:spLocks noGrp="1"/>
          </p:cNvSpPr>
          <p:nvPr>
            <p:ph sz="half" idx="2"/>
          </p:nvPr>
        </p:nvSpPr>
        <p:spPr>
          <a:xfrm>
            <a:off x="6515944" y="2120900"/>
            <a:ext cx="4639736" cy="3748194"/>
          </a:xfrm>
        </p:spPr>
        <p:txBody>
          <a:bodyPr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2" name="Marcador de fecha 1">
            <a:extLst>
              <a:ext uri="{FF2B5EF4-FFF2-40B4-BE49-F238E27FC236}">
                <a16:creationId xmlns:a16="http://schemas.microsoft.com/office/drawing/2014/main" id="{5782D47D-B0DC-4C40-BCC6-BBBA32584A38}"/>
              </a:ext>
            </a:extLst>
          </p:cNvPr>
          <p:cNvSpPr>
            <a:spLocks noGrp="1"/>
          </p:cNvSpPr>
          <p:nvPr>
            <p:ph type="dt" sz="half" idx="10"/>
          </p:nvPr>
        </p:nvSpPr>
        <p:spPr/>
        <p:txBody>
          <a:bodyPr rtlCol="0"/>
          <a:lstStyle/>
          <a:p>
            <a:pPr rtl="0"/>
            <a:fld id="{65C27429-2C82-4C57-B7CC-62FE9723E4EF}" type="datetime1">
              <a:rPr lang="es-ES" noProof="0" smtClean="0"/>
              <a:t>27/10/2025</a:t>
            </a:fld>
            <a:endParaRPr lang="es-ES" noProof="0" dirty="0"/>
          </a:p>
        </p:txBody>
      </p:sp>
      <p:sp>
        <p:nvSpPr>
          <p:cNvPr id="9" name="Marcador de pie de página 8">
            <a:extLst>
              <a:ext uri="{FF2B5EF4-FFF2-40B4-BE49-F238E27FC236}">
                <a16:creationId xmlns:a16="http://schemas.microsoft.com/office/drawing/2014/main" id="{4690D34E-7EBD-44B2-83CA-4C126A18D7EF}"/>
              </a:ext>
            </a:extLst>
          </p:cNvPr>
          <p:cNvSpPr>
            <a:spLocks noGrp="1"/>
          </p:cNvSpPr>
          <p:nvPr>
            <p:ph type="ftr" sz="quarter" idx="11"/>
          </p:nvPr>
        </p:nvSpPr>
        <p:spPr/>
        <p:txBody>
          <a:bodyPr rtlCol="0"/>
          <a:lstStyle/>
          <a:p>
            <a:pPr rtl="0"/>
            <a:endParaRPr lang="es-ES" noProof="0" dirty="0"/>
          </a:p>
        </p:txBody>
      </p:sp>
      <p:sp>
        <p:nvSpPr>
          <p:cNvPr id="10" name="Marcador de posición de número de diapositiva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rtlCol="0"/>
          <a:lstStyle/>
          <a:p>
            <a:pPr rtl="0"/>
            <a:fld id="{3A98EE3D-8CD1-4C3F-BD1C-C98C9596463C}" type="slidenum">
              <a:rPr lang="es-ES" noProof="0" smtClean="0"/>
              <a:t>‹Nº›</a:t>
            </a:fld>
            <a:endParaRPr lang="es-ES" noProof="0" dirty="0"/>
          </a:p>
        </p:txBody>
      </p:sp>
    </p:spTree>
    <p:extLst>
      <p:ext uri="{BB962C8B-B14F-4D97-AF65-F5344CB8AC3E}">
        <p14:creationId xmlns:p14="http://schemas.microsoft.com/office/powerpoint/2010/main" val="5883595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ítulo 9"/>
          <p:cNvSpPr>
            <a:spLocks noGrp="1"/>
          </p:cNvSpPr>
          <p:nvPr>
            <p:ph type="title"/>
          </p:nvPr>
        </p:nvSpPr>
        <p:spPr>
          <a:xfrm>
            <a:off x="1097280" y="286603"/>
            <a:ext cx="10058400" cy="1450757"/>
          </a:xfrm>
        </p:spPr>
        <p:txBody>
          <a:bodyPr rtlCol="0"/>
          <a:lstStyle/>
          <a:p>
            <a:pPr rtl="0"/>
            <a:r>
              <a:rPr lang="es-ES" noProof="0"/>
              <a:t>Haga clic para modificar el estilo de título del patrón</a:t>
            </a:r>
            <a:endParaRPr lang="es-ES" noProof="0" dirty="0"/>
          </a:p>
        </p:txBody>
      </p:sp>
      <p:sp>
        <p:nvSpPr>
          <p:cNvPr id="3" name="Marcador de texto 2"/>
          <p:cNvSpPr>
            <a:spLocks noGrp="1"/>
          </p:cNvSpPr>
          <p:nvPr>
            <p:ph type="body" idx="1"/>
          </p:nvPr>
        </p:nvSpPr>
        <p:spPr>
          <a:xfrm>
            <a:off x="1097280" y="2057400"/>
            <a:ext cx="4639736" cy="736282"/>
          </a:xfrm>
        </p:spPr>
        <p:txBody>
          <a:bodyPr lIns="91440" rIns="91440" rtlCol="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4" name="Marcador de posición de contenido 3"/>
          <p:cNvSpPr>
            <a:spLocks noGrp="1"/>
          </p:cNvSpPr>
          <p:nvPr>
            <p:ph sz="half" idx="2"/>
          </p:nvPr>
        </p:nvSpPr>
        <p:spPr>
          <a:xfrm>
            <a:off x="1097280" y="2958274"/>
            <a:ext cx="4639736" cy="2910821"/>
          </a:xfrm>
        </p:spPr>
        <p:txBody>
          <a:bodyPr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5" name="Marcador de posición de texto 4"/>
          <p:cNvSpPr>
            <a:spLocks noGrp="1"/>
          </p:cNvSpPr>
          <p:nvPr>
            <p:ph type="body" sz="quarter" idx="3"/>
          </p:nvPr>
        </p:nvSpPr>
        <p:spPr>
          <a:xfrm>
            <a:off x="6515944" y="2057400"/>
            <a:ext cx="4639736" cy="736282"/>
          </a:xfrm>
        </p:spPr>
        <p:txBody>
          <a:bodyPr lIns="91440" rIns="91440" rtlCol="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6" name="Marcador de posición de contenido 5"/>
          <p:cNvSpPr>
            <a:spLocks noGrp="1"/>
          </p:cNvSpPr>
          <p:nvPr>
            <p:ph sz="quarter" idx="4"/>
          </p:nvPr>
        </p:nvSpPr>
        <p:spPr>
          <a:xfrm>
            <a:off x="6515944" y="2958273"/>
            <a:ext cx="4639736" cy="2910821"/>
          </a:xfrm>
        </p:spPr>
        <p:txBody>
          <a:bodyPr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2" name="Marcador de fecha 1">
            <a:extLst>
              <a:ext uri="{FF2B5EF4-FFF2-40B4-BE49-F238E27FC236}">
                <a16:creationId xmlns:a16="http://schemas.microsoft.com/office/drawing/2014/main" id="{8AF8A515-AA94-45D1-9223-5C2272618D85}"/>
              </a:ext>
            </a:extLst>
          </p:cNvPr>
          <p:cNvSpPr>
            <a:spLocks noGrp="1"/>
          </p:cNvSpPr>
          <p:nvPr>
            <p:ph type="dt" sz="half" idx="10"/>
          </p:nvPr>
        </p:nvSpPr>
        <p:spPr/>
        <p:txBody>
          <a:bodyPr rtlCol="0"/>
          <a:lstStyle/>
          <a:p>
            <a:pPr rtl="0"/>
            <a:fld id="{1C49BD86-8774-44D6-B764-617249AD43F8}" type="datetime1">
              <a:rPr lang="es-ES" noProof="0" smtClean="0"/>
              <a:t>27/10/2025</a:t>
            </a:fld>
            <a:endParaRPr lang="es-ES" noProof="0" dirty="0"/>
          </a:p>
        </p:txBody>
      </p:sp>
      <p:sp>
        <p:nvSpPr>
          <p:cNvPr id="11" name="Marcador de pie de página 10">
            <a:extLst>
              <a:ext uri="{FF2B5EF4-FFF2-40B4-BE49-F238E27FC236}">
                <a16:creationId xmlns:a16="http://schemas.microsoft.com/office/drawing/2014/main" id="{D052F5BC-98E0-4D60-AD67-9547738B7DD4}"/>
              </a:ext>
            </a:extLst>
          </p:cNvPr>
          <p:cNvSpPr>
            <a:spLocks noGrp="1"/>
          </p:cNvSpPr>
          <p:nvPr>
            <p:ph type="ftr" sz="quarter" idx="11"/>
          </p:nvPr>
        </p:nvSpPr>
        <p:spPr/>
        <p:txBody>
          <a:bodyPr rtlCol="0"/>
          <a:lstStyle/>
          <a:p>
            <a:pPr rtl="0"/>
            <a:endParaRPr lang="es-ES" noProof="0" dirty="0"/>
          </a:p>
        </p:txBody>
      </p:sp>
      <p:sp>
        <p:nvSpPr>
          <p:cNvPr id="12" name="Marcador de posición de número de diapositiva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rtlCol="0"/>
          <a:lstStyle/>
          <a:p>
            <a:pPr rtl="0"/>
            <a:fld id="{3A98EE3D-8CD1-4C3F-BD1C-C98C9596463C}" type="slidenum">
              <a:rPr lang="es-ES" noProof="0" smtClean="0"/>
              <a:t>‹Nº›</a:t>
            </a:fld>
            <a:endParaRPr lang="es-ES" noProof="0" dirty="0"/>
          </a:p>
        </p:txBody>
      </p:sp>
    </p:spTree>
    <p:extLst>
      <p:ext uri="{BB962C8B-B14F-4D97-AF65-F5344CB8AC3E}">
        <p14:creationId xmlns:p14="http://schemas.microsoft.com/office/powerpoint/2010/main" val="19639257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p>
            <a:pPr rtl="0"/>
            <a:r>
              <a:rPr lang="es-ES" noProof="0"/>
              <a:t>Haga clic para modificar el estilo de título del patrón</a:t>
            </a:r>
            <a:endParaRPr lang="es-ES" noProof="0" dirty="0"/>
          </a:p>
        </p:txBody>
      </p:sp>
      <p:sp>
        <p:nvSpPr>
          <p:cNvPr id="6" name="Marcador de fecha 5">
            <a:extLst>
              <a:ext uri="{FF2B5EF4-FFF2-40B4-BE49-F238E27FC236}">
                <a16:creationId xmlns:a16="http://schemas.microsoft.com/office/drawing/2014/main" id="{7392073F-158F-44A3-8913-917AFFC1BC20}"/>
              </a:ext>
            </a:extLst>
          </p:cNvPr>
          <p:cNvSpPr>
            <a:spLocks noGrp="1"/>
          </p:cNvSpPr>
          <p:nvPr>
            <p:ph type="dt" sz="half" idx="10"/>
          </p:nvPr>
        </p:nvSpPr>
        <p:spPr/>
        <p:txBody>
          <a:bodyPr rtlCol="0"/>
          <a:lstStyle/>
          <a:p>
            <a:pPr rtl="0"/>
            <a:fld id="{FAB9C095-47B6-40E6-B8B1-485026BAA979}" type="datetime1">
              <a:rPr lang="es-ES" noProof="0" smtClean="0"/>
              <a:t>27/10/2025</a:t>
            </a:fld>
            <a:endParaRPr lang="es-ES" noProof="0" dirty="0"/>
          </a:p>
        </p:txBody>
      </p:sp>
      <p:sp>
        <p:nvSpPr>
          <p:cNvPr id="7" name="Marcador de pie de página 6">
            <a:extLst>
              <a:ext uri="{FF2B5EF4-FFF2-40B4-BE49-F238E27FC236}">
                <a16:creationId xmlns:a16="http://schemas.microsoft.com/office/drawing/2014/main" id="{EED72207-24CA-42B7-A975-2F8E41CBA904}"/>
              </a:ext>
            </a:extLst>
          </p:cNvPr>
          <p:cNvSpPr>
            <a:spLocks noGrp="1"/>
          </p:cNvSpPr>
          <p:nvPr>
            <p:ph type="ftr" sz="quarter" idx="11"/>
          </p:nvPr>
        </p:nvSpPr>
        <p:spPr/>
        <p:txBody>
          <a:bodyPr rtlCol="0"/>
          <a:lstStyle/>
          <a:p>
            <a:pPr rtl="0"/>
            <a:endParaRPr lang="es-ES" noProof="0" dirty="0"/>
          </a:p>
        </p:txBody>
      </p:sp>
      <p:sp>
        <p:nvSpPr>
          <p:cNvPr id="8" name="Marcador de número de diapositiva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rtlCol="0"/>
          <a:lstStyle/>
          <a:p>
            <a:pPr rtl="0"/>
            <a:fld id="{3A98EE3D-8CD1-4C3F-BD1C-C98C9596463C}" type="slidenum">
              <a:rPr lang="es-ES" noProof="0" smtClean="0"/>
              <a:t>‹Nº›</a:t>
            </a:fld>
            <a:endParaRPr lang="es-ES" noProof="0" dirty="0"/>
          </a:p>
        </p:txBody>
      </p:sp>
    </p:spTree>
    <p:extLst>
      <p:ext uri="{BB962C8B-B14F-4D97-AF65-F5344CB8AC3E}">
        <p14:creationId xmlns:p14="http://schemas.microsoft.com/office/powerpoint/2010/main" val="42685433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10" name="Rectángulo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Marcador de fecha 1">
            <a:extLst>
              <a:ext uri="{FF2B5EF4-FFF2-40B4-BE49-F238E27FC236}">
                <a16:creationId xmlns:a16="http://schemas.microsoft.com/office/drawing/2014/main" id="{94E9223F-721F-47BF-9FD5-0F8D12FF0DE1}"/>
              </a:ext>
            </a:extLst>
          </p:cNvPr>
          <p:cNvSpPr>
            <a:spLocks noGrp="1"/>
          </p:cNvSpPr>
          <p:nvPr>
            <p:ph type="dt" sz="half" idx="10"/>
          </p:nvPr>
        </p:nvSpPr>
        <p:spPr/>
        <p:txBody>
          <a:bodyPr rtlCol="0"/>
          <a:lstStyle/>
          <a:p>
            <a:pPr rtl="0"/>
            <a:fld id="{CE90C87F-AA4E-4F2C-9C29-897EAC3BF71A}" type="datetime1">
              <a:rPr lang="es-ES" noProof="0" smtClean="0"/>
              <a:t>27/10/2025</a:t>
            </a:fld>
            <a:endParaRPr lang="es-ES" noProof="0" dirty="0"/>
          </a:p>
        </p:txBody>
      </p:sp>
      <p:sp>
        <p:nvSpPr>
          <p:cNvPr id="3" name="Marcador de pie de página 2">
            <a:extLst>
              <a:ext uri="{FF2B5EF4-FFF2-40B4-BE49-F238E27FC236}">
                <a16:creationId xmlns:a16="http://schemas.microsoft.com/office/drawing/2014/main" id="{05915714-6BBA-4593-8591-4E26F7D58D9F}"/>
              </a:ext>
            </a:extLst>
          </p:cNvPr>
          <p:cNvSpPr>
            <a:spLocks noGrp="1"/>
          </p:cNvSpPr>
          <p:nvPr>
            <p:ph type="ftr" sz="quarter" idx="11"/>
          </p:nvPr>
        </p:nvSpPr>
        <p:spPr/>
        <p:txBody>
          <a:bodyPr rtlCol="0"/>
          <a:lstStyle/>
          <a:p>
            <a:pPr rtl="0"/>
            <a:endParaRPr lang="es-ES" noProof="0" dirty="0"/>
          </a:p>
        </p:txBody>
      </p:sp>
      <p:sp>
        <p:nvSpPr>
          <p:cNvPr id="4" name="Marcador de número de diapositiva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rtlCol="0"/>
          <a:lstStyle/>
          <a:p>
            <a:pPr rtl="0"/>
            <a:fld id="{3A98EE3D-8CD1-4C3F-BD1C-C98C9596463C}" type="slidenum">
              <a:rPr lang="es-ES" noProof="0" smtClean="0"/>
              <a:t>‹Nº›</a:t>
            </a:fld>
            <a:endParaRPr lang="es-ES" noProof="0" dirty="0"/>
          </a:p>
        </p:txBody>
      </p:sp>
    </p:spTree>
    <p:extLst>
      <p:ext uri="{BB962C8B-B14F-4D97-AF65-F5344CB8AC3E}">
        <p14:creationId xmlns:p14="http://schemas.microsoft.com/office/powerpoint/2010/main" val="1333937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leyenda">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ítulo 1"/>
          <p:cNvSpPr>
            <a:spLocks noGrp="1"/>
          </p:cNvSpPr>
          <p:nvPr>
            <p:ph type="title"/>
          </p:nvPr>
        </p:nvSpPr>
        <p:spPr>
          <a:xfrm>
            <a:off x="643466" y="786383"/>
            <a:ext cx="3517567" cy="2093975"/>
          </a:xfrm>
        </p:spPr>
        <p:txBody>
          <a:bodyPr rtlCol="0" anchor="b">
            <a:normAutofit/>
          </a:bodyPr>
          <a:lstStyle>
            <a:lvl1pPr>
              <a:lnSpc>
                <a:spcPct val="90000"/>
              </a:lnSpc>
              <a:defRPr sz="3600" b="0">
                <a:solidFill>
                  <a:srgbClr val="FFFFFF"/>
                </a:solidFill>
              </a:defRPr>
            </a:lvl1pPr>
          </a:lstStyle>
          <a:p>
            <a:pPr rtl="0"/>
            <a:r>
              <a:rPr lang="es-ES" noProof="0"/>
              <a:t>Haga clic para modificar el estilo de título del patrón</a:t>
            </a:r>
            <a:endParaRPr lang="es-ES" noProof="0" dirty="0"/>
          </a:p>
        </p:txBody>
      </p:sp>
      <p:sp>
        <p:nvSpPr>
          <p:cNvPr id="3" name="Marcador de posición de contenido 2"/>
          <p:cNvSpPr>
            <a:spLocks noGrp="1"/>
          </p:cNvSpPr>
          <p:nvPr>
            <p:ph idx="1"/>
          </p:nvPr>
        </p:nvSpPr>
        <p:spPr>
          <a:xfrm>
            <a:off x="5458984" y="812799"/>
            <a:ext cx="5928344" cy="5294757"/>
          </a:xfrm>
        </p:spPr>
        <p:txBody>
          <a:bodyPr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4" name="Marcador de posición de texto 3"/>
          <p:cNvSpPr>
            <a:spLocks noGrp="1"/>
          </p:cNvSpPr>
          <p:nvPr>
            <p:ph type="body" sz="half" idx="2" hasCustomPrompt="1"/>
          </p:nvPr>
        </p:nvSpPr>
        <p:spPr>
          <a:xfrm>
            <a:off x="643465" y="3043050"/>
            <a:ext cx="3517567" cy="3064505"/>
          </a:xfrm>
        </p:spPr>
        <p:txBody>
          <a:bodyPr lIns="91440" rIns="91440" rtlCol="0">
            <a:normAutofit/>
          </a:bodyPr>
          <a:lstStyle>
            <a:lvl1pPr marL="0" indent="0" rtl="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s-ES" noProof="0" dirty="0"/>
              <a:t>Haga clic para modificar los estilos de texto del patrón</a:t>
            </a:r>
          </a:p>
        </p:txBody>
      </p:sp>
      <p:sp>
        <p:nvSpPr>
          <p:cNvPr id="5" name="Marcador de fecha 4"/>
          <p:cNvSpPr>
            <a:spLocks noGrp="1"/>
          </p:cNvSpPr>
          <p:nvPr>
            <p:ph type="dt" sz="half" idx="10"/>
          </p:nvPr>
        </p:nvSpPr>
        <p:spPr>
          <a:xfrm>
            <a:off x="643464" y="6446520"/>
            <a:ext cx="3517568" cy="365125"/>
          </a:xfrm>
        </p:spPr>
        <p:txBody>
          <a:bodyPr rtlCol="0"/>
          <a:lstStyle>
            <a:lvl1pPr algn="l">
              <a:defRPr/>
            </a:lvl1pPr>
          </a:lstStyle>
          <a:p>
            <a:pPr rtl="0"/>
            <a:fld id="{18398048-5A25-40D5-B468-A26206AE4AA8}" type="datetime1">
              <a:rPr lang="es-ES" noProof="0" smtClean="0"/>
              <a:t>27/10/2025</a:t>
            </a:fld>
            <a:endParaRPr lang="es-ES" noProof="0" dirty="0"/>
          </a:p>
        </p:txBody>
      </p:sp>
      <p:sp>
        <p:nvSpPr>
          <p:cNvPr id="6" name="Marcador de pie de página 5"/>
          <p:cNvSpPr>
            <a:spLocks noGrp="1"/>
          </p:cNvSpPr>
          <p:nvPr>
            <p:ph type="ftr" sz="quarter" idx="11"/>
          </p:nvPr>
        </p:nvSpPr>
        <p:spPr>
          <a:xfrm>
            <a:off x="5458983" y="6446520"/>
            <a:ext cx="5334019" cy="365125"/>
          </a:xfrm>
        </p:spPr>
        <p:txBody>
          <a:bodyPr rtlCol="0"/>
          <a:lstStyle>
            <a:lvl1pPr algn="l">
              <a:defRPr>
                <a:solidFill>
                  <a:schemeClr val="tx2"/>
                </a:solidFill>
              </a:defRPr>
            </a:lvl1pPr>
          </a:lstStyle>
          <a:p>
            <a:pPr rtl="0"/>
            <a:endParaRPr lang="es-ES" noProof="0" dirty="0"/>
          </a:p>
        </p:txBody>
      </p:sp>
      <p:sp>
        <p:nvSpPr>
          <p:cNvPr id="7" name="Marcador de posición de número de diapositiva 6"/>
          <p:cNvSpPr>
            <a:spLocks noGrp="1"/>
          </p:cNvSpPr>
          <p:nvPr>
            <p:ph type="sldNum" sz="quarter" idx="12"/>
          </p:nvPr>
        </p:nvSpPr>
        <p:spPr/>
        <p:txBody>
          <a:bodyPr rtlCol="0"/>
          <a:lstStyle>
            <a:lvl1pPr>
              <a:defRPr>
                <a:solidFill>
                  <a:schemeClr val="tx2"/>
                </a:solidFill>
              </a:defRPr>
            </a:lvl1pPr>
          </a:lstStyle>
          <a:p>
            <a:pPr rtl="0"/>
            <a:fld id="{3A98EE3D-8CD1-4C3F-BD1C-C98C9596463C}" type="slidenum">
              <a:rPr lang="es-ES" noProof="0" smtClean="0"/>
              <a:pPr rtl="0"/>
              <a:t>‹Nº›</a:t>
            </a:fld>
            <a:endParaRPr lang="es-ES" noProof="0" dirty="0"/>
          </a:p>
        </p:txBody>
      </p:sp>
    </p:spTree>
    <p:extLst>
      <p:ext uri="{BB962C8B-B14F-4D97-AF65-F5344CB8AC3E}">
        <p14:creationId xmlns:p14="http://schemas.microsoft.com/office/powerpoint/2010/main" val="37711844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leyenda">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Marcador de posición de imagen 2"/>
          <p:cNvSpPr>
            <a:spLocks noGrp="1" noChangeAspect="1"/>
          </p:cNvSpPr>
          <p:nvPr>
            <p:ph type="pic" idx="1"/>
          </p:nvPr>
        </p:nvSpPr>
        <p:spPr>
          <a:xfrm>
            <a:off x="15" y="0"/>
            <a:ext cx="12191985" cy="4578350"/>
          </a:xfrm>
          <a:solidFill>
            <a:schemeClr val="bg1">
              <a:lumMod val="85000"/>
            </a:schemeClr>
          </a:solidFill>
        </p:spPr>
        <p:txBody>
          <a:bodyPr lIns="457200" tIns="457200" rtlCol="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es-ES" noProof="0"/>
              <a:t>Haga clic en el icono para agregar una imagen</a:t>
            </a:r>
            <a:endParaRPr lang="es-ES" noProof="0" dirty="0"/>
          </a:p>
        </p:txBody>
      </p:sp>
      <p:sp>
        <p:nvSpPr>
          <p:cNvPr id="2" name="Título 1"/>
          <p:cNvSpPr>
            <a:spLocks noGrp="1"/>
          </p:cNvSpPr>
          <p:nvPr>
            <p:ph type="title"/>
          </p:nvPr>
        </p:nvSpPr>
        <p:spPr>
          <a:xfrm>
            <a:off x="1097279" y="4799362"/>
            <a:ext cx="10113645" cy="743682"/>
          </a:xfrm>
        </p:spPr>
        <p:txBody>
          <a:bodyPr tIns="0" bIns="0" rtlCol="0" anchor="b">
            <a:noAutofit/>
          </a:bodyPr>
          <a:lstStyle>
            <a:lvl1pPr>
              <a:defRPr sz="3600" b="0">
                <a:solidFill>
                  <a:srgbClr val="FFFFFF"/>
                </a:solidFill>
              </a:defRPr>
            </a:lvl1pPr>
          </a:lstStyle>
          <a:p>
            <a:pPr rtl="0"/>
            <a:r>
              <a:rPr lang="es-ES" noProof="0"/>
              <a:t>Haga clic para modificar el estilo de título del patrón</a:t>
            </a:r>
            <a:endParaRPr lang="es-ES" noProof="0" dirty="0"/>
          </a:p>
        </p:txBody>
      </p:sp>
      <p:sp>
        <p:nvSpPr>
          <p:cNvPr id="4" name="Marcador de posición de texto 3"/>
          <p:cNvSpPr>
            <a:spLocks noGrp="1"/>
          </p:cNvSpPr>
          <p:nvPr>
            <p:ph type="body" sz="half" idx="2"/>
          </p:nvPr>
        </p:nvSpPr>
        <p:spPr>
          <a:xfrm>
            <a:off x="1097279" y="5715000"/>
            <a:ext cx="10113264" cy="609600"/>
          </a:xfrm>
        </p:spPr>
        <p:txBody>
          <a:bodyPr lIns="91440" tIns="0" rIns="91440" bIns="0" rtlCol="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s-ES" noProof="0"/>
              <a:t>Haga clic para modificar los estilos de texto del patrón</a:t>
            </a:r>
          </a:p>
        </p:txBody>
      </p:sp>
      <p:sp>
        <p:nvSpPr>
          <p:cNvPr id="5" name="Marcador de fecha 4"/>
          <p:cNvSpPr>
            <a:spLocks noGrp="1"/>
          </p:cNvSpPr>
          <p:nvPr>
            <p:ph type="dt" sz="half" idx="10"/>
          </p:nvPr>
        </p:nvSpPr>
        <p:spPr/>
        <p:txBody>
          <a:bodyPr rtlCol="0"/>
          <a:lstStyle>
            <a:lvl1pPr>
              <a:defRPr/>
            </a:lvl1pPr>
          </a:lstStyle>
          <a:p>
            <a:pPr rtl="0"/>
            <a:fld id="{99645712-319F-4E90-BCEB-D987D92F516A}" type="datetime1">
              <a:rPr lang="es-ES" noProof="0" smtClean="0"/>
              <a:t>27/10/2025</a:t>
            </a:fld>
            <a:endParaRPr lang="es-ES" noProof="0" dirty="0"/>
          </a:p>
        </p:txBody>
      </p:sp>
      <p:sp>
        <p:nvSpPr>
          <p:cNvPr id="6" name="Marcador de posición de pie de página 5"/>
          <p:cNvSpPr>
            <a:spLocks noGrp="1"/>
          </p:cNvSpPr>
          <p:nvPr>
            <p:ph type="ftr" sz="quarter" idx="11"/>
          </p:nvPr>
        </p:nvSpPr>
        <p:spPr>
          <a:xfrm>
            <a:off x="1097279" y="6446838"/>
            <a:ext cx="6818262" cy="365125"/>
          </a:xfrm>
        </p:spPr>
        <p:txBody>
          <a:bodyPr rtlCol="0"/>
          <a:lstStyle/>
          <a:p>
            <a:pPr algn="l" rtl="0"/>
            <a:endParaRPr lang="es-ES" noProof="0" dirty="0"/>
          </a:p>
        </p:txBody>
      </p:sp>
      <p:sp>
        <p:nvSpPr>
          <p:cNvPr id="7" name="Marcador de número de diapositiva 6"/>
          <p:cNvSpPr>
            <a:spLocks noGrp="1"/>
          </p:cNvSpPr>
          <p:nvPr>
            <p:ph type="sldNum" sz="quarter" idx="12"/>
          </p:nvPr>
        </p:nvSpPr>
        <p:spPr/>
        <p:txBody>
          <a:bodyPr rtlCol="0"/>
          <a:lstStyle/>
          <a:p>
            <a:pPr rtl="0"/>
            <a:fld id="{3A98EE3D-8CD1-4C3F-BD1C-C98C9596463C}" type="slidenum">
              <a:rPr lang="es-ES" noProof="0" smtClean="0"/>
              <a:t>‹Nº›</a:t>
            </a:fld>
            <a:endParaRPr lang="es-ES" noProof="0" dirty="0"/>
          </a:p>
        </p:txBody>
      </p:sp>
    </p:spTree>
    <p:extLst>
      <p:ext uri="{BB962C8B-B14F-4D97-AF65-F5344CB8AC3E}">
        <p14:creationId xmlns:p14="http://schemas.microsoft.com/office/powerpoint/2010/main" val="12016137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Main slide">
  <p:cSld name="Main slide">
    <p:bg>
      <p:bgPr>
        <a:solidFill>
          <a:srgbClr val="FFFFFF"/>
        </a:solidFill>
        <a:effectLst/>
      </p:bgPr>
    </p:bg>
    <p:spTree>
      <p:nvGrpSpPr>
        <p:cNvPr id="1" name="Shape 8"/>
        <p:cNvGrpSpPr/>
        <p:nvPr/>
      </p:nvGrpSpPr>
      <p:grpSpPr>
        <a:xfrm>
          <a:off x="0" y="0"/>
          <a:ext cx="0" cy="0"/>
          <a:chOff x="0" y="0"/>
          <a:chExt cx="0" cy="0"/>
        </a:xfrm>
      </p:grpSpPr>
      <p:pic>
        <p:nvPicPr>
          <p:cNvPr id="2" name="Imagen 1">
            <a:extLst>
              <a:ext uri="{FF2B5EF4-FFF2-40B4-BE49-F238E27FC236}">
                <a16:creationId xmlns:a16="http://schemas.microsoft.com/office/drawing/2014/main" id="{56674E6C-3C55-A752-846A-FFEF9F13CC64}"/>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92088" y="188913"/>
            <a:ext cx="1866900"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Google Shape;12;p2"/>
          <p:cNvSpPr txBox="1">
            <a:spLocks noGrp="1"/>
          </p:cNvSpPr>
          <p:nvPr>
            <p:ph type="ctrTitle"/>
          </p:nvPr>
        </p:nvSpPr>
        <p:spPr>
          <a:xfrm>
            <a:off x="1633200" y="2304591"/>
            <a:ext cx="8925600" cy="1419600"/>
          </a:xfrm>
          <a:prstGeom prst="rect">
            <a:avLst/>
          </a:prstGeom>
          <a:noFill/>
          <a:ln>
            <a:noFill/>
          </a:ln>
        </p:spPr>
        <p:txBody>
          <a:bodyPr spcFirstLastPara="1" lIns="91425" tIns="91425" rIns="91425" bIns="91425">
            <a:noAutofit/>
          </a:bodyPr>
          <a:lstStyle>
            <a:lvl1pPr lvl="0" algn="ctr">
              <a:lnSpc>
                <a:spcPct val="100000"/>
              </a:lnSpc>
              <a:spcBef>
                <a:spcPts val="0"/>
              </a:spcBef>
              <a:spcAft>
                <a:spcPts val="0"/>
              </a:spcAft>
              <a:buClr>
                <a:srgbClr val="434343"/>
              </a:buClr>
              <a:buSzPts val="2800"/>
              <a:buNone/>
              <a:defRPr sz="4267" b="1"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lvl="1" algn="ctr">
              <a:lnSpc>
                <a:spcPct val="100000"/>
              </a:lnSpc>
              <a:spcBef>
                <a:spcPts val="0"/>
              </a:spcBef>
              <a:spcAft>
                <a:spcPts val="0"/>
              </a:spcAft>
              <a:buClr>
                <a:srgbClr val="7F8D99"/>
              </a:buClr>
              <a:buSzPts val="2800"/>
              <a:buNone/>
              <a:defRPr>
                <a:solidFill>
                  <a:srgbClr val="7F8D99"/>
                </a:solidFill>
              </a:defRPr>
            </a:lvl2pPr>
            <a:lvl3pPr lvl="2" algn="ctr">
              <a:lnSpc>
                <a:spcPct val="100000"/>
              </a:lnSpc>
              <a:spcBef>
                <a:spcPts val="0"/>
              </a:spcBef>
              <a:spcAft>
                <a:spcPts val="0"/>
              </a:spcAft>
              <a:buClr>
                <a:srgbClr val="7F8D99"/>
              </a:buClr>
              <a:buSzPts val="2800"/>
              <a:buNone/>
              <a:defRPr>
                <a:solidFill>
                  <a:srgbClr val="7F8D99"/>
                </a:solidFill>
              </a:defRPr>
            </a:lvl3pPr>
            <a:lvl4pPr lvl="3" algn="ctr">
              <a:lnSpc>
                <a:spcPct val="100000"/>
              </a:lnSpc>
              <a:spcBef>
                <a:spcPts val="0"/>
              </a:spcBef>
              <a:spcAft>
                <a:spcPts val="0"/>
              </a:spcAft>
              <a:buClr>
                <a:srgbClr val="7F8D99"/>
              </a:buClr>
              <a:buSzPts val="2800"/>
              <a:buNone/>
              <a:defRPr>
                <a:solidFill>
                  <a:srgbClr val="7F8D99"/>
                </a:solidFill>
              </a:defRPr>
            </a:lvl4pPr>
            <a:lvl5pPr lvl="4" algn="ctr">
              <a:lnSpc>
                <a:spcPct val="100000"/>
              </a:lnSpc>
              <a:spcBef>
                <a:spcPts val="0"/>
              </a:spcBef>
              <a:spcAft>
                <a:spcPts val="0"/>
              </a:spcAft>
              <a:buClr>
                <a:srgbClr val="7F8D99"/>
              </a:buClr>
              <a:buSzPts val="2800"/>
              <a:buNone/>
              <a:defRPr>
                <a:solidFill>
                  <a:srgbClr val="7F8D99"/>
                </a:solidFill>
              </a:defRPr>
            </a:lvl5pPr>
            <a:lvl6pPr lvl="5" algn="ctr">
              <a:lnSpc>
                <a:spcPct val="100000"/>
              </a:lnSpc>
              <a:spcBef>
                <a:spcPts val="0"/>
              </a:spcBef>
              <a:spcAft>
                <a:spcPts val="0"/>
              </a:spcAft>
              <a:buClr>
                <a:srgbClr val="7F8D99"/>
              </a:buClr>
              <a:buSzPts val="2800"/>
              <a:buNone/>
              <a:defRPr>
                <a:solidFill>
                  <a:srgbClr val="7F8D99"/>
                </a:solidFill>
              </a:defRPr>
            </a:lvl6pPr>
            <a:lvl7pPr lvl="6" algn="ctr">
              <a:lnSpc>
                <a:spcPct val="100000"/>
              </a:lnSpc>
              <a:spcBef>
                <a:spcPts val="0"/>
              </a:spcBef>
              <a:spcAft>
                <a:spcPts val="0"/>
              </a:spcAft>
              <a:buClr>
                <a:srgbClr val="7F8D99"/>
              </a:buClr>
              <a:buSzPts val="2800"/>
              <a:buNone/>
              <a:defRPr>
                <a:solidFill>
                  <a:srgbClr val="7F8D99"/>
                </a:solidFill>
              </a:defRPr>
            </a:lvl7pPr>
            <a:lvl8pPr lvl="7" algn="ctr">
              <a:lnSpc>
                <a:spcPct val="100000"/>
              </a:lnSpc>
              <a:spcBef>
                <a:spcPts val="0"/>
              </a:spcBef>
              <a:spcAft>
                <a:spcPts val="0"/>
              </a:spcAft>
              <a:buClr>
                <a:srgbClr val="7F8D99"/>
              </a:buClr>
              <a:buSzPts val="2800"/>
              <a:buNone/>
              <a:defRPr>
                <a:solidFill>
                  <a:srgbClr val="7F8D99"/>
                </a:solidFill>
              </a:defRPr>
            </a:lvl8pPr>
            <a:lvl9pPr lvl="8" algn="ctr">
              <a:lnSpc>
                <a:spcPct val="100000"/>
              </a:lnSpc>
              <a:spcBef>
                <a:spcPts val="0"/>
              </a:spcBef>
              <a:spcAft>
                <a:spcPts val="0"/>
              </a:spcAft>
              <a:buClr>
                <a:srgbClr val="7F8D99"/>
              </a:buClr>
              <a:buSzPts val="2800"/>
              <a:buNone/>
              <a:defRPr>
                <a:solidFill>
                  <a:srgbClr val="7F8D99"/>
                </a:solidFill>
              </a:defRPr>
            </a:lvl9pPr>
          </a:lstStyle>
          <a:p>
            <a:endParaRPr dirty="0"/>
          </a:p>
        </p:txBody>
      </p:sp>
      <p:sp>
        <p:nvSpPr>
          <p:cNvPr id="13" name="Google Shape;13;p2"/>
          <p:cNvSpPr txBox="1">
            <a:spLocks noGrp="1"/>
          </p:cNvSpPr>
          <p:nvPr>
            <p:ph type="ctrTitle" idx="2"/>
          </p:nvPr>
        </p:nvSpPr>
        <p:spPr>
          <a:xfrm>
            <a:off x="1633200" y="3934776"/>
            <a:ext cx="8925600" cy="965200"/>
          </a:xfrm>
          <a:prstGeom prst="rect">
            <a:avLst/>
          </a:prstGeom>
          <a:noFill/>
          <a:ln>
            <a:noFill/>
          </a:ln>
        </p:spPr>
        <p:txBody>
          <a:bodyPr spcFirstLastPara="1" lIns="91425" tIns="91425" rIns="91425" bIns="91425" anchor="t">
            <a:noAutofit/>
          </a:bodyPr>
          <a:lstStyle>
            <a:lvl1pPr lvl="0" algn="ctr">
              <a:lnSpc>
                <a:spcPct val="100000"/>
              </a:lnSpc>
              <a:spcBef>
                <a:spcPts val="0"/>
              </a:spcBef>
              <a:spcAft>
                <a:spcPts val="0"/>
              </a:spcAft>
              <a:buClr>
                <a:srgbClr val="434343"/>
              </a:buClr>
              <a:buSzPts val="1800"/>
              <a:buNone/>
              <a:defRPr sz="2133" b="0"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lvl="1" algn="ctr">
              <a:lnSpc>
                <a:spcPct val="100000"/>
              </a:lnSpc>
              <a:spcBef>
                <a:spcPts val="0"/>
              </a:spcBef>
              <a:spcAft>
                <a:spcPts val="0"/>
              </a:spcAft>
              <a:buClr>
                <a:srgbClr val="7F8D99"/>
              </a:buClr>
              <a:buSzPts val="1800"/>
              <a:buNone/>
              <a:defRPr sz="2400">
                <a:solidFill>
                  <a:srgbClr val="7F8D99"/>
                </a:solidFill>
              </a:defRPr>
            </a:lvl2pPr>
            <a:lvl3pPr lvl="2" algn="ctr">
              <a:lnSpc>
                <a:spcPct val="100000"/>
              </a:lnSpc>
              <a:spcBef>
                <a:spcPts val="0"/>
              </a:spcBef>
              <a:spcAft>
                <a:spcPts val="0"/>
              </a:spcAft>
              <a:buClr>
                <a:srgbClr val="7F8D99"/>
              </a:buClr>
              <a:buSzPts val="1800"/>
              <a:buNone/>
              <a:defRPr sz="2400">
                <a:solidFill>
                  <a:srgbClr val="7F8D99"/>
                </a:solidFill>
              </a:defRPr>
            </a:lvl3pPr>
            <a:lvl4pPr lvl="3" algn="ctr">
              <a:lnSpc>
                <a:spcPct val="100000"/>
              </a:lnSpc>
              <a:spcBef>
                <a:spcPts val="0"/>
              </a:spcBef>
              <a:spcAft>
                <a:spcPts val="0"/>
              </a:spcAft>
              <a:buClr>
                <a:srgbClr val="7F8D99"/>
              </a:buClr>
              <a:buSzPts val="1800"/>
              <a:buNone/>
              <a:defRPr sz="2400">
                <a:solidFill>
                  <a:srgbClr val="7F8D99"/>
                </a:solidFill>
              </a:defRPr>
            </a:lvl4pPr>
            <a:lvl5pPr lvl="4" algn="ctr">
              <a:lnSpc>
                <a:spcPct val="100000"/>
              </a:lnSpc>
              <a:spcBef>
                <a:spcPts val="0"/>
              </a:spcBef>
              <a:spcAft>
                <a:spcPts val="0"/>
              </a:spcAft>
              <a:buClr>
                <a:srgbClr val="7F8D99"/>
              </a:buClr>
              <a:buSzPts val="1800"/>
              <a:buNone/>
              <a:defRPr sz="2400">
                <a:solidFill>
                  <a:srgbClr val="7F8D99"/>
                </a:solidFill>
              </a:defRPr>
            </a:lvl5pPr>
            <a:lvl6pPr lvl="5" algn="ctr">
              <a:lnSpc>
                <a:spcPct val="100000"/>
              </a:lnSpc>
              <a:spcBef>
                <a:spcPts val="0"/>
              </a:spcBef>
              <a:spcAft>
                <a:spcPts val="0"/>
              </a:spcAft>
              <a:buClr>
                <a:srgbClr val="7F8D99"/>
              </a:buClr>
              <a:buSzPts val="1800"/>
              <a:buNone/>
              <a:defRPr sz="2400">
                <a:solidFill>
                  <a:srgbClr val="7F8D99"/>
                </a:solidFill>
              </a:defRPr>
            </a:lvl6pPr>
            <a:lvl7pPr lvl="6" algn="ctr">
              <a:lnSpc>
                <a:spcPct val="100000"/>
              </a:lnSpc>
              <a:spcBef>
                <a:spcPts val="0"/>
              </a:spcBef>
              <a:spcAft>
                <a:spcPts val="0"/>
              </a:spcAft>
              <a:buClr>
                <a:srgbClr val="7F8D99"/>
              </a:buClr>
              <a:buSzPts val="1800"/>
              <a:buNone/>
              <a:defRPr sz="2400">
                <a:solidFill>
                  <a:srgbClr val="7F8D99"/>
                </a:solidFill>
              </a:defRPr>
            </a:lvl7pPr>
            <a:lvl8pPr lvl="7" algn="ctr">
              <a:lnSpc>
                <a:spcPct val="100000"/>
              </a:lnSpc>
              <a:spcBef>
                <a:spcPts val="0"/>
              </a:spcBef>
              <a:spcAft>
                <a:spcPts val="0"/>
              </a:spcAft>
              <a:buClr>
                <a:srgbClr val="7F8D99"/>
              </a:buClr>
              <a:buSzPts val="1800"/>
              <a:buNone/>
              <a:defRPr sz="2400">
                <a:solidFill>
                  <a:srgbClr val="7F8D99"/>
                </a:solidFill>
              </a:defRPr>
            </a:lvl8pPr>
            <a:lvl9pPr lvl="8" algn="ctr">
              <a:lnSpc>
                <a:spcPct val="100000"/>
              </a:lnSpc>
              <a:spcBef>
                <a:spcPts val="0"/>
              </a:spcBef>
              <a:spcAft>
                <a:spcPts val="0"/>
              </a:spcAft>
              <a:buClr>
                <a:srgbClr val="7F8D99"/>
              </a:buClr>
              <a:buSzPts val="1800"/>
              <a:buNone/>
              <a:defRPr sz="2400">
                <a:solidFill>
                  <a:srgbClr val="7F8D99"/>
                </a:solidFill>
              </a:defRPr>
            </a:lvl9pPr>
          </a:lstStyle>
          <a:p>
            <a:endParaRPr dirty="0"/>
          </a:p>
        </p:txBody>
      </p:sp>
    </p:spTree>
    <p:extLst>
      <p:ext uri="{BB962C8B-B14F-4D97-AF65-F5344CB8AC3E}">
        <p14:creationId xmlns:p14="http://schemas.microsoft.com/office/powerpoint/2010/main" val="4684910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userDrawn="1">
  <p:cSld name="2_Diapositiva de título">
    <p:bg>
      <p:bgPr>
        <a:blipFill dpi="0" rotWithShape="0">
          <a:blip r:embed="rId2"/>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896610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ext slide with title 1">
  <p:cSld name="Text slide with title 1">
    <p:spTree>
      <p:nvGrpSpPr>
        <p:cNvPr id="1" name="Shape 23"/>
        <p:cNvGrpSpPr/>
        <p:nvPr/>
      </p:nvGrpSpPr>
      <p:grpSpPr>
        <a:xfrm>
          <a:off x="0" y="0"/>
          <a:ext cx="0" cy="0"/>
          <a:chOff x="0" y="0"/>
          <a:chExt cx="0" cy="0"/>
        </a:xfrm>
      </p:grpSpPr>
      <p:pic>
        <p:nvPicPr>
          <p:cNvPr id="2" name="Imagen 8">
            <a:extLst>
              <a:ext uri="{FF2B5EF4-FFF2-40B4-BE49-F238E27FC236}">
                <a16:creationId xmlns:a16="http://schemas.microsoft.com/office/drawing/2014/main" id="{63CC8359-7C74-42DC-7DD7-A8627606468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flipV="1">
            <a:off x="11741150" y="149225"/>
            <a:ext cx="300038"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 name="Google Shape;28;p4"/>
          <p:cNvSpPr txBox="1">
            <a:spLocks noGrp="1"/>
          </p:cNvSpPr>
          <p:nvPr>
            <p:ph type="title"/>
          </p:nvPr>
        </p:nvSpPr>
        <p:spPr>
          <a:xfrm>
            <a:off x="529767" y="1392400"/>
            <a:ext cx="11360800" cy="763600"/>
          </a:xfrm>
          <a:prstGeom prst="rect">
            <a:avLst/>
          </a:prstGeom>
          <a:noFill/>
          <a:ln>
            <a:noFill/>
          </a:ln>
        </p:spPr>
        <p:txBody>
          <a:bodyPr spcFirstLastPara="1" lIns="91425" tIns="91425" rIns="91425" bIns="91425" anchor="b">
            <a:noAutofit/>
          </a:bodyPr>
          <a:lstStyle>
            <a:lvl1pPr lvl="0" rtl="0">
              <a:lnSpc>
                <a:spcPct val="100000"/>
              </a:lnSpc>
              <a:spcBef>
                <a:spcPts val="0"/>
              </a:spcBef>
              <a:spcAft>
                <a:spcPts val="0"/>
              </a:spcAft>
              <a:buClr>
                <a:srgbClr val="434343"/>
              </a:buClr>
              <a:buSzPts val="2800"/>
              <a:buNone/>
              <a:defRPr b="1"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lvl="1" algn="ctr" rtl="0">
              <a:lnSpc>
                <a:spcPct val="100000"/>
              </a:lnSpc>
              <a:spcBef>
                <a:spcPts val="0"/>
              </a:spcBef>
              <a:spcAft>
                <a:spcPts val="0"/>
              </a:spcAft>
              <a:buSzPts val="2800"/>
              <a:buNone/>
              <a:defRPr/>
            </a:lvl2pPr>
            <a:lvl3pPr lvl="2" algn="ctr" rtl="0">
              <a:lnSpc>
                <a:spcPct val="100000"/>
              </a:lnSpc>
              <a:spcBef>
                <a:spcPts val="0"/>
              </a:spcBef>
              <a:spcAft>
                <a:spcPts val="0"/>
              </a:spcAft>
              <a:buSzPts val="2800"/>
              <a:buNone/>
              <a:defRPr/>
            </a:lvl3pPr>
            <a:lvl4pPr lvl="3" algn="ctr" rtl="0">
              <a:lnSpc>
                <a:spcPct val="100000"/>
              </a:lnSpc>
              <a:spcBef>
                <a:spcPts val="0"/>
              </a:spcBef>
              <a:spcAft>
                <a:spcPts val="0"/>
              </a:spcAft>
              <a:buSzPts val="2800"/>
              <a:buNone/>
              <a:defRPr/>
            </a:lvl4pPr>
            <a:lvl5pPr lvl="4" algn="ctr" rtl="0">
              <a:lnSpc>
                <a:spcPct val="100000"/>
              </a:lnSpc>
              <a:spcBef>
                <a:spcPts val="0"/>
              </a:spcBef>
              <a:spcAft>
                <a:spcPts val="0"/>
              </a:spcAft>
              <a:buSzPts val="2800"/>
              <a:buNone/>
              <a:defRPr/>
            </a:lvl5pPr>
            <a:lvl6pPr lvl="5" algn="ctr" rtl="0">
              <a:lnSpc>
                <a:spcPct val="100000"/>
              </a:lnSpc>
              <a:spcBef>
                <a:spcPts val="0"/>
              </a:spcBef>
              <a:spcAft>
                <a:spcPts val="0"/>
              </a:spcAft>
              <a:buSzPts val="2800"/>
              <a:buNone/>
              <a:defRPr/>
            </a:lvl6pPr>
            <a:lvl7pPr lvl="6" algn="ctr" rtl="0">
              <a:lnSpc>
                <a:spcPct val="100000"/>
              </a:lnSpc>
              <a:spcBef>
                <a:spcPts val="0"/>
              </a:spcBef>
              <a:spcAft>
                <a:spcPts val="0"/>
              </a:spcAft>
              <a:buSzPts val="2800"/>
              <a:buNone/>
              <a:defRPr/>
            </a:lvl7pPr>
            <a:lvl8pPr lvl="7" algn="ctr" rtl="0">
              <a:lnSpc>
                <a:spcPct val="100000"/>
              </a:lnSpc>
              <a:spcBef>
                <a:spcPts val="0"/>
              </a:spcBef>
              <a:spcAft>
                <a:spcPts val="0"/>
              </a:spcAft>
              <a:buSzPts val="2800"/>
              <a:buNone/>
              <a:defRPr/>
            </a:lvl8pPr>
            <a:lvl9pPr lvl="8" algn="ctr" rtl="0">
              <a:lnSpc>
                <a:spcPct val="100000"/>
              </a:lnSpc>
              <a:spcBef>
                <a:spcPts val="0"/>
              </a:spcBef>
              <a:spcAft>
                <a:spcPts val="0"/>
              </a:spcAft>
              <a:buSzPts val="2800"/>
              <a:buNone/>
              <a:defRPr/>
            </a:lvl9pPr>
          </a:lstStyle>
          <a:p>
            <a:endParaRPr dirty="0"/>
          </a:p>
        </p:txBody>
      </p:sp>
      <p:sp>
        <p:nvSpPr>
          <p:cNvPr id="29" name="Google Shape;29;p4"/>
          <p:cNvSpPr txBox="1">
            <a:spLocks noGrp="1"/>
          </p:cNvSpPr>
          <p:nvPr>
            <p:ph type="body" idx="1"/>
          </p:nvPr>
        </p:nvSpPr>
        <p:spPr>
          <a:xfrm>
            <a:off x="529779" y="2170933"/>
            <a:ext cx="8196800" cy="2504000"/>
          </a:xfrm>
          <a:prstGeom prst="rect">
            <a:avLst/>
          </a:prstGeom>
          <a:noFill/>
          <a:ln>
            <a:noFill/>
          </a:ln>
        </p:spPr>
        <p:txBody>
          <a:bodyPr spcFirstLastPara="1" lIns="91425" tIns="91425" rIns="91425" bIns="91425">
            <a:noAutofit/>
          </a:bodyPr>
          <a:lstStyle>
            <a:lvl1pPr marL="609585" lvl="0" indent="-423323" algn="l" rtl="0">
              <a:lnSpc>
                <a:spcPct val="100000"/>
              </a:lnSpc>
              <a:spcBef>
                <a:spcPts val="0"/>
              </a:spcBef>
              <a:spcAft>
                <a:spcPts val="0"/>
              </a:spcAft>
              <a:buClr>
                <a:srgbClr val="FF3A00"/>
              </a:buClr>
              <a:buSzPts val="1400"/>
              <a:buChar cha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1219170" lvl="1" indent="-406390" algn="l" rtl="0">
              <a:lnSpc>
                <a:spcPct val="100000"/>
              </a:lnSpc>
              <a:spcBef>
                <a:spcPts val="0"/>
              </a:spcBef>
              <a:spcAft>
                <a:spcPts val="0"/>
              </a:spcAft>
              <a:buClr>
                <a:srgbClr val="999999"/>
              </a:buClr>
              <a:buSzPts val="1200"/>
              <a:buChar char="○"/>
              <a:defRPr sz="1600">
                <a:solidFill>
                  <a:srgbClr val="999999"/>
                </a:solidFill>
              </a:defRPr>
            </a:lvl2pPr>
            <a:lvl3pPr marL="1828754" lvl="2" indent="-406390" algn="l" rtl="0">
              <a:lnSpc>
                <a:spcPct val="100000"/>
              </a:lnSpc>
              <a:spcBef>
                <a:spcPts val="0"/>
              </a:spcBef>
              <a:spcAft>
                <a:spcPts val="0"/>
              </a:spcAft>
              <a:buClr>
                <a:srgbClr val="999999"/>
              </a:buClr>
              <a:buSzPts val="1200"/>
              <a:buChar char="■"/>
              <a:defRPr sz="1600">
                <a:solidFill>
                  <a:srgbClr val="999999"/>
                </a:solidFill>
              </a:defRPr>
            </a:lvl3pPr>
            <a:lvl4pPr marL="2438339" lvl="3" indent="-406390" algn="l" rtl="0">
              <a:lnSpc>
                <a:spcPct val="100000"/>
              </a:lnSpc>
              <a:spcBef>
                <a:spcPts val="0"/>
              </a:spcBef>
              <a:spcAft>
                <a:spcPts val="0"/>
              </a:spcAft>
              <a:buClr>
                <a:srgbClr val="999999"/>
              </a:buClr>
              <a:buSzPts val="1200"/>
              <a:buChar char="●"/>
              <a:defRPr sz="1600">
                <a:solidFill>
                  <a:srgbClr val="999999"/>
                </a:solidFill>
              </a:defRPr>
            </a:lvl4pPr>
            <a:lvl5pPr marL="3047924" lvl="4" indent="-406390" algn="l" rtl="0">
              <a:lnSpc>
                <a:spcPct val="100000"/>
              </a:lnSpc>
              <a:spcBef>
                <a:spcPts val="0"/>
              </a:spcBef>
              <a:spcAft>
                <a:spcPts val="0"/>
              </a:spcAft>
              <a:buClr>
                <a:srgbClr val="999999"/>
              </a:buClr>
              <a:buSzPts val="1200"/>
              <a:buChar char="○"/>
              <a:defRPr sz="1600">
                <a:solidFill>
                  <a:srgbClr val="999999"/>
                </a:solidFill>
              </a:defRPr>
            </a:lvl5pPr>
            <a:lvl6pPr marL="3657509" lvl="5" indent="-406390" algn="l" rtl="0">
              <a:lnSpc>
                <a:spcPct val="100000"/>
              </a:lnSpc>
              <a:spcBef>
                <a:spcPts val="0"/>
              </a:spcBef>
              <a:spcAft>
                <a:spcPts val="0"/>
              </a:spcAft>
              <a:buClr>
                <a:srgbClr val="999999"/>
              </a:buClr>
              <a:buSzPts val="1200"/>
              <a:buChar char="■"/>
              <a:defRPr sz="1600">
                <a:solidFill>
                  <a:srgbClr val="999999"/>
                </a:solidFill>
              </a:defRPr>
            </a:lvl6pPr>
            <a:lvl7pPr marL="4267093" lvl="6" indent="-406390" algn="l" rtl="0">
              <a:lnSpc>
                <a:spcPct val="100000"/>
              </a:lnSpc>
              <a:spcBef>
                <a:spcPts val="0"/>
              </a:spcBef>
              <a:spcAft>
                <a:spcPts val="0"/>
              </a:spcAft>
              <a:buClr>
                <a:srgbClr val="999999"/>
              </a:buClr>
              <a:buSzPts val="1200"/>
              <a:buChar char="●"/>
              <a:defRPr sz="1600">
                <a:solidFill>
                  <a:srgbClr val="999999"/>
                </a:solidFill>
              </a:defRPr>
            </a:lvl7pPr>
            <a:lvl8pPr marL="4876678" lvl="7" indent="-406390" algn="l" rtl="0">
              <a:lnSpc>
                <a:spcPct val="100000"/>
              </a:lnSpc>
              <a:spcBef>
                <a:spcPts val="0"/>
              </a:spcBef>
              <a:spcAft>
                <a:spcPts val="0"/>
              </a:spcAft>
              <a:buClr>
                <a:srgbClr val="999999"/>
              </a:buClr>
              <a:buSzPts val="1200"/>
              <a:buChar char="○"/>
              <a:defRPr sz="1600">
                <a:solidFill>
                  <a:srgbClr val="999999"/>
                </a:solidFill>
              </a:defRPr>
            </a:lvl8pPr>
            <a:lvl9pPr marL="5486263" lvl="8" indent="-406390" algn="l" rtl="0">
              <a:lnSpc>
                <a:spcPct val="100000"/>
              </a:lnSpc>
              <a:spcBef>
                <a:spcPts val="0"/>
              </a:spcBef>
              <a:spcAft>
                <a:spcPts val="0"/>
              </a:spcAft>
              <a:buClr>
                <a:srgbClr val="999999"/>
              </a:buClr>
              <a:buSzPts val="1200"/>
              <a:buChar char="■"/>
              <a:defRPr sz="1600">
                <a:solidFill>
                  <a:srgbClr val="999999"/>
                </a:solidFill>
              </a:defRPr>
            </a:lvl9pPr>
          </a:lstStyle>
          <a:p>
            <a:endParaRPr dirty="0"/>
          </a:p>
        </p:txBody>
      </p:sp>
    </p:spTree>
    <p:extLst>
      <p:ext uri="{BB962C8B-B14F-4D97-AF65-F5344CB8AC3E}">
        <p14:creationId xmlns:p14="http://schemas.microsoft.com/office/powerpoint/2010/main" val="6030587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PE"/>
          </a:p>
        </p:txBody>
      </p:sp>
      <p:sp>
        <p:nvSpPr>
          <p:cNvPr id="2" name="Marcador de título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pPr rtl="0"/>
            <a:r>
              <a:rPr lang="es-ES" noProof="0" dirty="0"/>
              <a:t>Haga clic para modificar el estilo de título del patrón</a:t>
            </a:r>
          </a:p>
        </p:txBody>
      </p:sp>
      <p:sp>
        <p:nvSpPr>
          <p:cNvPr id="3" name="Marcador de texto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rtl="0"/>
            <a:r>
              <a:rPr lang="es-ES" noProof="0" dirty="0"/>
              <a:t>Haga clic para modificar los estilos de texto del patrón</a:t>
            </a:r>
          </a:p>
          <a:p>
            <a:pPr lvl="1" rtl="0"/>
            <a:r>
              <a:rPr lang="es-ES" noProof="0" dirty="0"/>
              <a:t>Segundo nivel</a:t>
            </a:r>
          </a:p>
          <a:p>
            <a:pPr lvl="2" rtl="0"/>
            <a:r>
              <a:rPr lang="es-ES" noProof="0" dirty="0"/>
              <a:t>Tercer nivel</a:t>
            </a:r>
          </a:p>
          <a:p>
            <a:pPr lvl="3" rtl="0"/>
            <a:r>
              <a:rPr lang="es-ES" noProof="0" dirty="0"/>
              <a:t>Cuarto nivel</a:t>
            </a:r>
          </a:p>
          <a:p>
            <a:pPr lvl="4" rtl="0"/>
            <a:r>
              <a:rPr lang="es-ES" noProof="0" dirty="0"/>
              <a:t>Quinto nivel</a:t>
            </a:r>
          </a:p>
        </p:txBody>
      </p:sp>
      <p:sp>
        <p:nvSpPr>
          <p:cNvPr id="4" name="Marcador de fecha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pPr rtl="0"/>
            <a:fld id="{D1FE31BA-0339-46EE-ACF7-DCEDA255DE2F}" type="datetime1">
              <a:rPr lang="es-ES" noProof="0" smtClean="0"/>
              <a:t>27/10/2025</a:t>
            </a:fld>
            <a:endParaRPr lang="es-ES" noProof="0" dirty="0"/>
          </a:p>
        </p:txBody>
      </p:sp>
      <p:sp>
        <p:nvSpPr>
          <p:cNvPr id="5" name="Marcador de posición de pie de página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pPr rtl="0"/>
            <a:endParaRPr lang="es-ES" noProof="0" dirty="0"/>
          </a:p>
        </p:txBody>
      </p:sp>
      <p:sp>
        <p:nvSpPr>
          <p:cNvPr id="6" name="Marcador de número de diapositiva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pPr rtl="0"/>
            <a:fld id="{3A98EE3D-8CD1-4C3F-BD1C-C98C9596463C}" type="slidenum">
              <a:rPr lang="es-ES" noProof="0" smtClean="0"/>
              <a:t>‹Nº›</a:t>
            </a:fld>
            <a:endParaRPr lang="es-ES" noProof="0" dirty="0"/>
          </a:p>
        </p:txBody>
      </p:sp>
      <p:cxnSp>
        <p:nvCxnSpPr>
          <p:cNvPr id="10" name="Conector recto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460309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40.png"/><Relationship Id="rId2" Type="http://schemas.openxmlformats.org/officeDocument/2006/relationships/customXml" Target="../ink/ink1.xml"/><Relationship Id="rId1" Type="http://schemas.openxmlformats.org/officeDocument/2006/relationships/slideLayout" Target="../slideLayouts/slideLayout2.xml"/><Relationship Id="rId6" Type="http://schemas.openxmlformats.org/officeDocument/2006/relationships/customXml" Target="../ink/ink3.xml"/><Relationship Id="rId5" Type="http://schemas.openxmlformats.org/officeDocument/2006/relationships/image" Target="../media/image30.png"/><Relationship Id="rId4" Type="http://schemas.openxmlformats.org/officeDocument/2006/relationships/customXml" Target="../ink/ink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ítulo 8">
            <a:extLst>
              <a:ext uri="{FF2B5EF4-FFF2-40B4-BE49-F238E27FC236}">
                <a16:creationId xmlns:a16="http://schemas.microsoft.com/office/drawing/2014/main" id="{D636FE32-CE2F-57EC-85F4-3A6C36039A51}"/>
              </a:ext>
            </a:extLst>
          </p:cNvPr>
          <p:cNvSpPr>
            <a:spLocks noGrp="1" noChangeArrowheads="1"/>
          </p:cNvSpPr>
          <p:nvPr>
            <p:ph type="ctrTitle"/>
          </p:nvPr>
        </p:nvSpPr>
        <p:spPr>
          <a:xfrm>
            <a:off x="1565275" y="3275013"/>
            <a:ext cx="9499600" cy="1609726"/>
          </a:xfrm>
        </p:spPr>
        <p:txBody>
          <a:bodyPr/>
          <a:lstStyle/>
          <a:p>
            <a:pPr marL="111125">
              <a:spcBef>
                <a:spcPts val="475"/>
              </a:spcBef>
              <a:spcAft>
                <a:spcPct val="0"/>
              </a:spcAft>
              <a:tabLst>
                <a:tab pos="4813300" algn="l"/>
              </a:tabLst>
            </a:pPr>
            <a:r>
              <a:rPr lang="es-PE" altLang="es-PE" sz="2800" dirty="0"/>
              <a:t>LA OFERTA AGREGADA, LA CURVA DE PHILLIPS Y EL MODELO DE LUCAS</a:t>
            </a:r>
            <a:br>
              <a:rPr lang="es-PE" altLang="es-PE" sz="2800" dirty="0"/>
            </a:br>
            <a:r>
              <a:rPr lang="es-PE" altLang="es-PE" sz="2800" dirty="0"/>
              <a:t>(Sesión 8 Parte 2)</a:t>
            </a:r>
            <a:endParaRPr lang="es-ES_tradnl" altLang="es-PE" sz="2800" dirty="0"/>
          </a:p>
        </p:txBody>
      </p:sp>
      <p:sp>
        <p:nvSpPr>
          <p:cNvPr id="23555" name="CuadroTexto 11">
            <a:extLst>
              <a:ext uri="{FF2B5EF4-FFF2-40B4-BE49-F238E27FC236}">
                <a16:creationId xmlns:a16="http://schemas.microsoft.com/office/drawing/2014/main" id="{7DA61981-5D07-33C3-C340-C69FE2A30353}"/>
              </a:ext>
            </a:extLst>
          </p:cNvPr>
          <p:cNvSpPr txBox="1">
            <a:spLocks noChangeArrowheads="1"/>
          </p:cNvSpPr>
          <p:nvPr/>
        </p:nvSpPr>
        <p:spPr bwMode="auto">
          <a:xfrm>
            <a:off x="8585200" y="6026150"/>
            <a:ext cx="1841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s-PE" altLang="es-PE">
              <a:latin typeface="Arial" panose="020B0604020202020204" pitchFamily="34" charset="0"/>
            </a:endParaRPr>
          </a:p>
        </p:txBody>
      </p:sp>
      <p:sp>
        <p:nvSpPr>
          <p:cNvPr id="2" name="TextBox 1">
            <a:extLst>
              <a:ext uri="{FF2B5EF4-FFF2-40B4-BE49-F238E27FC236}">
                <a16:creationId xmlns:a16="http://schemas.microsoft.com/office/drawing/2014/main" id="{D0A9C00E-790E-429A-15C8-0969C2C82C97}"/>
              </a:ext>
            </a:extLst>
          </p:cNvPr>
          <p:cNvSpPr txBox="1">
            <a:spLocks noChangeArrowheads="1"/>
          </p:cNvSpPr>
          <p:nvPr/>
        </p:nvSpPr>
        <p:spPr bwMode="auto">
          <a:xfrm>
            <a:off x="5338763" y="322263"/>
            <a:ext cx="6707187" cy="544512"/>
          </a:xfrm>
          <a:prstGeom prst="rect">
            <a:avLst/>
          </a:prstGeom>
          <a:noFill/>
          <a:ln>
            <a:noFill/>
          </a:ln>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eaLnBrk="1" hangingPunct="1">
              <a:spcBef>
                <a:spcPct val="0"/>
              </a:spcBef>
              <a:buFontTx/>
              <a:buNone/>
              <a:defRPr/>
            </a:pPr>
            <a:r>
              <a:rPr lang="es-ES_tradnl" altLang="es-PE" sz="1467" b="1" dirty="0">
                <a:latin typeface="Verdana" panose="020B0604030504040204" pitchFamily="34" charset="0"/>
                <a:ea typeface="Verdana" panose="020B0604030504040204" pitchFamily="34" charset="0"/>
                <a:cs typeface="Verdana" panose="020B0604030504040204" pitchFamily="34" charset="0"/>
              </a:rPr>
              <a:t>FACULTAD DE CIENCIAS EMPRESARIALES Y ECONÓMICAS</a:t>
            </a:r>
          </a:p>
          <a:p>
            <a:pPr algn="r" eaLnBrk="1" hangingPunct="1">
              <a:spcBef>
                <a:spcPct val="0"/>
              </a:spcBef>
              <a:buFontTx/>
              <a:buNone/>
              <a:defRPr/>
            </a:pPr>
            <a:r>
              <a:rPr lang="es-ES_tradnl" altLang="es-PE" sz="1467" b="1" dirty="0">
                <a:latin typeface="Verdana" panose="020B0604030504040204" pitchFamily="34" charset="0"/>
                <a:ea typeface="Verdana" panose="020B0604030504040204" pitchFamily="34" charset="0"/>
                <a:cs typeface="Verdana" panose="020B0604030504040204" pitchFamily="34" charset="0"/>
              </a:rPr>
              <a:t>CARRERA DE ECONOMÍA</a:t>
            </a:r>
            <a:endParaRPr lang="en-US" altLang="es-PE" sz="1467" b="1" dirty="0">
              <a:latin typeface="Verdana" panose="020B0604030504040204" pitchFamily="34" charset="0"/>
              <a:ea typeface="Verdana" panose="020B0604030504040204" pitchFamily="34" charset="0"/>
              <a:cs typeface="Verdana" panose="020B0604030504040204" pitchFamily="34" charset="0"/>
            </a:endParaRPr>
          </a:p>
        </p:txBody>
      </p:sp>
      <p:sp>
        <p:nvSpPr>
          <p:cNvPr id="23557" name="Google Shape;102;p1">
            <a:extLst>
              <a:ext uri="{FF2B5EF4-FFF2-40B4-BE49-F238E27FC236}">
                <a16:creationId xmlns:a16="http://schemas.microsoft.com/office/drawing/2014/main" id="{B34FC58F-34D7-0A65-0105-6D8096E69B58}"/>
              </a:ext>
            </a:extLst>
          </p:cNvPr>
          <p:cNvSpPr txBox="1">
            <a:spLocks noChangeArrowheads="1"/>
          </p:cNvSpPr>
          <p:nvPr/>
        </p:nvSpPr>
        <p:spPr bwMode="auto">
          <a:xfrm>
            <a:off x="1565275" y="2133600"/>
            <a:ext cx="9334500" cy="148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62533" tIns="162533" rIns="162533" bIns="162533"/>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
                <a:srgbClr val="434343"/>
              </a:buClr>
              <a:buSzPts val="1800"/>
              <a:buFont typeface="Abril Fatface" panose="02000503000000020003" pitchFamily="2" charset="0"/>
              <a:buNone/>
            </a:pPr>
            <a:r>
              <a:rPr lang="es-ES" altLang="es-PE" sz="3600" b="1" dirty="0">
                <a:solidFill>
                  <a:srgbClr val="FF3A00"/>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rPr>
              <a:t>TEORIA y POLITICA MONETARIA</a:t>
            </a:r>
          </a:p>
        </p:txBody>
      </p:sp>
      <p:sp>
        <p:nvSpPr>
          <p:cNvPr id="23558" name="CuadroTexto 7">
            <a:extLst>
              <a:ext uri="{FF2B5EF4-FFF2-40B4-BE49-F238E27FC236}">
                <a16:creationId xmlns:a16="http://schemas.microsoft.com/office/drawing/2014/main" id="{893949AC-8FA8-3C5B-D923-2267E9759136}"/>
              </a:ext>
            </a:extLst>
          </p:cNvPr>
          <p:cNvSpPr txBox="1">
            <a:spLocks noChangeArrowheads="1"/>
          </p:cNvSpPr>
          <p:nvPr/>
        </p:nvSpPr>
        <p:spPr bwMode="auto">
          <a:xfrm>
            <a:off x="5159375" y="5841206"/>
            <a:ext cx="23114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s-PE" sz="1800" dirty="0" err="1">
                <a:solidFill>
                  <a:srgbClr val="FF3A00"/>
                </a:solidFill>
                <a:latin typeface="Arial" panose="020B0604020202020204" pitchFamily="34" charset="0"/>
              </a:rPr>
              <a:t>Metodología</a:t>
            </a:r>
            <a:r>
              <a:rPr lang="en-US" altLang="es-PE" sz="1800" dirty="0">
                <a:solidFill>
                  <a:srgbClr val="FF3A00"/>
                </a:solidFill>
                <a:latin typeface="Arial" panose="020B0604020202020204" pitchFamily="34" charset="0"/>
              </a:rPr>
              <a:t> IATC</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ítulo 1">
            <a:extLst>
              <a:ext uri="{FF2B5EF4-FFF2-40B4-BE49-F238E27FC236}">
                <a16:creationId xmlns:a16="http://schemas.microsoft.com/office/drawing/2014/main" id="{C5FD65A5-A944-1DE4-0140-9127C4CFADF6}"/>
              </a:ext>
            </a:extLst>
          </p:cNvPr>
          <p:cNvSpPr txBox="1">
            <a:spLocks/>
          </p:cNvSpPr>
          <p:nvPr/>
        </p:nvSpPr>
        <p:spPr bwMode="auto">
          <a:xfrm>
            <a:off x="1214438" y="2540000"/>
            <a:ext cx="9872662" cy="1827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lnSpc>
                <a:spcPct val="90000"/>
              </a:lnSpc>
              <a:spcBef>
                <a:spcPct val="0"/>
              </a:spcBef>
              <a:buFontTx/>
              <a:buNone/>
            </a:pPr>
            <a:r>
              <a:rPr lang="es-PE" altLang="es-PE" sz="4000" b="1">
                <a:solidFill>
                  <a:srgbClr val="FFFFFF"/>
                </a:solidFill>
                <a:latin typeface="Verdana" panose="020B0604030504040204" pitchFamily="34" charset="0"/>
                <a:ea typeface="Verdana" panose="020B0604030504040204" pitchFamily="34" charset="0"/>
                <a:cs typeface="Verdana" panose="020B0604030504040204" pitchFamily="34" charset="0"/>
              </a:rPr>
              <a:t>IMPACTO</a:t>
            </a:r>
            <a:endParaRPr lang="es-ES_tradnl" altLang="es-PE" sz="4000" b="1">
              <a:solidFill>
                <a:srgbClr val="FFFFFF"/>
              </a:solidFill>
              <a:latin typeface="Verdana" panose="020B0604030504040204" pitchFamily="34" charset="0"/>
              <a:ea typeface="Verdana" panose="020B0604030504040204" pitchFamily="34" charset="0"/>
              <a:cs typeface="Verdana" panose="020B0604030504040204" pitchFamily="34" charset="0"/>
            </a:endParaRPr>
          </a:p>
        </p:txBody>
      </p:sp>
      <p:sp>
        <p:nvSpPr>
          <p:cNvPr id="25603" name="TextBox 1">
            <a:extLst>
              <a:ext uri="{FF2B5EF4-FFF2-40B4-BE49-F238E27FC236}">
                <a16:creationId xmlns:a16="http://schemas.microsoft.com/office/drawing/2014/main" id="{93D4AA4A-305D-579B-7149-F0CD22939389}"/>
              </a:ext>
            </a:extLst>
          </p:cNvPr>
          <p:cNvSpPr txBox="1">
            <a:spLocks noChangeArrowheads="1"/>
          </p:cNvSpPr>
          <p:nvPr/>
        </p:nvSpPr>
        <p:spPr bwMode="auto">
          <a:xfrm>
            <a:off x="381000" y="487363"/>
            <a:ext cx="50307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s-ES_tradnl" altLang="es-PE" sz="1200">
                <a:solidFill>
                  <a:srgbClr val="FFFFFF"/>
                </a:solidFill>
                <a:latin typeface="Verdana" panose="020B0604030504040204" pitchFamily="34" charset="0"/>
                <a:ea typeface="Verdana" panose="020B0604030504040204" pitchFamily="34" charset="0"/>
                <a:cs typeface="Verdana" panose="020B0604030504040204" pitchFamily="34" charset="0"/>
              </a:rPr>
              <a:t>FACULTAD DE CIENCIAS EMPRESARIALES Y ECONÓMICAS</a:t>
            </a:r>
          </a:p>
          <a:p>
            <a:pPr eaLnBrk="1" hangingPunct="1">
              <a:spcBef>
                <a:spcPct val="0"/>
              </a:spcBef>
              <a:buFontTx/>
              <a:buNone/>
            </a:pPr>
            <a:r>
              <a:rPr lang="es-ES_tradnl" altLang="es-PE" sz="1200">
                <a:solidFill>
                  <a:srgbClr val="FFFFFF"/>
                </a:solidFill>
                <a:latin typeface="Verdana" panose="020B0604030504040204" pitchFamily="34" charset="0"/>
                <a:ea typeface="Verdana" panose="020B0604030504040204" pitchFamily="34" charset="0"/>
                <a:cs typeface="Verdana" panose="020B0604030504040204" pitchFamily="34" charset="0"/>
              </a:rPr>
              <a:t>CARRERA DE ECONOMÍA</a:t>
            </a:r>
            <a:endParaRPr lang="en-US" altLang="es-PE" sz="1200">
              <a:solidFill>
                <a:srgbClr val="000000"/>
              </a:solidFill>
              <a:latin typeface="Verdana" panose="020B0604030504040204" pitchFamily="34" charset="0"/>
              <a:ea typeface="Verdana" panose="020B0604030504040204" pitchFamily="34" charset="0"/>
              <a:cs typeface="Verdana" panose="020B060403050404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Google Shape;109;p2">
            <a:extLst>
              <a:ext uri="{FF2B5EF4-FFF2-40B4-BE49-F238E27FC236}">
                <a16:creationId xmlns:a16="http://schemas.microsoft.com/office/drawing/2014/main" id="{441B2428-334A-ED74-4B92-22EBA5B74C7D}"/>
              </a:ext>
            </a:extLst>
          </p:cNvPr>
          <p:cNvSpPr>
            <a:spLocks noGrp="1" noChangeArrowheads="1"/>
          </p:cNvSpPr>
          <p:nvPr>
            <p:ph type="ctrTitle"/>
          </p:nvPr>
        </p:nvSpPr>
        <p:spPr>
          <a:xfrm>
            <a:off x="192088" y="917575"/>
            <a:ext cx="11369675" cy="1039813"/>
          </a:xfrm>
        </p:spPr>
        <p:txBody>
          <a:bodyPr lIns="162533" tIns="162533" rIns="162533" bIns="162533"/>
          <a:lstStyle/>
          <a:p>
            <a:pPr algn="l">
              <a:spcBef>
                <a:spcPct val="0"/>
              </a:spcBef>
              <a:spcAft>
                <a:spcPct val="0"/>
              </a:spcAft>
            </a:pPr>
            <a:r>
              <a:rPr lang="es-ES" altLang="es-PE" sz="4400">
                <a:solidFill>
                  <a:srgbClr val="FFC000"/>
                </a:solidFill>
              </a:rPr>
              <a:t>Logro de aprendizaje: </a:t>
            </a:r>
            <a:endParaRPr lang="es-PE" altLang="es-PE" sz="4400"/>
          </a:p>
        </p:txBody>
      </p:sp>
      <p:sp>
        <p:nvSpPr>
          <p:cNvPr id="26627" name="CuadroTexto 9">
            <a:extLst>
              <a:ext uri="{FF2B5EF4-FFF2-40B4-BE49-F238E27FC236}">
                <a16:creationId xmlns:a16="http://schemas.microsoft.com/office/drawing/2014/main" id="{9E549DB2-2BBD-83CC-ADFC-19910204C54A}"/>
              </a:ext>
            </a:extLst>
          </p:cNvPr>
          <p:cNvSpPr txBox="1">
            <a:spLocks noChangeArrowheads="1"/>
          </p:cNvSpPr>
          <p:nvPr/>
        </p:nvSpPr>
        <p:spPr bwMode="auto">
          <a:xfrm>
            <a:off x="1084263" y="2276475"/>
            <a:ext cx="10477500"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a:buFontTx/>
              <a:buNone/>
            </a:pPr>
            <a:r>
              <a:rPr lang="es-PE" altLang="es-PE" sz="2800" dirty="0">
                <a:latin typeface="Arial" panose="020B0604020202020204" pitchFamily="34" charset="0"/>
              </a:rPr>
              <a:t>Comprender el funcionamiento del modelo de la oferta agregada y la regla de política monetaria</a:t>
            </a:r>
            <a:endParaRPr lang="es-PE" altLang="es-PE" sz="2800" dirty="0">
              <a:latin typeface="Calibri" panose="020F0502020204030204" pitchFamily="34" charset="0"/>
              <a:cs typeface="Calibri" panose="020F050202020403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Google Shape;114;p3">
            <a:extLst>
              <a:ext uri="{FF2B5EF4-FFF2-40B4-BE49-F238E27FC236}">
                <a16:creationId xmlns:a16="http://schemas.microsoft.com/office/drawing/2014/main" id="{69230216-EEF9-C908-DF10-7D791CBFD031}"/>
              </a:ext>
            </a:extLst>
          </p:cNvPr>
          <p:cNvSpPr>
            <a:spLocks noGrp="1" noChangeArrowheads="1"/>
          </p:cNvSpPr>
          <p:nvPr>
            <p:ph type="ctrTitle"/>
          </p:nvPr>
        </p:nvSpPr>
        <p:spPr>
          <a:xfrm>
            <a:off x="125413" y="908050"/>
            <a:ext cx="11941175" cy="1008063"/>
          </a:xfrm>
        </p:spPr>
        <p:txBody>
          <a:bodyPr lIns="162533" tIns="162533" rIns="162533" bIns="162533"/>
          <a:lstStyle/>
          <a:p>
            <a:pPr>
              <a:spcBef>
                <a:spcPct val="0"/>
              </a:spcBef>
              <a:spcAft>
                <a:spcPct val="0"/>
              </a:spcAft>
            </a:pPr>
            <a:r>
              <a:rPr lang="es-ES" altLang="es-PE" sz="4000">
                <a:solidFill>
                  <a:srgbClr val="000000"/>
                </a:solidFill>
              </a:rPr>
              <a:t>CONTENIDO DETALLADO</a:t>
            </a:r>
            <a:endParaRPr lang="es-PE" altLang="es-PE" sz="4000">
              <a:solidFill>
                <a:srgbClr val="000000"/>
              </a:solidFill>
            </a:endParaRPr>
          </a:p>
        </p:txBody>
      </p:sp>
      <p:sp>
        <p:nvSpPr>
          <p:cNvPr id="27651" name="CuadroTexto 7">
            <a:extLst>
              <a:ext uri="{FF2B5EF4-FFF2-40B4-BE49-F238E27FC236}">
                <a16:creationId xmlns:a16="http://schemas.microsoft.com/office/drawing/2014/main" id="{844F6952-3716-E8B9-DD47-D29D7E424C28}"/>
              </a:ext>
            </a:extLst>
          </p:cNvPr>
          <p:cNvSpPr txBox="1">
            <a:spLocks noChangeArrowheads="1"/>
          </p:cNvSpPr>
          <p:nvPr/>
        </p:nvSpPr>
        <p:spPr bwMode="auto">
          <a:xfrm>
            <a:off x="3323141" y="2290457"/>
            <a:ext cx="8202613" cy="2112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ct val="150000"/>
              </a:lnSpc>
              <a:spcBef>
                <a:spcPts val="600"/>
              </a:spcBef>
            </a:pPr>
            <a:r>
              <a:rPr lang="es-ES" altLang="es-PE" sz="2000" b="1" dirty="0">
                <a:latin typeface="Arial" panose="020B0604020202020204" pitchFamily="34" charset="0"/>
                <a:cs typeface="Arial" panose="020B0604020202020204" pitchFamily="34" charset="0"/>
              </a:rPr>
              <a:t>De la PC a la OA</a:t>
            </a:r>
          </a:p>
          <a:p>
            <a:pPr>
              <a:lnSpc>
                <a:spcPct val="150000"/>
              </a:lnSpc>
              <a:spcBef>
                <a:spcPts val="600"/>
              </a:spcBef>
            </a:pPr>
            <a:r>
              <a:rPr lang="es-ES" altLang="es-PE" sz="2000" b="1" dirty="0">
                <a:latin typeface="Arial" panose="020B0604020202020204" pitchFamily="34" charset="0"/>
                <a:cs typeface="Arial" panose="020B0604020202020204" pitchFamily="34" charset="0"/>
              </a:rPr>
              <a:t>El modelo de Lucas</a:t>
            </a:r>
          </a:p>
          <a:p>
            <a:pPr>
              <a:lnSpc>
                <a:spcPct val="150000"/>
              </a:lnSpc>
              <a:spcBef>
                <a:spcPts val="600"/>
              </a:spcBef>
            </a:pPr>
            <a:r>
              <a:rPr lang="es-ES" altLang="es-PE" sz="2000" b="1" dirty="0">
                <a:latin typeface="Arial" panose="020B0604020202020204" pitchFamily="34" charset="0"/>
                <a:cs typeface="Arial" panose="020B0604020202020204" pitchFamily="34" charset="0"/>
              </a:rPr>
              <a:t>Rigideces salariales</a:t>
            </a:r>
          </a:p>
          <a:p>
            <a:pPr>
              <a:lnSpc>
                <a:spcPct val="150000"/>
              </a:lnSpc>
              <a:spcBef>
                <a:spcPts val="600"/>
              </a:spcBef>
            </a:pPr>
            <a:r>
              <a:rPr lang="es-ES" altLang="es-PE" sz="2000" b="1" dirty="0">
                <a:latin typeface="Arial" panose="020B0604020202020204" pitchFamily="34" charset="0"/>
                <a:cs typeface="Arial" panose="020B0604020202020204" pitchFamily="34" charset="0"/>
              </a:rPr>
              <a:t>La PC en economías abiertas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Imagen 3">
            <a:extLst>
              <a:ext uri="{FF2B5EF4-FFF2-40B4-BE49-F238E27FC236}">
                <a16:creationId xmlns:a16="http://schemas.microsoft.com/office/drawing/2014/main" id="{8DB7415C-F955-E63A-E0AE-0E13DFE32A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86200" y="609600"/>
            <a:ext cx="4648200" cy="605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ext Box 3">
            <a:extLst>
              <a:ext uri="{FF2B5EF4-FFF2-40B4-BE49-F238E27FC236}">
                <a16:creationId xmlns:a16="http://schemas.microsoft.com/office/drawing/2014/main" id="{9F1ABFF8-B15E-AF72-710B-F7738ADA8065}"/>
              </a:ext>
            </a:extLst>
          </p:cNvPr>
          <p:cNvSpPr txBox="1">
            <a:spLocks noChangeArrowheads="1"/>
          </p:cNvSpPr>
          <p:nvPr/>
        </p:nvSpPr>
        <p:spPr bwMode="auto">
          <a:xfrm>
            <a:off x="811213" y="2101850"/>
            <a:ext cx="10774362"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ct val="150000"/>
              </a:lnSpc>
              <a:spcBef>
                <a:spcPct val="0"/>
              </a:spcBef>
              <a:buFontTx/>
              <a:buNone/>
            </a:pPr>
            <a:r>
              <a:rPr lang="es-PE" altLang="es-PE" sz="2000" dirty="0">
                <a:latin typeface="Verdana" panose="020B0604030504040204" pitchFamily="34" charset="0"/>
                <a:ea typeface="Verdana" panose="020B0604030504040204" pitchFamily="34" charset="0"/>
                <a:cs typeface="Arial" panose="020B0604020202020204" pitchFamily="34" charset="0"/>
              </a:rPr>
              <a:t>De Gregorio Macroeconomía (7a ed.):</a:t>
            </a:r>
          </a:p>
          <a:p>
            <a:pPr>
              <a:lnSpc>
                <a:spcPct val="150000"/>
              </a:lnSpc>
              <a:spcBef>
                <a:spcPct val="0"/>
              </a:spcBef>
              <a:buFontTx/>
              <a:buNone/>
            </a:pPr>
            <a:r>
              <a:rPr lang="es-PE" altLang="es-PE" sz="2000" dirty="0">
                <a:latin typeface="Verdana" panose="020B0604030504040204" pitchFamily="34" charset="0"/>
                <a:ea typeface="Verdana" panose="020B0604030504040204" pitchFamily="34" charset="0"/>
                <a:cs typeface="Arial" panose="020B0604020202020204" pitchFamily="34" charset="0"/>
              </a:rPr>
              <a:t> </a:t>
            </a:r>
            <a:r>
              <a:rPr lang="es-PE" altLang="es-PE" sz="2000" u="sng" dirty="0">
                <a:latin typeface="Verdana" panose="020B0604030504040204" pitchFamily="34" charset="0"/>
                <a:ea typeface="Verdana" panose="020B0604030504040204" pitchFamily="34" charset="0"/>
                <a:cs typeface="Arial" panose="020B0604020202020204" pitchFamily="34" charset="0"/>
              </a:rPr>
              <a:t>Capitulo 18-21</a:t>
            </a:r>
            <a:r>
              <a:rPr lang="es-PE" altLang="es-PE" sz="2000" dirty="0">
                <a:latin typeface="Verdana" panose="020B0604030504040204" pitchFamily="34" charset="0"/>
                <a:ea typeface="Verdana" panose="020B0604030504040204" pitchFamily="34" charset="0"/>
                <a:cs typeface="Arial" panose="020B0604020202020204" pitchFamily="34" charset="0"/>
              </a:rPr>
              <a:t>: OA-DA y política macroeconómica</a:t>
            </a:r>
          </a:p>
        </p:txBody>
      </p:sp>
      <p:sp>
        <p:nvSpPr>
          <p:cNvPr id="31747" name="Google Shape;109;p2">
            <a:extLst>
              <a:ext uri="{FF2B5EF4-FFF2-40B4-BE49-F238E27FC236}">
                <a16:creationId xmlns:a16="http://schemas.microsoft.com/office/drawing/2014/main" id="{8C578319-AA16-0129-4104-9AB255C401F9}"/>
              </a:ext>
            </a:extLst>
          </p:cNvPr>
          <p:cNvSpPr txBox="1">
            <a:spLocks noChangeArrowheads="1"/>
          </p:cNvSpPr>
          <p:nvPr/>
        </p:nvSpPr>
        <p:spPr bwMode="auto">
          <a:xfrm>
            <a:off x="811213" y="987425"/>
            <a:ext cx="7375525" cy="779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1900" tIns="121900" rIns="121900" bIns="12190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
                <a:srgbClr val="434343"/>
              </a:buClr>
              <a:buSzPts val="2800"/>
              <a:buFontTx/>
              <a:buNone/>
            </a:pPr>
            <a:r>
              <a:rPr lang="es-ES" altLang="es-PE" sz="3300" b="1">
                <a:solidFill>
                  <a:srgbClr val="FFC000"/>
                </a:solidFill>
                <a:latin typeface="Verdana" panose="020B0604030504040204" pitchFamily="34" charset="0"/>
                <a:ea typeface="Verdana" panose="020B0604030504040204" pitchFamily="34" charset="0"/>
                <a:cs typeface="Verdana" panose="020B0604030504040204" pitchFamily="34" charset="0"/>
              </a:rPr>
              <a:t>Fuente: </a:t>
            </a:r>
            <a:endParaRPr lang="es-PE" altLang="es-PE" sz="3300" b="1">
              <a:latin typeface="Verdana" panose="020B0604030504040204" pitchFamily="34" charset="0"/>
              <a:ea typeface="Verdana" panose="020B0604030504040204" pitchFamily="34" charset="0"/>
              <a:cs typeface="Verdana" panose="020B060403050404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ítulo 1">
            <a:extLst>
              <a:ext uri="{FF2B5EF4-FFF2-40B4-BE49-F238E27FC236}">
                <a16:creationId xmlns:a16="http://schemas.microsoft.com/office/drawing/2014/main" id="{9C67035B-6CFC-86C9-ABD8-0C66C66A23A9}"/>
              </a:ext>
            </a:extLst>
          </p:cNvPr>
          <p:cNvSpPr txBox="1">
            <a:spLocks/>
          </p:cNvSpPr>
          <p:nvPr/>
        </p:nvSpPr>
        <p:spPr bwMode="auto">
          <a:xfrm>
            <a:off x="1214438" y="2540000"/>
            <a:ext cx="9872662" cy="1827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lnSpc>
                <a:spcPct val="90000"/>
              </a:lnSpc>
              <a:spcBef>
                <a:spcPct val="0"/>
              </a:spcBef>
              <a:buFontTx/>
              <a:buNone/>
            </a:pPr>
            <a:r>
              <a:rPr lang="es-PE" altLang="es-PE" sz="4000" b="1">
                <a:solidFill>
                  <a:srgbClr val="FFFFFF"/>
                </a:solidFill>
                <a:latin typeface="Verdana" panose="020B0604030504040204" pitchFamily="34" charset="0"/>
                <a:ea typeface="Verdana" panose="020B0604030504040204" pitchFamily="34" charset="0"/>
                <a:cs typeface="Verdana" panose="020B0604030504040204" pitchFamily="34" charset="0"/>
              </a:rPr>
              <a:t>ADQUISICIÓN</a:t>
            </a:r>
            <a:endParaRPr lang="es-ES_tradnl" altLang="es-PE" sz="4000" b="1">
              <a:solidFill>
                <a:srgbClr val="FFFFFF"/>
              </a:solidFill>
              <a:latin typeface="Verdana" panose="020B0604030504040204" pitchFamily="34" charset="0"/>
              <a:ea typeface="Verdana" panose="020B0604030504040204" pitchFamily="34" charset="0"/>
              <a:cs typeface="Verdana" panose="020B0604030504040204" pitchFamily="34" charset="0"/>
            </a:endParaRPr>
          </a:p>
        </p:txBody>
      </p:sp>
      <p:sp>
        <p:nvSpPr>
          <p:cNvPr id="29699" name="TextBox 1">
            <a:extLst>
              <a:ext uri="{FF2B5EF4-FFF2-40B4-BE49-F238E27FC236}">
                <a16:creationId xmlns:a16="http://schemas.microsoft.com/office/drawing/2014/main" id="{C123216A-4D32-BC24-2468-19BEE74F33E5}"/>
              </a:ext>
            </a:extLst>
          </p:cNvPr>
          <p:cNvSpPr txBox="1">
            <a:spLocks noChangeArrowheads="1"/>
          </p:cNvSpPr>
          <p:nvPr/>
        </p:nvSpPr>
        <p:spPr bwMode="auto">
          <a:xfrm>
            <a:off x="381000" y="487363"/>
            <a:ext cx="50307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s-ES_tradnl" altLang="es-PE" sz="1200">
                <a:solidFill>
                  <a:srgbClr val="FFFFFF"/>
                </a:solidFill>
                <a:latin typeface="Verdana" panose="020B0604030504040204" pitchFamily="34" charset="0"/>
                <a:ea typeface="Verdana" panose="020B0604030504040204" pitchFamily="34" charset="0"/>
                <a:cs typeface="Verdana" panose="020B0604030504040204" pitchFamily="34" charset="0"/>
              </a:rPr>
              <a:t>FACULTAD DE CIENCIAS EMPRESARIALES Y ECONÓMICAS</a:t>
            </a:r>
          </a:p>
          <a:p>
            <a:pPr eaLnBrk="1" hangingPunct="1">
              <a:spcBef>
                <a:spcPct val="0"/>
              </a:spcBef>
              <a:buFontTx/>
              <a:buNone/>
            </a:pPr>
            <a:r>
              <a:rPr lang="es-ES_tradnl" altLang="es-PE" sz="1200">
                <a:solidFill>
                  <a:srgbClr val="FFFFFF"/>
                </a:solidFill>
                <a:latin typeface="Verdana" panose="020B0604030504040204" pitchFamily="34" charset="0"/>
                <a:ea typeface="Verdana" panose="020B0604030504040204" pitchFamily="34" charset="0"/>
                <a:cs typeface="Verdana" panose="020B0604030504040204" pitchFamily="34" charset="0"/>
              </a:rPr>
              <a:t>CARRERA DE ECONOMÍA</a:t>
            </a:r>
            <a:endParaRPr lang="en-US" altLang="es-PE" sz="1200">
              <a:solidFill>
                <a:srgbClr val="000000"/>
              </a:solidFill>
              <a:latin typeface="Verdana" panose="020B0604030504040204" pitchFamily="34" charset="0"/>
              <a:ea typeface="Verdana" panose="020B0604030504040204" pitchFamily="34" charset="0"/>
              <a:cs typeface="Verdana" panose="020B060403050404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3652AE-36B1-C3BC-36C9-75BA3DB2B89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0C83935-9EEC-F55B-CF93-B5EFDAD5D3EB}"/>
              </a:ext>
            </a:extLst>
          </p:cNvPr>
          <p:cNvSpPr>
            <a:spLocks noGrp="1"/>
          </p:cNvSpPr>
          <p:nvPr>
            <p:ph type="title"/>
          </p:nvPr>
        </p:nvSpPr>
        <p:spPr/>
        <p:txBody>
          <a:bodyPr/>
          <a:lstStyle/>
          <a:p>
            <a:endParaRPr lang="es-PE"/>
          </a:p>
        </p:txBody>
      </p:sp>
      <p:sp>
        <p:nvSpPr>
          <p:cNvPr id="3" name="Marcador de texto 2">
            <a:extLst>
              <a:ext uri="{FF2B5EF4-FFF2-40B4-BE49-F238E27FC236}">
                <a16:creationId xmlns:a16="http://schemas.microsoft.com/office/drawing/2014/main" id="{754A9EA7-689F-5702-8115-AF0334DB69BF}"/>
              </a:ext>
            </a:extLst>
          </p:cNvPr>
          <p:cNvSpPr>
            <a:spLocks noGrp="1"/>
          </p:cNvSpPr>
          <p:nvPr>
            <p:ph type="body" idx="1"/>
          </p:nvPr>
        </p:nvSpPr>
        <p:spPr/>
        <p:txBody>
          <a:bodyPr>
            <a:normAutofit/>
          </a:bodyPr>
          <a:lstStyle/>
          <a:p>
            <a:pPr algn="r"/>
            <a:r>
              <a:rPr lang="es-PE" sz="3600" b="1" dirty="0"/>
              <a:t>	DE LA PC A LA OA</a:t>
            </a:r>
          </a:p>
        </p:txBody>
      </p:sp>
    </p:spTree>
    <p:extLst>
      <p:ext uri="{BB962C8B-B14F-4D97-AF65-F5344CB8AC3E}">
        <p14:creationId xmlns:p14="http://schemas.microsoft.com/office/powerpoint/2010/main" val="16313950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D666EC3-4229-C9C2-D28C-6E13205BF729}"/>
              </a:ext>
            </a:extLst>
          </p:cNvPr>
          <p:cNvSpPr>
            <a:spLocks noGrp="1"/>
          </p:cNvSpPr>
          <p:nvPr>
            <p:ph type="title"/>
          </p:nvPr>
        </p:nvSpPr>
        <p:spPr/>
        <p:txBody>
          <a:bodyPr/>
          <a:lstStyle/>
          <a:p>
            <a:endParaRPr lang="es-PE"/>
          </a:p>
        </p:txBody>
      </p:sp>
      <p:sp>
        <p:nvSpPr>
          <p:cNvPr id="3" name="Marcador de texto 2">
            <a:extLst>
              <a:ext uri="{FF2B5EF4-FFF2-40B4-BE49-F238E27FC236}">
                <a16:creationId xmlns:a16="http://schemas.microsoft.com/office/drawing/2014/main" id="{3827E2C7-08B2-6458-4739-5916D8A0CE4A}"/>
              </a:ext>
            </a:extLst>
          </p:cNvPr>
          <p:cNvSpPr>
            <a:spLocks noGrp="1"/>
          </p:cNvSpPr>
          <p:nvPr>
            <p:ph type="body" idx="1"/>
          </p:nvPr>
        </p:nvSpPr>
        <p:spPr/>
        <p:txBody>
          <a:bodyPr>
            <a:normAutofit/>
          </a:bodyPr>
          <a:lstStyle/>
          <a:p>
            <a:pPr algn="r"/>
            <a:r>
              <a:rPr lang="es-PE" sz="3600" b="1" dirty="0"/>
              <a:t>	MODELO DE LUCAS</a:t>
            </a:r>
          </a:p>
        </p:txBody>
      </p:sp>
    </p:spTree>
    <p:extLst>
      <p:ext uri="{BB962C8B-B14F-4D97-AF65-F5344CB8AC3E}">
        <p14:creationId xmlns:p14="http://schemas.microsoft.com/office/powerpoint/2010/main" val="25991782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3FDC8E1-C33F-4F67-8AFF-1662FABDE921}"/>
              </a:ext>
            </a:extLst>
          </p:cNvPr>
          <p:cNvSpPr>
            <a:spLocks noGrp="1"/>
          </p:cNvSpPr>
          <p:nvPr>
            <p:ph type="title"/>
          </p:nvPr>
        </p:nvSpPr>
        <p:spPr>
          <a:xfrm>
            <a:off x="1097280" y="92050"/>
            <a:ext cx="10058400" cy="1450757"/>
          </a:xfrm>
        </p:spPr>
        <p:txBody>
          <a:bodyPr>
            <a:noAutofit/>
          </a:bodyPr>
          <a:lstStyle/>
          <a:p>
            <a:r>
              <a:rPr lang="es-PE" sz="3600" dirty="0"/>
              <a:t>Crítica de Lucas: </a:t>
            </a:r>
            <a:r>
              <a:rPr lang="es-ES" sz="3600" dirty="0"/>
              <a:t>Información imperfecta y</a:t>
            </a:r>
            <a:br>
              <a:rPr lang="es-ES" sz="3600" dirty="0"/>
            </a:br>
            <a:r>
              <a:rPr lang="es-ES" sz="3600" dirty="0"/>
              <a:t>expectativas racionales</a:t>
            </a:r>
            <a:endParaRPr lang="es-PE" sz="3600" dirty="0"/>
          </a:p>
        </p:txBody>
      </p:sp>
      <p:sp>
        <p:nvSpPr>
          <p:cNvPr id="3" name="Marcador de contenido 2">
            <a:extLst>
              <a:ext uri="{FF2B5EF4-FFF2-40B4-BE49-F238E27FC236}">
                <a16:creationId xmlns:a16="http://schemas.microsoft.com/office/drawing/2014/main" id="{B7DE83B9-A85A-44A8-B5EB-CD0367ECC746}"/>
              </a:ext>
            </a:extLst>
          </p:cNvPr>
          <p:cNvSpPr>
            <a:spLocks noGrp="1"/>
          </p:cNvSpPr>
          <p:nvPr>
            <p:ph idx="1"/>
          </p:nvPr>
        </p:nvSpPr>
        <p:spPr>
          <a:xfrm>
            <a:off x="1097281" y="2108201"/>
            <a:ext cx="7256144" cy="3760891"/>
          </a:xfrm>
        </p:spPr>
        <p:txBody>
          <a:bodyPr>
            <a:noAutofit/>
          </a:bodyPr>
          <a:lstStyle/>
          <a:p>
            <a:pPr marL="342900" lvl="0" indent="-342900" algn="just">
              <a:lnSpc>
                <a:spcPct val="170000"/>
              </a:lnSpc>
              <a:buFont typeface="Symbol" panose="05050102010706020507" pitchFamily="18" charset="2"/>
              <a:buChar char=""/>
            </a:pPr>
            <a:r>
              <a:rPr lang="es-ES" sz="2000" dirty="0">
                <a:effectLst/>
                <a:latin typeface="Calibri" panose="020F0502020204030204" pitchFamily="34" charset="0"/>
                <a:ea typeface="Calibri" panose="020F0502020204030204" pitchFamily="34" charset="0"/>
                <a:cs typeface="Times New Roman" panose="02020603050405020304" pitchFamily="18" charset="0"/>
              </a:rPr>
              <a:t>La crítica de Lucas y las expectativas se basa en el supuesto de que los agentes económicos (consumidores y empresas), forman sus </a:t>
            </a:r>
            <a:r>
              <a:rPr lang="es-ES" sz="2000" b="1" dirty="0">
                <a:effectLst/>
                <a:latin typeface="Calibri" panose="020F0502020204030204" pitchFamily="34" charset="0"/>
                <a:ea typeface="Calibri" panose="020F0502020204030204" pitchFamily="34" charset="0"/>
                <a:cs typeface="Times New Roman" panose="02020603050405020304" pitchFamily="18" charset="0"/>
              </a:rPr>
              <a:t>expectativas racionales </a:t>
            </a:r>
            <a:r>
              <a:rPr lang="es-ES" sz="2000" dirty="0">
                <a:effectLst/>
                <a:latin typeface="Calibri" panose="020F0502020204030204" pitchFamily="34" charset="0"/>
                <a:ea typeface="Calibri" panose="020F0502020204030204" pitchFamily="34" charset="0"/>
                <a:cs typeface="Times New Roman" panose="02020603050405020304" pitchFamily="18" charset="0"/>
              </a:rPr>
              <a:t>al tomar decisiones económicas. </a:t>
            </a:r>
          </a:p>
          <a:p>
            <a:pPr marL="342900" lvl="0" indent="-342900" algn="just">
              <a:lnSpc>
                <a:spcPct val="170000"/>
              </a:lnSpc>
              <a:buFont typeface="Symbol" panose="05050102010706020507" pitchFamily="18" charset="2"/>
              <a:buChar char=""/>
            </a:pPr>
            <a:r>
              <a:rPr lang="es-ES" sz="2000" dirty="0">
                <a:latin typeface="Calibri" panose="020F0502020204030204" pitchFamily="34" charset="0"/>
                <a:ea typeface="Calibri" panose="020F0502020204030204" pitchFamily="34" charset="0"/>
                <a:cs typeface="Times New Roman" panose="02020603050405020304" pitchFamily="18" charset="0"/>
              </a:rPr>
              <a:t>Lo</a:t>
            </a:r>
            <a:r>
              <a:rPr lang="es-ES" sz="2000" dirty="0">
                <a:effectLst/>
                <a:latin typeface="Calibri" panose="020F0502020204030204" pitchFamily="34" charset="0"/>
                <a:ea typeface="Calibri" panose="020F0502020204030204" pitchFamily="34" charset="0"/>
                <a:cs typeface="Times New Roman" panose="02020603050405020304" pitchFamily="18" charset="0"/>
              </a:rPr>
              <a:t>s agentes económicos utilizan toda la información disponible, incluida su comprensión de la política económica, para formar expectativas sobre variables económicas (</a:t>
            </a:r>
            <a:r>
              <a:rPr lang="es-ES" sz="2000" dirty="0" err="1">
                <a:effectLst/>
                <a:latin typeface="Calibri" panose="020F0502020204030204" pitchFamily="34" charset="0"/>
                <a:ea typeface="Calibri" panose="020F0502020204030204" pitchFamily="34" charset="0"/>
                <a:cs typeface="Times New Roman" panose="02020603050405020304" pitchFamily="18" charset="0"/>
              </a:rPr>
              <a:t>p.e</a:t>
            </a:r>
            <a:r>
              <a:rPr lang="es-ES" sz="2000" dirty="0">
                <a:effectLst/>
                <a:latin typeface="Calibri" panose="020F0502020204030204" pitchFamily="34" charset="0"/>
                <a:ea typeface="Calibri" panose="020F0502020204030204" pitchFamily="34" charset="0"/>
                <a:cs typeface="Times New Roman" panose="02020603050405020304" pitchFamily="18" charset="0"/>
              </a:rPr>
              <a:t> inflación, el crecimiento económico, las tasas de interés, tipo de cambio, </a:t>
            </a:r>
            <a:r>
              <a:rPr lang="es-ES" sz="2000" dirty="0" err="1">
                <a:effectLst/>
                <a:latin typeface="Calibri" panose="020F0502020204030204" pitchFamily="34" charset="0"/>
                <a:ea typeface="Calibri" panose="020F0502020204030204" pitchFamily="34" charset="0"/>
                <a:cs typeface="Times New Roman" panose="02020603050405020304" pitchFamily="18" charset="0"/>
              </a:rPr>
              <a:t>etc</a:t>
            </a:r>
            <a:r>
              <a:rPr lang="es-ES" sz="2000" dirty="0">
                <a:effectLst/>
                <a:latin typeface="Calibri" panose="020F0502020204030204" pitchFamily="34" charset="0"/>
                <a:ea typeface="Calibri" panose="020F0502020204030204" pitchFamily="34" charset="0"/>
                <a:cs typeface="Times New Roman" panose="02020603050405020304" pitchFamily="18" charset="0"/>
              </a:rPr>
              <a:t>).</a:t>
            </a:r>
          </a:p>
        </p:txBody>
      </p:sp>
      <p:pic>
        <p:nvPicPr>
          <p:cNvPr id="4" name="Imagen 3">
            <a:extLst>
              <a:ext uri="{FF2B5EF4-FFF2-40B4-BE49-F238E27FC236}">
                <a16:creationId xmlns:a16="http://schemas.microsoft.com/office/drawing/2014/main" id="{D1924033-1CBC-D0D5-F25F-C5003AC05CC9}"/>
              </a:ext>
            </a:extLst>
          </p:cNvPr>
          <p:cNvPicPr>
            <a:picLocks noChangeAspect="1"/>
          </p:cNvPicPr>
          <p:nvPr/>
        </p:nvPicPr>
        <p:blipFill>
          <a:blip r:embed="rId2"/>
          <a:stretch>
            <a:fillRect/>
          </a:stretch>
        </p:blipFill>
        <p:spPr>
          <a:xfrm>
            <a:off x="8654612" y="2583501"/>
            <a:ext cx="3004375" cy="2325968"/>
          </a:xfrm>
          <a:prstGeom prst="rect">
            <a:avLst/>
          </a:prstGeom>
        </p:spPr>
      </p:pic>
    </p:spTree>
    <p:extLst>
      <p:ext uri="{BB962C8B-B14F-4D97-AF65-F5344CB8AC3E}">
        <p14:creationId xmlns:p14="http://schemas.microsoft.com/office/powerpoint/2010/main" val="34532024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3FDC8E1-C33F-4F67-8AFF-1662FABDE921}"/>
              </a:ext>
            </a:extLst>
          </p:cNvPr>
          <p:cNvSpPr>
            <a:spLocks noGrp="1"/>
          </p:cNvSpPr>
          <p:nvPr>
            <p:ph type="title"/>
          </p:nvPr>
        </p:nvSpPr>
        <p:spPr>
          <a:xfrm>
            <a:off x="1097280" y="92050"/>
            <a:ext cx="10058400" cy="1450757"/>
          </a:xfrm>
        </p:spPr>
        <p:txBody>
          <a:bodyPr>
            <a:noAutofit/>
          </a:bodyPr>
          <a:lstStyle/>
          <a:p>
            <a:r>
              <a:rPr lang="es-PE" sz="3600" dirty="0"/>
              <a:t>Crítica de Lucas: </a:t>
            </a:r>
            <a:r>
              <a:rPr lang="es-ES" sz="3600" dirty="0"/>
              <a:t>Información imperfecta y</a:t>
            </a:r>
            <a:br>
              <a:rPr lang="es-ES" sz="3600" dirty="0"/>
            </a:br>
            <a:r>
              <a:rPr lang="es-ES" sz="3600" dirty="0"/>
              <a:t>expectativas racionales</a:t>
            </a:r>
            <a:endParaRPr lang="es-PE" sz="3600" dirty="0"/>
          </a:p>
        </p:txBody>
      </p:sp>
      <p:sp>
        <p:nvSpPr>
          <p:cNvPr id="3" name="Marcador de contenido 2">
            <a:extLst>
              <a:ext uri="{FF2B5EF4-FFF2-40B4-BE49-F238E27FC236}">
                <a16:creationId xmlns:a16="http://schemas.microsoft.com/office/drawing/2014/main" id="{B7DE83B9-A85A-44A8-B5EB-CD0367ECC746}"/>
              </a:ext>
            </a:extLst>
          </p:cNvPr>
          <p:cNvSpPr>
            <a:spLocks noGrp="1"/>
          </p:cNvSpPr>
          <p:nvPr>
            <p:ph idx="1"/>
          </p:nvPr>
        </p:nvSpPr>
        <p:spPr>
          <a:xfrm>
            <a:off x="1097281" y="2108201"/>
            <a:ext cx="7160894" cy="4035424"/>
          </a:xfrm>
        </p:spPr>
        <p:txBody>
          <a:bodyPr>
            <a:noAutofit/>
          </a:bodyPr>
          <a:lstStyle/>
          <a:p>
            <a:pPr marL="342900" lvl="0" indent="-342900" algn="just">
              <a:lnSpc>
                <a:spcPct val="170000"/>
              </a:lnSpc>
              <a:buFont typeface="Symbol" panose="05050102010706020507" pitchFamily="18" charset="2"/>
              <a:buChar char=""/>
            </a:pPr>
            <a:r>
              <a:rPr lang="es-ES" sz="2100" dirty="0">
                <a:latin typeface="Calibri" panose="020F0502020204030204" pitchFamily="34" charset="0"/>
                <a:ea typeface="Calibri" panose="020F0502020204030204" pitchFamily="34" charset="0"/>
                <a:cs typeface="Times New Roman" panose="02020603050405020304" pitchFamily="18" charset="0"/>
              </a:rPr>
              <a:t>La hipótesis que se desprende </a:t>
            </a:r>
            <a:r>
              <a:rPr lang="es-ES" sz="2100" dirty="0">
                <a:effectLst/>
                <a:latin typeface="Calibri" panose="020F0502020204030204" pitchFamily="34" charset="0"/>
                <a:ea typeface="Calibri" panose="020F0502020204030204" pitchFamily="34" charset="0"/>
                <a:cs typeface="Times New Roman" panose="02020603050405020304" pitchFamily="18" charset="0"/>
              </a:rPr>
              <a:t>de la crítica de Lucas es que las políticas económicas pueden no funcionar como se espera si los agentes económicos ajustan sus comportamientos en respuesta a ellas.</a:t>
            </a:r>
          </a:p>
          <a:p>
            <a:pPr marL="342900" indent="-342900" algn="just">
              <a:lnSpc>
                <a:spcPct val="170000"/>
              </a:lnSpc>
              <a:buFont typeface="Symbol" panose="05050102010706020507" pitchFamily="18" charset="2"/>
              <a:buChar char=""/>
            </a:pPr>
            <a:r>
              <a:rPr lang="es-ES" sz="2100" dirty="0">
                <a:effectLst/>
                <a:latin typeface="Calibri" panose="020F0502020204030204" pitchFamily="34" charset="0"/>
                <a:ea typeface="Calibri" panose="020F0502020204030204" pitchFamily="34" charset="0"/>
                <a:cs typeface="Times New Roman" panose="02020603050405020304" pitchFamily="18" charset="0"/>
              </a:rPr>
              <a:t>En este sentido, las expectativas juegan un papel crucial en la formulación de políticas económicas y en la forma en que se transmiten los impactos de esas políticas a la economía real. </a:t>
            </a:r>
          </a:p>
          <a:p>
            <a:pPr marL="0" lvl="0" indent="0" algn="just">
              <a:lnSpc>
                <a:spcPct val="170000"/>
              </a:lnSpc>
              <a:buNone/>
            </a:pPr>
            <a:endParaRPr lang="es-PE" sz="2100" dirty="0"/>
          </a:p>
        </p:txBody>
      </p:sp>
      <p:pic>
        <p:nvPicPr>
          <p:cNvPr id="4" name="Imagen 3">
            <a:extLst>
              <a:ext uri="{FF2B5EF4-FFF2-40B4-BE49-F238E27FC236}">
                <a16:creationId xmlns:a16="http://schemas.microsoft.com/office/drawing/2014/main" id="{D1924033-1CBC-D0D5-F25F-C5003AC05CC9}"/>
              </a:ext>
            </a:extLst>
          </p:cNvPr>
          <p:cNvPicPr>
            <a:picLocks noChangeAspect="1"/>
          </p:cNvPicPr>
          <p:nvPr/>
        </p:nvPicPr>
        <p:blipFill>
          <a:blip r:embed="rId2"/>
          <a:stretch>
            <a:fillRect/>
          </a:stretch>
        </p:blipFill>
        <p:spPr>
          <a:xfrm>
            <a:off x="8654612" y="2583501"/>
            <a:ext cx="3004375" cy="2325968"/>
          </a:xfrm>
          <a:prstGeom prst="rect">
            <a:avLst/>
          </a:prstGeom>
        </p:spPr>
      </p:pic>
    </p:spTree>
    <p:extLst>
      <p:ext uri="{BB962C8B-B14F-4D97-AF65-F5344CB8AC3E}">
        <p14:creationId xmlns:p14="http://schemas.microsoft.com/office/powerpoint/2010/main" val="39413266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3FDC8E1-C33F-4F67-8AFF-1662FABDE921}"/>
              </a:ext>
            </a:extLst>
          </p:cNvPr>
          <p:cNvSpPr>
            <a:spLocks noGrp="1"/>
          </p:cNvSpPr>
          <p:nvPr>
            <p:ph type="title"/>
          </p:nvPr>
        </p:nvSpPr>
        <p:spPr>
          <a:xfrm>
            <a:off x="1097280" y="92050"/>
            <a:ext cx="10058400" cy="1450757"/>
          </a:xfrm>
        </p:spPr>
        <p:txBody>
          <a:bodyPr>
            <a:noAutofit/>
          </a:bodyPr>
          <a:lstStyle/>
          <a:p>
            <a:r>
              <a:rPr lang="es-PE" sz="3600" dirty="0"/>
              <a:t>Crítica de Lucas: </a:t>
            </a:r>
            <a:r>
              <a:rPr lang="es-ES" sz="3600" dirty="0"/>
              <a:t>Información imperfecta y</a:t>
            </a:r>
            <a:br>
              <a:rPr lang="es-ES" sz="3600" dirty="0"/>
            </a:br>
            <a:r>
              <a:rPr lang="es-ES" sz="3600" dirty="0"/>
              <a:t>expectativas racionales</a:t>
            </a:r>
            <a:endParaRPr lang="es-PE" sz="3600" dirty="0"/>
          </a:p>
        </p:txBody>
      </p:sp>
      <p:sp>
        <p:nvSpPr>
          <p:cNvPr id="3" name="Marcador de contenido 2">
            <a:extLst>
              <a:ext uri="{FF2B5EF4-FFF2-40B4-BE49-F238E27FC236}">
                <a16:creationId xmlns:a16="http://schemas.microsoft.com/office/drawing/2014/main" id="{B7DE83B9-A85A-44A8-B5EB-CD0367ECC746}"/>
              </a:ext>
            </a:extLst>
          </p:cNvPr>
          <p:cNvSpPr>
            <a:spLocks noGrp="1"/>
          </p:cNvSpPr>
          <p:nvPr>
            <p:ph idx="1"/>
          </p:nvPr>
        </p:nvSpPr>
        <p:spPr>
          <a:xfrm>
            <a:off x="1097281" y="2108201"/>
            <a:ext cx="6850218" cy="3760891"/>
          </a:xfrm>
        </p:spPr>
        <p:txBody>
          <a:bodyPr>
            <a:normAutofit fontScale="85000" lnSpcReduction="10000"/>
          </a:bodyPr>
          <a:lstStyle/>
          <a:p>
            <a:pPr marL="342900" lvl="0" indent="-342900" algn="just">
              <a:lnSpc>
                <a:spcPct val="170000"/>
              </a:lnSpc>
              <a:buFont typeface="Symbol" panose="05050102010706020507" pitchFamily="18" charset="2"/>
              <a:buChar char=""/>
            </a:pPr>
            <a:r>
              <a:rPr lang="es-ES" sz="2400" dirty="0">
                <a:effectLst/>
                <a:latin typeface="Calibri" panose="020F0502020204030204" pitchFamily="34" charset="0"/>
                <a:ea typeface="Calibri" panose="020F0502020204030204" pitchFamily="34" charset="0"/>
                <a:cs typeface="Times New Roman" panose="02020603050405020304" pitchFamily="18" charset="0"/>
              </a:rPr>
              <a:t>Si los agentes económicos anticipan correctamente los efectos de las políticas y ajustan sus comportamientos en consecuencia, las políticas pueden tener un impacto limitado o incluso contrario a lo esperado.</a:t>
            </a:r>
          </a:p>
          <a:p>
            <a:pPr marL="342900" lvl="0" indent="-342900" algn="just">
              <a:lnSpc>
                <a:spcPct val="170000"/>
              </a:lnSpc>
              <a:buFont typeface="Symbol" panose="05050102010706020507" pitchFamily="18" charset="2"/>
              <a:buChar char=""/>
            </a:pPr>
            <a:r>
              <a:rPr lang="es-ES" sz="2400" dirty="0">
                <a:effectLst/>
                <a:latin typeface="Calibri" panose="020F0502020204030204" pitchFamily="34" charset="0"/>
                <a:ea typeface="Calibri" panose="020F0502020204030204" pitchFamily="34" charset="0"/>
                <a:cs typeface="Times New Roman" panose="02020603050405020304" pitchFamily="18" charset="0"/>
              </a:rPr>
              <a:t>La propuesta considerada en la crítica de Lucas y las expectativas </a:t>
            </a:r>
            <a:r>
              <a:rPr lang="es-ES" sz="2400" dirty="0">
                <a:latin typeface="Calibri" panose="020F0502020204030204" pitchFamily="34" charset="0"/>
                <a:ea typeface="Calibri" panose="020F0502020204030204" pitchFamily="34" charset="0"/>
                <a:cs typeface="Times New Roman" panose="02020603050405020304" pitchFamily="18" charset="0"/>
              </a:rPr>
              <a:t>es</a:t>
            </a:r>
            <a:r>
              <a:rPr lang="es-ES" sz="2400" dirty="0">
                <a:effectLst/>
                <a:latin typeface="Calibri" panose="020F0502020204030204" pitchFamily="34" charset="0"/>
                <a:ea typeface="Calibri" panose="020F0502020204030204" pitchFamily="34" charset="0"/>
                <a:cs typeface="Times New Roman" panose="02020603050405020304" pitchFamily="18" charset="0"/>
              </a:rPr>
              <a:t> conocida como "nueva macroeconomía clásica" o "nueva economía keynesiana".</a:t>
            </a:r>
          </a:p>
          <a:p>
            <a:pPr marL="342900" lvl="0" indent="-342900" algn="just">
              <a:lnSpc>
                <a:spcPct val="170000"/>
              </a:lnSpc>
              <a:buFont typeface="Symbol" panose="05050102010706020507" pitchFamily="18" charset="2"/>
              <a:buChar char=""/>
            </a:pPr>
            <a:endParaRPr lang="es-ES"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70000"/>
              </a:lnSpc>
              <a:buFont typeface="Symbol" panose="05050102010706020507" pitchFamily="18" charset="2"/>
              <a:buChar char=""/>
            </a:pPr>
            <a:endParaRPr lang="es-ES"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70000"/>
              </a:lnSpc>
              <a:buFont typeface="Symbol" panose="05050102010706020507" pitchFamily="18" charset="2"/>
              <a:buChar char=""/>
            </a:pPr>
            <a:endParaRPr lang="es-ES"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70000"/>
              </a:lnSpc>
              <a:buFont typeface="Symbol" panose="05050102010706020507" pitchFamily="18" charset="2"/>
              <a:buChar char=""/>
            </a:pPr>
            <a:endParaRPr lang="es-ES"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70000"/>
              </a:lnSpc>
              <a:buFont typeface="Symbol" panose="05050102010706020507" pitchFamily="18" charset="2"/>
              <a:buChar char=""/>
            </a:pPr>
            <a:endParaRPr lang="es-ES"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70000"/>
              </a:lnSpc>
              <a:buFont typeface="Symbol" panose="05050102010706020507" pitchFamily="18" charset="2"/>
              <a:buChar char=""/>
            </a:pPr>
            <a:endParaRPr lang="es-ES" sz="24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70000"/>
              </a:lnSpc>
              <a:buNone/>
            </a:pPr>
            <a:endParaRPr lang="es-PE" sz="2400" dirty="0"/>
          </a:p>
        </p:txBody>
      </p:sp>
      <p:pic>
        <p:nvPicPr>
          <p:cNvPr id="4" name="Imagen 3">
            <a:extLst>
              <a:ext uri="{FF2B5EF4-FFF2-40B4-BE49-F238E27FC236}">
                <a16:creationId xmlns:a16="http://schemas.microsoft.com/office/drawing/2014/main" id="{D1924033-1CBC-D0D5-F25F-C5003AC05CC9}"/>
              </a:ext>
            </a:extLst>
          </p:cNvPr>
          <p:cNvPicPr>
            <a:picLocks noChangeAspect="1"/>
          </p:cNvPicPr>
          <p:nvPr/>
        </p:nvPicPr>
        <p:blipFill>
          <a:blip r:embed="rId2"/>
          <a:stretch>
            <a:fillRect/>
          </a:stretch>
        </p:blipFill>
        <p:spPr>
          <a:xfrm>
            <a:off x="8654612" y="2583501"/>
            <a:ext cx="3004375" cy="2325968"/>
          </a:xfrm>
          <a:prstGeom prst="rect">
            <a:avLst/>
          </a:prstGeom>
        </p:spPr>
      </p:pic>
    </p:spTree>
    <p:extLst>
      <p:ext uri="{BB962C8B-B14F-4D97-AF65-F5344CB8AC3E}">
        <p14:creationId xmlns:p14="http://schemas.microsoft.com/office/powerpoint/2010/main" val="22221174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3FDC8E1-C33F-4F67-8AFF-1662FABDE921}"/>
              </a:ext>
            </a:extLst>
          </p:cNvPr>
          <p:cNvSpPr>
            <a:spLocks noGrp="1"/>
          </p:cNvSpPr>
          <p:nvPr>
            <p:ph type="title"/>
          </p:nvPr>
        </p:nvSpPr>
        <p:spPr>
          <a:xfrm>
            <a:off x="1097280" y="92050"/>
            <a:ext cx="10058400" cy="1450757"/>
          </a:xfrm>
        </p:spPr>
        <p:txBody>
          <a:bodyPr>
            <a:noAutofit/>
          </a:bodyPr>
          <a:lstStyle/>
          <a:p>
            <a:r>
              <a:rPr lang="es-PE" sz="3600" dirty="0"/>
              <a:t>Crítica de Lucas: </a:t>
            </a:r>
            <a:r>
              <a:rPr lang="es-ES" sz="3600" dirty="0"/>
              <a:t>Información imperfecta y</a:t>
            </a:r>
            <a:br>
              <a:rPr lang="es-ES" sz="3600" dirty="0"/>
            </a:br>
            <a:r>
              <a:rPr lang="es-ES" sz="3600" dirty="0"/>
              <a:t>expectativas racionales</a:t>
            </a:r>
            <a:endParaRPr lang="es-PE" sz="3600" dirty="0"/>
          </a:p>
        </p:txBody>
      </p:sp>
      <p:sp>
        <p:nvSpPr>
          <p:cNvPr id="3" name="Marcador de contenido 2">
            <a:extLst>
              <a:ext uri="{FF2B5EF4-FFF2-40B4-BE49-F238E27FC236}">
                <a16:creationId xmlns:a16="http://schemas.microsoft.com/office/drawing/2014/main" id="{B7DE83B9-A85A-44A8-B5EB-CD0367ECC746}"/>
              </a:ext>
            </a:extLst>
          </p:cNvPr>
          <p:cNvSpPr>
            <a:spLocks noGrp="1"/>
          </p:cNvSpPr>
          <p:nvPr>
            <p:ph idx="1"/>
          </p:nvPr>
        </p:nvSpPr>
        <p:spPr>
          <a:xfrm>
            <a:off x="711200" y="2026921"/>
            <a:ext cx="11003279" cy="4119879"/>
          </a:xfrm>
        </p:spPr>
        <p:txBody>
          <a:bodyPr>
            <a:noAutofit/>
          </a:bodyPr>
          <a:lstStyle/>
          <a:p>
            <a:pPr marL="0" lvl="0" indent="0" algn="just">
              <a:lnSpc>
                <a:spcPct val="170000"/>
              </a:lnSpc>
              <a:buNone/>
            </a:pPr>
            <a:r>
              <a:rPr lang="es-ES" sz="2200" dirty="0">
                <a:effectLst/>
                <a:latin typeface="Calibri" panose="020F0502020204030204" pitchFamily="34" charset="0"/>
                <a:ea typeface="Calibri" panose="020F0502020204030204" pitchFamily="34" charset="0"/>
                <a:cs typeface="Times New Roman" panose="02020603050405020304" pitchFamily="18" charset="0"/>
              </a:rPr>
              <a:t>Crítica a la propuesta de W. Phillips</a:t>
            </a:r>
          </a:p>
          <a:p>
            <a:pPr marL="342900" lvl="0" indent="-342900" algn="just">
              <a:lnSpc>
                <a:spcPct val="170000"/>
              </a:lnSpc>
              <a:buFont typeface="Symbol" panose="05050102010706020507" pitchFamily="18" charset="2"/>
              <a:buChar char=""/>
            </a:pPr>
            <a:r>
              <a:rPr lang="es-ES" sz="2200" dirty="0">
                <a:effectLst/>
                <a:latin typeface="Calibri" panose="020F0502020204030204" pitchFamily="34" charset="0"/>
                <a:ea typeface="Calibri" panose="020F0502020204030204" pitchFamily="34" charset="0"/>
                <a:cs typeface="Times New Roman" panose="02020603050405020304" pitchFamily="18" charset="0"/>
              </a:rPr>
              <a:t>En la medida que antes de 1970 la OA fuera estable, lo que mueve la inflaci</a:t>
            </a:r>
            <a:r>
              <a:rPr lang="es-ES" sz="2200" dirty="0">
                <a:latin typeface="Calibri" panose="020F0502020204030204" pitchFamily="34" charset="0"/>
                <a:ea typeface="Calibri" panose="020F0502020204030204" pitchFamily="34" charset="0"/>
                <a:cs typeface="Times New Roman" panose="02020603050405020304" pitchFamily="18" charset="0"/>
              </a:rPr>
              <a:t>ó</a:t>
            </a:r>
            <a:r>
              <a:rPr lang="es-ES" sz="2200" dirty="0">
                <a:effectLst/>
                <a:latin typeface="Calibri" panose="020F0502020204030204" pitchFamily="34" charset="0"/>
                <a:ea typeface="Calibri" panose="020F0502020204030204" pitchFamily="34" charset="0"/>
                <a:cs typeface="Times New Roman" panose="02020603050405020304" pitchFamily="18" charset="0"/>
              </a:rPr>
              <a:t>n ser</a:t>
            </a:r>
            <a:r>
              <a:rPr lang="es-ES" sz="2200" dirty="0">
                <a:latin typeface="Calibri" panose="020F0502020204030204" pitchFamily="34" charset="0"/>
                <a:ea typeface="Calibri" panose="020F0502020204030204" pitchFamily="34" charset="0"/>
                <a:cs typeface="Times New Roman" panose="02020603050405020304" pitchFamily="18" charset="0"/>
              </a:rPr>
              <a:t>í</a:t>
            </a:r>
            <a:r>
              <a:rPr lang="es-ES" sz="2200" dirty="0">
                <a:effectLst/>
                <a:latin typeface="Calibri" panose="020F0502020204030204" pitchFamily="34" charset="0"/>
                <a:ea typeface="Calibri" panose="020F0502020204030204" pitchFamily="34" charset="0"/>
                <a:cs typeface="Times New Roman" panose="02020603050405020304" pitchFamily="18" charset="0"/>
              </a:rPr>
              <a:t>a la DA. </a:t>
            </a:r>
          </a:p>
          <a:p>
            <a:pPr marL="342900" lvl="0" indent="-342900" algn="just">
              <a:lnSpc>
                <a:spcPct val="170000"/>
              </a:lnSpc>
              <a:buFont typeface="Symbol" panose="05050102010706020507" pitchFamily="18" charset="2"/>
              <a:buChar char=""/>
            </a:pPr>
            <a:r>
              <a:rPr lang="es-ES" sz="2200" dirty="0">
                <a:effectLst/>
                <a:latin typeface="Calibri" panose="020F0502020204030204" pitchFamily="34" charset="0"/>
                <a:ea typeface="Calibri" panose="020F0502020204030204" pitchFamily="34" charset="0"/>
                <a:cs typeface="Times New Roman" panose="02020603050405020304" pitchFamily="18" charset="0"/>
              </a:rPr>
              <a:t>Así, una DA que se mueve sobre una OA estable, lo que produce en los datos es un dibujo de la oferta. </a:t>
            </a:r>
          </a:p>
          <a:p>
            <a:pPr marL="342900" lvl="0" indent="-342900" algn="just">
              <a:lnSpc>
                <a:spcPct val="170000"/>
              </a:lnSpc>
              <a:buFont typeface="Symbol" panose="05050102010706020507" pitchFamily="18" charset="2"/>
              <a:buChar char=""/>
            </a:pPr>
            <a:r>
              <a:rPr lang="es-ES" sz="2200" dirty="0">
                <a:latin typeface="Calibri" panose="020F0502020204030204" pitchFamily="34" charset="0"/>
                <a:ea typeface="Calibri" panose="020F0502020204030204" pitchFamily="34" charset="0"/>
                <a:cs typeface="Times New Roman" panose="02020603050405020304" pitchFamily="18" charset="0"/>
              </a:rPr>
              <a:t>Si la OA </a:t>
            </a:r>
            <a:r>
              <a:rPr lang="es-ES" sz="2200" dirty="0">
                <a:effectLst/>
                <a:latin typeface="Calibri" panose="020F0502020204030204" pitchFamily="34" charset="0"/>
                <a:ea typeface="Calibri" panose="020F0502020204030204" pitchFamily="34" charset="0"/>
                <a:cs typeface="Times New Roman" panose="02020603050405020304" pitchFamily="18" charset="0"/>
              </a:rPr>
              <a:t>se empieza a trasladar (como ocurri</a:t>
            </a:r>
            <a:r>
              <a:rPr lang="es-ES" sz="2200" dirty="0">
                <a:latin typeface="Calibri" panose="020F0502020204030204" pitchFamily="34" charset="0"/>
                <a:ea typeface="Calibri" panose="020F0502020204030204" pitchFamily="34" charset="0"/>
                <a:cs typeface="Times New Roman" panose="02020603050405020304" pitchFamily="18" charset="0"/>
              </a:rPr>
              <a:t>ó)</a:t>
            </a:r>
            <a:r>
              <a:rPr lang="es-ES" sz="2200" dirty="0">
                <a:effectLst/>
                <a:latin typeface="Calibri" panose="020F0502020204030204" pitchFamily="34" charset="0"/>
                <a:ea typeface="Calibri" panose="020F0502020204030204" pitchFamily="34" charset="0"/>
                <a:cs typeface="Times New Roman" panose="02020603050405020304" pitchFamily="18" charset="0"/>
              </a:rPr>
              <a:t> en los 1970s los puntos que se ven son intersecciones de DA y OA en todo el plano producto-inflaci</a:t>
            </a:r>
            <a:r>
              <a:rPr lang="es-ES" sz="2200" dirty="0">
                <a:latin typeface="Calibri" panose="020F0502020204030204" pitchFamily="34" charset="0"/>
                <a:ea typeface="Calibri" panose="020F0502020204030204" pitchFamily="34" charset="0"/>
                <a:cs typeface="Times New Roman" panose="02020603050405020304" pitchFamily="18" charset="0"/>
              </a:rPr>
              <a:t>ó</a:t>
            </a:r>
            <a:r>
              <a:rPr lang="es-ES" sz="2200" dirty="0">
                <a:effectLst/>
                <a:latin typeface="Calibri" panose="020F0502020204030204" pitchFamily="34" charset="0"/>
                <a:ea typeface="Calibri" panose="020F0502020204030204" pitchFamily="34" charset="0"/>
                <a:cs typeface="Times New Roman" panose="02020603050405020304" pitchFamily="18" charset="0"/>
              </a:rPr>
              <a:t>n o desempleo-inflación.</a:t>
            </a:r>
            <a:endParaRPr lang="es-PE" sz="2200" dirty="0"/>
          </a:p>
        </p:txBody>
      </p:sp>
    </p:spTree>
    <p:extLst>
      <p:ext uri="{BB962C8B-B14F-4D97-AF65-F5344CB8AC3E}">
        <p14:creationId xmlns:p14="http://schemas.microsoft.com/office/powerpoint/2010/main" val="9323671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3FDC8E1-C33F-4F67-8AFF-1662FABDE921}"/>
              </a:ext>
            </a:extLst>
          </p:cNvPr>
          <p:cNvSpPr>
            <a:spLocks noGrp="1"/>
          </p:cNvSpPr>
          <p:nvPr>
            <p:ph type="title"/>
          </p:nvPr>
        </p:nvSpPr>
        <p:spPr>
          <a:xfrm>
            <a:off x="1097280" y="92050"/>
            <a:ext cx="10058400" cy="1450757"/>
          </a:xfrm>
        </p:spPr>
        <p:txBody>
          <a:bodyPr>
            <a:noAutofit/>
          </a:bodyPr>
          <a:lstStyle/>
          <a:p>
            <a:r>
              <a:rPr lang="es-PE" sz="3600" dirty="0"/>
              <a:t>Crítica de Lucas: </a:t>
            </a:r>
            <a:r>
              <a:rPr lang="es-ES" sz="3600" dirty="0"/>
              <a:t>Información imperfecta y</a:t>
            </a:r>
            <a:br>
              <a:rPr lang="es-ES" sz="3600" dirty="0"/>
            </a:br>
            <a:r>
              <a:rPr lang="es-ES" sz="3600" dirty="0"/>
              <a:t>expectativas racionales</a:t>
            </a:r>
            <a:endParaRPr lang="es-PE" sz="3600" dirty="0"/>
          </a:p>
        </p:txBody>
      </p:sp>
      <p:sp>
        <p:nvSpPr>
          <p:cNvPr id="3" name="Marcador de contenido 2">
            <a:extLst>
              <a:ext uri="{FF2B5EF4-FFF2-40B4-BE49-F238E27FC236}">
                <a16:creationId xmlns:a16="http://schemas.microsoft.com/office/drawing/2014/main" id="{B7DE83B9-A85A-44A8-B5EB-CD0367ECC746}"/>
              </a:ext>
            </a:extLst>
          </p:cNvPr>
          <p:cNvSpPr>
            <a:spLocks noGrp="1"/>
          </p:cNvSpPr>
          <p:nvPr>
            <p:ph idx="1"/>
          </p:nvPr>
        </p:nvSpPr>
        <p:spPr>
          <a:xfrm>
            <a:off x="1097281" y="2108201"/>
            <a:ext cx="10151744" cy="3760891"/>
          </a:xfrm>
        </p:spPr>
        <p:txBody>
          <a:bodyPr>
            <a:normAutofit/>
          </a:bodyPr>
          <a:lstStyle/>
          <a:p>
            <a:pPr marL="342900" lvl="0" indent="-342900" algn="just">
              <a:lnSpc>
                <a:spcPct val="170000"/>
              </a:lnSpc>
              <a:buFont typeface="Symbol" panose="05050102010706020507" pitchFamily="18" charset="2"/>
              <a:buChar char=""/>
            </a:pPr>
            <a:r>
              <a:rPr lang="es-MX" sz="2400" dirty="0">
                <a:effectLst/>
                <a:latin typeface="Calibri" panose="020F0502020204030204" pitchFamily="34" charset="0"/>
                <a:ea typeface="Calibri" panose="020F0502020204030204" pitchFamily="34" charset="0"/>
                <a:cs typeface="Times New Roman" panose="02020603050405020304" pitchFamily="18" charset="0"/>
              </a:rPr>
              <a:t>En ese contexto, Robert Lucas presenta un modelo en el cual existe un </a:t>
            </a:r>
            <a:r>
              <a:rPr lang="es-MX" sz="2400" i="1" dirty="0" err="1">
                <a:effectLst/>
                <a:latin typeface="Calibri" panose="020F0502020204030204" pitchFamily="34" charset="0"/>
                <a:ea typeface="Calibri" panose="020F0502020204030204" pitchFamily="34" charset="0"/>
                <a:cs typeface="Times New Roman" panose="02020603050405020304" pitchFamily="18" charset="0"/>
              </a:rPr>
              <a:t>trade</a:t>
            </a:r>
            <a:r>
              <a:rPr lang="es-MX" sz="2400" i="1" dirty="0">
                <a:effectLst/>
                <a:latin typeface="Calibri" panose="020F0502020204030204" pitchFamily="34" charset="0"/>
                <a:ea typeface="Calibri" panose="020F0502020204030204" pitchFamily="34" charset="0"/>
                <a:cs typeface="Times New Roman" panose="02020603050405020304" pitchFamily="18" charset="0"/>
              </a:rPr>
              <a:t> off</a:t>
            </a:r>
            <a:r>
              <a:rPr lang="es-MX" sz="2400" dirty="0">
                <a:effectLst/>
                <a:latin typeface="Calibri" panose="020F0502020204030204" pitchFamily="34" charset="0"/>
                <a:ea typeface="Calibri" panose="020F0502020204030204" pitchFamily="34" charset="0"/>
                <a:cs typeface="Times New Roman" panose="02020603050405020304" pitchFamily="18" charset="0"/>
              </a:rPr>
              <a:t> entre inflación y desempleo debido a la </a:t>
            </a:r>
            <a:r>
              <a:rPr lang="es-MX" sz="2400" b="1" dirty="0">
                <a:effectLst/>
                <a:latin typeface="Calibri" panose="020F0502020204030204" pitchFamily="34" charset="0"/>
                <a:ea typeface="Calibri" panose="020F0502020204030204" pitchFamily="34" charset="0"/>
                <a:cs typeface="Times New Roman" panose="02020603050405020304" pitchFamily="18" charset="0"/>
              </a:rPr>
              <a:t>información imperfecta </a:t>
            </a:r>
            <a:r>
              <a:rPr lang="es-MX" sz="2400" dirty="0">
                <a:effectLst/>
                <a:latin typeface="Calibri" panose="020F0502020204030204" pitchFamily="34" charset="0"/>
                <a:ea typeface="Calibri" panose="020F0502020204030204" pitchFamily="34" charset="0"/>
                <a:cs typeface="Times New Roman" panose="02020603050405020304" pitchFamily="18" charset="0"/>
              </a:rPr>
              <a:t>que reciben los productores.</a:t>
            </a:r>
          </a:p>
          <a:p>
            <a:pPr marL="342900" lvl="0" indent="-342900" algn="just">
              <a:lnSpc>
                <a:spcPct val="170000"/>
              </a:lnSpc>
              <a:buFont typeface="Symbol" panose="05050102010706020507" pitchFamily="18" charset="2"/>
              <a:buChar char=""/>
            </a:pPr>
            <a:r>
              <a:rPr lang="es-MX" sz="2400" dirty="0">
                <a:effectLst/>
                <a:latin typeface="Calibri" panose="020F0502020204030204" pitchFamily="34" charset="0"/>
                <a:ea typeface="Calibri" panose="020F0502020204030204" pitchFamily="34" charset="0"/>
                <a:cs typeface="Times New Roman" panose="02020603050405020304" pitchFamily="18" charset="0"/>
              </a:rPr>
              <a:t>La </a:t>
            </a:r>
            <a:r>
              <a:rPr lang="es-MX" sz="2400" b="1" dirty="0">
                <a:effectLst/>
                <a:latin typeface="Calibri" panose="020F0502020204030204" pitchFamily="34" charset="0"/>
                <a:ea typeface="Calibri" panose="020F0502020204030204" pitchFamily="34" charset="0"/>
                <a:cs typeface="Times New Roman" panose="02020603050405020304" pitchFamily="18" charset="0"/>
              </a:rPr>
              <a:t>imperfección</a:t>
            </a:r>
            <a:r>
              <a:rPr lang="es-MX" sz="2400" dirty="0">
                <a:effectLst/>
                <a:latin typeface="Calibri" panose="020F0502020204030204" pitchFamily="34" charset="0"/>
                <a:ea typeface="Calibri" panose="020F0502020204030204" pitchFamily="34" charset="0"/>
                <a:cs typeface="Times New Roman" panose="02020603050405020304" pitchFamily="18" charset="0"/>
              </a:rPr>
              <a:t> se genera sobre los cambios en el </a:t>
            </a:r>
            <a:r>
              <a:rPr lang="es-MX" sz="2400" b="1" dirty="0">
                <a:effectLst/>
                <a:latin typeface="Calibri" panose="020F0502020204030204" pitchFamily="34" charset="0"/>
                <a:ea typeface="Calibri" panose="020F0502020204030204" pitchFamily="34" charset="0"/>
                <a:cs typeface="Times New Roman" panose="02020603050405020304" pitchFamily="18" charset="0"/>
              </a:rPr>
              <a:t>nivel de precios de toda la economía</a:t>
            </a:r>
            <a:r>
              <a:rPr lang="es-MX" sz="2400" dirty="0">
                <a:effectLst/>
                <a:latin typeface="Calibri" panose="020F0502020204030204" pitchFamily="34" charset="0"/>
                <a:ea typeface="Calibri" panose="020F0502020204030204" pitchFamily="34" charset="0"/>
                <a:cs typeface="Times New Roman" panose="02020603050405020304" pitchFamily="18" charset="0"/>
              </a:rPr>
              <a:t> versus los cambios en los propios </a:t>
            </a:r>
            <a:r>
              <a:rPr lang="es-MX" sz="2400" b="1" dirty="0">
                <a:effectLst/>
                <a:latin typeface="Calibri" panose="020F0502020204030204" pitchFamily="34" charset="0"/>
                <a:ea typeface="Calibri" panose="020F0502020204030204" pitchFamily="34" charset="0"/>
                <a:cs typeface="Times New Roman" panose="02020603050405020304" pitchFamily="18" charset="0"/>
              </a:rPr>
              <a:t>precios relativos de una empresa.</a:t>
            </a:r>
            <a:endParaRPr lang="es-PE" sz="2400" b="1"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70000"/>
              </a:lnSpc>
              <a:buNone/>
            </a:pPr>
            <a:endParaRPr lang="es-PE" sz="2400" dirty="0"/>
          </a:p>
        </p:txBody>
      </p:sp>
    </p:spTree>
    <p:extLst>
      <p:ext uri="{BB962C8B-B14F-4D97-AF65-F5344CB8AC3E}">
        <p14:creationId xmlns:p14="http://schemas.microsoft.com/office/powerpoint/2010/main" val="29126917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3FDC8E1-C33F-4F67-8AFF-1662FABDE921}"/>
              </a:ext>
            </a:extLst>
          </p:cNvPr>
          <p:cNvSpPr>
            <a:spLocks noGrp="1"/>
          </p:cNvSpPr>
          <p:nvPr>
            <p:ph type="title"/>
          </p:nvPr>
        </p:nvSpPr>
        <p:spPr>
          <a:xfrm>
            <a:off x="1097280" y="92050"/>
            <a:ext cx="10058400" cy="1450757"/>
          </a:xfrm>
        </p:spPr>
        <p:txBody>
          <a:bodyPr>
            <a:noAutofit/>
          </a:bodyPr>
          <a:lstStyle/>
          <a:p>
            <a:r>
              <a:rPr lang="es-PE" sz="3600" dirty="0"/>
              <a:t>Crítica de Lucas: </a:t>
            </a:r>
            <a:r>
              <a:rPr lang="es-ES" sz="3600" dirty="0"/>
              <a:t>Información imperfecta y</a:t>
            </a:r>
            <a:br>
              <a:rPr lang="es-ES" sz="3600" dirty="0"/>
            </a:br>
            <a:r>
              <a:rPr lang="es-ES" sz="3600" dirty="0"/>
              <a:t>expectativas racionales</a:t>
            </a:r>
            <a:endParaRPr lang="es-PE" sz="3600" dirty="0"/>
          </a:p>
        </p:txBody>
      </p:sp>
      <p:sp>
        <p:nvSpPr>
          <p:cNvPr id="3" name="Marcador de contenido 2">
            <a:extLst>
              <a:ext uri="{FF2B5EF4-FFF2-40B4-BE49-F238E27FC236}">
                <a16:creationId xmlns:a16="http://schemas.microsoft.com/office/drawing/2014/main" id="{B7DE83B9-A85A-44A8-B5EB-CD0367ECC746}"/>
              </a:ext>
            </a:extLst>
          </p:cNvPr>
          <p:cNvSpPr>
            <a:spLocks noGrp="1"/>
          </p:cNvSpPr>
          <p:nvPr>
            <p:ph idx="1"/>
          </p:nvPr>
        </p:nvSpPr>
        <p:spPr>
          <a:xfrm>
            <a:off x="1097280" y="1913648"/>
            <a:ext cx="10449452" cy="4380148"/>
          </a:xfrm>
        </p:spPr>
        <p:txBody>
          <a:bodyPr>
            <a:noAutofit/>
          </a:bodyPr>
          <a:lstStyle/>
          <a:p>
            <a:pPr marL="342900" lvl="0" indent="-342900" algn="just">
              <a:lnSpc>
                <a:spcPct val="150000"/>
              </a:lnSpc>
              <a:spcAft>
                <a:spcPts val="800"/>
              </a:spcAft>
              <a:buFont typeface="Symbol" panose="05050102010706020507" pitchFamily="18" charset="2"/>
              <a:buChar char=""/>
            </a:pPr>
            <a:r>
              <a:rPr lang="es-MX" sz="2400" dirty="0">
                <a:effectLst/>
                <a:latin typeface="Calibri" panose="020F0502020204030204" pitchFamily="34" charset="0"/>
                <a:ea typeface="Calibri" panose="020F0502020204030204" pitchFamily="34" charset="0"/>
                <a:cs typeface="Times New Roman" panose="02020603050405020304" pitchFamily="18" charset="0"/>
              </a:rPr>
              <a:t>Modelo asume que las empresas tienen una </a:t>
            </a:r>
            <a:r>
              <a:rPr lang="es-MX" sz="2400" b="1" dirty="0">
                <a:effectLst/>
                <a:latin typeface="Calibri" panose="020F0502020204030204" pitchFamily="34" charset="0"/>
                <a:ea typeface="Calibri" panose="020F0502020204030204" pitchFamily="34" charset="0"/>
                <a:cs typeface="Times New Roman" panose="02020603050405020304" pitchFamily="18" charset="0"/>
              </a:rPr>
              <a:t>curva de oferta </a:t>
            </a:r>
            <a:r>
              <a:rPr lang="es-MX" sz="2400" dirty="0">
                <a:effectLst/>
                <a:latin typeface="Calibri" panose="020F0502020204030204" pitchFamily="34" charset="0"/>
                <a:ea typeface="Calibri" panose="020F0502020204030204" pitchFamily="34" charset="0"/>
                <a:cs typeface="Times New Roman" panose="02020603050405020304" pitchFamily="18" charset="0"/>
              </a:rPr>
              <a:t>con pendiente positiva que depende de su precio relativo </a:t>
            </a:r>
            <a:r>
              <a:rPr lang="es-MX" sz="2400" i="1" dirty="0">
                <a:effectLst/>
                <a:latin typeface="Times New Roman" panose="02020603050405020304" pitchFamily="18" charset="0"/>
                <a:ea typeface="Calibri" panose="020F0502020204030204" pitchFamily="34" charset="0"/>
                <a:cs typeface="Times New Roman" panose="02020603050405020304" pitchFamily="18" charset="0"/>
              </a:rPr>
              <a:t>r</a:t>
            </a:r>
            <a:r>
              <a:rPr lang="es-MX" sz="2400" dirty="0">
                <a:effectLst/>
                <a:latin typeface="Calibri" panose="020F0502020204030204" pitchFamily="34" charset="0"/>
                <a:ea typeface="Calibri" panose="020F0502020204030204" pitchFamily="34" charset="0"/>
                <a:cs typeface="Times New Roman" panose="02020603050405020304" pitchFamily="18" charset="0"/>
              </a:rPr>
              <a:t>.</a:t>
            </a:r>
          </a:p>
          <a:p>
            <a:pPr algn="ctr">
              <a:lnSpc>
                <a:spcPct val="100000"/>
              </a:lnSpc>
              <a:spcAft>
                <a:spcPts val="800"/>
              </a:spcAft>
            </a:pPr>
            <a:r>
              <a:rPr lang="es-MX" sz="2400" i="1" dirty="0" err="1">
                <a:effectLst/>
                <a:latin typeface="Times New Roman" panose="02020603050405020304" pitchFamily="18" charset="0"/>
                <a:ea typeface="Calibri" panose="020F0502020204030204" pitchFamily="34" charset="0"/>
                <a:cs typeface="Times New Roman" panose="02020603050405020304" pitchFamily="18" charset="0"/>
              </a:rPr>
              <a:t>Y</a:t>
            </a:r>
            <a:r>
              <a:rPr lang="es-MX" sz="2400" i="1" baseline="30000" dirty="0" err="1">
                <a:effectLst/>
                <a:latin typeface="Times New Roman" panose="02020603050405020304" pitchFamily="18" charset="0"/>
                <a:ea typeface="Calibri" panose="020F0502020204030204" pitchFamily="34" charset="0"/>
                <a:cs typeface="Times New Roman" panose="02020603050405020304" pitchFamily="18" charset="0"/>
              </a:rPr>
              <a:t>s</a:t>
            </a:r>
            <a:r>
              <a:rPr lang="es-MX" sz="2400" i="1" dirty="0">
                <a:effectLst/>
                <a:latin typeface="Times New Roman" panose="02020603050405020304" pitchFamily="18" charset="0"/>
                <a:ea typeface="Calibri" panose="020F0502020204030204" pitchFamily="34" charset="0"/>
                <a:cs typeface="Times New Roman" panose="02020603050405020304" pitchFamily="18" charset="0"/>
              </a:rPr>
              <a:t> = s(</a:t>
            </a:r>
            <a:r>
              <a:rPr lang="es-MX" sz="2400" i="1" dirty="0" err="1">
                <a:effectLst/>
                <a:latin typeface="Times New Roman" panose="02020603050405020304" pitchFamily="18" charset="0"/>
                <a:ea typeface="Calibri" panose="020F0502020204030204" pitchFamily="34" charset="0"/>
                <a:cs typeface="Times New Roman" panose="02020603050405020304" pitchFamily="18" charset="0"/>
              </a:rPr>
              <a:t>r</a:t>
            </a:r>
            <a:r>
              <a:rPr lang="es-MX" sz="2400" i="1" baseline="-25000" dirty="0" err="1">
                <a:effectLst/>
                <a:latin typeface="Times New Roman" panose="02020603050405020304" pitchFamily="18" charset="0"/>
                <a:ea typeface="Calibri" panose="020F0502020204030204" pitchFamily="34" charset="0"/>
                <a:cs typeface="Times New Roman" panose="02020603050405020304" pitchFamily="18" charset="0"/>
              </a:rPr>
              <a:t>i</a:t>
            </a:r>
            <a:r>
              <a:rPr lang="es-MX" sz="2400" i="1" dirty="0">
                <a:effectLst/>
                <a:latin typeface="Times New Roman" panose="02020603050405020304" pitchFamily="18" charset="0"/>
                <a:ea typeface="Calibri" panose="020F0502020204030204" pitchFamily="34" charset="0"/>
                <a:cs typeface="Times New Roman" panose="02020603050405020304" pitchFamily="18" charset="0"/>
              </a:rPr>
              <a:t>)</a:t>
            </a:r>
            <a:endParaRPr lang="es-PE" sz="2400" dirty="0">
              <a:effectLst/>
              <a:latin typeface="Calibri" panose="020F0502020204030204" pitchFamily="34" charset="0"/>
              <a:ea typeface="Calibri" panose="020F0502020204030204" pitchFamily="34" charset="0"/>
              <a:cs typeface="Times New Roman" panose="02020603050405020304" pitchFamily="18" charset="0"/>
            </a:endParaRPr>
          </a:p>
          <a:p>
            <a:pPr marL="360363" indent="-273050">
              <a:lnSpc>
                <a:spcPct val="100000"/>
              </a:lnSpc>
              <a:spcAft>
                <a:spcPts val="800"/>
              </a:spcAft>
              <a:buFont typeface="Arial" panose="020B0604020202020204" pitchFamily="34" charset="0"/>
              <a:buChar char="•"/>
            </a:pPr>
            <a:r>
              <a:rPr lang="es-MX" sz="2400" dirty="0">
                <a:latin typeface="Calibri" panose="020F0502020204030204" pitchFamily="34" charset="0"/>
                <a:ea typeface="Calibri" panose="020F0502020204030204" pitchFamily="34" charset="0"/>
                <a:cs typeface="Times New Roman" panose="02020603050405020304" pitchFamily="18" charset="0"/>
              </a:rPr>
              <a:t>Para una empresa que produce un bien tipo </a:t>
            </a:r>
            <a:r>
              <a:rPr lang="es-MX" sz="2400" i="1" dirty="0">
                <a:effectLst/>
                <a:latin typeface="Times New Roman" panose="02020603050405020304" pitchFamily="18" charset="0"/>
                <a:ea typeface="Calibri" panose="020F0502020204030204" pitchFamily="34" charset="0"/>
                <a:cs typeface="Times New Roman" panose="02020603050405020304" pitchFamily="18" charset="0"/>
              </a:rPr>
              <a:t>‘i’: </a:t>
            </a:r>
            <a:r>
              <a:rPr lang="es-MX" sz="2400" dirty="0">
                <a:latin typeface="Calibri" panose="020F0502020204030204" pitchFamily="34" charset="0"/>
                <a:ea typeface="Calibri" panose="020F0502020204030204" pitchFamily="34" charset="0"/>
                <a:cs typeface="Times New Roman" panose="02020603050405020304" pitchFamily="18" charset="0"/>
              </a:rPr>
              <a:t> el precio relativo es:</a:t>
            </a:r>
          </a:p>
          <a:p>
            <a:pPr algn="ctr">
              <a:lnSpc>
                <a:spcPct val="100000"/>
              </a:lnSpc>
              <a:spcAft>
                <a:spcPts val="800"/>
              </a:spcAft>
            </a:pPr>
            <a:r>
              <a:rPr lang="es-MX" sz="2400" i="1" dirty="0" err="1">
                <a:effectLst/>
                <a:latin typeface="Times New Roman" panose="02020603050405020304" pitchFamily="18" charset="0"/>
                <a:ea typeface="Calibri" panose="020F0502020204030204" pitchFamily="34" charset="0"/>
                <a:cs typeface="Times New Roman" panose="02020603050405020304" pitchFamily="18" charset="0"/>
              </a:rPr>
              <a:t>r</a:t>
            </a:r>
            <a:r>
              <a:rPr lang="es-MX" sz="2400" i="1" baseline="-25000" dirty="0" err="1">
                <a:effectLst/>
                <a:latin typeface="Times New Roman" panose="02020603050405020304" pitchFamily="18" charset="0"/>
                <a:ea typeface="Calibri" panose="020F0502020204030204" pitchFamily="34" charset="0"/>
                <a:cs typeface="Times New Roman" panose="02020603050405020304" pitchFamily="18" charset="0"/>
              </a:rPr>
              <a:t>i</a:t>
            </a:r>
            <a:r>
              <a:rPr lang="es-MX" sz="2400" i="1" dirty="0">
                <a:effectLst/>
                <a:latin typeface="Times New Roman" panose="02020603050405020304" pitchFamily="18" charset="0"/>
                <a:ea typeface="Calibri" panose="020F0502020204030204" pitchFamily="34" charset="0"/>
                <a:cs typeface="Times New Roman" panose="02020603050405020304" pitchFamily="18" charset="0"/>
              </a:rPr>
              <a:t>=p</a:t>
            </a:r>
            <a:r>
              <a:rPr lang="es-MX" sz="2400" i="1" baseline="-25000" dirty="0">
                <a:effectLst/>
                <a:latin typeface="Times New Roman" panose="02020603050405020304" pitchFamily="18" charset="0"/>
                <a:ea typeface="Calibri" panose="020F0502020204030204" pitchFamily="34" charset="0"/>
                <a:cs typeface="Times New Roman" panose="02020603050405020304" pitchFamily="18" charset="0"/>
              </a:rPr>
              <a:t>i </a:t>
            </a:r>
            <a:r>
              <a:rPr lang="es-MX" sz="2400" i="1" dirty="0">
                <a:effectLst/>
                <a:latin typeface="Times New Roman" panose="02020603050405020304" pitchFamily="18" charset="0"/>
                <a:ea typeface="Calibri" panose="020F0502020204030204" pitchFamily="34" charset="0"/>
                <a:cs typeface="Times New Roman" panose="02020603050405020304" pitchFamily="18" charset="0"/>
              </a:rPr>
              <a:t> - p</a:t>
            </a:r>
          </a:p>
          <a:p>
            <a:pPr marL="263525" indent="-263525" algn="just">
              <a:lnSpc>
                <a:spcPct val="100000"/>
              </a:lnSpc>
              <a:spcAft>
                <a:spcPts val="800"/>
              </a:spcAft>
              <a:buFont typeface="Wingdings" panose="05000000000000000000" pitchFamily="2" charset="2"/>
              <a:buChar char="§"/>
            </a:pPr>
            <a:r>
              <a:rPr lang="es-MX" sz="2400" dirty="0">
                <a:latin typeface="Calibri" panose="020F0502020204030204" pitchFamily="34" charset="0"/>
                <a:ea typeface="Calibri" panose="020F0502020204030204" pitchFamily="34" charset="0"/>
                <a:cs typeface="Times New Roman" panose="02020603050405020304" pitchFamily="18" charset="0"/>
              </a:rPr>
              <a:t>Es el precio de su producto respecto al precio general de la economía</a:t>
            </a:r>
            <a:endParaRPr lang="es-PE" sz="24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8342674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8515435-F762-403E-9B58-07A84C0769EE}"/>
              </a:ext>
            </a:extLst>
          </p:cNvPr>
          <p:cNvSpPr>
            <a:spLocks noGrp="1"/>
          </p:cNvSpPr>
          <p:nvPr>
            <p:ph type="title"/>
          </p:nvPr>
        </p:nvSpPr>
        <p:spPr/>
        <p:txBody>
          <a:bodyPr>
            <a:normAutofit/>
          </a:bodyPr>
          <a:lstStyle/>
          <a:p>
            <a:r>
              <a:rPr lang="es-PE" sz="3600" dirty="0"/>
              <a:t>Crítica de Lucas: </a:t>
            </a:r>
            <a:r>
              <a:rPr lang="es-ES" sz="3600" dirty="0"/>
              <a:t>Información imperfecta y</a:t>
            </a:r>
            <a:br>
              <a:rPr lang="es-ES" sz="3600" dirty="0"/>
            </a:br>
            <a:r>
              <a:rPr lang="es-ES" sz="3600" dirty="0"/>
              <a:t>expectativas racionales</a:t>
            </a:r>
            <a:endParaRPr lang="es-PE" sz="3600" dirty="0"/>
          </a:p>
        </p:txBody>
      </p:sp>
      <p:sp>
        <p:nvSpPr>
          <p:cNvPr id="3" name="Marcador de contenido 2">
            <a:extLst>
              <a:ext uri="{FF2B5EF4-FFF2-40B4-BE49-F238E27FC236}">
                <a16:creationId xmlns:a16="http://schemas.microsoft.com/office/drawing/2014/main" id="{6F2A1652-5969-477E-87D9-900D67333DD8}"/>
              </a:ext>
            </a:extLst>
          </p:cNvPr>
          <p:cNvSpPr>
            <a:spLocks noGrp="1"/>
          </p:cNvSpPr>
          <p:nvPr>
            <p:ph idx="1"/>
          </p:nvPr>
        </p:nvSpPr>
        <p:spPr/>
        <p:txBody>
          <a:bodyPr>
            <a:normAutofit/>
          </a:bodyPr>
          <a:lstStyle/>
          <a:p>
            <a:pPr marL="342900" lvl="0" indent="-342900">
              <a:lnSpc>
                <a:spcPct val="150000"/>
              </a:lnSpc>
              <a:spcAft>
                <a:spcPts val="800"/>
              </a:spcAft>
              <a:buFont typeface="Symbol" panose="05050102010706020507" pitchFamily="18" charset="2"/>
              <a:buChar char=""/>
            </a:pPr>
            <a:r>
              <a:rPr lang="es-MX" sz="2400" dirty="0">
                <a:effectLst/>
                <a:latin typeface="Calibri" panose="020F0502020204030204" pitchFamily="34" charset="0"/>
                <a:ea typeface="Calibri" panose="020F0502020204030204" pitchFamily="34" charset="0"/>
                <a:cs typeface="Times New Roman" panose="02020603050405020304" pitchFamily="18" charset="0"/>
              </a:rPr>
              <a:t>La información imperfecta consiste en que las empresas observan </a:t>
            </a:r>
            <a:r>
              <a:rPr lang="es-MX" sz="2400" b="1" i="1" dirty="0">
                <a:effectLst/>
                <a:latin typeface="Times New Roman" panose="02020603050405020304" pitchFamily="18" charset="0"/>
                <a:ea typeface="Calibri" panose="020F0502020204030204" pitchFamily="34" charset="0"/>
                <a:cs typeface="Times New Roman" panose="02020603050405020304" pitchFamily="18" charset="0"/>
              </a:rPr>
              <a:t>p</a:t>
            </a:r>
            <a:r>
              <a:rPr lang="es-MX" sz="2400" b="1" i="1" baseline="-25000" dirty="0">
                <a:effectLst/>
                <a:latin typeface="Times New Roman" panose="02020603050405020304" pitchFamily="18" charset="0"/>
                <a:ea typeface="Calibri" panose="020F0502020204030204" pitchFamily="34" charset="0"/>
                <a:cs typeface="Times New Roman" panose="02020603050405020304" pitchFamily="18" charset="0"/>
              </a:rPr>
              <a:t>i</a:t>
            </a:r>
            <a:r>
              <a:rPr lang="es-MX" sz="2400" dirty="0">
                <a:effectLst/>
                <a:latin typeface="Calibri" panose="020F0502020204030204" pitchFamily="34" charset="0"/>
                <a:ea typeface="Calibri" panose="020F0502020204030204" pitchFamily="34" charset="0"/>
                <a:cs typeface="Times New Roman" panose="02020603050405020304" pitchFamily="18" charset="0"/>
              </a:rPr>
              <a:t> pero no observan el </a:t>
            </a:r>
            <a:r>
              <a:rPr lang="es-MX" sz="2400" b="1" dirty="0">
                <a:effectLst/>
                <a:latin typeface="Calibri" panose="020F0502020204030204" pitchFamily="34" charset="0"/>
                <a:ea typeface="Calibri" panose="020F0502020204030204" pitchFamily="34" charset="0"/>
                <a:cs typeface="Times New Roman" panose="02020603050405020304" pitchFamily="18" charset="0"/>
              </a:rPr>
              <a:t>nivel general de precios </a:t>
            </a:r>
            <a:r>
              <a:rPr lang="es-MX" sz="2400" b="1" i="1" dirty="0">
                <a:effectLst/>
                <a:latin typeface="Times New Roman" panose="02020603050405020304" pitchFamily="18" charset="0"/>
                <a:ea typeface="Calibri" panose="020F0502020204030204" pitchFamily="34" charset="0"/>
                <a:cs typeface="Times New Roman" panose="02020603050405020304" pitchFamily="18" charset="0"/>
              </a:rPr>
              <a:t>p</a:t>
            </a:r>
            <a:r>
              <a:rPr lang="es-MX" sz="2400" dirty="0">
                <a:effectLst/>
                <a:latin typeface="Calibri" panose="020F0502020204030204" pitchFamily="34" charset="0"/>
                <a:ea typeface="Calibri" panose="020F0502020204030204" pitchFamily="34" charset="0"/>
                <a:cs typeface="Times New Roman" panose="02020603050405020304" pitchFamily="18" charset="0"/>
              </a:rPr>
              <a:t>.</a:t>
            </a:r>
            <a:endParaRPr lang="es-PE" sz="24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spcAft>
                <a:spcPts val="800"/>
              </a:spcAft>
              <a:buFont typeface="Symbol" panose="05050102010706020507" pitchFamily="18" charset="2"/>
              <a:buChar char=""/>
            </a:pPr>
            <a:r>
              <a:rPr lang="es-MX" sz="2400" dirty="0">
                <a:effectLst/>
                <a:latin typeface="Calibri" panose="020F0502020204030204" pitchFamily="34" charset="0"/>
                <a:ea typeface="Calibri" panose="020F0502020204030204" pitchFamily="34" charset="0"/>
                <a:cs typeface="Times New Roman" panose="02020603050405020304" pitchFamily="18" charset="0"/>
              </a:rPr>
              <a:t>Cuando hay cambios en el </a:t>
            </a:r>
            <a:r>
              <a:rPr lang="es-MX" sz="2400" b="1" dirty="0">
                <a:effectLst/>
                <a:latin typeface="Calibri" panose="020F0502020204030204" pitchFamily="34" charset="0"/>
                <a:ea typeface="Calibri" panose="020F0502020204030204" pitchFamily="34" charset="0"/>
                <a:cs typeface="Times New Roman" panose="02020603050405020304" pitchFamily="18" charset="0"/>
              </a:rPr>
              <a:t>precio relativo del producto de una empresa </a:t>
            </a:r>
            <a:r>
              <a:rPr lang="es-MX" sz="2400" b="1" i="1" dirty="0" err="1">
                <a:effectLst/>
                <a:latin typeface="Times New Roman" panose="02020603050405020304" pitchFamily="18" charset="0"/>
                <a:ea typeface="Calibri" panose="020F0502020204030204" pitchFamily="34" charset="0"/>
                <a:cs typeface="Times New Roman" panose="02020603050405020304" pitchFamily="18" charset="0"/>
              </a:rPr>
              <a:t>r</a:t>
            </a:r>
            <a:r>
              <a:rPr lang="es-MX" sz="2400" b="1" i="1" baseline="-25000" dirty="0" err="1">
                <a:effectLst/>
                <a:latin typeface="Times New Roman" panose="02020603050405020304" pitchFamily="18" charset="0"/>
                <a:ea typeface="Calibri" panose="020F0502020204030204" pitchFamily="34" charset="0"/>
                <a:cs typeface="Times New Roman" panose="02020603050405020304" pitchFamily="18" charset="0"/>
              </a:rPr>
              <a:t>i</a:t>
            </a:r>
            <a:r>
              <a:rPr lang="es-MX" sz="2400" dirty="0">
                <a:effectLst/>
                <a:latin typeface="Calibri" panose="020F0502020204030204" pitchFamily="34" charset="0"/>
                <a:ea typeface="Calibri" panose="020F0502020204030204" pitchFamily="34" charset="0"/>
                <a:cs typeface="Times New Roman" panose="02020603050405020304" pitchFamily="18" charset="0"/>
              </a:rPr>
              <a:t> </a:t>
            </a:r>
            <a:r>
              <a:rPr lang="es-MX" sz="2400" dirty="0">
                <a:effectLst/>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 la empresa d</a:t>
            </a:r>
            <a:r>
              <a:rPr lang="es-MX" sz="2400" dirty="0">
                <a:effectLst/>
                <a:latin typeface="Calibri" panose="020F0502020204030204" pitchFamily="34" charset="0"/>
                <a:ea typeface="Calibri" panose="020F0502020204030204" pitchFamily="34" charset="0"/>
                <a:cs typeface="Times New Roman" panose="02020603050405020304" pitchFamily="18" charset="0"/>
              </a:rPr>
              <a:t>ebe decidir y determinar si este cambio se debe al nivel general de precios o a su precio relativo.</a:t>
            </a:r>
            <a:endParaRPr lang="es-PE" sz="2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pPr>
            <a:endParaRPr lang="es-PE" sz="2400" dirty="0"/>
          </a:p>
        </p:txBody>
      </p:sp>
    </p:spTree>
    <p:extLst>
      <p:ext uri="{BB962C8B-B14F-4D97-AF65-F5344CB8AC3E}">
        <p14:creationId xmlns:p14="http://schemas.microsoft.com/office/powerpoint/2010/main" val="11886228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8820438-10AF-4423-A2E3-3357A3E43556}"/>
              </a:ext>
            </a:extLst>
          </p:cNvPr>
          <p:cNvSpPr>
            <a:spLocks noGrp="1"/>
          </p:cNvSpPr>
          <p:nvPr>
            <p:ph type="title"/>
          </p:nvPr>
        </p:nvSpPr>
        <p:spPr/>
        <p:txBody>
          <a:bodyPr>
            <a:normAutofit/>
          </a:bodyPr>
          <a:lstStyle/>
          <a:p>
            <a:r>
              <a:rPr lang="es-PE" sz="3600" dirty="0"/>
              <a:t>Crítica de Lucas: </a:t>
            </a:r>
            <a:r>
              <a:rPr lang="es-ES" sz="3600" dirty="0"/>
              <a:t>Información imperfecta y</a:t>
            </a:r>
            <a:br>
              <a:rPr lang="es-ES" sz="3600" dirty="0"/>
            </a:br>
            <a:r>
              <a:rPr lang="es-ES" sz="3600" dirty="0"/>
              <a:t>expectativas racionales</a:t>
            </a:r>
            <a:endParaRPr lang="es-PE" sz="3600" dirty="0"/>
          </a:p>
        </p:txBody>
      </p:sp>
      <p:sp>
        <p:nvSpPr>
          <p:cNvPr id="3" name="Marcador de contenido 2">
            <a:extLst>
              <a:ext uri="{FF2B5EF4-FFF2-40B4-BE49-F238E27FC236}">
                <a16:creationId xmlns:a16="http://schemas.microsoft.com/office/drawing/2014/main" id="{A7F23387-7AAF-4F7A-8A16-F424177DE31D}"/>
              </a:ext>
            </a:extLst>
          </p:cNvPr>
          <p:cNvSpPr>
            <a:spLocks noGrp="1"/>
          </p:cNvSpPr>
          <p:nvPr>
            <p:ph idx="1"/>
          </p:nvPr>
        </p:nvSpPr>
        <p:spPr/>
        <p:txBody>
          <a:bodyPr>
            <a:normAutofit fontScale="92500"/>
          </a:bodyPr>
          <a:lstStyle/>
          <a:p>
            <a:pPr marL="342900" lvl="0" indent="-342900">
              <a:lnSpc>
                <a:spcPct val="150000"/>
              </a:lnSpc>
              <a:buFont typeface="Symbol" panose="05050102010706020507" pitchFamily="18" charset="2"/>
              <a:buChar char=""/>
            </a:pPr>
            <a:r>
              <a:rPr lang="es-MX" sz="2400" dirty="0">
                <a:effectLst/>
                <a:latin typeface="Calibri" panose="020F0502020204030204" pitchFamily="34" charset="0"/>
                <a:ea typeface="Calibri" panose="020F0502020204030204" pitchFamily="34" charset="0"/>
                <a:cs typeface="Times New Roman" panose="02020603050405020304" pitchFamily="18" charset="0"/>
              </a:rPr>
              <a:t>Si hubiera información perfecta y hay un aumento en la cantidad de dinero que genera un shock inflacionario</a:t>
            </a:r>
            <a:r>
              <a:rPr lang="es-MX" sz="2400" dirty="0">
                <a:latin typeface="Calibri" panose="020F0502020204030204" pitchFamily="34" charset="0"/>
                <a:ea typeface="Calibri" panose="020F0502020204030204" pitchFamily="34" charset="0"/>
                <a:cs typeface="Times New Roman" panose="02020603050405020304" pitchFamily="18" charset="0"/>
              </a:rPr>
              <a:t> </a:t>
            </a:r>
            <a:r>
              <a:rPr lang="es-MX" sz="2400" dirty="0">
                <a:effectLst/>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a:t>
            </a:r>
            <a:r>
              <a:rPr lang="es-MX" sz="2400" dirty="0">
                <a:effectLst/>
                <a:latin typeface="Calibri" panose="020F0502020204030204" pitchFamily="34" charset="0"/>
                <a:ea typeface="Calibri" panose="020F0502020204030204" pitchFamily="34" charset="0"/>
                <a:cs typeface="Times New Roman" panose="02020603050405020304" pitchFamily="18" charset="0"/>
              </a:rPr>
              <a:t> el nivel general de precios </a:t>
            </a:r>
            <a:r>
              <a:rPr lang="es-MX" sz="2400" i="1" dirty="0">
                <a:effectLst/>
                <a:latin typeface="Times New Roman" panose="02020603050405020304" pitchFamily="18" charset="0"/>
                <a:ea typeface="Calibri" panose="020F0502020204030204" pitchFamily="34" charset="0"/>
                <a:cs typeface="Times New Roman" panose="02020603050405020304" pitchFamily="18" charset="0"/>
              </a:rPr>
              <a:t>p</a:t>
            </a:r>
            <a:r>
              <a:rPr lang="es-MX" sz="2400" dirty="0">
                <a:effectLst/>
                <a:latin typeface="Calibri" panose="020F0502020204030204" pitchFamily="34" charset="0"/>
                <a:ea typeface="Calibri" panose="020F0502020204030204" pitchFamily="34" charset="0"/>
                <a:cs typeface="Times New Roman" panose="02020603050405020304" pitchFamily="18" charset="0"/>
              </a:rPr>
              <a:t> aumenta junto a todos los precios </a:t>
            </a:r>
            <a:r>
              <a:rPr lang="es-MX" sz="2400" i="1" dirty="0">
                <a:effectLst/>
                <a:latin typeface="Times New Roman" panose="02020603050405020304" pitchFamily="18" charset="0"/>
                <a:ea typeface="Calibri" panose="020F0502020204030204" pitchFamily="34" charset="0"/>
                <a:cs typeface="Times New Roman" panose="02020603050405020304" pitchFamily="18" charset="0"/>
              </a:rPr>
              <a:t>p</a:t>
            </a:r>
            <a:r>
              <a:rPr lang="es-MX" sz="2400" i="1" baseline="-25000" dirty="0">
                <a:effectLst/>
                <a:latin typeface="Times New Roman" panose="02020603050405020304" pitchFamily="18" charset="0"/>
                <a:ea typeface="Calibri" panose="020F0502020204030204" pitchFamily="34" charset="0"/>
                <a:cs typeface="Times New Roman" panose="02020603050405020304" pitchFamily="18" charset="0"/>
              </a:rPr>
              <a:t>i</a:t>
            </a:r>
            <a:r>
              <a:rPr lang="es-MX" sz="2400" dirty="0">
                <a:effectLst/>
                <a:latin typeface="Calibri" panose="020F0502020204030204" pitchFamily="34" charset="0"/>
                <a:ea typeface="Calibri" panose="020F0502020204030204" pitchFamily="34" charset="0"/>
                <a:cs typeface="Times New Roman" panose="02020603050405020304" pitchFamily="18" charset="0"/>
              </a:rPr>
              <a:t> y la oferta no cambia (el dinero sería neutral).</a:t>
            </a:r>
            <a:endParaRPr lang="es-PE"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spcAft>
                <a:spcPts val="800"/>
              </a:spcAft>
              <a:buFont typeface="Symbol" panose="05050102010706020507" pitchFamily="18" charset="2"/>
              <a:buChar char=""/>
            </a:pPr>
            <a:r>
              <a:rPr lang="es-MX" sz="2400" dirty="0">
                <a:effectLst/>
                <a:latin typeface="Calibri" panose="020F0502020204030204" pitchFamily="34" charset="0"/>
                <a:ea typeface="Calibri" panose="020F0502020204030204" pitchFamily="34" charset="0"/>
                <a:cs typeface="Times New Roman" panose="02020603050405020304" pitchFamily="18" charset="0"/>
              </a:rPr>
              <a:t>De otro lado, si </a:t>
            </a:r>
            <a:r>
              <a:rPr lang="es-MX" sz="2400" i="1" dirty="0">
                <a:effectLst/>
                <a:latin typeface="Times New Roman" panose="02020603050405020304" pitchFamily="18" charset="0"/>
                <a:ea typeface="Calibri" panose="020F0502020204030204" pitchFamily="34" charset="0"/>
                <a:cs typeface="Times New Roman" panose="02020603050405020304" pitchFamily="18" charset="0"/>
              </a:rPr>
              <a:t>p</a:t>
            </a:r>
            <a:r>
              <a:rPr lang="es-MX" sz="2400" i="1" baseline="-25000" dirty="0">
                <a:effectLst/>
                <a:latin typeface="Times New Roman" panose="02020603050405020304" pitchFamily="18" charset="0"/>
                <a:ea typeface="Calibri" panose="020F0502020204030204" pitchFamily="34" charset="0"/>
                <a:cs typeface="Times New Roman" panose="02020603050405020304" pitchFamily="18" charset="0"/>
              </a:rPr>
              <a:t>i</a:t>
            </a:r>
            <a:r>
              <a:rPr lang="es-MX" sz="2400" dirty="0">
                <a:effectLst/>
                <a:latin typeface="Calibri" panose="020F0502020204030204" pitchFamily="34" charset="0"/>
                <a:ea typeface="Calibri" panose="020F0502020204030204" pitchFamily="34" charset="0"/>
                <a:cs typeface="Times New Roman" panose="02020603050405020304" pitchFamily="18" charset="0"/>
              </a:rPr>
              <a:t> cambia y </a:t>
            </a:r>
            <a:r>
              <a:rPr lang="es-MX" sz="2400" i="1" dirty="0">
                <a:effectLst/>
                <a:latin typeface="Times New Roman" panose="02020603050405020304" pitchFamily="18" charset="0"/>
                <a:ea typeface="Calibri" panose="020F0502020204030204" pitchFamily="34" charset="0"/>
                <a:cs typeface="Times New Roman" panose="02020603050405020304" pitchFamily="18" charset="0"/>
              </a:rPr>
              <a:t>p</a:t>
            </a:r>
            <a:r>
              <a:rPr lang="es-MX" sz="2400" dirty="0">
                <a:effectLst/>
                <a:latin typeface="Calibri" panose="020F0502020204030204" pitchFamily="34" charset="0"/>
                <a:ea typeface="Calibri" panose="020F0502020204030204" pitchFamily="34" charset="0"/>
                <a:cs typeface="Times New Roman" panose="02020603050405020304" pitchFamily="18" charset="0"/>
              </a:rPr>
              <a:t> permanece constante, </a:t>
            </a:r>
          </a:p>
          <a:p>
            <a:pPr marL="635508" lvl="1" indent="-342900">
              <a:lnSpc>
                <a:spcPct val="150000"/>
              </a:lnSpc>
              <a:spcAft>
                <a:spcPts val="800"/>
              </a:spcAft>
              <a:buFont typeface="Symbol" panose="05050102010706020507" pitchFamily="18" charset="2"/>
              <a:buChar char=""/>
            </a:pPr>
            <a:r>
              <a:rPr lang="es-MX" sz="2400" dirty="0">
                <a:effectLst/>
                <a:latin typeface="Calibri" panose="020F0502020204030204" pitchFamily="34" charset="0"/>
                <a:ea typeface="Calibri" panose="020F0502020204030204" pitchFamily="34" charset="0"/>
                <a:cs typeface="Times New Roman" panose="02020603050405020304" pitchFamily="18" charset="0"/>
              </a:rPr>
              <a:t>las empresas para las cuales el precio aumentó suben su producción; </a:t>
            </a:r>
          </a:p>
          <a:p>
            <a:pPr marL="635508" lvl="1" indent="-342900">
              <a:lnSpc>
                <a:spcPct val="150000"/>
              </a:lnSpc>
              <a:spcAft>
                <a:spcPts val="800"/>
              </a:spcAft>
              <a:buFont typeface="Symbol" panose="05050102010706020507" pitchFamily="18" charset="2"/>
              <a:buChar char=""/>
            </a:pPr>
            <a:r>
              <a:rPr lang="es-MX" sz="2400" dirty="0">
                <a:latin typeface="Calibri" panose="020F0502020204030204" pitchFamily="34" charset="0"/>
                <a:ea typeface="Calibri" panose="020F0502020204030204" pitchFamily="34" charset="0"/>
                <a:cs typeface="Times New Roman" panose="02020603050405020304" pitchFamily="18" charset="0"/>
              </a:rPr>
              <a:t>l</a:t>
            </a:r>
            <a:r>
              <a:rPr lang="es-MX" sz="2400" dirty="0">
                <a:effectLst/>
                <a:latin typeface="Calibri" panose="020F0502020204030204" pitchFamily="34" charset="0"/>
                <a:ea typeface="Calibri" panose="020F0502020204030204" pitchFamily="34" charset="0"/>
                <a:cs typeface="Times New Roman" panose="02020603050405020304" pitchFamily="18" charset="0"/>
              </a:rPr>
              <a:t>as otras empresas para las que el precio (relativo) baja reducirán su producción.</a:t>
            </a:r>
            <a:endParaRPr lang="es-PE" sz="24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1104534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8820438-10AF-4423-A2E3-3357A3E43556}"/>
              </a:ext>
            </a:extLst>
          </p:cNvPr>
          <p:cNvSpPr>
            <a:spLocks noGrp="1"/>
          </p:cNvSpPr>
          <p:nvPr>
            <p:ph type="title"/>
          </p:nvPr>
        </p:nvSpPr>
        <p:spPr/>
        <p:txBody>
          <a:bodyPr>
            <a:normAutofit/>
          </a:bodyPr>
          <a:lstStyle/>
          <a:p>
            <a:r>
              <a:rPr lang="es-PE" sz="3600" dirty="0"/>
              <a:t>Crítica de Lucas: </a:t>
            </a:r>
            <a:r>
              <a:rPr lang="es-ES" sz="3600" dirty="0"/>
              <a:t>Información imperfecta y</a:t>
            </a:r>
            <a:br>
              <a:rPr lang="es-ES" sz="3600" dirty="0"/>
            </a:br>
            <a:r>
              <a:rPr lang="es-ES" sz="3600" dirty="0"/>
              <a:t>expectativas racionales</a:t>
            </a:r>
            <a:endParaRPr lang="es-PE" sz="3600" dirty="0"/>
          </a:p>
        </p:txBody>
      </p:sp>
      <p:sp>
        <p:nvSpPr>
          <p:cNvPr id="3" name="Marcador de contenido 2">
            <a:extLst>
              <a:ext uri="{FF2B5EF4-FFF2-40B4-BE49-F238E27FC236}">
                <a16:creationId xmlns:a16="http://schemas.microsoft.com/office/drawing/2014/main" id="{A7F23387-7AAF-4F7A-8A16-F424177DE31D}"/>
              </a:ext>
            </a:extLst>
          </p:cNvPr>
          <p:cNvSpPr>
            <a:spLocks noGrp="1"/>
          </p:cNvSpPr>
          <p:nvPr>
            <p:ph idx="1"/>
          </p:nvPr>
        </p:nvSpPr>
        <p:spPr/>
        <p:txBody>
          <a:bodyPr>
            <a:normAutofit/>
          </a:bodyPr>
          <a:lstStyle/>
          <a:p>
            <a:pPr marL="342900" lvl="0" indent="-342900">
              <a:lnSpc>
                <a:spcPct val="150000"/>
              </a:lnSpc>
              <a:spcAft>
                <a:spcPts val="800"/>
              </a:spcAft>
              <a:buFont typeface="Symbol" panose="05050102010706020507" pitchFamily="18" charset="2"/>
              <a:buChar char=""/>
            </a:pPr>
            <a:r>
              <a:rPr lang="es-MX" sz="2400" dirty="0">
                <a:effectLst/>
                <a:latin typeface="Calibri" panose="020F0502020204030204" pitchFamily="34" charset="0"/>
                <a:ea typeface="Calibri" panose="020F0502020204030204" pitchFamily="34" charset="0"/>
                <a:cs typeface="Times New Roman" panose="02020603050405020304" pitchFamily="18" charset="0"/>
              </a:rPr>
              <a:t>En consecuencia, frente a cambios en precios relativos, la economía cambia su producción, en particular su composición, pero la causa es un fenómeno real (</a:t>
            </a:r>
            <a:r>
              <a:rPr lang="es-MX" sz="2400" dirty="0" err="1">
                <a:effectLst/>
                <a:latin typeface="Calibri" panose="020F0502020204030204" pitchFamily="34" charset="0"/>
                <a:ea typeface="Calibri" panose="020F0502020204030204" pitchFamily="34" charset="0"/>
                <a:cs typeface="Times New Roman" panose="02020603050405020304" pitchFamily="18" charset="0"/>
              </a:rPr>
              <a:t>p.e</a:t>
            </a:r>
            <a:r>
              <a:rPr lang="es-MX" sz="2400" dirty="0">
                <a:effectLst/>
                <a:latin typeface="Calibri" panose="020F0502020204030204" pitchFamily="34" charset="0"/>
                <a:ea typeface="Calibri" panose="020F0502020204030204" pitchFamily="34" charset="0"/>
                <a:cs typeface="Times New Roman" panose="02020603050405020304" pitchFamily="18" charset="0"/>
              </a:rPr>
              <a:t>. por un cambio en preferencia entre bienes y servicios).</a:t>
            </a:r>
            <a:endParaRPr lang="es-PE" sz="2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pPr>
            <a:endParaRPr lang="es-PE" sz="2400" dirty="0"/>
          </a:p>
        </p:txBody>
      </p:sp>
    </p:spTree>
    <p:extLst>
      <p:ext uri="{BB962C8B-B14F-4D97-AF65-F5344CB8AC3E}">
        <p14:creationId xmlns:p14="http://schemas.microsoft.com/office/powerpoint/2010/main" val="21080260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50EDD81-5688-4BCC-812E-DE9ADC742482}"/>
              </a:ext>
            </a:extLst>
          </p:cNvPr>
          <p:cNvSpPr>
            <a:spLocks noGrp="1"/>
          </p:cNvSpPr>
          <p:nvPr>
            <p:ph type="title"/>
          </p:nvPr>
        </p:nvSpPr>
        <p:spPr/>
        <p:txBody>
          <a:bodyPr>
            <a:normAutofit/>
          </a:bodyPr>
          <a:lstStyle/>
          <a:p>
            <a:r>
              <a:rPr lang="es-PE" sz="3600" dirty="0"/>
              <a:t>Crítica de Lucas: </a:t>
            </a:r>
            <a:r>
              <a:rPr lang="es-ES" sz="3600" dirty="0"/>
              <a:t>Información imperfecta y</a:t>
            </a:r>
            <a:br>
              <a:rPr lang="es-ES" sz="3600" dirty="0"/>
            </a:br>
            <a:r>
              <a:rPr lang="es-ES" sz="3600" dirty="0"/>
              <a:t>expectativas racionales</a:t>
            </a:r>
            <a:endParaRPr lang="es-PE" sz="3600" dirty="0"/>
          </a:p>
        </p:txBody>
      </p:sp>
      <p:sp>
        <p:nvSpPr>
          <p:cNvPr id="3" name="Marcador de contenido 2">
            <a:extLst>
              <a:ext uri="{FF2B5EF4-FFF2-40B4-BE49-F238E27FC236}">
                <a16:creationId xmlns:a16="http://schemas.microsoft.com/office/drawing/2014/main" id="{E9CEA1DE-364C-4DEA-8E55-C9F01952AA90}"/>
              </a:ext>
            </a:extLst>
          </p:cNvPr>
          <p:cNvSpPr>
            <a:spLocks noGrp="1"/>
          </p:cNvSpPr>
          <p:nvPr>
            <p:ph idx="1"/>
          </p:nvPr>
        </p:nvSpPr>
        <p:spPr/>
        <p:txBody>
          <a:bodyPr>
            <a:normAutofit fontScale="92500"/>
          </a:bodyPr>
          <a:lstStyle/>
          <a:p>
            <a:pPr marL="357188" indent="-357188">
              <a:lnSpc>
                <a:spcPct val="150000"/>
              </a:lnSpc>
              <a:buFont typeface="Wingdings" panose="05000000000000000000" pitchFamily="2" charset="2"/>
              <a:buChar char="§"/>
            </a:pPr>
            <a:r>
              <a:rPr lang="es-MX" sz="2400" dirty="0">
                <a:effectLst/>
                <a:latin typeface="Calibri" panose="020F0502020204030204" pitchFamily="34" charset="0"/>
                <a:ea typeface="Calibri" panose="020F0502020204030204" pitchFamily="34" charset="0"/>
                <a:cs typeface="Times New Roman" panose="02020603050405020304" pitchFamily="18" charset="0"/>
              </a:rPr>
              <a:t>En el </a:t>
            </a:r>
            <a:r>
              <a:rPr lang="es-MX" sz="2400" b="1" u="sng" dirty="0">
                <a:effectLst/>
                <a:latin typeface="Calibri" panose="020F0502020204030204" pitchFamily="34" charset="0"/>
                <a:ea typeface="Calibri" panose="020F0502020204030204" pitchFamily="34" charset="0"/>
                <a:cs typeface="Times New Roman" panose="02020603050405020304" pitchFamily="18" charset="0"/>
              </a:rPr>
              <a:t>modelo de Lucas</a:t>
            </a:r>
            <a:r>
              <a:rPr lang="es-MX" sz="2400" dirty="0">
                <a:effectLst/>
                <a:latin typeface="Calibri" panose="020F0502020204030204" pitchFamily="34" charset="0"/>
                <a:ea typeface="Calibri" panose="020F0502020204030204" pitchFamily="34" charset="0"/>
                <a:cs typeface="Times New Roman" panose="02020603050405020304" pitchFamily="18" charset="0"/>
              </a:rPr>
              <a:t>, se asume que las empresas son </a:t>
            </a:r>
            <a:r>
              <a:rPr lang="es-MX" sz="2400" b="1" u="sng" dirty="0">
                <a:effectLst/>
                <a:latin typeface="Calibri" panose="020F0502020204030204" pitchFamily="34" charset="0"/>
                <a:ea typeface="Calibri" panose="020F0502020204030204" pitchFamily="34" charset="0"/>
                <a:cs typeface="Times New Roman" panose="02020603050405020304" pitchFamily="18" charset="0"/>
              </a:rPr>
              <a:t>tomadoras de precios</a:t>
            </a:r>
            <a:r>
              <a:rPr lang="es-MX" sz="2400" b="1" u="sng" dirty="0">
                <a:latin typeface="Calibri" panose="020F0502020204030204" pitchFamily="34" charset="0"/>
                <a:ea typeface="Calibri" panose="020F0502020204030204" pitchFamily="34" charset="0"/>
                <a:cs typeface="Times New Roman" panose="02020603050405020304" pitchFamily="18" charset="0"/>
              </a:rPr>
              <a:t>.</a:t>
            </a:r>
          </a:p>
          <a:p>
            <a:pPr marL="357188" indent="-357188">
              <a:lnSpc>
                <a:spcPct val="150000"/>
              </a:lnSpc>
              <a:buFont typeface="Wingdings" panose="05000000000000000000" pitchFamily="2" charset="2"/>
              <a:buChar char="§"/>
            </a:pPr>
            <a:r>
              <a:rPr lang="es-MX" sz="2400" dirty="0">
                <a:effectLst/>
                <a:latin typeface="Calibri" panose="020F0502020204030204" pitchFamily="34" charset="0"/>
                <a:ea typeface="Calibri" panose="020F0502020204030204" pitchFamily="34" charset="0"/>
                <a:cs typeface="Times New Roman" panose="02020603050405020304" pitchFamily="18" charset="0"/>
              </a:rPr>
              <a:t>Con información imperfecta, las empresas extraen las “señales” con las cuales forman sus expectativas sobre el nivel </a:t>
            </a:r>
            <a:r>
              <a:rPr lang="es-MX" sz="2400" dirty="0">
                <a:latin typeface="Calibri" panose="020F0502020204030204" pitchFamily="34" charset="0"/>
                <a:ea typeface="Calibri" panose="020F0502020204030204" pitchFamily="34" charset="0"/>
                <a:cs typeface="Times New Roman" panose="02020603050405020304" pitchFamily="18" charset="0"/>
              </a:rPr>
              <a:t>general </a:t>
            </a:r>
            <a:r>
              <a:rPr lang="es-MX" sz="2400" dirty="0">
                <a:effectLst/>
                <a:latin typeface="Calibri" panose="020F0502020204030204" pitchFamily="34" charset="0"/>
                <a:ea typeface="Calibri" panose="020F0502020204030204" pitchFamily="34" charset="0"/>
                <a:cs typeface="Times New Roman" panose="02020603050405020304" pitchFamily="18" charset="0"/>
              </a:rPr>
              <a:t>de precio </a:t>
            </a:r>
            <a:r>
              <a:rPr lang="es-MX" sz="2400" i="1" dirty="0">
                <a:effectLst/>
                <a:latin typeface="Times New Roman" panose="02020603050405020304" pitchFamily="18" charset="0"/>
                <a:ea typeface="Calibri" panose="020F0502020204030204" pitchFamily="34" charset="0"/>
                <a:cs typeface="Times New Roman" panose="02020603050405020304" pitchFamily="18" charset="0"/>
              </a:rPr>
              <a:t>p</a:t>
            </a:r>
            <a:r>
              <a:rPr lang="es-MX" sz="2400" i="1" baseline="30000" dirty="0">
                <a:effectLst/>
                <a:latin typeface="Times New Roman" panose="02020603050405020304" pitchFamily="18" charset="0"/>
                <a:ea typeface="Calibri" panose="020F0502020204030204" pitchFamily="34" charset="0"/>
                <a:cs typeface="Times New Roman" panose="02020603050405020304" pitchFamily="18" charset="0"/>
              </a:rPr>
              <a:t>e</a:t>
            </a:r>
            <a:r>
              <a:rPr lang="es-MX" sz="2400" dirty="0">
                <a:effectLst/>
                <a:latin typeface="Calibri" panose="020F0502020204030204" pitchFamily="34" charset="0"/>
                <a:ea typeface="Calibri" panose="020F0502020204030204" pitchFamily="34" charset="0"/>
                <a:cs typeface="Times New Roman" panose="02020603050405020304" pitchFamily="18" charset="0"/>
              </a:rPr>
              <a:t>.</a:t>
            </a:r>
          </a:p>
          <a:p>
            <a:pPr marL="357188" indent="-357188">
              <a:lnSpc>
                <a:spcPct val="150000"/>
              </a:lnSpc>
              <a:buFont typeface="Wingdings" panose="05000000000000000000" pitchFamily="2" charset="2"/>
              <a:buChar char="§"/>
            </a:pPr>
            <a:r>
              <a:rPr lang="es-MX" sz="2400" dirty="0">
                <a:effectLst/>
                <a:latin typeface="Calibri" panose="020F0502020204030204" pitchFamily="34" charset="0"/>
                <a:ea typeface="Calibri" panose="020F0502020204030204" pitchFamily="34" charset="0"/>
                <a:cs typeface="Times New Roman" panose="02020603050405020304" pitchFamily="18" charset="0"/>
              </a:rPr>
              <a:t>Se modelan los </a:t>
            </a:r>
            <a:r>
              <a:rPr lang="es-MX" sz="2400" b="1" dirty="0">
                <a:effectLst/>
                <a:latin typeface="Calibri" panose="020F0502020204030204" pitchFamily="34" charset="0"/>
                <a:ea typeface="Calibri" panose="020F0502020204030204" pitchFamily="34" charset="0"/>
                <a:cs typeface="Times New Roman" panose="02020603050405020304" pitchFamily="18" charset="0"/>
              </a:rPr>
              <a:t>precios esperados </a:t>
            </a:r>
            <a:r>
              <a:rPr lang="es-MX" sz="2400" b="1" i="1" dirty="0">
                <a:effectLst/>
                <a:latin typeface="Times New Roman" panose="02020603050405020304" pitchFamily="18" charset="0"/>
                <a:ea typeface="Calibri" panose="020F0502020204030204" pitchFamily="34" charset="0"/>
                <a:cs typeface="Times New Roman" panose="02020603050405020304" pitchFamily="18" charset="0"/>
              </a:rPr>
              <a:t>p</a:t>
            </a:r>
            <a:r>
              <a:rPr lang="es-MX" sz="2400" b="1" i="1" baseline="30000" dirty="0">
                <a:effectLst/>
                <a:latin typeface="Times New Roman" panose="02020603050405020304" pitchFamily="18" charset="0"/>
                <a:ea typeface="Calibri" panose="020F0502020204030204" pitchFamily="34" charset="0"/>
                <a:cs typeface="Times New Roman" panose="02020603050405020304" pitchFamily="18" charset="0"/>
              </a:rPr>
              <a:t>e</a:t>
            </a:r>
            <a:r>
              <a:rPr lang="es-MX" sz="2400" dirty="0">
                <a:effectLst/>
                <a:latin typeface="Calibri" panose="020F0502020204030204" pitchFamily="34" charset="0"/>
                <a:ea typeface="Calibri" panose="020F0502020204030204" pitchFamily="34" charset="0"/>
                <a:cs typeface="Times New Roman" panose="02020603050405020304" pitchFamily="18" charset="0"/>
              </a:rPr>
              <a:t> como una función lineal del precio del bien </a:t>
            </a:r>
            <a:r>
              <a:rPr lang="es-MX" sz="2400" i="1" dirty="0">
                <a:effectLst/>
                <a:latin typeface="Times New Roman" panose="02020603050405020304" pitchFamily="18" charset="0"/>
                <a:ea typeface="Calibri" panose="020F0502020204030204" pitchFamily="34" charset="0"/>
                <a:cs typeface="Times New Roman" panose="02020603050405020304" pitchFamily="18" charset="0"/>
              </a:rPr>
              <a:t>i</a:t>
            </a:r>
            <a:endParaRPr lang="es-PE" sz="2400" i="1" dirty="0">
              <a:effectLst/>
              <a:latin typeface="Times New Roman" panose="02020603050405020304" pitchFamily="18" charset="0"/>
              <a:ea typeface="Calibri" panose="020F0502020204030204" pitchFamily="34" charset="0"/>
              <a:cs typeface="Times New Roman" panose="02020603050405020304" pitchFamily="18" charset="0"/>
            </a:endParaRPr>
          </a:p>
          <a:p>
            <a:pPr marL="228600" algn="ctr">
              <a:lnSpc>
                <a:spcPct val="150000"/>
              </a:lnSpc>
              <a:spcAft>
                <a:spcPts val="800"/>
              </a:spcAft>
            </a:pPr>
            <a:r>
              <a:rPr lang="es-MX" sz="2400" i="1" dirty="0">
                <a:effectLst/>
                <a:latin typeface="Times New Roman" panose="02020603050405020304" pitchFamily="18" charset="0"/>
                <a:ea typeface="Calibri" panose="020F0502020204030204" pitchFamily="34" charset="0"/>
                <a:cs typeface="Times New Roman" panose="02020603050405020304" pitchFamily="18" charset="0"/>
              </a:rPr>
              <a:t>p</a:t>
            </a:r>
            <a:r>
              <a:rPr lang="es-MX" sz="2400" i="1" baseline="30000" dirty="0">
                <a:effectLst/>
                <a:latin typeface="Times New Roman" panose="02020603050405020304" pitchFamily="18" charset="0"/>
                <a:ea typeface="Calibri" panose="020F0502020204030204" pitchFamily="34" charset="0"/>
                <a:cs typeface="Times New Roman" panose="02020603050405020304" pitchFamily="18" charset="0"/>
              </a:rPr>
              <a:t>e</a:t>
            </a:r>
            <a:r>
              <a:rPr lang="es-MX" sz="2400" dirty="0">
                <a:effectLst/>
                <a:latin typeface="Calibri" panose="020F0502020204030204" pitchFamily="34" charset="0"/>
                <a:ea typeface="Calibri" panose="020F0502020204030204" pitchFamily="34" charset="0"/>
                <a:cs typeface="Times New Roman" panose="02020603050405020304" pitchFamily="18" charset="0"/>
              </a:rPr>
              <a:t> = </a:t>
            </a:r>
            <a:r>
              <a:rPr lang="es-MX" sz="2400" i="1" dirty="0">
                <a:effectLst/>
                <a:latin typeface="Times New Roman" panose="02020603050405020304" pitchFamily="18" charset="0"/>
                <a:ea typeface="Calibri" panose="020F0502020204030204" pitchFamily="34" charset="0"/>
                <a:cs typeface="Times New Roman" panose="02020603050405020304" pitchFamily="18" charset="0"/>
              </a:rPr>
              <a:t>d</a:t>
            </a:r>
            <a:r>
              <a:rPr lang="es-MX" sz="2400" i="1" baseline="-25000" dirty="0">
                <a:effectLst/>
                <a:latin typeface="Times New Roman" panose="02020603050405020304" pitchFamily="18" charset="0"/>
                <a:ea typeface="Calibri" panose="020F0502020204030204" pitchFamily="34" charset="0"/>
                <a:cs typeface="Times New Roman" panose="02020603050405020304" pitchFamily="18" charset="0"/>
              </a:rPr>
              <a:t>o</a:t>
            </a:r>
            <a:r>
              <a:rPr lang="es-MX" sz="2400" i="1" dirty="0">
                <a:effectLst/>
                <a:latin typeface="Times New Roman" panose="02020603050405020304" pitchFamily="18" charset="0"/>
                <a:ea typeface="Calibri" panose="020F0502020204030204" pitchFamily="34" charset="0"/>
                <a:cs typeface="Times New Roman" panose="02020603050405020304" pitchFamily="18" charset="0"/>
              </a:rPr>
              <a:t> + d</a:t>
            </a:r>
            <a:r>
              <a:rPr lang="es-MX" sz="2400" i="1" baseline="-25000" dirty="0">
                <a:effectLst/>
                <a:latin typeface="Times New Roman" panose="02020603050405020304" pitchFamily="18" charset="0"/>
                <a:ea typeface="Calibri" panose="020F0502020204030204" pitchFamily="34" charset="0"/>
                <a:cs typeface="Times New Roman" panose="02020603050405020304" pitchFamily="18" charset="0"/>
              </a:rPr>
              <a:t>1</a:t>
            </a:r>
            <a:r>
              <a:rPr lang="es-MX" sz="2400" i="1" dirty="0">
                <a:effectLst/>
                <a:latin typeface="Times New Roman" panose="02020603050405020304" pitchFamily="18" charset="0"/>
                <a:ea typeface="Calibri" panose="020F0502020204030204" pitchFamily="34" charset="0"/>
                <a:cs typeface="Times New Roman" panose="02020603050405020304" pitchFamily="18" charset="0"/>
              </a:rPr>
              <a:t> p</a:t>
            </a:r>
            <a:r>
              <a:rPr lang="es-MX" sz="2400" i="1" baseline="-25000" dirty="0">
                <a:effectLst/>
                <a:latin typeface="Times New Roman" panose="02020603050405020304" pitchFamily="18" charset="0"/>
                <a:ea typeface="Calibri" panose="020F0502020204030204" pitchFamily="34" charset="0"/>
                <a:cs typeface="Times New Roman" panose="02020603050405020304" pitchFamily="18" charset="0"/>
              </a:rPr>
              <a:t>i</a:t>
            </a:r>
            <a:r>
              <a:rPr lang="es-MX" sz="2400" dirty="0">
                <a:effectLst/>
                <a:latin typeface="Calibri" panose="020F0502020204030204" pitchFamily="34" charset="0"/>
                <a:ea typeface="Calibri" panose="020F0502020204030204" pitchFamily="34" charset="0"/>
                <a:cs typeface="Times New Roman" panose="02020603050405020304" pitchFamily="18" charset="0"/>
              </a:rPr>
              <a:t>		0&lt;</a:t>
            </a:r>
            <a:r>
              <a:rPr lang="es-MX" sz="2400" i="1" dirty="0">
                <a:effectLst/>
                <a:latin typeface="Times New Roman" panose="02020603050405020304" pitchFamily="18" charset="0"/>
                <a:ea typeface="Calibri" panose="020F0502020204030204" pitchFamily="34" charset="0"/>
                <a:cs typeface="Times New Roman" panose="02020603050405020304" pitchFamily="18" charset="0"/>
              </a:rPr>
              <a:t>d</a:t>
            </a:r>
            <a:r>
              <a:rPr lang="es-MX" sz="2400" i="1" baseline="-25000" dirty="0">
                <a:effectLst/>
                <a:latin typeface="Times New Roman" panose="02020603050405020304" pitchFamily="18" charset="0"/>
                <a:ea typeface="Calibri" panose="020F0502020204030204" pitchFamily="34" charset="0"/>
                <a:cs typeface="Times New Roman" panose="02020603050405020304" pitchFamily="18" charset="0"/>
              </a:rPr>
              <a:t>1</a:t>
            </a:r>
            <a:r>
              <a:rPr lang="es-MX" sz="2400" dirty="0">
                <a:effectLst/>
                <a:latin typeface="Calibri" panose="020F0502020204030204" pitchFamily="34" charset="0"/>
                <a:ea typeface="Calibri" panose="020F0502020204030204" pitchFamily="34" charset="0"/>
                <a:cs typeface="Times New Roman" panose="02020603050405020304" pitchFamily="18" charset="0"/>
              </a:rPr>
              <a:t>&lt;1</a:t>
            </a:r>
            <a:endParaRPr lang="es-PE" sz="2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pPr>
            <a:endParaRPr lang="es-PE" sz="2400" dirty="0"/>
          </a:p>
        </p:txBody>
      </p:sp>
    </p:spTree>
    <p:extLst>
      <p:ext uri="{BB962C8B-B14F-4D97-AF65-F5344CB8AC3E}">
        <p14:creationId xmlns:p14="http://schemas.microsoft.com/office/powerpoint/2010/main" val="22363050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50EDD81-5688-4BCC-812E-DE9ADC742482}"/>
              </a:ext>
            </a:extLst>
          </p:cNvPr>
          <p:cNvSpPr>
            <a:spLocks noGrp="1"/>
          </p:cNvSpPr>
          <p:nvPr>
            <p:ph type="title"/>
          </p:nvPr>
        </p:nvSpPr>
        <p:spPr/>
        <p:txBody>
          <a:bodyPr>
            <a:normAutofit/>
          </a:bodyPr>
          <a:lstStyle/>
          <a:p>
            <a:r>
              <a:rPr lang="es-PE" sz="3600" dirty="0"/>
              <a:t>Crítica de Lucas: </a:t>
            </a:r>
            <a:r>
              <a:rPr lang="es-ES" sz="3600" dirty="0"/>
              <a:t>Información imperfecta y</a:t>
            </a:r>
            <a:br>
              <a:rPr lang="es-ES" sz="3600" dirty="0"/>
            </a:br>
            <a:r>
              <a:rPr lang="es-ES" sz="3600" dirty="0"/>
              <a:t>expectativas racionales</a:t>
            </a:r>
            <a:endParaRPr lang="es-PE" sz="3600" dirty="0"/>
          </a:p>
        </p:txBody>
      </p:sp>
      <p:sp>
        <p:nvSpPr>
          <p:cNvPr id="3" name="Marcador de contenido 2">
            <a:extLst>
              <a:ext uri="{FF2B5EF4-FFF2-40B4-BE49-F238E27FC236}">
                <a16:creationId xmlns:a16="http://schemas.microsoft.com/office/drawing/2014/main" id="{E9CEA1DE-364C-4DEA-8E55-C9F01952AA90}"/>
              </a:ext>
            </a:extLst>
          </p:cNvPr>
          <p:cNvSpPr>
            <a:spLocks noGrp="1"/>
          </p:cNvSpPr>
          <p:nvPr>
            <p:ph idx="1"/>
          </p:nvPr>
        </p:nvSpPr>
        <p:spPr>
          <a:xfrm>
            <a:off x="1228724" y="2108201"/>
            <a:ext cx="9926955" cy="3760891"/>
          </a:xfrm>
        </p:spPr>
        <p:txBody>
          <a:bodyPr>
            <a:normAutofit fontScale="92500" lnSpcReduction="20000"/>
          </a:bodyPr>
          <a:lstStyle/>
          <a:p>
            <a:pPr marL="357188" indent="-357188">
              <a:buFont typeface="Wingdings" panose="05000000000000000000" pitchFamily="2" charset="2"/>
              <a:buChar char="§"/>
            </a:pPr>
            <a:r>
              <a:rPr lang="es-PE" sz="2400" dirty="0">
                <a:effectLst/>
                <a:latin typeface="Calibri" panose="020F0502020204030204" pitchFamily="34" charset="0"/>
                <a:ea typeface="Calibri" panose="020F0502020204030204" pitchFamily="34" charset="0"/>
                <a:cs typeface="Times New Roman" panose="02020603050405020304" pitchFamily="18" charset="0"/>
              </a:rPr>
              <a:t>Si</a:t>
            </a:r>
            <a:endParaRPr lang="es-PE" sz="2400" i="1" dirty="0">
              <a:effectLst/>
              <a:latin typeface="Times New Roman" panose="02020603050405020304" pitchFamily="18" charset="0"/>
              <a:ea typeface="Calibri" panose="020F0502020204030204" pitchFamily="34" charset="0"/>
              <a:cs typeface="Times New Roman" panose="02020603050405020304" pitchFamily="18" charset="0"/>
            </a:endParaRPr>
          </a:p>
          <a:p>
            <a:pPr marL="228600" algn="ctr">
              <a:lnSpc>
                <a:spcPct val="107000"/>
              </a:lnSpc>
              <a:spcAft>
                <a:spcPts val="800"/>
              </a:spcAft>
            </a:pPr>
            <a:r>
              <a:rPr lang="es-MX" sz="2400" i="1" dirty="0">
                <a:effectLst/>
                <a:latin typeface="Times New Roman" panose="02020603050405020304" pitchFamily="18" charset="0"/>
                <a:ea typeface="Calibri" panose="020F0502020204030204" pitchFamily="34" charset="0"/>
                <a:cs typeface="Times New Roman" panose="02020603050405020304" pitchFamily="18" charset="0"/>
              </a:rPr>
              <a:t>p</a:t>
            </a:r>
            <a:r>
              <a:rPr lang="es-MX" sz="2400" i="1" baseline="30000" dirty="0">
                <a:effectLst/>
                <a:latin typeface="Times New Roman" panose="02020603050405020304" pitchFamily="18" charset="0"/>
                <a:ea typeface="Calibri" panose="020F0502020204030204" pitchFamily="34" charset="0"/>
                <a:cs typeface="Times New Roman" panose="02020603050405020304" pitchFamily="18" charset="0"/>
              </a:rPr>
              <a:t>e</a:t>
            </a:r>
            <a:r>
              <a:rPr lang="es-MX" sz="2400" dirty="0">
                <a:effectLst/>
                <a:latin typeface="Calibri" panose="020F0502020204030204" pitchFamily="34" charset="0"/>
                <a:ea typeface="Calibri" panose="020F0502020204030204" pitchFamily="34" charset="0"/>
                <a:cs typeface="Times New Roman" panose="02020603050405020304" pitchFamily="18" charset="0"/>
              </a:rPr>
              <a:t> = </a:t>
            </a:r>
            <a:r>
              <a:rPr lang="es-MX" sz="2400" i="1" dirty="0">
                <a:effectLst/>
                <a:latin typeface="Times New Roman" panose="02020603050405020304" pitchFamily="18" charset="0"/>
                <a:ea typeface="Calibri" panose="020F0502020204030204" pitchFamily="34" charset="0"/>
                <a:cs typeface="Times New Roman" panose="02020603050405020304" pitchFamily="18" charset="0"/>
              </a:rPr>
              <a:t>d</a:t>
            </a:r>
            <a:r>
              <a:rPr lang="es-MX" sz="2400" i="1" baseline="-25000" dirty="0">
                <a:effectLst/>
                <a:latin typeface="Times New Roman" panose="02020603050405020304" pitchFamily="18" charset="0"/>
                <a:ea typeface="Calibri" panose="020F0502020204030204" pitchFamily="34" charset="0"/>
                <a:cs typeface="Times New Roman" panose="02020603050405020304" pitchFamily="18" charset="0"/>
              </a:rPr>
              <a:t>o</a:t>
            </a:r>
            <a:r>
              <a:rPr lang="es-MX" sz="2400" i="1" dirty="0">
                <a:effectLst/>
                <a:latin typeface="Times New Roman" panose="02020603050405020304" pitchFamily="18" charset="0"/>
                <a:ea typeface="Calibri" panose="020F0502020204030204" pitchFamily="34" charset="0"/>
                <a:cs typeface="Times New Roman" panose="02020603050405020304" pitchFamily="18" charset="0"/>
              </a:rPr>
              <a:t> + d</a:t>
            </a:r>
            <a:r>
              <a:rPr lang="es-MX" sz="2400" i="1" baseline="-25000" dirty="0">
                <a:effectLst/>
                <a:latin typeface="Times New Roman" panose="02020603050405020304" pitchFamily="18" charset="0"/>
                <a:ea typeface="Calibri" panose="020F0502020204030204" pitchFamily="34" charset="0"/>
                <a:cs typeface="Times New Roman" panose="02020603050405020304" pitchFamily="18" charset="0"/>
              </a:rPr>
              <a:t>1</a:t>
            </a:r>
            <a:r>
              <a:rPr lang="es-MX" sz="2400" i="1" dirty="0">
                <a:effectLst/>
                <a:latin typeface="Times New Roman" panose="02020603050405020304" pitchFamily="18" charset="0"/>
                <a:ea typeface="Calibri" panose="020F0502020204030204" pitchFamily="34" charset="0"/>
                <a:cs typeface="Times New Roman" panose="02020603050405020304" pitchFamily="18" charset="0"/>
              </a:rPr>
              <a:t> p</a:t>
            </a:r>
            <a:r>
              <a:rPr lang="es-MX" sz="2400" i="1" baseline="-25000" dirty="0">
                <a:effectLst/>
                <a:latin typeface="Times New Roman" panose="02020603050405020304" pitchFamily="18" charset="0"/>
                <a:ea typeface="Calibri" panose="020F0502020204030204" pitchFamily="34" charset="0"/>
                <a:cs typeface="Times New Roman" panose="02020603050405020304" pitchFamily="18" charset="0"/>
              </a:rPr>
              <a:t>i</a:t>
            </a:r>
            <a:r>
              <a:rPr lang="es-MX" sz="2400" dirty="0">
                <a:effectLst/>
                <a:latin typeface="Calibri" panose="020F0502020204030204" pitchFamily="34" charset="0"/>
                <a:ea typeface="Calibri" panose="020F0502020204030204" pitchFamily="34" charset="0"/>
                <a:cs typeface="Times New Roman" panose="02020603050405020304" pitchFamily="18" charset="0"/>
              </a:rPr>
              <a:t>		0&lt;</a:t>
            </a:r>
            <a:r>
              <a:rPr lang="es-MX" sz="2400" i="1" dirty="0">
                <a:effectLst/>
                <a:latin typeface="Times New Roman" panose="02020603050405020304" pitchFamily="18" charset="0"/>
                <a:ea typeface="Calibri" panose="020F0502020204030204" pitchFamily="34" charset="0"/>
                <a:cs typeface="Times New Roman" panose="02020603050405020304" pitchFamily="18" charset="0"/>
              </a:rPr>
              <a:t>d</a:t>
            </a:r>
            <a:r>
              <a:rPr lang="es-MX" sz="2400" i="1" baseline="-25000" dirty="0">
                <a:effectLst/>
                <a:latin typeface="Times New Roman" panose="02020603050405020304" pitchFamily="18" charset="0"/>
                <a:ea typeface="Calibri" panose="020F0502020204030204" pitchFamily="34" charset="0"/>
                <a:cs typeface="Times New Roman" panose="02020603050405020304" pitchFamily="18" charset="0"/>
              </a:rPr>
              <a:t>1</a:t>
            </a:r>
            <a:r>
              <a:rPr lang="es-MX" sz="2400" dirty="0">
                <a:effectLst/>
                <a:latin typeface="Calibri" panose="020F0502020204030204" pitchFamily="34" charset="0"/>
                <a:ea typeface="Calibri" panose="020F0502020204030204" pitchFamily="34" charset="0"/>
                <a:cs typeface="Times New Roman" panose="02020603050405020304" pitchFamily="18" charset="0"/>
              </a:rPr>
              <a:t>&lt;1</a:t>
            </a:r>
            <a:endParaRPr lang="es-PE" sz="2400" dirty="0">
              <a:latin typeface="Calibri" panose="020F0502020204030204" pitchFamily="34" charset="0"/>
              <a:ea typeface="Calibri" panose="020F0502020204030204" pitchFamily="34" charset="0"/>
              <a:cs typeface="Times New Roman" panose="02020603050405020304" pitchFamily="18" charset="0"/>
            </a:endParaRPr>
          </a:p>
          <a:p>
            <a:pPr marL="422910" indent="-285750">
              <a:lnSpc>
                <a:spcPct val="107000"/>
              </a:lnSpc>
              <a:spcAft>
                <a:spcPts val="800"/>
              </a:spcAft>
              <a:buFont typeface="Arial" panose="020B0604020202020204" pitchFamily="34" charset="0"/>
              <a:buChar char="•"/>
            </a:pPr>
            <a:r>
              <a:rPr lang="es-MX" sz="2400" dirty="0">
                <a:effectLst/>
                <a:latin typeface="Calibri" panose="020F0502020204030204" pitchFamily="34" charset="0"/>
                <a:ea typeface="Calibri" panose="020F0502020204030204" pitchFamily="34" charset="0"/>
                <a:cs typeface="Times New Roman" panose="02020603050405020304" pitchFamily="18" charset="0"/>
              </a:rPr>
              <a:t>De</a:t>
            </a:r>
          </a:p>
          <a:p>
            <a:pPr marL="137160" indent="0">
              <a:lnSpc>
                <a:spcPct val="107000"/>
              </a:lnSpc>
              <a:spcAft>
                <a:spcPts val="800"/>
              </a:spcAft>
              <a:buNone/>
            </a:pPr>
            <a:r>
              <a:rPr lang="es-MX" sz="2400" i="1" dirty="0">
                <a:latin typeface="Calibri" panose="020F0502020204030204" pitchFamily="34" charset="0"/>
                <a:ea typeface="Calibri" panose="020F0502020204030204" pitchFamily="34" charset="0"/>
                <a:cs typeface="Times New Roman" panose="02020603050405020304" pitchFamily="18" charset="0"/>
              </a:rPr>
              <a:t>				</a:t>
            </a:r>
            <a:r>
              <a:rPr lang="es-MX" sz="24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s-MX" sz="2400" i="1" dirty="0" err="1">
                <a:effectLst/>
                <a:latin typeface="Times New Roman" panose="02020603050405020304" pitchFamily="18" charset="0"/>
                <a:ea typeface="Calibri" panose="020F0502020204030204" pitchFamily="34" charset="0"/>
                <a:cs typeface="Times New Roman" panose="02020603050405020304" pitchFamily="18" charset="0"/>
              </a:rPr>
              <a:t>r</a:t>
            </a:r>
            <a:r>
              <a:rPr lang="es-MX" sz="2400" i="1" baseline="-25000" dirty="0" err="1">
                <a:effectLst/>
                <a:latin typeface="Times New Roman" panose="02020603050405020304" pitchFamily="18" charset="0"/>
                <a:ea typeface="Calibri" panose="020F0502020204030204" pitchFamily="34" charset="0"/>
                <a:cs typeface="Times New Roman" panose="02020603050405020304" pitchFamily="18" charset="0"/>
              </a:rPr>
              <a:t>i</a:t>
            </a:r>
            <a:r>
              <a:rPr lang="es-MX" sz="2400" i="1" dirty="0">
                <a:effectLst/>
                <a:latin typeface="Times New Roman" panose="02020603050405020304" pitchFamily="18" charset="0"/>
                <a:ea typeface="Calibri" panose="020F0502020204030204" pitchFamily="34" charset="0"/>
                <a:cs typeface="Times New Roman" panose="02020603050405020304" pitchFamily="18" charset="0"/>
              </a:rPr>
              <a:t> = p</a:t>
            </a:r>
            <a:r>
              <a:rPr lang="es-MX" sz="2400" i="1" baseline="-25000" dirty="0">
                <a:effectLst/>
                <a:latin typeface="Times New Roman" panose="02020603050405020304" pitchFamily="18" charset="0"/>
                <a:ea typeface="Calibri" panose="020F0502020204030204" pitchFamily="34" charset="0"/>
                <a:cs typeface="Times New Roman" panose="02020603050405020304" pitchFamily="18" charset="0"/>
              </a:rPr>
              <a:t>i</a:t>
            </a:r>
            <a:r>
              <a:rPr lang="es-MX" sz="2400" i="1" dirty="0">
                <a:effectLst/>
                <a:latin typeface="Times New Roman" panose="02020603050405020304" pitchFamily="18" charset="0"/>
                <a:ea typeface="Calibri" panose="020F0502020204030204" pitchFamily="34" charset="0"/>
                <a:cs typeface="Times New Roman" panose="02020603050405020304" pitchFamily="18" charset="0"/>
              </a:rPr>
              <a:t> – p	(aplicando valor esperado)</a:t>
            </a:r>
            <a:endParaRPr lang="es-PE" sz="2400" dirty="0">
              <a:effectLst/>
              <a:latin typeface="Calibri" panose="020F0502020204030204" pitchFamily="34" charset="0"/>
              <a:ea typeface="Calibri" panose="020F0502020204030204" pitchFamily="34" charset="0"/>
              <a:cs typeface="Times New Roman" panose="02020603050405020304" pitchFamily="18" charset="0"/>
            </a:endParaRPr>
          </a:p>
          <a:p>
            <a:pPr marL="3857625" indent="-90488">
              <a:lnSpc>
                <a:spcPct val="107000"/>
              </a:lnSpc>
              <a:spcAft>
                <a:spcPts val="800"/>
              </a:spcAft>
            </a:pPr>
            <a:r>
              <a:rPr lang="es-MX" sz="2400" i="1" dirty="0" err="1">
                <a:effectLst/>
                <a:latin typeface="Times New Roman" panose="02020603050405020304" pitchFamily="18" charset="0"/>
                <a:ea typeface="Calibri" panose="020F0502020204030204" pitchFamily="34" charset="0"/>
                <a:cs typeface="Times New Roman" panose="02020603050405020304" pitchFamily="18" charset="0"/>
              </a:rPr>
              <a:t>r</a:t>
            </a:r>
            <a:r>
              <a:rPr lang="es-MX" sz="2400" i="1" baseline="30000" dirty="0" err="1">
                <a:effectLst/>
                <a:latin typeface="Times New Roman" panose="02020603050405020304" pitchFamily="18" charset="0"/>
                <a:ea typeface="Calibri" panose="020F0502020204030204" pitchFamily="34" charset="0"/>
                <a:cs typeface="Times New Roman" panose="02020603050405020304" pitchFamily="18" charset="0"/>
              </a:rPr>
              <a:t>e</a:t>
            </a:r>
            <a:r>
              <a:rPr lang="es-MX" sz="2400" i="1" baseline="-25000" dirty="0" err="1">
                <a:effectLst/>
                <a:latin typeface="Times New Roman" panose="02020603050405020304" pitchFamily="18" charset="0"/>
                <a:ea typeface="Calibri" panose="020F0502020204030204" pitchFamily="34" charset="0"/>
                <a:cs typeface="Times New Roman" panose="02020603050405020304" pitchFamily="18" charset="0"/>
              </a:rPr>
              <a:t>i</a:t>
            </a:r>
            <a:r>
              <a:rPr lang="es-MX" sz="2400" i="1" dirty="0">
                <a:effectLst/>
                <a:latin typeface="Times New Roman" panose="02020603050405020304" pitchFamily="18" charset="0"/>
                <a:ea typeface="Calibri" panose="020F0502020204030204" pitchFamily="34" charset="0"/>
                <a:cs typeface="Times New Roman" panose="02020603050405020304" pitchFamily="18" charset="0"/>
              </a:rPr>
              <a:t> = p</a:t>
            </a:r>
            <a:r>
              <a:rPr lang="es-MX" sz="2400" i="1" baseline="-25000" dirty="0">
                <a:effectLst/>
                <a:latin typeface="Times New Roman" panose="02020603050405020304" pitchFamily="18" charset="0"/>
                <a:ea typeface="Calibri" panose="020F0502020204030204" pitchFamily="34" charset="0"/>
                <a:cs typeface="Times New Roman" panose="02020603050405020304" pitchFamily="18" charset="0"/>
              </a:rPr>
              <a:t>i</a:t>
            </a:r>
            <a:r>
              <a:rPr lang="es-MX" sz="2400" i="1" dirty="0">
                <a:effectLst/>
                <a:latin typeface="Times New Roman" panose="02020603050405020304" pitchFamily="18" charset="0"/>
                <a:ea typeface="Calibri" panose="020F0502020204030204" pitchFamily="34" charset="0"/>
                <a:cs typeface="Times New Roman" panose="02020603050405020304" pitchFamily="18" charset="0"/>
              </a:rPr>
              <a:t> - p</a:t>
            </a:r>
            <a:r>
              <a:rPr lang="es-MX" sz="2400" i="1" baseline="30000" dirty="0">
                <a:effectLst/>
                <a:latin typeface="Times New Roman" panose="02020603050405020304" pitchFamily="18" charset="0"/>
                <a:ea typeface="Calibri" panose="020F0502020204030204" pitchFamily="34" charset="0"/>
                <a:cs typeface="Times New Roman" panose="02020603050405020304" pitchFamily="18" charset="0"/>
              </a:rPr>
              <a:t>e</a:t>
            </a:r>
            <a:endParaRPr lang="es-PE" sz="2400" dirty="0">
              <a:effectLst/>
              <a:latin typeface="Calibri" panose="020F0502020204030204" pitchFamily="34" charset="0"/>
              <a:ea typeface="Calibri" panose="020F0502020204030204" pitchFamily="34" charset="0"/>
              <a:cs typeface="Times New Roman" panose="02020603050405020304" pitchFamily="18" charset="0"/>
            </a:endParaRPr>
          </a:p>
          <a:p>
            <a:pPr marL="3857625" indent="-90488">
              <a:lnSpc>
                <a:spcPct val="107000"/>
              </a:lnSpc>
              <a:spcAft>
                <a:spcPts val="800"/>
              </a:spcAft>
            </a:pPr>
            <a:r>
              <a:rPr lang="es-MX" sz="2400" i="1" dirty="0" err="1">
                <a:effectLst/>
                <a:latin typeface="Times New Roman" panose="02020603050405020304" pitchFamily="18" charset="0"/>
                <a:ea typeface="Calibri" panose="020F0502020204030204" pitchFamily="34" charset="0"/>
                <a:cs typeface="Times New Roman" panose="02020603050405020304" pitchFamily="18" charset="0"/>
              </a:rPr>
              <a:t>r</a:t>
            </a:r>
            <a:r>
              <a:rPr lang="es-MX" sz="2400" i="1" baseline="30000" dirty="0" err="1">
                <a:effectLst/>
                <a:latin typeface="Times New Roman" panose="02020603050405020304" pitchFamily="18" charset="0"/>
                <a:ea typeface="Calibri" panose="020F0502020204030204" pitchFamily="34" charset="0"/>
                <a:cs typeface="Times New Roman" panose="02020603050405020304" pitchFamily="18" charset="0"/>
              </a:rPr>
              <a:t>e</a:t>
            </a:r>
            <a:r>
              <a:rPr lang="es-MX" sz="2400" i="1" baseline="-25000" dirty="0" err="1">
                <a:effectLst/>
                <a:latin typeface="Times New Roman" panose="02020603050405020304" pitchFamily="18" charset="0"/>
                <a:ea typeface="Calibri" panose="020F0502020204030204" pitchFamily="34" charset="0"/>
                <a:cs typeface="Times New Roman" panose="02020603050405020304" pitchFamily="18" charset="0"/>
              </a:rPr>
              <a:t>i</a:t>
            </a:r>
            <a:r>
              <a:rPr lang="es-MX" sz="2400" i="1" dirty="0">
                <a:effectLst/>
                <a:latin typeface="Times New Roman" panose="02020603050405020304" pitchFamily="18" charset="0"/>
                <a:ea typeface="Calibri" panose="020F0502020204030204" pitchFamily="34" charset="0"/>
                <a:cs typeface="Times New Roman" panose="02020603050405020304" pitchFamily="18" charset="0"/>
              </a:rPr>
              <a:t> = p</a:t>
            </a:r>
            <a:r>
              <a:rPr lang="es-MX" sz="2400" i="1" baseline="-25000" dirty="0">
                <a:effectLst/>
                <a:latin typeface="Times New Roman" panose="02020603050405020304" pitchFamily="18" charset="0"/>
                <a:ea typeface="Calibri" panose="020F0502020204030204" pitchFamily="34" charset="0"/>
                <a:cs typeface="Times New Roman" panose="02020603050405020304" pitchFamily="18" charset="0"/>
              </a:rPr>
              <a:t>i</a:t>
            </a:r>
            <a:r>
              <a:rPr lang="es-MX" sz="2400" i="1" dirty="0">
                <a:effectLst/>
                <a:latin typeface="Times New Roman" panose="02020603050405020304" pitchFamily="18" charset="0"/>
                <a:ea typeface="Calibri" panose="020F0502020204030204" pitchFamily="34" charset="0"/>
                <a:cs typeface="Times New Roman" panose="02020603050405020304" pitchFamily="18" charset="0"/>
              </a:rPr>
              <a:t> - [ d</a:t>
            </a:r>
            <a:r>
              <a:rPr lang="es-MX" sz="2400" i="1" baseline="-25000" dirty="0">
                <a:effectLst/>
                <a:latin typeface="Times New Roman" panose="02020603050405020304" pitchFamily="18" charset="0"/>
                <a:ea typeface="Calibri" panose="020F0502020204030204" pitchFamily="34" charset="0"/>
                <a:cs typeface="Times New Roman" panose="02020603050405020304" pitchFamily="18" charset="0"/>
              </a:rPr>
              <a:t>o</a:t>
            </a:r>
            <a:r>
              <a:rPr lang="es-MX" sz="2400" i="1" dirty="0">
                <a:effectLst/>
                <a:latin typeface="Times New Roman" panose="02020603050405020304" pitchFamily="18" charset="0"/>
                <a:ea typeface="Calibri" panose="020F0502020204030204" pitchFamily="34" charset="0"/>
                <a:cs typeface="Times New Roman" panose="02020603050405020304" pitchFamily="18" charset="0"/>
              </a:rPr>
              <a:t> + d</a:t>
            </a:r>
            <a:r>
              <a:rPr lang="es-MX" sz="2400" i="1" baseline="-25000" dirty="0">
                <a:effectLst/>
                <a:latin typeface="Times New Roman" panose="02020603050405020304" pitchFamily="18" charset="0"/>
                <a:ea typeface="Calibri" panose="020F0502020204030204" pitchFamily="34" charset="0"/>
                <a:cs typeface="Times New Roman" panose="02020603050405020304" pitchFamily="18" charset="0"/>
              </a:rPr>
              <a:t>1</a:t>
            </a:r>
            <a:r>
              <a:rPr lang="es-MX" sz="2400" i="1" dirty="0">
                <a:effectLst/>
                <a:latin typeface="Times New Roman" panose="02020603050405020304" pitchFamily="18" charset="0"/>
                <a:ea typeface="Calibri" panose="020F0502020204030204" pitchFamily="34" charset="0"/>
                <a:cs typeface="Times New Roman" panose="02020603050405020304" pitchFamily="18" charset="0"/>
              </a:rPr>
              <a:t> p</a:t>
            </a:r>
            <a:r>
              <a:rPr lang="es-MX" sz="2400" i="1" baseline="-25000" dirty="0">
                <a:effectLst/>
                <a:latin typeface="Times New Roman" panose="02020603050405020304" pitchFamily="18" charset="0"/>
                <a:ea typeface="Calibri" panose="020F0502020204030204" pitchFamily="34" charset="0"/>
                <a:cs typeface="Times New Roman" panose="02020603050405020304" pitchFamily="18" charset="0"/>
              </a:rPr>
              <a:t>i</a:t>
            </a:r>
            <a:r>
              <a:rPr lang="es-MX" sz="2400" i="1" dirty="0">
                <a:effectLst/>
                <a:latin typeface="Times New Roman" panose="02020603050405020304" pitchFamily="18" charset="0"/>
                <a:ea typeface="Calibri" panose="020F0502020204030204" pitchFamily="34" charset="0"/>
                <a:cs typeface="Times New Roman" panose="02020603050405020304" pitchFamily="18" charset="0"/>
              </a:rPr>
              <a:t>]</a:t>
            </a:r>
            <a:endParaRPr lang="es-PE" sz="2400" dirty="0">
              <a:effectLst/>
              <a:latin typeface="Calibri" panose="020F0502020204030204" pitchFamily="34" charset="0"/>
              <a:ea typeface="Calibri" panose="020F0502020204030204" pitchFamily="34" charset="0"/>
              <a:cs typeface="Times New Roman" panose="02020603050405020304" pitchFamily="18" charset="0"/>
            </a:endParaRPr>
          </a:p>
          <a:p>
            <a:pPr marL="3857625" indent="-90488">
              <a:lnSpc>
                <a:spcPct val="107000"/>
              </a:lnSpc>
              <a:spcAft>
                <a:spcPts val="800"/>
              </a:spcAft>
            </a:pPr>
            <a:r>
              <a:rPr lang="es-MX" sz="2400" i="1" dirty="0" err="1">
                <a:effectLst/>
                <a:latin typeface="Times New Roman" panose="02020603050405020304" pitchFamily="18" charset="0"/>
                <a:ea typeface="Calibri" panose="020F0502020204030204" pitchFamily="34" charset="0"/>
                <a:cs typeface="Times New Roman" panose="02020603050405020304" pitchFamily="18" charset="0"/>
              </a:rPr>
              <a:t>r</a:t>
            </a:r>
            <a:r>
              <a:rPr lang="es-MX" sz="2400" i="1" baseline="30000" dirty="0" err="1">
                <a:effectLst/>
                <a:latin typeface="Times New Roman" panose="02020603050405020304" pitchFamily="18" charset="0"/>
                <a:ea typeface="Calibri" panose="020F0502020204030204" pitchFamily="34" charset="0"/>
                <a:cs typeface="Times New Roman" panose="02020603050405020304" pitchFamily="18" charset="0"/>
              </a:rPr>
              <a:t>e</a:t>
            </a:r>
            <a:r>
              <a:rPr lang="es-MX" sz="2400" i="1" baseline="-25000" dirty="0" err="1">
                <a:effectLst/>
                <a:latin typeface="Times New Roman" panose="02020603050405020304" pitchFamily="18" charset="0"/>
                <a:ea typeface="Calibri" panose="020F0502020204030204" pitchFamily="34" charset="0"/>
                <a:cs typeface="Times New Roman" panose="02020603050405020304" pitchFamily="18" charset="0"/>
              </a:rPr>
              <a:t>i</a:t>
            </a:r>
            <a:r>
              <a:rPr lang="es-MX" sz="2400" i="1" dirty="0">
                <a:effectLst/>
                <a:latin typeface="Times New Roman" panose="02020603050405020304" pitchFamily="18" charset="0"/>
                <a:ea typeface="Calibri" panose="020F0502020204030204" pitchFamily="34" charset="0"/>
                <a:cs typeface="Times New Roman" panose="02020603050405020304" pitchFamily="18" charset="0"/>
              </a:rPr>
              <a:t> =(1- d</a:t>
            </a:r>
            <a:r>
              <a:rPr lang="es-MX" sz="2400" i="1" baseline="-25000" dirty="0">
                <a:effectLst/>
                <a:latin typeface="Times New Roman" panose="02020603050405020304" pitchFamily="18" charset="0"/>
                <a:ea typeface="Calibri" panose="020F0502020204030204" pitchFamily="34" charset="0"/>
                <a:cs typeface="Times New Roman" panose="02020603050405020304" pitchFamily="18" charset="0"/>
              </a:rPr>
              <a:t>1</a:t>
            </a:r>
            <a:r>
              <a:rPr lang="es-MX" sz="2400" i="1" dirty="0">
                <a:effectLst/>
                <a:latin typeface="Times New Roman" panose="02020603050405020304" pitchFamily="18" charset="0"/>
                <a:ea typeface="Calibri" panose="020F0502020204030204" pitchFamily="34" charset="0"/>
                <a:cs typeface="Times New Roman" panose="02020603050405020304" pitchFamily="18" charset="0"/>
              </a:rPr>
              <a:t>) p</a:t>
            </a:r>
            <a:r>
              <a:rPr lang="es-MX" sz="2400" i="1" baseline="-25000" dirty="0">
                <a:effectLst/>
                <a:latin typeface="Times New Roman" panose="02020603050405020304" pitchFamily="18" charset="0"/>
                <a:ea typeface="Calibri" panose="020F0502020204030204" pitchFamily="34" charset="0"/>
                <a:cs typeface="Times New Roman" panose="02020603050405020304" pitchFamily="18" charset="0"/>
              </a:rPr>
              <a:t>i</a:t>
            </a:r>
            <a:r>
              <a:rPr lang="es-MX" sz="2400" i="1" dirty="0">
                <a:effectLst/>
                <a:latin typeface="Times New Roman" panose="02020603050405020304" pitchFamily="18" charset="0"/>
                <a:ea typeface="Calibri" panose="020F0502020204030204" pitchFamily="34" charset="0"/>
                <a:cs typeface="Times New Roman" panose="02020603050405020304" pitchFamily="18" charset="0"/>
              </a:rPr>
              <a:t> - d</a:t>
            </a:r>
            <a:r>
              <a:rPr lang="es-MX" sz="2400" i="1" baseline="-25000" dirty="0">
                <a:effectLst/>
                <a:latin typeface="Times New Roman" panose="02020603050405020304" pitchFamily="18" charset="0"/>
                <a:ea typeface="Calibri" panose="020F0502020204030204" pitchFamily="34" charset="0"/>
                <a:cs typeface="Times New Roman" panose="02020603050405020304" pitchFamily="18" charset="0"/>
              </a:rPr>
              <a:t>o</a:t>
            </a:r>
            <a:endParaRPr lang="es-PE" sz="2400" dirty="0">
              <a:effectLst/>
              <a:latin typeface="Calibri" panose="020F0502020204030204" pitchFamily="34" charset="0"/>
              <a:ea typeface="Calibri" panose="020F0502020204030204" pitchFamily="34" charset="0"/>
              <a:cs typeface="Times New Roman" panose="02020603050405020304" pitchFamily="18" charset="0"/>
            </a:endParaRPr>
          </a:p>
          <a:p>
            <a:endParaRPr lang="es-PE" sz="2400" dirty="0"/>
          </a:p>
        </p:txBody>
      </p:sp>
      <mc:AlternateContent xmlns:mc="http://schemas.openxmlformats.org/markup-compatibility/2006" xmlns:p14="http://schemas.microsoft.com/office/powerpoint/2010/main">
        <mc:Choice Requires="p14">
          <p:contentPart p14:bwMode="auto" r:id="rId2">
            <p14:nvContentPartPr>
              <p14:cNvPr id="4" name="Entrada de lápiz 3">
                <a:extLst>
                  <a:ext uri="{FF2B5EF4-FFF2-40B4-BE49-F238E27FC236}">
                    <a16:creationId xmlns:a16="http://schemas.microsoft.com/office/drawing/2014/main" id="{DA849DE7-CF90-A19D-087B-841A02EB6233}"/>
                  </a:ext>
                </a:extLst>
              </p14:cNvPr>
              <p14:cNvContentPartPr/>
              <p14:nvPr/>
            </p14:nvContentPartPr>
            <p14:xfrm>
              <a:off x="6004240" y="4612240"/>
              <a:ext cx="280440" cy="20880"/>
            </p14:xfrm>
          </p:contentPart>
        </mc:Choice>
        <mc:Fallback xmlns="">
          <p:pic>
            <p:nvPicPr>
              <p:cNvPr id="4" name="Entrada de lápiz 3">
                <a:extLst>
                  <a:ext uri="{FF2B5EF4-FFF2-40B4-BE49-F238E27FC236}">
                    <a16:creationId xmlns:a16="http://schemas.microsoft.com/office/drawing/2014/main" id="{DA849DE7-CF90-A19D-087B-841A02EB6233}"/>
                  </a:ext>
                </a:extLst>
              </p:cNvPr>
              <p:cNvPicPr/>
              <p:nvPr/>
            </p:nvPicPr>
            <p:blipFill>
              <a:blip r:embed="rId3"/>
              <a:stretch>
                <a:fillRect/>
              </a:stretch>
            </p:blipFill>
            <p:spPr>
              <a:xfrm>
                <a:off x="5998120" y="4606120"/>
                <a:ext cx="292680" cy="33120"/>
              </a:xfrm>
              <a:prstGeom prst="rect">
                <a:avLst/>
              </a:prstGeom>
            </p:spPr>
          </p:pic>
        </mc:Fallback>
      </mc:AlternateContent>
      <p:grpSp>
        <p:nvGrpSpPr>
          <p:cNvPr id="7" name="Grupo 6">
            <a:extLst>
              <a:ext uri="{FF2B5EF4-FFF2-40B4-BE49-F238E27FC236}">
                <a16:creationId xmlns:a16="http://schemas.microsoft.com/office/drawing/2014/main" id="{9BF4B14D-A6B7-993E-9FE0-4C52300F72FF}"/>
              </a:ext>
            </a:extLst>
          </p:cNvPr>
          <p:cNvGrpSpPr/>
          <p:nvPr/>
        </p:nvGrpSpPr>
        <p:grpSpPr>
          <a:xfrm>
            <a:off x="6177040" y="4643200"/>
            <a:ext cx="1232640" cy="172800"/>
            <a:chOff x="6177040" y="4643200"/>
            <a:chExt cx="1232640" cy="172800"/>
          </a:xfrm>
        </p:grpSpPr>
        <mc:AlternateContent xmlns:mc="http://schemas.openxmlformats.org/markup-compatibility/2006" xmlns:p14="http://schemas.microsoft.com/office/powerpoint/2010/main">
          <mc:Choice Requires="p14">
            <p:contentPart p14:bwMode="auto" r:id="rId4">
              <p14:nvContentPartPr>
                <p14:cNvPr id="5" name="Entrada de lápiz 4">
                  <a:extLst>
                    <a:ext uri="{FF2B5EF4-FFF2-40B4-BE49-F238E27FC236}">
                      <a16:creationId xmlns:a16="http://schemas.microsoft.com/office/drawing/2014/main" id="{15333BF8-93FF-9F24-B2B6-F714D46E033B}"/>
                    </a:ext>
                  </a:extLst>
                </p14:cNvPr>
                <p14:cNvContentPartPr/>
                <p14:nvPr/>
              </p14:nvContentPartPr>
              <p14:xfrm>
                <a:off x="6197560" y="4643200"/>
                <a:ext cx="220320" cy="132120"/>
              </p14:xfrm>
            </p:contentPart>
          </mc:Choice>
          <mc:Fallback xmlns="">
            <p:pic>
              <p:nvPicPr>
                <p:cNvPr id="5" name="Entrada de lápiz 4">
                  <a:extLst>
                    <a:ext uri="{FF2B5EF4-FFF2-40B4-BE49-F238E27FC236}">
                      <a16:creationId xmlns:a16="http://schemas.microsoft.com/office/drawing/2014/main" id="{15333BF8-93FF-9F24-B2B6-F714D46E033B}"/>
                    </a:ext>
                  </a:extLst>
                </p:cNvPr>
                <p:cNvPicPr/>
                <p:nvPr/>
              </p:nvPicPr>
              <p:blipFill>
                <a:blip r:embed="rId5"/>
                <a:stretch>
                  <a:fillRect/>
                </a:stretch>
              </p:blipFill>
              <p:spPr>
                <a:xfrm>
                  <a:off x="6191440" y="4636720"/>
                  <a:ext cx="23256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Entrada de lápiz 5">
                  <a:extLst>
                    <a:ext uri="{FF2B5EF4-FFF2-40B4-BE49-F238E27FC236}">
                      <a16:creationId xmlns:a16="http://schemas.microsoft.com/office/drawing/2014/main" id="{027A343D-40B8-AF37-2256-7937A043CACC}"/>
                    </a:ext>
                  </a:extLst>
                </p14:cNvPr>
                <p14:cNvContentPartPr/>
                <p14:nvPr/>
              </p14:nvContentPartPr>
              <p14:xfrm>
                <a:off x="6177040" y="4753360"/>
                <a:ext cx="1232640" cy="62640"/>
              </p14:xfrm>
            </p:contentPart>
          </mc:Choice>
          <mc:Fallback xmlns="">
            <p:pic>
              <p:nvPicPr>
                <p:cNvPr id="6" name="Entrada de lápiz 5">
                  <a:extLst>
                    <a:ext uri="{FF2B5EF4-FFF2-40B4-BE49-F238E27FC236}">
                      <a16:creationId xmlns:a16="http://schemas.microsoft.com/office/drawing/2014/main" id="{027A343D-40B8-AF37-2256-7937A043CACC}"/>
                    </a:ext>
                  </a:extLst>
                </p:cNvPr>
                <p:cNvPicPr/>
                <p:nvPr/>
              </p:nvPicPr>
              <p:blipFill>
                <a:blip r:embed="rId7"/>
                <a:stretch>
                  <a:fillRect/>
                </a:stretch>
              </p:blipFill>
              <p:spPr>
                <a:xfrm>
                  <a:off x="6170920" y="4747240"/>
                  <a:ext cx="1244880" cy="74880"/>
                </a:xfrm>
                <a:prstGeom prst="rect">
                  <a:avLst/>
                </a:prstGeom>
              </p:spPr>
            </p:pic>
          </mc:Fallback>
        </mc:AlternateContent>
      </p:grpSp>
    </p:spTree>
    <p:extLst>
      <p:ext uri="{BB962C8B-B14F-4D97-AF65-F5344CB8AC3E}">
        <p14:creationId xmlns:p14="http://schemas.microsoft.com/office/powerpoint/2010/main" val="8613044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1DBEA7A-5D38-4D3B-B053-61C64DA48762}"/>
              </a:ext>
            </a:extLst>
          </p:cNvPr>
          <p:cNvSpPr>
            <a:spLocks noGrp="1"/>
          </p:cNvSpPr>
          <p:nvPr>
            <p:ph type="title"/>
          </p:nvPr>
        </p:nvSpPr>
        <p:spPr/>
        <p:txBody>
          <a:bodyPr>
            <a:normAutofit/>
          </a:bodyPr>
          <a:lstStyle/>
          <a:p>
            <a:r>
              <a:rPr lang="es-PE" sz="3600" dirty="0"/>
              <a:t>Crítica de Lucas: </a:t>
            </a:r>
            <a:r>
              <a:rPr lang="es-ES" sz="3600" dirty="0"/>
              <a:t>Información imperfecta y</a:t>
            </a:r>
            <a:br>
              <a:rPr lang="es-ES" sz="3600" dirty="0"/>
            </a:br>
            <a:r>
              <a:rPr lang="es-ES" sz="3600" dirty="0"/>
              <a:t>expectativas racionales</a:t>
            </a:r>
            <a:endParaRPr lang="es-PE" sz="3600" dirty="0"/>
          </a:p>
        </p:txBody>
      </p:sp>
      <p:sp>
        <p:nvSpPr>
          <p:cNvPr id="3" name="Marcador de contenido 2">
            <a:extLst>
              <a:ext uri="{FF2B5EF4-FFF2-40B4-BE49-F238E27FC236}">
                <a16:creationId xmlns:a16="http://schemas.microsoft.com/office/drawing/2014/main" id="{6BA74B36-69D8-4E37-B970-BB7FF60C5810}"/>
              </a:ext>
            </a:extLst>
          </p:cNvPr>
          <p:cNvSpPr>
            <a:spLocks noGrp="1"/>
          </p:cNvSpPr>
          <p:nvPr>
            <p:ph idx="1"/>
          </p:nvPr>
        </p:nvSpPr>
        <p:spPr>
          <a:xfrm>
            <a:off x="1238250" y="2108201"/>
            <a:ext cx="9917430" cy="3760891"/>
          </a:xfrm>
        </p:spPr>
        <p:txBody>
          <a:bodyPr>
            <a:normAutofit/>
          </a:bodyPr>
          <a:lstStyle/>
          <a:p>
            <a:pPr marL="0" lvl="0" indent="0">
              <a:lnSpc>
                <a:spcPct val="150000"/>
              </a:lnSpc>
              <a:buNone/>
            </a:pPr>
            <a:r>
              <a:rPr lang="es-MX" sz="2400" b="1" dirty="0">
                <a:effectLst/>
                <a:latin typeface="Calibri" panose="020F0502020204030204" pitchFamily="34" charset="0"/>
                <a:ea typeface="Calibri" panose="020F0502020204030204" pitchFamily="34" charset="0"/>
                <a:cs typeface="Times New Roman" panose="02020603050405020304" pitchFamily="18" charset="0"/>
              </a:rPr>
              <a:t>Escenario 1</a:t>
            </a:r>
            <a:r>
              <a:rPr lang="es-MX" sz="2400" dirty="0">
                <a:effectLst/>
                <a:latin typeface="Calibri" panose="020F0502020204030204" pitchFamily="34" charset="0"/>
                <a:ea typeface="Calibri" panose="020F0502020204030204" pitchFamily="34" charset="0"/>
                <a:cs typeface="Times New Roman" panose="02020603050405020304" pitchFamily="18" charset="0"/>
              </a:rPr>
              <a:t>: </a:t>
            </a:r>
            <a:endParaRPr lang="es-PE" sz="2400" dirty="0">
              <a:effectLst/>
              <a:latin typeface="Calibri" panose="020F0502020204030204" pitchFamily="34" charset="0"/>
              <a:ea typeface="Calibri" panose="020F0502020204030204" pitchFamily="34" charset="0"/>
              <a:cs typeface="Times New Roman" panose="02020603050405020304" pitchFamily="18" charset="0"/>
            </a:endParaRPr>
          </a:p>
          <a:p>
            <a:pPr marL="480060" indent="-342900">
              <a:lnSpc>
                <a:spcPct val="150000"/>
              </a:lnSpc>
              <a:buFont typeface="Arial" panose="020B0604020202020204" pitchFamily="34" charset="0"/>
              <a:buChar char="•"/>
            </a:pPr>
            <a:r>
              <a:rPr lang="es-MX" sz="2400" dirty="0">
                <a:effectLst/>
                <a:latin typeface="Calibri" panose="020F0502020204030204" pitchFamily="34" charset="0"/>
                <a:ea typeface="Calibri" panose="020F0502020204030204" pitchFamily="34" charset="0"/>
                <a:cs typeface="Times New Roman" panose="02020603050405020304" pitchFamily="18" charset="0"/>
              </a:rPr>
              <a:t>Shock nominal que hace subir todos los precios de la economía </a:t>
            </a:r>
            <a:r>
              <a:rPr lang="es-MX" sz="2400" dirty="0">
                <a:effectLst/>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 </a:t>
            </a:r>
            <a:endParaRPr lang="es-MX" sz="2400" dirty="0">
              <a:effectLst/>
              <a:latin typeface="Calibri" panose="020F0502020204030204" pitchFamily="34" charset="0"/>
              <a:ea typeface="Calibri" panose="020F0502020204030204" pitchFamily="34" charset="0"/>
              <a:cs typeface="Times New Roman" panose="02020603050405020304" pitchFamily="18" charset="0"/>
            </a:endParaRPr>
          </a:p>
          <a:p>
            <a:pPr marL="137160" indent="0" algn="ctr">
              <a:lnSpc>
                <a:spcPct val="150000"/>
              </a:lnSpc>
              <a:buNone/>
            </a:pPr>
            <a:r>
              <a:rPr lang="es-MX" sz="2400" dirty="0">
                <a:effectLst/>
                <a:latin typeface="Calibri" panose="020F0502020204030204" pitchFamily="34" charset="0"/>
                <a:ea typeface="Calibri" panose="020F0502020204030204" pitchFamily="34" charset="0"/>
                <a:cs typeface="Times New Roman" panose="02020603050405020304" pitchFamily="18" charset="0"/>
              </a:rPr>
              <a:t> </a:t>
            </a:r>
            <a:r>
              <a:rPr lang="es-MX" sz="2400" i="1" dirty="0">
                <a:effectLst/>
                <a:latin typeface="Times New Roman" panose="02020603050405020304" pitchFamily="18" charset="0"/>
                <a:ea typeface="Calibri" panose="020F0502020204030204" pitchFamily="34" charset="0"/>
                <a:cs typeface="Times New Roman" panose="02020603050405020304" pitchFamily="18" charset="0"/>
              </a:rPr>
              <a:t>p &gt; p</a:t>
            </a:r>
            <a:r>
              <a:rPr lang="es-MX" sz="2400" i="1" baseline="30000" dirty="0">
                <a:effectLst/>
                <a:latin typeface="Times New Roman" panose="02020603050405020304" pitchFamily="18" charset="0"/>
                <a:ea typeface="Calibri" panose="020F0502020204030204" pitchFamily="34" charset="0"/>
                <a:cs typeface="Times New Roman" panose="02020603050405020304" pitchFamily="18" charset="0"/>
              </a:rPr>
              <a:t>e</a:t>
            </a:r>
            <a:endParaRPr lang="es-PE" sz="2400" dirty="0">
              <a:effectLst/>
              <a:latin typeface="Calibri" panose="020F0502020204030204" pitchFamily="34" charset="0"/>
              <a:ea typeface="Calibri" panose="020F0502020204030204" pitchFamily="34" charset="0"/>
              <a:cs typeface="Times New Roman" panose="02020603050405020304" pitchFamily="18" charset="0"/>
            </a:endParaRPr>
          </a:p>
          <a:p>
            <a:pPr marL="447675" indent="-309563">
              <a:lnSpc>
                <a:spcPct val="150000"/>
              </a:lnSpc>
            </a:pPr>
            <a:r>
              <a:rPr lang="es-MX" sz="2400" dirty="0">
                <a:effectLst/>
                <a:latin typeface="Calibri" panose="020F0502020204030204" pitchFamily="34" charset="0"/>
                <a:ea typeface="Calibri" panose="020F0502020204030204" pitchFamily="34" charset="0"/>
                <a:cs typeface="Times New Roman" panose="02020603050405020304" pitchFamily="18" charset="0"/>
              </a:rPr>
              <a:t>Entonces todas las empresas aumentan su producción.</a:t>
            </a:r>
            <a:endParaRPr lang="es-PE" sz="2400" dirty="0">
              <a:effectLst/>
              <a:latin typeface="Calibri" panose="020F0502020204030204" pitchFamily="34" charset="0"/>
              <a:ea typeface="Calibri" panose="020F0502020204030204" pitchFamily="34" charset="0"/>
              <a:cs typeface="Times New Roman" panose="02020603050405020304" pitchFamily="18" charset="0"/>
            </a:endParaRPr>
          </a:p>
          <a:p>
            <a:pPr marL="228600">
              <a:lnSpc>
                <a:spcPct val="150000"/>
              </a:lnSpc>
            </a:pPr>
            <a:r>
              <a:rPr lang="es-MX" sz="2400" dirty="0">
                <a:effectLst/>
                <a:latin typeface="Calibri" panose="020F0502020204030204" pitchFamily="34" charset="0"/>
                <a:ea typeface="Calibri" panose="020F0502020204030204" pitchFamily="34" charset="0"/>
                <a:cs typeface="Times New Roman" panose="02020603050405020304" pitchFamily="18" charset="0"/>
              </a:rPr>
              <a:t> </a:t>
            </a:r>
            <a:endParaRPr lang="es-PE" sz="2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pPr>
            <a:endParaRPr lang="es-PE" sz="2400" dirty="0"/>
          </a:p>
        </p:txBody>
      </p:sp>
    </p:spTree>
    <p:extLst>
      <p:ext uri="{BB962C8B-B14F-4D97-AF65-F5344CB8AC3E}">
        <p14:creationId xmlns:p14="http://schemas.microsoft.com/office/powerpoint/2010/main" val="30278466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1DBEA7A-5D38-4D3B-B053-61C64DA48762}"/>
              </a:ext>
            </a:extLst>
          </p:cNvPr>
          <p:cNvSpPr>
            <a:spLocks noGrp="1"/>
          </p:cNvSpPr>
          <p:nvPr>
            <p:ph type="title"/>
          </p:nvPr>
        </p:nvSpPr>
        <p:spPr/>
        <p:txBody>
          <a:bodyPr>
            <a:normAutofit/>
          </a:bodyPr>
          <a:lstStyle/>
          <a:p>
            <a:r>
              <a:rPr lang="es-PE" sz="3600" dirty="0"/>
              <a:t>Crítica de Lucas: </a:t>
            </a:r>
            <a:r>
              <a:rPr lang="es-ES" sz="3600" dirty="0"/>
              <a:t>Información imperfecta y</a:t>
            </a:r>
            <a:br>
              <a:rPr lang="es-ES" sz="3600" dirty="0"/>
            </a:br>
            <a:r>
              <a:rPr lang="es-ES" sz="3600" dirty="0"/>
              <a:t>expectativas racionales</a:t>
            </a:r>
            <a:endParaRPr lang="es-PE" sz="3600" dirty="0"/>
          </a:p>
        </p:txBody>
      </p:sp>
      <p:sp>
        <p:nvSpPr>
          <p:cNvPr id="3" name="Marcador de contenido 2">
            <a:extLst>
              <a:ext uri="{FF2B5EF4-FFF2-40B4-BE49-F238E27FC236}">
                <a16:creationId xmlns:a16="http://schemas.microsoft.com/office/drawing/2014/main" id="{6BA74B36-69D8-4E37-B970-BB7FF60C5810}"/>
              </a:ext>
            </a:extLst>
          </p:cNvPr>
          <p:cNvSpPr>
            <a:spLocks noGrp="1"/>
          </p:cNvSpPr>
          <p:nvPr>
            <p:ph idx="1"/>
          </p:nvPr>
        </p:nvSpPr>
        <p:spPr>
          <a:xfrm>
            <a:off x="1097280" y="2108201"/>
            <a:ext cx="10058400" cy="3968749"/>
          </a:xfrm>
        </p:spPr>
        <p:txBody>
          <a:bodyPr>
            <a:normAutofit fontScale="92500"/>
          </a:bodyPr>
          <a:lstStyle/>
          <a:p>
            <a:pPr marL="0" lvl="0" indent="0">
              <a:lnSpc>
                <a:spcPct val="150000"/>
              </a:lnSpc>
              <a:buNone/>
            </a:pPr>
            <a:r>
              <a:rPr lang="es-MX" sz="2400" b="1" dirty="0">
                <a:effectLst/>
                <a:latin typeface="Calibri" panose="020F0502020204030204" pitchFamily="34" charset="0"/>
                <a:ea typeface="Calibri" panose="020F0502020204030204" pitchFamily="34" charset="0"/>
                <a:cs typeface="Times New Roman" panose="02020603050405020304" pitchFamily="18" charset="0"/>
              </a:rPr>
              <a:t>Escenario2: </a:t>
            </a:r>
            <a:endParaRPr lang="es-PE" sz="2400" dirty="0">
              <a:effectLst/>
              <a:latin typeface="Calibri" panose="020F0502020204030204" pitchFamily="34" charset="0"/>
              <a:ea typeface="Calibri" panose="020F0502020204030204" pitchFamily="34" charset="0"/>
              <a:cs typeface="Times New Roman" panose="02020603050405020304" pitchFamily="18" charset="0"/>
            </a:endParaRPr>
          </a:p>
          <a:p>
            <a:pPr marL="422910" indent="-285750">
              <a:lnSpc>
                <a:spcPct val="150000"/>
              </a:lnSpc>
              <a:buFont typeface="Arial" panose="020B0604020202020204" pitchFamily="34" charset="0"/>
              <a:buChar char="•"/>
            </a:pPr>
            <a:r>
              <a:rPr lang="es-MX" sz="2400" dirty="0">
                <a:effectLst/>
                <a:latin typeface="Calibri" panose="020F0502020204030204" pitchFamily="34" charset="0"/>
                <a:ea typeface="Calibri" panose="020F0502020204030204" pitchFamily="34" charset="0"/>
                <a:cs typeface="Times New Roman" panose="02020603050405020304" pitchFamily="18" charset="0"/>
              </a:rPr>
              <a:t>Si un grupo de empresas afronta una mayor demanda, </a:t>
            </a:r>
            <a:r>
              <a:rPr lang="es-MX" sz="2400" dirty="0">
                <a:effectLst/>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a:t>
            </a:r>
            <a:r>
              <a:rPr lang="es-MX" sz="2400" dirty="0">
                <a:effectLst/>
                <a:latin typeface="Calibri" panose="020F0502020204030204" pitchFamily="34" charset="0"/>
                <a:ea typeface="Calibri" panose="020F0502020204030204" pitchFamily="34" charset="0"/>
                <a:cs typeface="Times New Roman" panose="02020603050405020304" pitchFamily="18" charset="0"/>
              </a:rPr>
              <a:t> su precio </a:t>
            </a:r>
            <a:r>
              <a:rPr lang="es-MX" sz="2400" i="1" dirty="0">
                <a:effectLst/>
                <a:latin typeface="Times New Roman" panose="02020603050405020304" pitchFamily="18" charset="0"/>
                <a:ea typeface="Calibri" panose="020F0502020204030204" pitchFamily="34" charset="0"/>
                <a:cs typeface="Times New Roman" panose="02020603050405020304" pitchFamily="18" charset="0"/>
              </a:rPr>
              <a:t>p</a:t>
            </a:r>
            <a:r>
              <a:rPr lang="es-MX" sz="2400" i="1" baseline="-25000" dirty="0">
                <a:effectLst/>
                <a:latin typeface="Times New Roman" panose="02020603050405020304" pitchFamily="18" charset="0"/>
                <a:ea typeface="Calibri" panose="020F0502020204030204" pitchFamily="34" charset="0"/>
                <a:cs typeface="Times New Roman" panose="02020603050405020304" pitchFamily="18" charset="0"/>
              </a:rPr>
              <a:t>i</a:t>
            </a:r>
            <a:r>
              <a:rPr lang="es-MX" sz="2400" i="1" baseline="-25000" dirty="0">
                <a:latin typeface="Calibri" panose="020F0502020204030204" pitchFamily="34" charset="0"/>
                <a:ea typeface="Calibri" panose="020F0502020204030204" pitchFamily="34" charset="0"/>
                <a:cs typeface="Times New Roman" panose="02020603050405020304" pitchFamily="18" charset="0"/>
              </a:rPr>
              <a:t> </a:t>
            </a:r>
            <a:r>
              <a:rPr lang="es-MX" sz="2400" dirty="0">
                <a:effectLst/>
                <a:latin typeface="Calibri" panose="020F0502020204030204" pitchFamily="34" charset="0"/>
                <a:ea typeface="Calibri" panose="020F0502020204030204" pitchFamily="34" charset="0"/>
                <a:cs typeface="Times New Roman" panose="02020603050405020304" pitchFamily="18" charset="0"/>
              </a:rPr>
              <a:t>sube</a:t>
            </a:r>
            <a:r>
              <a:rPr lang="es-MX" sz="2400" dirty="0">
                <a:latin typeface="Calibri" panose="020F0502020204030204" pitchFamily="34" charset="0"/>
                <a:ea typeface="Calibri" panose="020F0502020204030204" pitchFamily="34" charset="0"/>
                <a:cs typeface="Times New Roman" panose="02020603050405020304" pitchFamily="18" charset="0"/>
              </a:rPr>
              <a:t>, </a:t>
            </a:r>
            <a:r>
              <a:rPr lang="es-MX" sz="2400" dirty="0">
                <a:effectLst/>
                <a:latin typeface="Calibri" panose="020F0502020204030204" pitchFamily="34" charset="0"/>
                <a:ea typeface="Calibri" panose="020F0502020204030204" pitchFamily="34" charset="0"/>
                <a:cs typeface="Times New Roman" panose="02020603050405020304" pitchFamily="18" charset="0"/>
              </a:rPr>
              <a:t>pero el nivel general de precios </a:t>
            </a:r>
            <a:r>
              <a:rPr lang="es-MX" sz="2400" i="1" dirty="0">
                <a:effectLst/>
                <a:latin typeface="Times New Roman" panose="02020603050405020304" pitchFamily="18" charset="0"/>
                <a:ea typeface="Calibri" panose="020F0502020204030204" pitchFamily="34" charset="0"/>
                <a:cs typeface="Times New Roman" panose="02020603050405020304" pitchFamily="18" charset="0"/>
              </a:rPr>
              <a:t>p</a:t>
            </a:r>
            <a:r>
              <a:rPr lang="es-MX" sz="2400" dirty="0">
                <a:effectLst/>
                <a:latin typeface="Calibri" panose="020F0502020204030204" pitchFamily="34" charset="0"/>
                <a:ea typeface="Calibri" panose="020F0502020204030204" pitchFamily="34" charset="0"/>
                <a:cs typeface="Times New Roman" panose="02020603050405020304" pitchFamily="18" charset="0"/>
              </a:rPr>
              <a:t> permanece constante </a:t>
            </a:r>
            <a:r>
              <a:rPr lang="es-MX" sz="2400" dirty="0">
                <a:effectLst/>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a:t>
            </a:r>
            <a:endParaRPr lang="es-PE" sz="2400" dirty="0">
              <a:effectLst/>
              <a:latin typeface="Calibri" panose="020F0502020204030204" pitchFamily="34" charset="0"/>
              <a:ea typeface="Calibri" panose="020F0502020204030204" pitchFamily="34" charset="0"/>
              <a:cs typeface="Times New Roman" panose="02020603050405020304" pitchFamily="18" charset="0"/>
            </a:endParaRPr>
          </a:p>
          <a:p>
            <a:pPr marL="715518" lvl="1" indent="-285750">
              <a:lnSpc>
                <a:spcPct val="150000"/>
              </a:lnSpc>
              <a:buFont typeface="Arial" panose="020B0604020202020204" pitchFamily="34" charset="0"/>
              <a:buChar char="•"/>
            </a:pPr>
            <a:r>
              <a:rPr lang="es-MX" sz="2400" dirty="0">
                <a:effectLst/>
                <a:latin typeface="Calibri" panose="020F0502020204030204" pitchFamily="34" charset="0"/>
                <a:ea typeface="Calibri" panose="020F0502020204030204" pitchFamily="34" charset="0"/>
                <a:cs typeface="Times New Roman" panose="02020603050405020304" pitchFamily="18" charset="0"/>
              </a:rPr>
              <a:t>Las empresas al formar sus expectativas estiman que el precio relativo </a:t>
            </a:r>
            <a:r>
              <a:rPr lang="es-MX" sz="2400" i="1" dirty="0" err="1">
                <a:effectLst/>
                <a:latin typeface="Times New Roman" panose="02020603050405020304" pitchFamily="18" charset="0"/>
                <a:ea typeface="Calibri" panose="020F0502020204030204" pitchFamily="34" charset="0"/>
                <a:cs typeface="Times New Roman" panose="02020603050405020304" pitchFamily="18" charset="0"/>
              </a:rPr>
              <a:t>r</a:t>
            </a:r>
            <a:r>
              <a:rPr lang="es-MX" sz="2400" i="1" baseline="-25000" dirty="0" err="1">
                <a:effectLst/>
                <a:latin typeface="Times New Roman" panose="02020603050405020304" pitchFamily="18" charset="0"/>
                <a:ea typeface="Calibri" panose="020F0502020204030204" pitchFamily="34" charset="0"/>
                <a:cs typeface="Times New Roman" panose="02020603050405020304" pitchFamily="18" charset="0"/>
              </a:rPr>
              <a:t>i</a:t>
            </a:r>
            <a:r>
              <a:rPr lang="es-MX" sz="2400" dirty="0">
                <a:effectLst/>
                <a:latin typeface="Calibri" panose="020F0502020204030204" pitchFamily="34" charset="0"/>
                <a:ea typeface="Calibri" panose="020F0502020204030204" pitchFamily="34" charset="0"/>
                <a:cs typeface="Times New Roman" panose="02020603050405020304" pitchFamily="18" charset="0"/>
              </a:rPr>
              <a:t> sube solo una parte de lo que subió </a:t>
            </a:r>
            <a:r>
              <a:rPr lang="es-MX" sz="2400" i="1" dirty="0">
                <a:effectLst/>
                <a:latin typeface="Times New Roman" panose="02020603050405020304" pitchFamily="18" charset="0"/>
                <a:ea typeface="Calibri" panose="020F0502020204030204" pitchFamily="34" charset="0"/>
                <a:cs typeface="Times New Roman" panose="02020603050405020304" pitchFamily="18" charset="0"/>
              </a:rPr>
              <a:t>p</a:t>
            </a:r>
            <a:r>
              <a:rPr lang="es-MX" sz="2400" i="1" baseline="-25000" dirty="0">
                <a:effectLst/>
                <a:latin typeface="Times New Roman" panose="02020603050405020304" pitchFamily="18" charset="0"/>
                <a:ea typeface="Calibri" panose="020F0502020204030204" pitchFamily="34" charset="0"/>
                <a:cs typeface="Times New Roman" panose="02020603050405020304" pitchFamily="18" charset="0"/>
              </a:rPr>
              <a:t>i</a:t>
            </a:r>
            <a:r>
              <a:rPr lang="es-MX" sz="2400" dirty="0">
                <a:effectLst/>
                <a:latin typeface="Calibri" panose="020F0502020204030204" pitchFamily="34" charset="0"/>
                <a:ea typeface="Calibri" panose="020F0502020204030204" pitchFamily="34" charset="0"/>
                <a:cs typeface="Times New Roman" panose="02020603050405020304" pitchFamily="18" charset="0"/>
              </a:rPr>
              <a:t> con lo que se tiene que </a:t>
            </a:r>
            <a:r>
              <a:rPr lang="es-MX" sz="2400" i="1" dirty="0">
                <a:effectLst/>
                <a:latin typeface="Times New Roman" panose="02020603050405020304" pitchFamily="18" charset="0"/>
                <a:ea typeface="Calibri" panose="020F0502020204030204" pitchFamily="34" charset="0"/>
                <a:cs typeface="Times New Roman" panose="02020603050405020304" pitchFamily="18" charset="0"/>
              </a:rPr>
              <a:t>p</a:t>
            </a:r>
            <a:r>
              <a:rPr lang="es-MX" sz="2400" i="1" baseline="30000" dirty="0">
                <a:effectLst/>
                <a:latin typeface="Times New Roman" panose="02020603050405020304" pitchFamily="18" charset="0"/>
                <a:ea typeface="Calibri" panose="020F0502020204030204" pitchFamily="34" charset="0"/>
                <a:cs typeface="Times New Roman" panose="02020603050405020304" pitchFamily="18" charset="0"/>
              </a:rPr>
              <a:t>e</a:t>
            </a:r>
            <a:r>
              <a:rPr lang="es-MX" sz="2400" i="1" dirty="0">
                <a:effectLst/>
                <a:latin typeface="Times New Roman" panose="02020603050405020304" pitchFamily="18" charset="0"/>
                <a:ea typeface="Calibri" panose="020F0502020204030204" pitchFamily="34" charset="0"/>
                <a:cs typeface="Times New Roman" panose="02020603050405020304" pitchFamily="18" charset="0"/>
              </a:rPr>
              <a:t> &gt; p</a:t>
            </a:r>
          </a:p>
          <a:p>
            <a:pPr marL="715518" lvl="1" indent="-285750">
              <a:lnSpc>
                <a:spcPct val="150000"/>
              </a:lnSpc>
              <a:buFont typeface="Arial" panose="020B0604020202020204" pitchFamily="34" charset="0"/>
              <a:buChar char="•"/>
            </a:pPr>
            <a:r>
              <a:rPr lang="es-MX" sz="2400" dirty="0">
                <a:latin typeface="Calibri" panose="020F0502020204030204" pitchFamily="34" charset="0"/>
                <a:ea typeface="Calibri" panose="020F0502020204030204" pitchFamily="34" charset="0"/>
                <a:cs typeface="Times New Roman" panose="02020603050405020304" pitchFamily="18" charset="0"/>
              </a:rPr>
              <a:t>Y por lo tanto las </a:t>
            </a:r>
            <a:r>
              <a:rPr lang="es-MX" sz="2400" dirty="0">
                <a:effectLst/>
                <a:latin typeface="Calibri" panose="020F0502020204030204" pitchFamily="34" charset="0"/>
                <a:ea typeface="Calibri" panose="020F0502020204030204" pitchFamily="34" charset="0"/>
                <a:cs typeface="Times New Roman" panose="02020603050405020304" pitchFamily="18" charset="0"/>
              </a:rPr>
              <a:t>empresas aumentaron su producción menos de lo que sube la demanda (con lo cual producción estará por debajo de la producción potencial).</a:t>
            </a:r>
            <a:endParaRPr lang="es-PE" sz="2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pPr>
            <a:endParaRPr lang="es-PE" sz="2400" dirty="0"/>
          </a:p>
        </p:txBody>
      </p:sp>
    </p:spTree>
    <p:extLst>
      <p:ext uri="{BB962C8B-B14F-4D97-AF65-F5344CB8AC3E}">
        <p14:creationId xmlns:p14="http://schemas.microsoft.com/office/powerpoint/2010/main" val="28574684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F97B85B-8C23-48E2-98DE-23B7544F2FC1}"/>
              </a:ext>
            </a:extLst>
          </p:cNvPr>
          <p:cNvSpPr>
            <a:spLocks noGrp="1"/>
          </p:cNvSpPr>
          <p:nvPr>
            <p:ph type="title"/>
          </p:nvPr>
        </p:nvSpPr>
        <p:spPr>
          <a:xfrm>
            <a:off x="1066800" y="8046"/>
            <a:ext cx="10058400" cy="1450757"/>
          </a:xfrm>
        </p:spPr>
        <p:txBody>
          <a:bodyPr>
            <a:normAutofit/>
          </a:bodyPr>
          <a:lstStyle/>
          <a:p>
            <a:r>
              <a:rPr lang="es-PE" sz="3200" dirty="0"/>
              <a:t>Crítica de Lucas: </a:t>
            </a:r>
            <a:r>
              <a:rPr lang="es-ES" sz="3200" dirty="0"/>
              <a:t>Información imperfecta y</a:t>
            </a:r>
            <a:br>
              <a:rPr lang="es-ES" sz="3200" dirty="0"/>
            </a:br>
            <a:r>
              <a:rPr lang="es-ES" sz="3200" dirty="0"/>
              <a:t>expectativas racionales</a:t>
            </a:r>
            <a:endParaRPr lang="es-PE" sz="3200" dirty="0"/>
          </a:p>
        </p:txBody>
      </p:sp>
      <p:sp>
        <p:nvSpPr>
          <p:cNvPr id="3" name="Marcador de contenido 2">
            <a:extLst>
              <a:ext uri="{FF2B5EF4-FFF2-40B4-BE49-F238E27FC236}">
                <a16:creationId xmlns:a16="http://schemas.microsoft.com/office/drawing/2014/main" id="{FAA52731-DD0F-46D7-B34C-199E4FD24FCF}"/>
              </a:ext>
            </a:extLst>
          </p:cNvPr>
          <p:cNvSpPr>
            <a:spLocks noGrp="1"/>
          </p:cNvSpPr>
          <p:nvPr>
            <p:ph idx="1"/>
          </p:nvPr>
        </p:nvSpPr>
        <p:spPr>
          <a:xfrm>
            <a:off x="1142365" y="1801496"/>
            <a:ext cx="10058400" cy="4589144"/>
          </a:xfrm>
        </p:spPr>
        <p:txBody>
          <a:bodyPr>
            <a:noAutofit/>
          </a:bodyPr>
          <a:lstStyle/>
          <a:p>
            <a:pPr marL="266700" lvl="0" indent="-266700">
              <a:lnSpc>
                <a:spcPct val="170000"/>
              </a:lnSpc>
              <a:buFont typeface="Symbol" panose="05050102010706020507" pitchFamily="18" charset="2"/>
              <a:buChar char=""/>
            </a:pPr>
            <a:r>
              <a:rPr lang="es-PE" sz="2200" dirty="0">
                <a:effectLst/>
                <a:latin typeface="Calibri" panose="020F0502020204030204" pitchFamily="34" charset="0"/>
                <a:ea typeface="Calibri" panose="020F0502020204030204" pitchFamily="34" charset="0"/>
                <a:cs typeface="Times New Roman" panose="02020603050405020304" pitchFamily="18" charset="0"/>
              </a:rPr>
              <a:t>Los parámetros </a:t>
            </a:r>
            <a:r>
              <a:rPr lang="el-GR" sz="2200" dirty="0">
                <a:effectLst/>
                <a:latin typeface="Calibri" panose="020F0502020204030204" pitchFamily="34" charset="0"/>
                <a:ea typeface="Calibri" panose="020F0502020204030204" pitchFamily="34" charset="0"/>
                <a:cs typeface="Times New Roman" panose="02020603050405020304" pitchFamily="18" charset="0"/>
              </a:rPr>
              <a:t>δ</a:t>
            </a:r>
            <a:r>
              <a:rPr lang="es-PE" sz="2200" baseline="-25000" dirty="0">
                <a:effectLst/>
                <a:latin typeface="Calibri" panose="020F0502020204030204" pitchFamily="34" charset="0"/>
                <a:ea typeface="Calibri" panose="020F0502020204030204" pitchFamily="34" charset="0"/>
                <a:cs typeface="Times New Roman" panose="02020603050405020304" pitchFamily="18" charset="0"/>
              </a:rPr>
              <a:t>0</a:t>
            </a:r>
            <a:r>
              <a:rPr lang="es-PE" sz="2200" dirty="0">
                <a:effectLst/>
                <a:latin typeface="Calibri" panose="020F0502020204030204" pitchFamily="34" charset="0"/>
                <a:ea typeface="Calibri" panose="020F0502020204030204" pitchFamily="34" charset="0"/>
                <a:cs typeface="Times New Roman" panose="02020603050405020304" pitchFamily="18" charset="0"/>
              </a:rPr>
              <a:t> y </a:t>
            </a:r>
            <a:r>
              <a:rPr lang="el-GR" sz="2200" dirty="0">
                <a:effectLst/>
                <a:latin typeface="Calibri" panose="020F0502020204030204" pitchFamily="34" charset="0"/>
                <a:ea typeface="Calibri" panose="020F0502020204030204" pitchFamily="34" charset="0"/>
                <a:cs typeface="Times New Roman" panose="02020603050405020304" pitchFamily="18" charset="0"/>
              </a:rPr>
              <a:t>δ</a:t>
            </a:r>
            <a:r>
              <a:rPr lang="es-PE" sz="2200" baseline="-25000" dirty="0">
                <a:effectLst/>
                <a:latin typeface="Calibri" panose="020F0502020204030204" pitchFamily="34" charset="0"/>
                <a:ea typeface="Calibri" panose="020F0502020204030204" pitchFamily="34" charset="0"/>
                <a:cs typeface="Times New Roman" panose="02020603050405020304" pitchFamily="18" charset="0"/>
              </a:rPr>
              <a:t>1</a:t>
            </a:r>
            <a:r>
              <a:rPr lang="es-PE" sz="2200" dirty="0">
                <a:effectLst/>
                <a:latin typeface="Calibri" panose="020F0502020204030204" pitchFamily="34" charset="0"/>
                <a:ea typeface="Calibri" panose="020F0502020204030204" pitchFamily="34" charset="0"/>
                <a:cs typeface="Times New Roman" panose="02020603050405020304" pitchFamily="18" charset="0"/>
              </a:rPr>
              <a:t> se forman racionalmente y dependerán de la estructura de la economía.</a:t>
            </a:r>
          </a:p>
          <a:p>
            <a:pPr marL="266700" lvl="0" indent="-266700">
              <a:lnSpc>
                <a:spcPct val="170000"/>
              </a:lnSpc>
              <a:buFont typeface="Symbol" panose="05050102010706020507" pitchFamily="18" charset="2"/>
              <a:buChar char=""/>
            </a:pPr>
            <a:r>
              <a:rPr lang="es-PE" sz="2200" dirty="0">
                <a:effectLst/>
                <a:latin typeface="Calibri" panose="020F0502020204030204" pitchFamily="34" charset="0"/>
                <a:ea typeface="Calibri" panose="020F0502020204030204" pitchFamily="34" charset="0"/>
                <a:cs typeface="Times New Roman" panose="02020603050405020304" pitchFamily="18" charset="0"/>
              </a:rPr>
              <a:t>Entonces ¿cómo es que se forman las expectativas?</a:t>
            </a:r>
          </a:p>
          <a:p>
            <a:pPr marL="266700" lvl="0" indent="-266700">
              <a:lnSpc>
                <a:spcPct val="100000"/>
              </a:lnSpc>
              <a:buFont typeface="Symbol" panose="05050102010706020507" pitchFamily="18" charset="2"/>
              <a:buChar char=""/>
            </a:pPr>
            <a:r>
              <a:rPr lang="es-PE" sz="2200" dirty="0">
                <a:latin typeface="Calibri" panose="020F0502020204030204" pitchFamily="34" charset="0"/>
                <a:ea typeface="Calibri" panose="020F0502020204030204" pitchFamily="34" charset="0"/>
                <a:cs typeface="Times New Roman" panose="02020603050405020304" pitchFamily="18" charset="0"/>
              </a:rPr>
              <a:t>La función de oferta de cada empresa es:</a:t>
            </a:r>
          </a:p>
          <a:p>
            <a:pPr marL="0" lvl="0" indent="0" algn="ctr">
              <a:lnSpc>
                <a:spcPct val="100000"/>
              </a:lnSpc>
              <a:buNone/>
            </a:pPr>
            <a:r>
              <a:rPr lang="es-PE" sz="2200" dirty="0" err="1">
                <a:latin typeface="Times New Roman" panose="02020603050405020304" pitchFamily="18" charset="0"/>
                <a:ea typeface="Calibri" panose="020F0502020204030204" pitchFamily="34" charset="0"/>
                <a:cs typeface="Times New Roman" panose="02020603050405020304" pitchFamily="18" charset="0"/>
              </a:rPr>
              <a:t>y</a:t>
            </a:r>
            <a:r>
              <a:rPr lang="es-PE" sz="2200" baseline="-25000" dirty="0" err="1">
                <a:latin typeface="Times New Roman" panose="02020603050405020304" pitchFamily="18" charset="0"/>
                <a:ea typeface="Calibri" panose="020F0502020204030204" pitchFamily="34" charset="0"/>
                <a:cs typeface="Times New Roman" panose="02020603050405020304" pitchFamily="18" charset="0"/>
              </a:rPr>
              <a:t>i</a:t>
            </a:r>
            <a:r>
              <a:rPr lang="es-PE" sz="2200" dirty="0">
                <a:latin typeface="Times New Roman" panose="02020603050405020304" pitchFamily="18" charset="0"/>
                <a:ea typeface="Calibri" panose="020F0502020204030204" pitchFamily="34" charset="0"/>
                <a:cs typeface="Times New Roman" panose="02020603050405020304" pitchFamily="18" charset="0"/>
              </a:rPr>
              <a:t> = </a:t>
            </a:r>
            <a:r>
              <a:rPr lang="es-PE" sz="2200" dirty="0" err="1">
                <a:latin typeface="Times New Roman" panose="02020603050405020304" pitchFamily="18" charset="0"/>
                <a:ea typeface="Calibri" panose="020F0502020204030204" pitchFamily="34" charset="0"/>
                <a:cs typeface="Times New Roman" panose="02020603050405020304" pitchFamily="18" charset="0"/>
              </a:rPr>
              <a:t>γr</a:t>
            </a:r>
            <a:r>
              <a:rPr lang="es-PE" sz="2200" baseline="30000" dirty="0" err="1">
                <a:latin typeface="Times New Roman" panose="02020603050405020304" pitchFamily="18" charset="0"/>
                <a:ea typeface="Calibri" panose="020F0502020204030204" pitchFamily="34" charset="0"/>
                <a:cs typeface="Times New Roman" panose="02020603050405020304" pitchFamily="18" charset="0"/>
              </a:rPr>
              <a:t>e</a:t>
            </a:r>
            <a:r>
              <a:rPr lang="es-PE" sz="2200" baseline="-25000" dirty="0" err="1">
                <a:latin typeface="Times New Roman" panose="02020603050405020304" pitchFamily="18" charset="0"/>
                <a:ea typeface="Calibri" panose="020F0502020204030204" pitchFamily="34" charset="0"/>
                <a:cs typeface="Times New Roman" panose="02020603050405020304" pitchFamily="18" charset="0"/>
              </a:rPr>
              <a:t>i</a:t>
            </a:r>
            <a:endParaRPr lang="es-PE" sz="2200" baseline="-25000" dirty="0">
              <a:latin typeface="Times New Roman" panose="02020603050405020304" pitchFamily="18" charset="0"/>
              <a:ea typeface="Calibri" panose="020F0502020204030204" pitchFamily="34" charset="0"/>
              <a:cs typeface="Times New Roman" panose="02020603050405020304" pitchFamily="18" charset="0"/>
            </a:endParaRPr>
          </a:p>
          <a:p>
            <a:pPr marL="263525" indent="-263525" algn="just">
              <a:lnSpc>
                <a:spcPct val="100000"/>
              </a:lnSpc>
              <a:buFont typeface="Arial" panose="020B0604020202020204" pitchFamily="34" charset="0"/>
              <a:buChar char="•"/>
            </a:pPr>
            <a:r>
              <a:rPr lang="es-PE" sz="2200" dirty="0">
                <a:latin typeface="Calibri" panose="020F0502020204030204" pitchFamily="34" charset="0"/>
                <a:ea typeface="Calibri" panose="020F0502020204030204" pitchFamily="34" charset="0"/>
                <a:cs typeface="Times New Roman" panose="02020603050405020304" pitchFamily="18" charset="0"/>
              </a:rPr>
              <a:t>Las empresas deben formar sus expectativas sobre r, y que por ser racionales es igual al valor esperado dada la información que tienen:</a:t>
            </a:r>
          </a:p>
          <a:p>
            <a:pPr marL="0" indent="0" algn="ctr">
              <a:lnSpc>
                <a:spcPct val="100000"/>
              </a:lnSpc>
              <a:buNone/>
            </a:pPr>
            <a:r>
              <a:rPr lang="es-PE" sz="2200" dirty="0" err="1">
                <a:latin typeface="Times New Roman" panose="02020603050405020304" pitchFamily="18" charset="0"/>
                <a:ea typeface="Calibri" panose="020F0502020204030204" pitchFamily="34" charset="0"/>
                <a:cs typeface="Times New Roman" panose="02020603050405020304" pitchFamily="18" charset="0"/>
              </a:rPr>
              <a:t>r</a:t>
            </a:r>
            <a:r>
              <a:rPr lang="es-PE" sz="2200" baseline="30000" dirty="0" err="1">
                <a:latin typeface="Times New Roman" panose="02020603050405020304" pitchFamily="18" charset="0"/>
                <a:ea typeface="Calibri" panose="020F0502020204030204" pitchFamily="34" charset="0"/>
                <a:cs typeface="Times New Roman" panose="02020603050405020304" pitchFamily="18" charset="0"/>
              </a:rPr>
              <a:t>e</a:t>
            </a:r>
            <a:r>
              <a:rPr lang="es-PE" sz="2200" baseline="-25000" dirty="0" err="1">
                <a:latin typeface="Times New Roman" panose="02020603050405020304" pitchFamily="18" charset="0"/>
                <a:ea typeface="Calibri" panose="020F0502020204030204" pitchFamily="34" charset="0"/>
                <a:cs typeface="Times New Roman" panose="02020603050405020304" pitchFamily="18" charset="0"/>
              </a:rPr>
              <a:t>i</a:t>
            </a:r>
            <a:r>
              <a:rPr lang="es-PE" sz="2200" baseline="-25000" dirty="0">
                <a:latin typeface="Times New Roman" panose="02020603050405020304" pitchFamily="18" charset="0"/>
                <a:ea typeface="Calibri" panose="020F0502020204030204" pitchFamily="34" charset="0"/>
                <a:cs typeface="Times New Roman" panose="02020603050405020304" pitchFamily="18" charset="0"/>
              </a:rPr>
              <a:t> </a:t>
            </a:r>
            <a:r>
              <a:rPr lang="es-PE" sz="2200" dirty="0">
                <a:latin typeface="Times New Roman" panose="02020603050405020304" pitchFamily="18" charset="0"/>
                <a:ea typeface="Calibri" panose="020F0502020204030204" pitchFamily="34" charset="0"/>
                <a:cs typeface="Times New Roman" panose="02020603050405020304" pitchFamily="18" charset="0"/>
              </a:rPr>
              <a:t>= E(</a:t>
            </a:r>
            <a:r>
              <a:rPr lang="es-PE" sz="2200" dirty="0" err="1">
                <a:latin typeface="Times New Roman" panose="02020603050405020304" pitchFamily="18" charset="0"/>
                <a:ea typeface="Calibri" panose="020F0502020204030204" pitchFamily="34" charset="0"/>
                <a:cs typeface="Times New Roman" panose="02020603050405020304" pitchFamily="18" charset="0"/>
              </a:rPr>
              <a:t>r</a:t>
            </a:r>
            <a:r>
              <a:rPr lang="es-PE" sz="2200" baseline="-25000" dirty="0" err="1">
                <a:latin typeface="Times New Roman" panose="02020603050405020304" pitchFamily="18" charset="0"/>
                <a:ea typeface="Calibri" panose="020F0502020204030204" pitchFamily="34" charset="0"/>
                <a:cs typeface="Times New Roman" panose="02020603050405020304" pitchFamily="18" charset="0"/>
              </a:rPr>
              <a:t>i</a:t>
            </a:r>
            <a:r>
              <a:rPr lang="es-PE" sz="2200" dirty="0">
                <a:latin typeface="Times New Roman" panose="02020603050405020304" pitchFamily="18" charset="0"/>
                <a:ea typeface="Calibri" panose="020F0502020204030204" pitchFamily="34" charset="0"/>
                <a:cs typeface="Times New Roman" panose="02020603050405020304" pitchFamily="18" charset="0"/>
              </a:rPr>
              <a:t> | Ω) = </a:t>
            </a:r>
            <a:r>
              <a:rPr lang="es-PE" sz="2200" dirty="0" err="1">
                <a:latin typeface="Times New Roman" panose="02020603050405020304" pitchFamily="18" charset="0"/>
                <a:ea typeface="Calibri" panose="020F0502020204030204" pitchFamily="34" charset="0"/>
                <a:cs typeface="Times New Roman" panose="02020603050405020304" pitchFamily="18" charset="0"/>
              </a:rPr>
              <a:t>E</a:t>
            </a:r>
            <a:r>
              <a:rPr lang="es-PE" sz="2200" baseline="-25000" dirty="0" err="1">
                <a:latin typeface="Times New Roman" panose="02020603050405020304" pitchFamily="18" charset="0"/>
                <a:ea typeface="Calibri" panose="020F0502020204030204" pitchFamily="34" charset="0"/>
                <a:cs typeface="Times New Roman" panose="02020603050405020304" pitchFamily="18" charset="0"/>
              </a:rPr>
              <a:t>t</a:t>
            </a:r>
            <a:r>
              <a:rPr lang="es-PE" sz="2200" dirty="0" err="1">
                <a:latin typeface="Times New Roman" panose="02020603050405020304" pitchFamily="18" charset="0"/>
                <a:ea typeface="Calibri" panose="020F0502020204030204" pitchFamily="34" charset="0"/>
                <a:cs typeface="Times New Roman" panose="02020603050405020304" pitchFamily="18" charset="0"/>
              </a:rPr>
              <a:t>r</a:t>
            </a:r>
            <a:r>
              <a:rPr lang="es-PE" sz="2200" baseline="30000" dirty="0" err="1">
                <a:latin typeface="Times New Roman" panose="02020603050405020304" pitchFamily="18" charset="0"/>
                <a:ea typeface="Calibri" panose="020F0502020204030204" pitchFamily="34" charset="0"/>
                <a:cs typeface="Times New Roman" panose="02020603050405020304" pitchFamily="18" charset="0"/>
              </a:rPr>
              <a:t>e</a:t>
            </a:r>
            <a:r>
              <a:rPr lang="es-PE" sz="2200" baseline="-25000" dirty="0" err="1">
                <a:latin typeface="Times New Roman" panose="02020603050405020304" pitchFamily="18" charset="0"/>
                <a:ea typeface="Calibri" panose="020F0502020204030204" pitchFamily="34" charset="0"/>
                <a:cs typeface="Times New Roman" panose="02020603050405020304" pitchFamily="18" charset="0"/>
              </a:rPr>
              <a:t>i</a:t>
            </a:r>
            <a:endParaRPr lang="es-PE" sz="22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1388764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F97B85B-8C23-48E2-98DE-23B7544F2FC1}"/>
              </a:ext>
            </a:extLst>
          </p:cNvPr>
          <p:cNvSpPr>
            <a:spLocks noGrp="1"/>
          </p:cNvSpPr>
          <p:nvPr>
            <p:ph type="title"/>
          </p:nvPr>
        </p:nvSpPr>
        <p:spPr>
          <a:xfrm>
            <a:off x="1066800" y="8046"/>
            <a:ext cx="10058400" cy="1450757"/>
          </a:xfrm>
        </p:spPr>
        <p:txBody>
          <a:bodyPr>
            <a:normAutofit/>
          </a:bodyPr>
          <a:lstStyle/>
          <a:p>
            <a:r>
              <a:rPr lang="es-PE" sz="3200" dirty="0"/>
              <a:t>Crítica de Lucas: </a:t>
            </a:r>
            <a:r>
              <a:rPr lang="es-ES" sz="3200" dirty="0"/>
              <a:t>Información imperfecta y</a:t>
            </a:r>
            <a:br>
              <a:rPr lang="es-ES" sz="3200" dirty="0"/>
            </a:br>
            <a:r>
              <a:rPr lang="es-ES" sz="3200" dirty="0"/>
              <a:t>expectativas racionales</a:t>
            </a:r>
            <a:endParaRPr lang="es-PE" sz="3200" dirty="0"/>
          </a:p>
        </p:txBody>
      </p:sp>
      <p:sp>
        <p:nvSpPr>
          <p:cNvPr id="3" name="Marcador de contenido 2">
            <a:extLst>
              <a:ext uri="{FF2B5EF4-FFF2-40B4-BE49-F238E27FC236}">
                <a16:creationId xmlns:a16="http://schemas.microsoft.com/office/drawing/2014/main" id="{FAA52731-DD0F-46D7-B34C-199E4FD24FCF}"/>
              </a:ext>
            </a:extLst>
          </p:cNvPr>
          <p:cNvSpPr>
            <a:spLocks noGrp="1"/>
          </p:cNvSpPr>
          <p:nvPr>
            <p:ph idx="1"/>
          </p:nvPr>
        </p:nvSpPr>
        <p:spPr>
          <a:xfrm>
            <a:off x="1142365" y="1801496"/>
            <a:ext cx="10058400" cy="4152264"/>
          </a:xfrm>
        </p:spPr>
        <p:txBody>
          <a:bodyPr>
            <a:noAutofit/>
          </a:bodyPr>
          <a:lstStyle/>
          <a:p>
            <a:pPr marL="266700" lvl="0" indent="-266700">
              <a:lnSpc>
                <a:spcPct val="170000"/>
              </a:lnSpc>
              <a:buFont typeface="Symbol" panose="05050102010706020507" pitchFamily="18" charset="2"/>
              <a:buChar char=""/>
            </a:pPr>
            <a:r>
              <a:rPr lang="es-PE" sz="2200" dirty="0">
                <a:effectLst/>
                <a:latin typeface="Calibri" panose="020F0502020204030204" pitchFamily="34" charset="0"/>
                <a:ea typeface="Calibri" panose="020F0502020204030204" pitchFamily="34" charset="0"/>
                <a:cs typeface="Times New Roman" panose="02020603050405020304" pitchFamily="18" charset="0"/>
              </a:rPr>
              <a:t>La oferta de cada empresa es:</a:t>
            </a:r>
            <a:endParaRPr lang="es-PE" sz="2200" dirty="0">
              <a:latin typeface="Calibri" panose="020F0502020204030204" pitchFamily="34" charset="0"/>
              <a:ea typeface="Calibri" panose="020F0502020204030204" pitchFamily="34" charset="0"/>
              <a:cs typeface="Times New Roman" panose="02020603050405020304" pitchFamily="18" charset="0"/>
            </a:endParaRPr>
          </a:p>
          <a:p>
            <a:pPr marL="0" lvl="0" indent="0" algn="ctr">
              <a:lnSpc>
                <a:spcPct val="100000"/>
              </a:lnSpc>
              <a:buNone/>
            </a:pPr>
            <a:r>
              <a:rPr lang="es-PE" sz="2200" dirty="0" err="1">
                <a:latin typeface="Times New Roman" panose="02020603050405020304" pitchFamily="18" charset="0"/>
                <a:ea typeface="Calibri" panose="020F0502020204030204" pitchFamily="34" charset="0"/>
                <a:cs typeface="Times New Roman" panose="02020603050405020304" pitchFamily="18" charset="0"/>
              </a:rPr>
              <a:t>y</a:t>
            </a:r>
            <a:r>
              <a:rPr lang="es-PE" sz="2200" baseline="-25000" dirty="0" err="1">
                <a:latin typeface="Times New Roman" panose="02020603050405020304" pitchFamily="18" charset="0"/>
                <a:ea typeface="Calibri" panose="020F0502020204030204" pitchFamily="34" charset="0"/>
                <a:cs typeface="Times New Roman" panose="02020603050405020304" pitchFamily="18" charset="0"/>
              </a:rPr>
              <a:t>i</a:t>
            </a:r>
            <a:r>
              <a:rPr lang="es-PE" sz="2200" dirty="0">
                <a:latin typeface="Times New Roman" panose="02020603050405020304" pitchFamily="18" charset="0"/>
                <a:ea typeface="Calibri" panose="020F0502020204030204" pitchFamily="34" charset="0"/>
                <a:cs typeface="Times New Roman" panose="02020603050405020304" pitchFamily="18" charset="0"/>
              </a:rPr>
              <a:t> = γ E</a:t>
            </a:r>
            <a:r>
              <a:rPr lang="es-PE" sz="2200" baseline="-25000" dirty="0">
                <a:latin typeface="Times New Roman" panose="02020603050405020304" pitchFamily="18" charset="0"/>
                <a:ea typeface="Calibri" panose="020F0502020204030204" pitchFamily="34" charset="0"/>
                <a:cs typeface="Times New Roman" panose="02020603050405020304" pitchFamily="18" charset="0"/>
              </a:rPr>
              <a:t>t</a:t>
            </a:r>
            <a:r>
              <a:rPr lang="es-PE" sz="2200" dirty="0">
                <a:latin typeface="Times New Roman" panose="02020603050405020304" pitchFamily="18" charset="0"/>
                <a:ea typeface="Calibri" panose="020F0502020204030204" pitchFamily="34" charset="0"/>
                <a:cs typeface="Times New Roman" panose="02020603050405020304" pitchFamily="18" charset="0"/>
              </a:rPr>
              <a:t> (</a:t>
            </a:r>
            <a:r>
              <a:rPr lang="es-PE" sz="2200" dirty="0" err="1">
                <a:latin typeface="Times New Roman" panose="02020603050405020304" pitchFamily="18" charset="0"/>
                <a:ea typeface="Calibri" panose="020F0502020204030204" pitchFamily="34" charset="0"/>
                <a:cs typeface="Times New Roman" panose="02020603050405020304" pitchFamily="18" charset="0"/>
              </a:rPr>
              <a:t>r</a:t>
            </a:r>
            <a:r>
              <a:rPr lang="es-PE" sz="2200" baseline="-25000" dirty="0" err="1">
                <a:latin typeface="Times New Roman" panose="02020603050405020304" pitchFamily="18" charset="0"/>
                <a:ea typeface="Calibri" panose="020F0502020204030204" pitchFamily="34" charset="0"/>
                <a:cs typeface="Times New Roman" panose="02020603050405020304" pitchFamily="18" charset="0"/>
              </a:rPr>
              <a:t>i</a:t>
            </a:r>
            <a:r>
              <a:rPr lang="es-PE" sz="2200" dirty="0">
                <a:latin typeface="Times New Roman" panose="02020603050405020304" pitchFamily="18" charset="0"/>
                <a:ea typeface="Calibri" panose="020F0502020204030204" pitchFamily="34" charset="0"/>
                <a:cs typeface="Times New Roman" panose="02020603050405020304" pitchFamily="18" charset="0"/>
              </a:rPr>
              <a:t> | p</a:t>
            </a:r>
            <a:r>
              <a:rPr lang="es-PE" sz="2200" baseline="-25000" dirty="0">
                <a:latin typeface="Times New Roman" panose="02020603050405020304" pitchFamily="18" charset="0"/>
                <a:ea typeface="Calibri" panose="020F0502020204030204" pitchFamily="34" charset="0"/>
                <a:cs typeface="Times New Roman" panose="02020603050405020304" pitchFamily="18" charset="0"/>
              </a:rPr>
              <a:t>i</a:t>
            </a:r>
            <a:r>
              <a:rPr lang="es-PE" sz="2200" dirty="0">
                <a:latin typeface="Times New Roman" panose="02020603050405020304" pitchFamily="18" charset="0"/>
                <a:ea typeface="Calibri" panose="020F0502020204030204" pitchFamily="34" charset="0"/>
                <a:cs typeface="Times New Roman" panose="02020603050405020304" pitchFamily="18" charset="0"/>
              </a:rPr>
              <a:t>)</a:t>
            </a:r>
          </a:p>
          <a:p>
            <a:pPr marL="263525" indent="-263525" algn="just">
              <a:lnSpc>
                <a:spcPct val="100000"/>
              </a:lnSpc>
              <a:buFont typeface="Arial" panose="020B0604020202020204" pitchFamily="34" charset="0"/>
              <a:buChar char="•"/>
            </a:pPr>
            <a:r>
              <a:rPr lang="es-PE" sz="2200" dirty="0">
                <a:latin typeface="Calibri" panose="020F0502020204030204" pitchFamily="34" charset="0"/>
                <a:ea typeface="Calibri" panose="020F0502020204030204" pitchFamily="34" charset="0"/>
                <a:cs typeface="Times New Roman" panose="02020603050405020304" pitchFamily="18" charset="0"/>
              </a:rPr>
              <a:t>Asimismo, se tiene que:</a:t>
            </a:r>
          </a:p>
          <a:p>
            <a:pPr marL="0" indent="0" algn="ctr">
              <a:lnSpc>
                <a:spcPct val="100000"/>
              </a:lnSpc>
              <a:buNone/>
            </a:pPr>
            <a:r>
              <a:rPr lang="es-PE" sz="2200" i="1" dirty="0">
                <a:latin typeface="Times New Roman" panose="02020603050405020304" pitchFamily="18" charset="0"/>
                <a:ea typeface="Calibri" panose="020F0502020204030204" pitchFamily="34" charset="0"/>
                <a:cs typeface="Times New Roman" panose="02020603050405020304" pitchFamily="18" charset="0"/>
              </a:rPr>
              <a:t>E</a:t>
            </a:r>
            <a:r>
              <a:rPr lang="es-PE" sz="2200" i="1" baseline="-25000" dirty="0">
                <a:latin typeface="Times New Roman" panose="02020603050405020304" pitchFamily="18" charset="0"/>
                <a:ea typeface="Calibri" panose="020F0502020204030204" pitchFamily="34" charset="0"/>
                <a:cs typeface="Times New Roman" panose="02020603050405020304" pitchFamily="18" charset="0"/>
              </a:rPr>
              <a:t>t</a:t>
            </a:r>
            <a:r>
              <a:rPr lang="es-PE" sz="2200" i="1" dirty="0">
                <a:latin typeface="Times New Roman" panose="02020603050405020304" pitchFamily="18" charset="0"/>
                <a:ea typeface="Calibri" panose="020F0502020204030204" pitchFamily="34" charset="0"/>
                <a:cs typeface="Times New Roman" panose="02020603050405020304" pitchFamily="18" charset="0"/>
              </a:rPr>
              <a:t> (</a:t>
            </a:r>
            <a:r>
              <a:rPr lang="es-PE" sz="2200" i="1" dirty="0" err="1">
                <a:latin typeface="Times New Roman" panose="02020603050405020304" pitchFamily="18" charset="0"/>
                <a:ea typeface="Calibri" panose="020F0502020204030204" pitchFamily="34" charset="0"/>
                <a:cs typeface="Times New Roman" panose="02020603050405020304" pitchFamily="18" charset="0"/>
              </a:rPr>
              <a:t>r</a:t>
            </a:r>
            <a:r>
              <a:rPr lang="es-PE" sz="2200" i="1" baseline="-25000" dirty="0" err="1">
                <a:latin typeface="Times New Roman" panose="02020603050405020304" pitchFamily="18" charset="0"/>
                <a:ea typeface="Calibri" panose="020F0502020204030204" pitchFamily="34" charset="0"/>
                <a:cs typeface="Times New Roman" panose="02020603050405020304" pitchFamily="18" charset="0"/>
              </a:rPr>
              <a:t>i</a:t>
            </a:r>
            <a:r>
              <a:rPr lang="es-PE" sz="2200" i="1" dirty="0">
                <a:latin typeface="Times New Roman" panose="02020603050405020304" pitchFamily="18" charset="0"/>
                <a:ea typeface="Calibri" panose="020F0502020204030204" pitchFamily="34" charset="0"/>
                <a:cs typeface="Times New Roman" panose="02020603050405020304" pitchFamily="18" charset="0"/>
              </a:rPr>
              <a:t> | p</a:t>
            </a:r>
            <a:r>
              <a:rPr lang="es-PE" sz="2200" i="1" baseline="-25000" dirty="0">
                <a:latin typeface="Times New Roman" panose="02020603050405020304" pitchFamily="18" charset="0"/>
                <a:ea typeface="Calibri" panose="020F0502020204030204" pitchFamily="34" charset="0"/>
                <a:cs typeface="Times New Roman" panose="02020603050405020304" pitchFamily="18" charset="0"/>
              </a:rPr>
              <a:t>i</a:t>
            </a:r>
            <a:r>
              <a:rPr lang="es-PE" sz="2200" i="1" dirty="0">
                <a:latin typeface="Times New Roman" panose="02020603050405020304" pitchFamily="18" charset="0"/>
                <a:ea typeface="Calibri" panose="020F0502020204030204" pitchFamily="34" charset="0"/>
                <a:cs typeface="Times New Roman" panose="02020603050405020304" pitchFamily="18" charset="0"/>
              </a:rPr>
              <a:t>) = </a:t>
            </a:r>
            <a:r>
              <a:rPr lang="es-MX" sz="2200" i="1" dirty="0">
                <a:effectLst/>
                <a:latin typeface="Times New Roman" panose="02020603050405020304" pitchFamily="18" charset="0"/>
                <a:ea typeface="Calibri" panose="020F0502020204030204" pitchFamily="34" charset="0"/>
                <a:cs typeface="Times New Roman" panose="02020603050405020304" pitchFamily="18" charset="0"/>
              </a:rPr>
              <a:t>p</a:t>
            </a:r>
            <a:r>
              <a:rPr lang="es-MX" sz="2200" i="1" baseline="-25000" dirty="0">
                <a:effectLst/>
                <a:latin typeface="Times New Roman" panose="02020603050405020304" pitchFamily="18" charset="0"/>
                <a:ea typeface="Calibri" panose="020F0502020204030204" pitchFamily="34" charset="0"/>
                <a:cs typeface="Times New Roman" panose="02020603050405020304" pitchFamily="18" charset="0"/>
              </a:rPr>
              <a:t>i</a:t>
            </a:r>
            <a:r>
              <a:rPr lang="es-MX" sz="2200" i="1" dirty="0">
                <a:effectLst/>
                <a:latin typeface="Times New Roman" panose="02020603050405020304" pitchFamily="18" charset="0"/>
                <a:ea typeface="Calibri" panose="020F0502020204030204" pitchFamily="34" charset="0"/>
                <a:cs typeface="Times New Roman" panose="02020603050405020304" pitchFamily="18" charset="0"/>
              </a:rPr>
              <a:t> – E</a:t>
            </a:r>
            <a:r>
              <a:rPr lang="es-MX" sz="2200" i="1" baseline="-25000" dirty="0">
                <a:effectLst/>
                <a:latin typeface="Times New Roman" panose="02020603050405020304" pitchFamily="18" charset="0"/>
                <a:ea typeface="Calibri" panose="020F0502020204030204" pitchFamily="34" charset="0"/>
                <a:cs typeface="Times New Roman" panose="02020603050405020304" pitchFamily="18" charset="0"/>
              </a:rPr>
              <a:t>t </a:t>
            </a:r>
            <a:r>
              <a:rPr lang="es-MX" sz="22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s-MX" sz="2200" i="1" dirty="0" err="1">
                <a:effectLst/>
                <a:latin typeface="Times New Roman" panose="02020603050405020304" pitchFamily="18" charset="0"/>
                <a:ea typeface="Calibri" panose="020F0502020204030204" pitchFamily="34" charset="0"/>
                <a:cs typeface="Times New Roman" panose="02020603050405020304" pitchFamily="18" charset="0"/>
              </a:rPr>
              <a:t>p|p</a:t>
            </a:r>
            <a:r>
              <a:rPr lang="es-MX" sz="2200" i="1" baseline="-25000" dirty="0" err="1">
                <a:effectLst/>
                <a:latin typeface="Times New Roman" panose="02020603050405020304" pitchFamily="18" charset="0"/>
                <a:ea typeface="Calibri" panose="020F0502020204030204" pitchFamily="34" charset="0"/>
                <a:cs typeface="Times New Roman" panose="02020603050405020304" pitchFamily="18" charset="0"/>
              </a:rPr>
              <a:t>i</a:t>
            </a:r>
            <a:r>
              <a:rPr lang="es-MX" sz="2200" i="1" dirty="0">
                <a:effectLst/>
                <a:latin typeface="Times New Roman" panose="02020603050405020304" pitchFamily="18" charset="0"/>
                <a:ea typeface="Calibri" panose="020F0502020204030204" pitchFamily="34" charset="0"/>
                <a:cs typeface="Times New Roman" panose="02020603050405020304" pitchFamily="18" charset="0"/>
              </a:rPr>
              <a:t>)</a:t>
            </a:r>
          </a:p>
          <a:p>
            <a:pPr marL="263525" indent="-263525" algn="just">
              <a:lnSpc>
                <a:spcPct val="150000"/>
              </a:lnSpc>
              <a:buFont typeface="Arial" panose="020B0604020202020204" pitchFamily="34" charset="0"/>
              <a:buChar char="•"/>
            </a:pPr>
            <a:r>
              <a:rPr lang="es-PE" sz="2200" dirty="0">
                <a:latin typeface="Calibri" panose="020F0502020204030204" pitchFamily="34" charset="0"/>
                <a:ea typeface="Calibri" panose="020F0502020204030204" pitchFamily="34" charset="0"/>
                <a:cs typeface="Times New Roman" panose="02020603050405020304" pitchFamily="18" charset="0"/>
              </a:rPr>
              <a:t>Donde </a:t>
            </a:r>
            <a:r>
              <a:rPr lang="es-PE" sz="2200" i="1" dirty="0">
                <a:latin typeface="Times New Roman" panose="02020603050405020304" pitchFamily="18" charset="0"/>
                <a:ea typeface="Calibri" panose="020F0502020204030204" pitchFamily="34" charset="0"/>
                <a:cs typeface="Times New Roman" panose="02020603050405020304" pitchFamily="18" charset="0"/>
              </a:rPr>
              <a:t>E</a:t>
            </a:r>
            <a:r>
              <a:rPr lang="es-PE" sz="2200" i="1" baseline="-25000" dirty="0">
                <a:latin typeface="Times New Roman" panose="02020603050405020304" pitchFamily="18" charset="0"/>
                <a:ea typeface="Calibri" panose="020F0502020204030204" pitchFamily="34" charset="0"/>
                <a:cs typeface="Times New Roman" panose="02020603050405020304" pitchFamily="18" charset="0"/>
              </a:rPr>
              <a:t>t </a:t>
            </a:r>
            <a:r>
              <a:rPr lang="es-PE" sz="2200" i="1" dirty="0">
                <a:latin typeface="Times New Roman" panose="02020603050405020304" pitchFamily="18" charset="0"/>
                <a:ea typeface="Calibri" panose="020F0502020204030204" pitchFamily="34" charset="0"/>
                <a:cs typeface="Times New Roman" panose="02020603050405020304" pitchFamily="18" charset="0"/>
              </a:rPr>
              <a:t>p</a:t>
            </a:r>
            <a:r>
              <a:rPr lang="es-PE" sz="2200" dirty="0">
                <a:latin typeface="Calibri" panose="020F0502020204030204" pitchFamily="34" charset="0"/>
                <a:ea typeface="Calibri" panose="020F0502020204030204" pitchFamily="34" charset="0"/>
                <a:cs typeface="Times New Roman" panose="02020603050405020304" pitchFamily="18" charset="0"/>
              </a:rPr>
              <a:t> es la expectativa de p dada toda la información disponible en t sin embargo antes de que se observe</a:t>
            </a:r>
            <a:r>
              <a:rPr lang="es-PE" sz="2200" i="1" dirty="0">
                <a:latin typeface="Times New Roman" panose="02020603050405020304" pitchFamily="18" charset="0"/>
                <a:ea typeface="Calibri" panose="020F0502020204030204" pitchFamily="34" charset="0"/>
                <a:cs typeface="Times New Roman" panose="02020603050405020304" pitchFamily="18" charset="0"/>
              </a:rPr>
              <a:t> p</a:t>
            </a:r>
            <a:r>
              <a:rPr lang="es-PE" sz="2200" i="1" baseline="-25000" dirty="0">
                <a:latin typeface="Times New Roman" panose="02020603050405020304" pitchFamily="18" charset="0"/>
                <a:ea typeface="Calibri" panose="020F0502020204030204" pitchFamily="34" charset="0"/>
                <a:cs typeface="Times New Roman" panose="02020603050405020304" pitchFamily="18" charset="0"/>
              </a:rPr>
              <a:t>i</a:t>
            </a:r>
            <a:endParaRPr lang="es-MX" sz="2200" i="1" baseline="-25000"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2768633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F97B85B-8C23-48E2-98DE-23B7544F2FC1}"/>
              </a:ext>
            </a:extLst>
          </p:cNvPr>
          <p:cNvSpPr>
            <a:spLocks noGrp="1"/>
          </p:cNvSpPr>
          <p:nvPr>
            <p:ph type="title"/>
          </p:nvPr>
        </p:nvSpPr>
        <p:spPr>
          <a:xfrm>
            <a:off x="1066800" y="8046"/>
            <a:ext cx="10058400" cy="1450757"/>
          </a:xfrm>
        </p:spPr>
        <p:txBody>
          <a:bodyPr>
            <a:normAutofit/>
          </a:bodyPr>
          <a:lstStyle/>
          <a:p>
            <a:r>
              <a:rPr lang="es-PE" sz="3200" dirty="0"/>
              <a:t>Crítica de Lucas: </a:t>
            </a:r>
            <a:r>
              <a:rPr lang="es-ES" sz="3200" dirty="0"/>
              <a:t>Información imperfecta y</a:t>
            </a:r>
            <a:br>
              <a:rPr lang="es-ES" sz="3200" dirty="0"/>
            </a:br>
            <a:r>
              <a:rPr lang="es-ES" sz="3200" dirty="0"/>
              <a:t>expectativas racionales</a:t>
            </a:r>
            <a:endParaRPr lang="es-PE" sz="3200" dirty="0"/>
          </a:p>
        </p:txBody>
      </p:sp>
      <p:sp>
        <p:nvSpPr>
          <p:cNvPr id="3" name="Marcador de contenido 2">
            <a:extLst>
              <a:ext uri="{FF2B5EF4-FFF2-40B4-BE49-F238E27FC236}">
                <a16:creationId xmlns:a16="http://schemas.microsoft.com/office/drawing/2014/main" id="{FAA52731-DD0F-46D7-B34C-199E4FD24FCF}"/>
              </a:ext>
            </a:extLst>
          </p:cNvPr>
          <p:cNvSpPr>
            <a:spLocks noGrp="1"/>
          </p:cNvSpPr>
          <p:nvPr>
            <p:ph idx="1"/>
          </p:nvPr>
        </p:nvSpPr>
        <p:spPr>
          <a:xfrm>
            <a:off x="1142364" y="1801496"/>
            <a:ext cx="10348595" cy="4457064"/>
          </a:xfrm>
        </p:spPr>
        <p:txBody>
          <a:bodyPr>
            <a:noAutofit/>
          </a:bodyPr>
          <a:lstStyle/>
          <a:p>
            <a:pPr marL="266700" lvl="0" indent="-266700">
              <a:lnSpc>
                <a:spcPct val="170000"/>
              </a:lnSpc>
              <a:buFont typeface="Symbol" panose="05050102010706020507" pitchFamily="18" charset="2"/>
              <a:buChar char=""/>
            </a:pPr>
            <a:r>
              <a:rPr lang="es-PE" sz="2200" dirty="0">
                <a:effectLst/>
                <a:latin typeface="Calibri" panose="020F0502020204030204" pitchFamily="34" charset="0"/>
                <a:ea typeface="Calibri" panose="020F0502020204030204" pitchFamily="34" charset="0"/>
                <a:cs typeface="Times New Roman" panose="02020603050405020304" pitchFamily="18" charset="0"/>
              </a:rPr>
              <a:t>La teoría de la extracción de señales </a:t>
            </a:r>
            <a:r>
              <a:rPr lang="es-PE" sz="2200" dirty="0">
                <a:latin typeface="Calibri" panose="020F0502020204030204" pitchFamily="34" charset="0"/>
                <a:ea typeface="Calibri" panose="020F0502020204030204" pitchFamily="34" charset="0"/>
                <a:cs typeface="Times New Roman" panose="02020603050405020304" pitchFamily="18" charset="0"/>
              </a:rPr>
              <a:t>permite señalar que la proyección óptima de </a:t>
            </a:r>
            <a:r>
              <a:rPr lang="es-PE" sz="2200" dirty="0" err="1">
                <a:latin typeface="Calibri" panose="020F0502020204030204" pitchFamily="34" charset="0"/>
                <a:ea typeface="Calibri" panose="020F0502020204030204" pitchFamily="34" charset="0"/>
                <a:cs typeface="Times New Roman" panose="02020603050405020304" pitchFamily="18" charset="0"/>
              </a:rPr>
              <a:t>r</a:t>
            </a:r>
            <a:r>
              <a:rPr lang="es-PE" sz="2200" baseline="-25000" dirty="0" err="1">
                <a:latin typeface="Calibri" panose="020F0502020204030204" pitchFamily="34" charset="0"/>
                <a:ea typeface="Calibri" panose="020F0502020204030204" pitchFamily="34" charset="0"/>
                <a:cs typeface="Times New Roman" panose="02020603050405020304" pitchFamily="18" charset="0"/>
              </a:rPr>
              <a:t>i</a:t>
            </a:r>
            <a:r>
              <a:rPr lang="es-PE" sz="2200" dirty="0">
                <a:latin typeface="Calibri" panose="020F0502020204030204" pitchFamily="34" charset="0"/>
                <a:ea typeface="Calibri" panose="020F0502020204030204" pitchFamily="34" charset="0"/>
                <a:cs typeface="Times New Roman" panose="02020603050405020304" pitchFamily="18" charset="0"/>
              </a:rPr>
              <a:t> depende de p</a:t>
            </a:r>
            <a:r>
              <a:rPr lang="es-PE" sz="2200" baseline="-25000" dirty="0">
                <a:latin typeface="Calibri" panose="020F0502020204030204" pitchFamily="34" charset="0"/>
                <a:ea typeface="Calibri" panose="020F0502020204030204" pitchFamily="34" charset="0"/>
                <a:cs typeface="Times New Roman" panose="02020603050405020304" pitchFamily="18" charset="0"/>
              </a:rPr>
              <a:t>i</a:t>
            </a:r>
            <a:r>
              <a:rPr lang="es-PE" sz="2200" dirty="0">
                <a:latin typeface="Calibri" panose="020F0502020204030204" pitchFamily="34" charset="0"/>
                <a:ea typeface="Calibri" panose="020F0502020204030204" pitchFamily="34" charset="0"/>
                <a:cs typeface="Times New Roman" panose="02020603050405020304" pitchFamily="18" charset="0"/>
              </a:rPr>
              <a:t> tal que: </a:t>
            </a:r>
          </a:p>
          <a:p>
            <a:pPr marL="0" lvl="0" indent="0" algn="ctr">
              <a:lnSpc>
                <a:spcPct val="170000"/>
              </a:lnSpc>
              <a:buNone/>
            </a:pPr>
            <a:r>
              <a:rPr lang="es-PE" sz="2200" i="1" dirty="0">
                <a:latin typeface="Times New Roman" panose="02020603050405020304" pitchFamily="18" charset="0"/>
                <a:ea typeface="Calibri" panose="020F0502020204030204" pitchFamily="34" charset="0"/>
                <a:cs typeface="Times New Roman" panose="02020603050405020304" pitchFamily="18" charset="0"/>
              </a:rPr>
              <a:t>E</a:t>
            </a:r>
            <a:r>
              <a:rPr lang="es-PE" sz="2200" i="1" baseline="-25000" dirty="0">
                <a:latin typeface="Times New Roman" panose="02020603050405020304" pitchFamily="18" charset="0"/>
                <a:ea typeface="Calibri" panose="020F0502020204030204" pitchFamily="34" charset="0"/>
                <a:cs typeface="Times New Roman" panose="02020603050405020304" pitchFamily="18" charset="0"/>
              </a:rPr>
              <a:t>t</a:t>
            </a:r>
            <a:r>
              <a:rPr lang="es-PE" sz="2200" i="1" dirty="0">
                <a:latin typeface="Times New Roman" panose="02020603050405020304" pitchFamily="18" charset="0"/>
                <a:ea typeface="Calibri" panose="020F0502020204030204" pitchFamily="34" charset="0"/>
                <a:cs typeface="Times New Roman" panose="02020603050405020304" pitchFamily="18" charset="0"/>
              </a:rPr>
              <a:t> (</a:t>
            </a:r>
            <a:r>
              <a:rPr lang="es-PE" sz="2200" i="1" dirty="0" err="1">
                <a:latin typeface="Times New Roman" panose="02020603050405020304" pitchFamily="18" charset="0"/>
                <a:ea typeface="Calibri" panose="020F0502020204030204" pitchFamily="34" charset="0"/>
                <a:cs typeface="Times New Roman" panose="02020603050405020304" pitchFamily="18" charset="0"/>
              </a:rPr>
              <a:t>r</a:t>
            </a:r>
            <a:r>
              <a:rPr lang="es-PE" sz="2200" i="1" baseline="-25000" dirty="0" err="1">
                <a:latin typeface="Times New Roman" panose="02020603050405020304" pitchFamily="18" charset="0"/>
                <a:ea typeface="Calibri" panose="020F0502020204030204" pitchFamily="34" charset="0"/>
                <a:cs typeface="Times New Roman" panose="02020603050405020304" pitchFamily="18" charset="0"/>
              </a:rPr>
              <a:t>i</a:t>
            </a:r>
            <a:r>
              <a:rPr lang="es-PE" sz="2200" i="1" dirty="0">
                <a:latin typeface="Times New Roman" panose="02020603050405020304" pitchFamily="18" charset="0"/>
                <a:ea typeface="Calibri" panose="020F0502020204030204" pitchFamily="34" charset="0"/>
                <a:cs typeface="Times New Roman" panose="02020603050405020304" pitchFamily="18" charset="0"/>
              </a:rPr>
              <a:t> | p</a:t>
            </a:r>
            <a:r>
              <a:rPr lang="es-PE" sz="2200" i="1" baseline="-25000" dirty="0">
                <a:latin typeface="Times New Roman" panose="02020603050405020304" pitchFamily="18" charset="0"/>
                <a:ea typeface="Calibri" panose="020F0502020204030204" pitchFamily="34" charset="0"/>
                <a:cs typeface="Times New Roman" panose="02020603050405020304" pitchFamily="18" charset="0"/>
              </a:rPr>
              <a:t>i</a:t>
            </a:r>
            <a:r>
              <a:rPr lang="es-PE" sz="2200" i="1" dirty="0">
                <a:latin typeface="Times New Roman" panose="02020603050405020304" pitchFamily="18" charset="0"/>
                <a:ea typeface="Calibri" panose="020F0502020204030204" pitchFamily="34" charset="0"/>
                <a:cs typeface="Times New Roman" panose="02020603050405020304" pitchFamily="18" charset="0"/>
              </a:rPr>
              <a:t>) = ε [ </a:t>
            </a:r>
            <a:r>
              <a:rPr lang="es-MX" sz="2200" i="1" dirty="0">
                <a:effectLst/>
                <a:latin typeface="Times New Roman" panose="02020603050405020304" pitchFamily="18" charset="0"/>
                <a:ea typeface="Calibri" panose="020F0502020204030204" pitchFamily="34" charset="0"/>
                <a:cs typeface="Times New Roman" panose="02020603050405020304" pitchFamily="18" charset="0"/>
              </a:rPr>
              <a:t>p</a:t>
            </a:r>
            <a:r>
              <a:rPr lang="es-MX" sz="2200" i="1" baseline="-25000" dirty="0">
                <a:effectLst/>
                <a:latin typeface="Times New Roman" panose="02020603050405020304" pitchFamily="18" charset="0"/>
                <a:ea typeface="Calibri" panose="020F0502020204030204" pitchFamily="34" charset="0"/>
                <a:cs typeface="Times New Roman" panose="02020603050405020304" pitchFamily="18" charset="0"/>
              </a:rPr>
              <a:t>i</a:t>
            </a:r>
            <a:r>
              <a:rPr lang="es-MX" sz="2200" i="1" dirty="0">
                <a:effectLst/>
                <a:latin typeface="Times New Roman" panose="02020603050405020304" pitchFamily="18" charset="0"/>
                <a:ea typeface="Calibri" panose="020F0502020204030204" pitchFamily="34" charset="0"/>
                <a:cs typeface="Times New Roman" panose="02020603050405020304" pitchFamily="18" charset="0"/>
              </a:rPr>
              <a:t> – E</a:t>
            </a:r>
            <a:r>
              <a:rPr lang="es-MX" sz="2200" i="1" baseline="-25000" dirty="0">
                <a:effectLst/>
                <a:latin typeface="Times New Roman" panose="02020603050405020304" pitchFamily="18" charset="0"/>
                <a:ea typeface="Calibri" panose="020F0502020204030204" pitchFamily="34" charset="0"/>
                <a:cs typeface="Times New Roman" panose="02020603050405020304" pitchFamily="18" charset="0"/>
              </a:rPr>
              <a:t>t </a:t>
            </a:r>
            <a:r>
              <a:rPr lang="es-MX" sz="2200" i="1" dirty="0">
                <a:effectLst/>
                <a:latin typeface="Times New Roman" panose="02020603050405020304" pitchFamily="18" charset="0"/>
                <a:ea typeface="Calibri" panose="020F0502020204030204" pitchFamily="34" charset="0"/>
                <a:cs typeface="Times New Roman" panose="02020603050405020304" pitchFamily="18" charset="0"/>
              </a:rPr>
              <a:t>( p)</a:t>
            </a:r>
            <a:r>
              <a:rPr lang="es-MX" sz="2200" i="1" dirty="0">
                <a:latin typeface="Times New Roman" panose="02020603050405020304" pitchFamily="18" charset="0"/>
                <a:ea typeface="Calibri" panose="020F0502020204030204" pitchFamily="34" charset="0"/>
                <a:cs typeface="Times New Roman" panose="02020603050405020304" pitchFamily="18" charset="0"/>
              </a:rPr>
              <a:t>]</a:t>
            </a:r>
            <a:endParaRPr lang="es-MX" sz="2200" i="1" dirty="0">
              <a:effectLst/>
              <a:latin typeface="Times New Roman" panose="02020603050405020304" pitchFamily="18" charset="0"/>
              <a:ea typeface="Calibri" panose="020F0502020204030204" pitchFamily="34" charset="0"/>
              <a:cs typeface="Times New Roman" panose="02020603050405020304" pitchFamily="18" charset="0"/>
            </a:endParaRPr>
          </a:p>
          <a:p>
            <a:pPr marL="263525" indent="-263525" algn="just">
              <a:lnSpc>
                <a:spcPct val="150000"/>
              </a:lnSpc>
              <a:buFont typeface="Arial" panose="020B0604020202020204" pitchFamily="34" charset="0"/>
              <a:buChar char="•"/>
            </a:pPr>
            <a:r>
              <a:rPr lang="es-PE" sz="2200" dirty="0">
                <a:latin typeface="Calibri" panose="020F0502020204030204" pitchFamily="34" charset="0"/>
                <a:ea typeface="Calibri" panose="020F0502020204030204" pitchFamily="34" charset="0"/>
                <a:cs typeface="Times New Roman" panose="02020603050405020304" pitchFamily="18" charset="0"/>
              </a:rPr>
              <a:t>Donde </a:t>
            </a:r>
            <a:r>
              <a:rPr lang="es-PE" sz="2200" i="1" dirty="0">
                <a:latin typeface="Times New Roman" panose="02020603050405020304" pitchFamily="18" charset="0"/>
                <a:ea typeface="Calibri" panose="020F0502020204030204" pitchFamily="34" charset="0"/>
                <a:cs typeface="Times New Roman" panose="02020603050405020304" pitchFamily="18" charset="0"/>
              </a:rPr>
              <a:t>E</a:t>
            </a:r>
            <a:r>
              <a:rPr lang="es-PE" sz="2200" i="1" baseline="-25000" dirty="0">
                <a:latin typeface="Times New Roman" panose="02020603050405020304" pitchFamily="18" charset="0"/>
                <a:ea typeface="Calibri" panose="020F0502020204030204" pitchFamily="34" charset="0"/>
                <a:cs typeface="Times New Roman" panose="02020603050405020304" pitchFamily="18" charset="0"/>
              </a:rPr>
              <a:t>t </a:t>
            </a:r>
            <a:r>
              <a:rPr lang="es-PE" sz="2200" i="1" dirty="0">
                <a:latin typeface="Times New Roman" panose="02020603050405020304" pitchFamily="18" charset="0"/>
                <a:ea typeface="Calibri" panose="020F0502020204030204" pitchFamily="34" charset="0"/>
                <a:cs typeface="Times New Roman" panose="02020603050405020304" pitchFamily="18" charset="0"/>
              </a:rPr>
              <a:t>p</a:t>
            </a:r>
            <a:r>
              <a:rPr lang="es-PE" sz="2200" dirty="0">
                <a:latin typeface="Calibri" panose="020F0502020204030204" pitchFamily="34" charset="0"/>
                <a:ea typeface="Calibri" panose="020F0502020204030204" pitchFamily="34" charset="0"/>
                <a:cs typeface="Times New Roman" panose="02020603050405020304" pitchFamily="18" charset="0"/>
              </a:rPr>
              <a:t> es la expectativa de p dada toda la información disponible en t ; sin embargo, antes de que se observe</a:t>
            </a:r>
            <a:r>
              <a:rPr lang="es-PE" sz="2200" i="1" dirty="0">
                <a:latin typeface="Times New Roman" panose="02020603050405020304" pitchFamily="18" charset="0"/>
                <a:ea typeface="Calibri" panose="020F0502020204030204" pitchFamily="34" charset="0"/>
                <a:cs typeface="Times New Roman" panose="02020603050405020304" pitchFamily="18" charset="0"/>
              </a:rPr>
              <a:t> p</a:t>
            </a:r>
            <a:r>
              <a:rPr lang="es-PE" sz="2200" i="1" baseline="-25000" dirty="0">
                <a:latin typeface="Times New Roman" panose="02020603050405020304" pitchFamily="18" charset="0"/>
                <a:ea typeface="Calibri" panose="020F0502020204030204" pitchFamily="34" charset="0"/>
                <a:cs typeface="Times New Roman" panose="02020603050405020304" pitchFamily="18" charset="0"/>
              </a:rPr>
              <a:t>i.</a:t>
            </a:r>
          </a:p>
          <a:p>
            <a:pPr marL="263525" indent="-263525" algn="just">
              <a:lnSpc>
                <a:spcPct val="150000"/>
              </a:lnSpc>
              <a:buFont typeface="Arial" panose="020B0604020202020204" pitchFamily="34" charset="0"/>
              <a:buChar char="•"/>
            </a:pPr>
            <a:r>
              <a:rPr lang="es-PE" sz="2200" dirty="0">
                <a:latin typeface="Calibri" panose="020F0502020204030204" pitchFamily="34" charset="0"/>
                <a:ea typeface="Calibri" panose="020F0502020204030204" pitchFamily="34" charset="0"/>
                <a:cs typeface="Times New Roman" panose="02020603050405020304" pitchFamily="18" charset="0"/>
              </a:rPr>
              <a:t>El parámetro </a:t>
            </a:r>
            <a:r>
              <a:rPr lang="es-PE" sz="2200" i="1" dirty="0">
                <a:latin typeface="Times New Roman" panose="02020603050405020304" pitchFamily="18" charset="0"/>
                <a:ea typeface="Calibri" panose="020F0502020204030204" pitchFamily="34" charset="0"/>
                <a:cs typeface="Times New Roman" panose="02020603050405020304" pitchFamily="18" charset="0"/>
              </a:rPr>
              <a:t>ε </a:t>
            </a:r>
            <a:r>
              <a:rPr lang="es-PE" sz="2200" dirty="0">
                <a:latin typeface="Calibri" panose="020F0502020204030204" pitchFamily="34" charset="0"/>
                <a:ea typeface="Calibri" panose="020F0502020204030204" pitchFamily="34" charset="0"/>
                <a:cs typeface="Times New Roman" panose="02020603050405020304" pitchFamily="18" charset="0"/>
              </a:rPr>
              <a:t>depende de la calidad de la señal y estará influenciado por las varianzas relativas </a:t>
            </a:r>
            <a:r>
              <a:rPr lang="es-PE" sz="2200" dirty="0">
                <a:latin typeface="Times New Roman" panose="02020603050405020304" pitchFamily="18" charset="0"/>
                <a:ea typeface="Calibri" panose="020F0502020204030204" pitchFamily="34" charset="0"/>
                <a:cs typeface="Times New Roman" panose="02020603050405020304" pitchFamily="18" charset="0"/>
              </a:rPr>
              <a:t>de </a:t>
            </a:r>
            <a:r>
              <a:rPr lang="es-PE" sz="2200" i="1" dirty="0" err="1">
                <a:latin typeface="Times New Roman" panose="02020603050405020304" pitchFamily="18" charset="0"/>
                <a:ea typeface="Calibri" panose="020F0502020204030204" pitchFamily="34" charset="0"/>
                <a:cs typeface="Times New Roman" panose="02020603050405020304" pitchFamily="18" charset="0"/>
              </a:rPr>
              <a:t>r</a:t>
            </a:r>
            <a:r>
              <a:rPr lang="es-PE" sz="2200" i="1" baseline="-25000" dirty="0" err="1">
                <a:latin typeface="Times New Roman" panose="02020603050405020304" pitchFamily="18" charset="0"/>
                <a:ea typeface="Calibri" panose="020F0502020204030204" pitchFamily="34" charset="0"/>
                <a:cs typeface="Times New Roman" panose="02020603050405020304" pitchFamily="18" charset="0"/>
              </a:rPr>
              <a:t>i</a:t>
            </a:r>
            <a:r>
              <a:rPr lang="es-PE" sz="2200" i="1" dirty="0">
                <a:latin typeface="Times New Roman" panose="02020603050405020304" pitchFamily="18" charset="0"/>
                <a:ea typeface="Calibri" panose="020F0502020204030204" pitchFamily="34" charset="0"/>
                <a:cs typeface="Times New Roman" panose="02020603050405020304" pitchFamily="18" charset="0"/>
              </a:rPr>
              <a:t> y p.</a:t>
            </a:r>
            <a:endParaRPr lang="es-MX" sz="2200" i="1"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1764272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F97B85B-8C23-48E2-98DE-23B7544F2FC1}"/>
              </a:ext>
            </a:extLst>
          </p:cNvPr>
          <p:cNvSpPr>
            <a:spLocks noGrp="1"/>
          </p:cNvSpPr>
          <p:nvPr>
            <p:ph type="title"/>
          </p:nvPr>
        </p:nvSpPr>
        <p:spPr>
          <a:xfrm>
            <a:off x="1066800" y="8046"/>
            <a:ext cx="10058400" cy="1450757"/>
          </a:xfrm>
        </p:spPr>
        <p:txBody>
          <a:bodyPr>
            <a:normAutofit/>
          </a:bodyPr>
          <a:lstStyle/>
          <a:p>
            <a:r>
              <a:rPr lang="es-PE" sz="3200" dirty="0"/>
              <a:t>Crítica de Lucas: </a:t>
            </a:r>
            <a:r>
              <a:rPr lang="es-ES" sz="3200" dirty="0"/>
              <a:t>Información imperfecta y</a:t>
            </a:r>
            <a:br>
              <a:rPr lang="es-ES" sz="3200" dirty="0"/>
            </a:br>
            <a:r>
              <a:rPr lang="es-ES" sz="3200" dirty="0"/>
              <a:t>expectativas racionales</a:t>
            </a:r>
            <a:endParaRPr lang="es-PE" sz="3200"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FAA52731-DD0F-46D7-B34C-199E4FD24FCF}"/>
                  </a:ext>
                </a:extLst>
              </p:cNvPr>
              <p:cNvSpPr>
                <a:spLocks noGrp="1"/>
              </p:cNvSpPr>
              <p:nvPr>
                <p:ph idx="1"/>
              </p:nvPr>
            </p:nvSpPr>
            <p:spPr>
              <a:xfrm>
                <a:off x="1142364" y="1801496"/>
                <a:ext cx="10348595" cy="4457064"/>
              </a:xfrm>
            </p:spPr>
            <p:txBody>
              <a:bodyPr>
                <a:noAutofit/>
              </a:bodyPr>
              <a:lstStyle/>
              <a:p>
                <a:pPr marL="266700" lvl="0" indent="-266700">
                  <a:lnSpc>
                    <a:spcPct val="170000"/>
                  </a:lnSpc>
                  <a:buFont typeface="Symbol" panose="05050102010706020507" pitchFamily="18" charset="2"/>
                  <a:buChar char=""/>
                </a:pPr>
                <a:r>
                  <a:rPr lang="es-PE" sz="2200" dirty="0">
                    <a:effectLst/>
                    <a:latin typeface="Calibri" panose="020F0502020204030204" pitchFamily="34" charset="0"/>
                    <a:ea typeface="Calibri" panose="020F0502020204030204" pitchFamily="34" charset="0"/>
                    <a:cs typeface="Times New Roman" panose="02020603050405020304" pitchFamily="18" charset="0"/>
                  </a:rPr>
                  <a:t>Se define este parámetro </a:t>
                </a:r>
                <a:r>
                  <a:rPr lang="es-PE" sz="2200" i="1" dirty="0">
                    <a:latin typeface="Times New Roman" panose="02020603050405020304" pitchFamily="18" charset="0"/>
                    <a:ea typeface="Calibri" panose="020F0502020204030204" pitchFamily="34" charset="0"/>
                    <a:cs typeface="Times New Roman" panose="02020603050405020304" pitchFamily="18" charset="0"/>
                  </a:rPr>
                  <a:t>ε </a:t>
                </a:r>
                <a:r>
                  <a:rPr lang="es-PE" sz="2200" dirty="0">
                    <a:latin typeface="Calibri" panose="020F0502020204030204" pitchFamily="34" charset="0"/>
                    <a:ea typeface="Calibri" panose="020F0502020204030204" pitchFamily="34" charset="0"/>
                    <a:cs typeface="Times New Roman" panose="02020603050405020304" pitchFamily="18" charset="0"/>
                  </a:rPr>
                  <a:t>como:</a:t>
                </a:r>
              </a:p>
              <a:p>
                <a:pPr marL="0" lvl="0" indent="0" algn="ctr">
                  <a:lnSpc>
                    <a:spcPct val="170000"/>
                  </a:lnSpc>
                  <a:buNone/>
                </a:pPr>
                <a14:m>
                  <m:oMathPara xmlns:m="http://schemas.openxmlformats.org/officeDocument/2006/math">
                    <m:oMathParaPr>
                      <m:jc m:val="centerGroup"/>
                    </m:oMathParaPr>
                    <m:oMath xmlns:m="http://schemas.openxmlformats.org/officeDocument/2006/math">
                      <m:r>
                        <a:rPr lang="es-MX" sz="2200" i="1">
                          <a:latin typeface="Cambria Math" panose="02040503050406030204" pitchFamily="18" charset="0"/>
                          <a:ea typeface="Cambria Math" panose="02040503050406030204" pitchFamily="18" charset="0"/>
                          <a:cs typeface="Times New Roman" panose="02020603050405020304" pitchFamily="18" charset="0"/>
                        </a:rPr>
                        <m:t>𝜀</m:t>
                      </m:r>
                      <m:r>
                        <a:rPr lang="es-PE" sz="2200" i="1">
                          <a:latin typeface="Cambria Math" panose="02040503050406030204" pitchFamily="18" charset="0"/>
                          <a:ea typeface="Cambria Math" panose="02040503050406030204" pitchFamily="18" charset="0"/>
                          <a:cs typeface="Times New Roman" panose="02020603050405020304" pitchFamily="18" charset="0"/>
                        </a:rPr>
                        <m:t>=</m:t>
                      </m:r>
                      <m:f>
                        <m:fPr>
                          <m:ctrlPr>
                            <a:rPr lang="es-MX" sz="2200" i="1">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s-MX" sz="2200" i="1">
                                  <a:latin typeface="Cambria Math" panose="02040503050406030204" pitchFamily="18" charset="0"/>
                                  <a:ea typeface="Calibri" panose="020F0502020204030204" pitchFamily="34" charset="0"/>
                                  <a:cs typeface="Times New Roman" panose="02020603050405020304" pitchFamily="18" charset="0"/>
                                </a:rPr>
                              </m:ctrlPr>
                            </m:sSubPr>
                            <m:e>
                              <m:r>
                                <a:rPr lang="es-PE" sz="2200" i="1">
                                  <a:latin typeface="Cambria Math" panose="02040503050406030204" pitchFamily="18" charset="0"/>
                                  <a:ea typeface="Calibri" panose="020F0502020204030204" pitchFamily="34" charset="0"/>
                                  <a:cs typeface="Times New Roman" panose="02020603050405020304" pitchFamily="18" charset="0"/>
                                </a:rPr>
                                <m:t>𝑉</m:t>
                              </m:r>
                            </m:e>
                            <m:sub>
                              <m:r>
                                <a:rPr lang="es-PE" sz="2200" i="1">
                                  <a:latin typeface="Cambria Math" panose="02040503050406030204" pitchFamily="18" charset="0"/>
                                  <a:ea typeface="Calibri" panose="020F0502020204030204" pitchFamily="34" charset="0"/>
                                  <a:cs typeface="Times New Roman" panose="02020603050405020304" pitchFamily="18" charset="0"/>
                                </a:rPr>
                                <m:t>𝑟</m:t>
                              </m:r>
                            </m:sub>
                          </m:sSub>
                        </m:num>
                        <m:den>
                          <m:sSub>
                            <m:sSubPr>
                              <m:ctrlPr>
                                <a:rPr lang="es-MX" sz="2200" i="1">
                                  <a:latin typeface="Cambria Math" panose="02040503050406030204" pitchFamily="18" charset="0"/>
                                  <a:ea typeface="Calibri" panose="020F0502020204030204" pitchFamily="34" charset="0"/>
                                  <a:cs typeface="Times New Roman" panose="02020603050405020304" pitchFamily="18" charset="0"/>
                                </a:rPr>
                              </m:ctrlPr>
                            </m:sSubPr>
                            <m:e>
                              <m:r>
                                <a:rPr lang="es-PE" sz="2200" i="1">
                                  <a:latin typeface="Cambria Math" panose="02040503050406030204" pitchFamily="18" charset="0"/>
                                  <a:ea typeface="Calibri" panose="020F0502020204030204" pitchFamily="34" charset="0"/>
                                  <a:cs typeface="Times New Roman" panose="02020603050405020304" pitchFamily="18" charset="0"/>
                                </a:rPr>
                                <m:t>𝑉</m:t>
                              </m:r>
                            </m:e>
                            <m:sub>
                              <m:r>
                                <a:rPr lang="es-PE" sz="2200" i="1">
                                  <a:latin typeface="Cambria Math" panose="02040503050406030204" pitchFamily="18" charset="0"/>
                                  <a:ea typeface="Calibri" panose="020F0502020204030204" pitchFamily="34" charset="0"/>
                                  <a:cs typeface="Times New Roman" panose="02020603050405020304" pitchFamily="18" charset="0"/>
                                </a:rPr>
                                <m:t>𝑟</m:t>
                              </m:r>
                            </m:sub>
                          </m:sSub>
                          <m:r>
                            <a:rPr lang="es-PE" sz="2200" i="1">
                              <a:latin typeface="Cambria Math" panose="02040503050406030204" pitchFamily="18" charset="0"/>
                              <a:ea typeface="Calibri" panose="020F0502020204030204" pitchFamily="34" charset="0"/>
                              <a:cs typeface="Times New Roman" panose="02020603050405020304" pitchFamily="18" charset="0"/>
                            </a:rPr>
                            <m:t>+</m:t>
                          </m:r>
                          <m:sSub>
                            <m:sSubPr>
                              <m:ctrlPr>
                                <a:rPr lang="es-PE" sz="2200" i="1">
                                  <a:latin typeface="Cambria Math" panose="02040503050406030204" pitchFamily="18" charset="0"/>
                                  <a:ea typeface="Calibri" panose="020F0502020204030204" pitchFamily="34" charset="0"/>
                                  <a:cs typeface="Times New Roman" panose="02020603050405020304" pitchFamily="18" charset="0"/>
                                </a:rPr>
                              </m:ctrlPr>
                            </m:sSubPr>
                            <m:e>
                              <m:r>
                                <a:rPr lang="es-PE" sz="2200" i="1">
                                  <a:latin typeface="Cambria Math" panose="02040503050406030204" pitchFamily="18" charset="0"/>
                                  <a:ea typeface="Calibri" panose="020F0502020204030204" pitchFamily="34" charset="0"/>
                                  <a:cs typeface="Times New Roman" panose="02020603050405020304" pitchFamily="18" charset="0"/>
                                </a:rPr>
                                <m:t>𝑉</m:t>
                              </m:r>
                            </m:e>
                            <m:sub>
                              <m:r>
                                <a:rPr lang="es-PE" sz="2200" i="1">
                                  <a:latin typeface="Cambria Math" panose="02040503050406030204" pitchFamily="18" charset="0"/>
                                  <a:ea typeface="Calibri" panose="020F0502020204030204" pitchFamily="34" charset="0"/>
                                  <a:cs typeface="Times New Roman" panose="02020603050405020304" pitchFamily="18" charset="0"/>
                                </a:rPr>
                                <m:t>𝑝</m:t>
                              </m:r>
                            </m:sub>
                          </m:sSub>
                        </m:den>
                      </m:f>
                    </m:oMath>
                  </m:oMathPara>
                </a14:m>
                <a:endParaRPr lang="es-MX" sz="2200" i="1" dirty="0">
                  <a:effectLst/>
                  <a:latin typeface="Times New Roman" panose="02020603050405020304" pitchFamily="18" charset="0"/>
                  <a:ea typeface="Calibri" panose="020F0502020204030204" pitchFamily="34" charset="0"/>
                  <a:cs typeface="Times New Roman" panose="02020603050405020304" pitchFamily="18" charset="0"/>
                </a:endParaRPr>
              </a:p>
              <a:p>
                <a:pPr marL="263525" indent="-263525" algn="just">
                  <a:lnSpc>
                    <a:spcPct val="150000"/>
                  </a:lnSpc>
                  <a:buFont typeface="Arial" panose="020B0604020202020204" pitchFamily="34" charset="0"/>
                  <a:buChar char="•"/>
                </a:pPr>
                <a:r>
                  <a:rPr lang="es-PE" sz="2200" dirty="0">
                    <a:latin typeface="Calibri" panose="020F0502020204030204" pitchFamily="34" charset="0"/>
                    <a:ea typeface="Calibri" panose="020F0502020204030204" pitchFamily="34" charset="0"/>
                    <a:cs typeface="Times New Roman" panose="02020603050405020304" pitchFamily="18" charset="0"/>
                  </a:rPr>
                  <a:t>Si</a:t>
                </a:r>
                <a:r>
                  <a:rPr lang="es-PE" sz="2200" dirty="0">
                    <a:latin typeface="Times New Roman" panose="02020603050405020304" pitchFamily="18" charset="0"/>
                    <a:ea typeface="Calibri" panose="020F0502020204030204" pitchFamily="34" charset="0"/>
                    <a:cs typeface="Times New Roman" panose="02020603050405020304" pitchFamily="18" charset="0"/>
                  </a:rPr>
                  <a:t> </a:t>
                </a:r>
                <a:r>
                  <a:rPr lang="es-PE" sz="2200" i="1" dirty="0" err="1">
                    <a:latin typeface="Times New Roman" panose="02020603050405020304" pitchFamily="18" charset="0"/>
                    <a:ea typeface="Calibri" panose="020F0502020204030204" pitchFamily="34" charset="0"/>
                    <a:cs typeface="Times New Roman" panose="02020603050405020304" pitchFamily="18" charset="0"/>
                  </a:rPr>
                  <a:t>r</a:t>
                </a:r>
                <a:r>
                  <a:rPr lang="es-PE" sz="2200" i="1" baseline="-25000" dirty="0" err="1">
                    <a:latin typeface="Times New Roman" panose="02020603050405020304" pitchFamily="18" charset="0"/>
                    <a:ea typeface="Calibri" panose="020F0502020204030204" pitchFamily="34" charset="0"/>
                    <a:cs typeface="Times New Roman" panose="02020603050405020304" pitchFamily="18" charset="0"/>
                  </a:rPr>
                  <a:t>i</a:t>
                </a:r>
                <a:r>
                  <a:rPr lang="es-PE" sz="2200" i="1" dirty="0">
                    <a:latin typeface="Times New Roman" panose="02020603050405020304" pitchFamily="18" charset="0"/>
                    <a:ea typeface="Calibri" panose="020F0502020204030204" pitchFamily="34" charset="0"/>
                    <a:cs typeface="Times New Roman" panose="02020603050405020304" pitchFamily="18" charset="0"/>
                  </a:rPr>
                  <a:t> </a:t>
                </a:r>
                <a:r>
                  <a:rPr lang="es-PE" sz="2200" dirty="0">
                    <a:latin typeface="Calibri" panose="020F0502020204030204" pitchFamily="34" charset="0"/>
                    <a:ea typeface="Calibri" panose="020F0502020204030204" pitchFamily="34" charset="0"/>
                    <a:cs typeface="Times New Roman" panose="02020603050405020304" pitchFamily="18" charset="0"/>
                  </a:rPr>
                  <a:t>es muy variable y </a:t>
                </a:r>
                <a:r>
                  <a:rPr lang="es-PE" sz="2200" i="1" dirty="0">
                    <a:latin typeface="Times New Roman" panose="02020603050405020304" pitchFamily="18" charset="0"/>
                    <a:ea typeface="Calibri" panose="020F0502020204030204" pitchFamily="34" charset="0"/>
                    <a:cs typeface="Times New Roman" panose="02020603050405020304" pitchFamily="18" charset="0"/>
                  </a:rPr>
                  <a:t>p </a:t>
                </a:r>
                <a:r>
                  <a:rPr lang="es-PE" sz="2200" dirty="0">
                    <a:latin typeface="Calibri" panose="020F0502020204030204" pitchFamily="34" charset="0"/>
                    <a:ea typeface="Calibri" panose="020F0502020204030204" pitchFamily="34" charset="0"/>
                    <a:cs typeface="Times New Roman" panose="02020603050405020304" pitchFamily="18" charset="0"/>
                  </a:rPr>
                  <a:t>es poco variable, lo más probable es que cuando</a:t>
                </a:r>
                <a:r>
                  <a:rPr lang="es-PE" sz="2200" i="1" dirty="0">
                    <a:latin typeface="Times New Roman" panose="02020603050405020304" pitchFamily="18" charset="0"/>
                    <a:ea typeface="Calibri" panose="020F0502020204030204" pitchFamily="34" charset="0"/>
                    <a:cs typeface="Times New Roman" panose="02020603050405020304" pitchFamily="18" charset="0"/>
                  </a:rPr>
                  <a:t> p</a:t>
                </a:r>
                <a:r>
                  <a:rPr lang="es-PE" sz="2200" i="1" baseline="-25000" dirty="0">
                    <a:latin typeface="Times New Roman" panose="02020603050405020304" pitchFamily="18" charset="0"/>
                    <a:ea typeface="Calibri" panose="020F0502020204030204" pitchFamily="34" charset="0"/>
                    <a:cs typeface="Times New Roman" panose="02020603050405020304" pitchFamily="18" charset="0"/>
                  </a:rPr>
                  <a:t>i</a:t>
                </a:r>
                <a:r>
                  <a:rPr lang="es-PE" sz="2200" i="1" dirty="0">
                    <a:latin typeface="Times New Roman" panose="02020603050405020304" pitchFamily="18" charset="0"/>
                    <a:ea typeface="Calibri" panose="020F0502020204030204" pitchFamily="34" charset="0"/>
                    <a:cs typeface="Times New Roman" panose="02020603050405020304" pitchFamily="18" charset="0"/>
                  </a:rPr>
                  <a:t> </a:t>
                </a:r>
                <a:r>
                  <a:rPr lang="es-PE" sz="2200" dirty="0">
                    <a:latin typeface="Calibri" panose="020F0502020204030204" pitchFamily="34" charset="0"/>
                    <a:ea typeface="Calibri" panose="020F0502020204030204" pitchFamily="34" charset="0"/>
                    <a:cs typeface="Times New Roman" panose="02020603050405020304" pitchFamily="18" charset="0"/>
                  </a:rPr>
                  <a:t>sube la empresa presume que el cambio en </a:t>
                </a:r>
                <a:r>
                  <a:rPr lang="el-GR" sz="2200" dirty="0">
                    <a:latin typeface="Calibri" panose="020F0502020204030204" pitchFamily="34" charset="0"/>
                    <a:ea typeface="Calibri" panose="020F0502020204030204" pitchFamily="34" charset="0"/>
                    <a:cs typeface="Times New Roman" panose="02020603050405020304" pitchFamily="18" charset="0"/>
                  </a:rPr>
                  <a:t>ε</a:t>
                </a:r>
                <a:r>
                  <a:rPr lang="es-PE" sz="2200" dirty="0">
                    <a:latin typeface="Calibri" panose="020F0502020204030204" pitchFamily="34" charset="0"/>
                    <a:ea typeface="Calibri" panose="020F0502020204030204" pitchFamily="34" charset="0"/>
                    <a:cs typeface="Times New Roman" panose="02020603050405020304" pitchFamily="18" charset="0"/>
                  </a:rPr>
                  <a:t> es un cambio de precios relativos y por lo tanto es elevado.</a:t>
                </a:r>
                <a:endParaRPr lang="es-MX" sz="2200" dirty="0">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3" name="Marcador de contenido 2">
                <a:extLst>
                  <a:ext uri="{FF2B5EF4-FFF2-40B4-BE49-F238E27FC236}">
                    <a16:creationId xmlns:a16="http://schemas.microsoft.com/office/drawing/2014/main" id="{FAA52731-DD0F-46D7-B34C-199E4FD24FCF}"/>
                  </a:ext>
                </a:extLst>
              </p:cNvPr>
              <p:cNvSpPr>
                <a:spLocks noGrp="1" noRot="1" noChangeAspect="1" noMove="1" noResize="1" noEditPoints="1" noAdjustHandles="1" noChangeArrowheads="1" noChangeShapeType="1" noTextEdit="1"/>
              </p:cNvSpPr>
              <p:nvPr>
                <p:ph idx="1"/>
              </p:nvPr>
            </p:nvSpPr>
            <p:spPr>
              <a:xfrm>
                <a:off x="1142364" y="1801496"/>
                <a:ext cx="10348595" cy="4457064"/>
              </a:xfrm>
              <a:blipFill>
                <a:blip r:embed="rId2"/>
                <a:stretch>
                  <a:fillRect l="-1649" r="-1590"/>
                </a:stretch>
              </a:blipFill>
            </p:spPr>
            <p:txBody>
              <a:bodyPr/>
              <a:lstStyle/>
              <a:p>
                <a:r>
                  <a:rPr lang="es-PE">
                    <a:noFill/>
                  </a:rPr>
                  <a:t> </a:t>
                </a:r>
              </a:p>
            </p:txBody>
          </p:sp>
        </mc:Fallback>
      </mc:AlternateContent>
    </p:spTree>
    <p:extLst>
      <p:ext uri="{BB962C8B-B14F-4D97-AF65-F5344CB8AC3E}">
        <p14:creationId xmlns:p14="http://schemas.microsoft.com/office/powerpoint/2010/main" val="9656327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F97B85B-8C23-48E2-98DE-23B7544F2FC1}"/>
              </a:ext>
            </a:extLst>
          </p:cNvPr>
          <p:cNvSpPr>
            <a:spLocks noGrp="1"/>
          </p:cNvSpPr>
          <p:nvPr>
            <p:ph type="title"/>
          </p:nvPr>
        </p:nvSpPr>
        <p:spPr>
          <a:xfrm>
            <a:off x="1066800" y="8046"/>
            <a:ext cx="10058400" cy="1450757"/>
          </a:xfrm>
        </p:spPr>
        <p:txBody>
          <a:bodyPr>
            <a:normAutofit/>
          </a:bodyPr>
          <a:lstStyle/>
          <a:p>
            <a:r>
              <a:rPr lang="es-PE" sz="3200" dirty="0"/>
              <a:t>Crítica de Lucas: </a:t>
            </a:r>
            <a:r>
              <a:rPr lang="es-ES" sz="3200" dirty="0"/>
              <a:t>Información imperfecta y</a:t>
            </a:r>
            <a:br>
              <a:rPr lang="es-ES" sz="3200" dirty="0"/>
            </a:br>
            <a:r>
              <a:rPr lang="es-ES" sz="3200" dirty="0"/>
              <a:t>expectativas racionales</a:t>
            </a:r>
            <a:endParaRPr lang="es-PE" sz="3200" dirty="0"/>
          </a:p>
        </p:txBody>
      </p:sp>
      <p:sp>
        <p:nvSpPr>
          <p:cNvPr id="3" name="Marcador de contenido 2">
            <a:extLst>
              <a:ext uri="{FF2B5EF4-FFF2-40B4-BE49-F238E27FC236}">
                <a16:creationId xmlns:a16="http://schemas.microsoft.com/office/drawing/2014/main" id="{FAA52731-DD0F-46D7-B34C-199E4FD24FCF}"/>
              </a:ext>
            </a:extLst>
          </p:cNvPr>
          <p:cNvSpPr>
            <a:spLocks noGrp="1"/>
          </p:cNvSpPr>
          <p:nvPr>
            <p:ph idx="1"/>
          </p:nvPr>
        </p:nvSpPr>
        <p:spPr>
          <a:xfrm>
            <a:off x="1066800" y="1699896"/>
            <a:ext cx="10348595" cy="4457064"/>
          </a:xfrm>
        </p:spPr>
        <p:txBody>
          <a:bodyPr>
            <a:noAutofit/>
          </a:bodyPr>
          <a:lstStyle/>
          <a:p>
            <a:pPr marL="266700" lvl="0" indent="-266700">
              <a:lnSpc>
                <a:spcPct val="170000"/>
              </a:lnSpc>
              <a:buFont typeface="Symbol" panose="05050102010706020507" pitchFamily="18" charset="2"/>
              <a:buChar char=""/>
            </a:pPr>
            <a:r>
              <a:rPr lang="es-PE" sz="2200" dirty="0">
                <a:effectLst/>
                <a:latin typeface="Calibri" panose="020F0502020204030204" pitchFamily="34" charset="0"/>
                <a:ea typeface="Calibri" panose="020F0502020204030204" pitchFamily="34" charset="0"/>
                <a:cs typeface="Times New Roman" panose="02020603050405020304" pitchFamily="18" charset="0"/>
              </a:rPr>
              <a:t>De</a:t>
            </a:r>
          </a:p>
          <a:p>
            <a:pPr marL="0" indent="0" algn="ctr">
              <a:lnSpc>
                <a:spcPct val="170000"/>
              </a:lnSpc>
              <a:buNone/>
            </a:pPr>
            <a:r>
              <a:rPr lang="es-PE" sz="2200" i="1" dirty="0">
                <a:latin typeface="Times New Roman" panose="02020603050405020304" pitchFamily="18" charset="0"/>
                <a:ea typeface="Calibri" panose="020F0502020204030204" pitchFamily="34" charset="0"/>
                <a:cs typeface="Times New Roman" panose="02020603050405020304" pitchFamily="18" charset="0"/>
              </a:rPr>
              <a:t>E</a:t>
            </a:r>
            <a:r>
              <a:rPr lang="es-PE" sz="2200" i="1" baseline="-25000" dirty="0">
                <a:latin typeface="Times New Roman" panose="02020603050405020304" pitchFamily="18" charset="0"/>
                <a:ea typeface="Calibri" panose="020F0502020204030204" pitchFamily="34" charset="0"/>
                <a:cs typeface="Times New Roman" panose="02020603050405020304" pitchFamily="18" charset="0"/>
              </a:rPr>
              <a:t>t</a:t>
            </a:r>
            <a:r>
              <a:rPr lang="es-PE" sz="2200" i="1" dirty="0">
                <a:latin typeface="Times New Roman" panose="02020603050405020304" pitchFamily="18" charset="0"/>
                <a:ea typeface="Calibri" panose="020F0502020204030204" pitchFamily="34" charset="0"/>
                <a:cs typeface="Times New Roman" panose="02020603050405020304" pitchFamily="18" charset="0"/>
              </a:rPr>
              <a:t> (</a:t>
            </a:r>
            <a:r>
              <a:rPr lang="es-PE" sz="2200" i="1" dirty="0" err="1">
                <a:latin typeface="Times New Roman" panose="02020603050405020304" pitchFamily="18" charset="0"/>
                <a:ea typeface="Calibri" panose="020F0502020204030204" pitchFamily="34" charset="0"/>
                <a:cs typeface="Times New Roman" panose="02020603050405020304" pitchFamily="18" charset="0"/>
              </a:rPr>
              <a:t>r</a:t>
            </a:r>
            <a:r>
              <a:rPr lang="es-PE" sz="2200" i="1" baseline="-25000" dirty="0" err="1">
                <a:latin typeface="Times New Roman" panose="02020603050405020304" pitchFamily="18" charset="0"/>
                <a:ea typeface="Calibri" panose="020F0502020204030204" pitchFamily="34" charset="0"/>
                <a:cs typeface="Times New Roman" panose="02020603050405020304" pitchFamily="18" charset="0"/>
              </a:rPr>
              <a:t>i</a:t>
            </a:r>
            <a:r>
              <a:rPr lang="es-PE" sz="2200" i="1" dirty="0">
                <a:latin typeface="Times New Roman" panose="02020603050405020304" pitchFamily="18" charset="0"/>
                <a:ea typeface="Calibri" panose="020F0502020204030204" pitchFamily="34" charset="0"/>
                <a:cs typeface="Times New Roman" panose="02020603050405020304" pitchFamily="18" charset="0"/>
              </a:rPr>
              <a:t> | p</a:t>
            </a:r>
            <a:r>
              <a:rPr lang="es-PE" sz="2200" i="1" baseline="-25000" dirty="0">
                <a:latin typeface="Times New Roman" panose="02020603050405020304" pitchFamily="18" charset="0"/>
                <a:ea typeface="Calibri" panose="020F0502020204030204" pitchFamily="34" charset="0"/>
                <a:cs typeface="Times New Roman" panose="02020603050405020304" pitchFamily="18" charset="0"/>
              </a:rPr>
              <a:t>i</a:t>
            </a:r>
            <a:r>
              <a:rPr lang="es-PE" sz="2200" i="1" dirty="0">
                <a:latin typeface="Times New Roman" panose="02020603050405020304" pitchFamily="18" charset="0"/>
                <a:ea typeface="Calibri" panose="020F0502020204030204" pitchFamily="34" charset="0"/>
                <a:cs typeface="Times New Roman" panose="02020603050405020304" pitchFamily="18" charset="0"/>
              </a:rPr>
              <a:t>) = </a:t>
            </a:r>
            <a:r>
              <a:rPr lang="es-MX" sz="2200" i="1" dirty="0">
                <a:effectLst/>
                <a:latin typeface="Times New Roman" panose="02020603050405020304" pitchFamily="18" charset="0"/>
                <a:ea typeface="Calibri" panose="020F0502020204030204" pitchFamily="34" charset="0"/>
                <a:cs typeface="Times New Roman" panose="02020603050405020304" pitchFamily="18" charset="0"/>
              </a:rPr>
              <a:t>p</a:t>
            </a:r>
            <a:r>
              <a:rPr lang="es-MX" sz="2200" i="1" baseline="-25000" dirty="0">
                <a:effectLst/>
                <a:latin typeface="Times New Roman" panose="02020603050405020304" pitchFamily="18" charset="0"/>
                <a:ea typeface="Calibri" panose="020F0502020204030204" pitchFamily="34" charset="0"/>
                <a:cs typeface="Times New Roman" panose="02020603050405020304" pitchFamily="18" charset="0"/>
              </a:rPr>
              <a:t>i</a:t>
            </a:r>
            <a:r>
              <a:rPr lang="es-MX" sz="2200" i="1" dirty="0">
                <a:effectLst/>
                <a:latin typeface="Times New Roman" panose="02020603050405020304" pitchFamily="18" charset="0"/>
                <a:ea typeface="Calibri" panose="020F0502020204030204" pitchFamily="34" charset="0"/>
                <a:cs typeface="Times New Roman" panose="02020603050405020304" pitchFamily="18" charset="0"/>
              </a:rPr>
              <a:t> – E</a:t>
            </a:r>
            <a:r>
              <a:rPr lang="es-MX" sz="2200" i="1" baseline="-25000" dirty="0">
                <a:effectLst/>
                <a:latin typeface="Times New Roman" panose="02020603050405020304" pitchFamily="18" charset="0"/>
                <a:ea typeface="Calibri" panose="020F0502020204030204" pitchFamily="34" charset="0"/>
                <a:cs typeface="Times New Roman" panose="02020603050405020304" pitchFamily="18" charset="0"/>
              </a:rPr>
              <a:t>t </a:t>
            </a:r>
            <a:r>
              <a:rPr lang="es-MX" sz="22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s-MX" sz="2200" i="1" dirty="0" err="1">
                <a:effectLst/>
                <a:latin typeface="Times New Roman" panose="02020603050405020304" pitchFamily="18" charset="0"/>
                <a:ea typeface="Calibri" panose="020F0502020204030204" pitchFamily="34" charset="0"/>
                <a:cs typeface="Times New Roman" panose="02020603050405020304" pitchFamily="18" charset="0"/>
              </a:rPr>
              <a:t>p|p</a:t>
            </a:r>
            <a:r>
              <a:rPr lang="es-MX" sz="2200" i="1" baseline="-25000" dirty="0" err="1">
                <a:effectLst/>
                <a:latin typeface="Times New Roman" panose="02020603050405020304" pitchFamily="18" charset="0"/>
                <a:ea typeface="Calibri" panose="020F0502020204030204" pitchFamily="34" charset="0"/>
                <a:cs typeface="Times New Roman" panose="02020603050405020304" pitchFamily="18" charset="0"/>
              </a:rPr>
              <a:t>i</a:t>
            </a:r>
            <a:r>
              <a:rPr lang="es-MX" sz="2200" i="1" dirty="0">
                <a:effectLst/>
                <a:latin typeface="Times New Roman" panose="02020603050405020304" pitchFamily="18" charset="0"/>
                <a:ea typeface="Calibri" panose="020F0502020204030204" pitchFamily="34" charset="0"/>
                <a:cs typeface="Times New Roman" panose="02020603050405020304" pitchFamily="18" charset="0"/>
              </a:rPr>
              <a:t>)</a:t>
            </a:r>
          </a:p>
          <a:p>
            <a:pPr marL="0" lvl="0" indent="0" algn="ctr">
              <a:lnSpc>
                <a:spcPct val="170000"/>
              </a:lnSpc>
              <a:buNone/>
            </a:pPr>
            <a:r>
              <a:rPr lang="es-PE" sz="2200" i="1" dirty="0">
                <a:latin typeface="Times New Roman" panose="02020603050405020304" pitchFamily="18" charset="0"/>
                <a:ea typeface="Calibri" panose="020F0502020204030204" pitchFamily="34" charset="0"/>
                <a:cs typeface="Times New Roman" panose="02020603050405020304" pitchFamily="18" charset="0"/>
              </a:rPr>
              <a:t>E</a:t>
            </a:r>
            <a:r>
              <a:rPr lang="es-PE" sz="2200" i="1" baseline="-25000" dirty="0">
                <a:latin typeface="Times New Roman" panose="02020603050405020304" pitchFamily="18" charset="0"/>
                <a:ea typeface="Calibri" panose="020F0502020204030204" pitchFamily="34" charset="0"/>
                <a:cs typeface="Times New Roman" panose="02020603050405020304" pitchFamily="18" charset="0"/>
              </a:rPr>
              <a:t>t</a:t>
            </a:r>
            <a:r>
              <a:rPr lang="es-PE" sz="2200" i="1" dirty="0">
                <a:latin typeface="Times New Roman" panose="02020603050405020304" pitchFamily="18" charset="0"/>
                <a:ea typeface="Calibri" panose="020F0502020204030204" pitchFamily="34" charset="0"/>
                <a:cs typeface="Times New Roman" panose="02020603050405020304" pitchFamily="18" charset="0"/>
              </a:rPr>
              <a:t> (</a:t>
            </a:r>
            <a:r>
              <a:rPr lang="es-PE" sz="2200" i="1" dirty="0" err="1">
                <a:latin typeface="Times New Roman" panose="02020603050405020304" pitchFamily="18" charset="0"/>
                <a:ea typeface="Calibri" panose="020F0502020204030204" pitchFamily="34" charset="0"/>
                <a:cs typeface="Times New Roman" panose="02020603050405020304" pitchFamily="18" charset="0"/>
              </a:rPr>
              <a:t>r</a:t>
            </a:r>
            <a:r>
              <a:rPr lang="es-PE" sz="2200" i="1" baseline="-25000" dirty="0" err="1">
                <a:latin typeface="Times New Roman" panose="02020603050405020304" pitchFamily="18" charset="0"/>
                <a:ea typeface="Calibri" panose="020F0502020204030204" pitchFamily="34" charset="0"/>
                <a:cs typeface="Times New Roman" panose="02020603050405020304" pitchFamily="18" charset="0"/>
              </a:rPr>
              <a:t>i</a:t>
            </a:r>
            <a:r>
              <a:rPr lang="es-PE" sz="2200" i="1" dirty="0">
                <a:latin typeface="Times New Roman" panose="02020603050405020304" pitchFamily="18" charset="0"/>
                <a:ea typeface="Calibri" panose="020F0502020204030204" pitchFamily="34" charset="0"/>
                <a:cs typeface="Times New Roman" panose="02020603050405020304" pitchFamily="18" charset="0"/>
              </a:rPr>
              <a:t> | p</a:t>
            </a:r>
            <a:r>
              <a:rPr lang="es-PE" sz="2200" i="1" baseline="-25000" dirty="0">
                <a:latin typeface="Times New Roman" panose="02020603050405020304" pitchFamily="18" charset="0"/>
                <a:ea typeface="Calibri" panose="020F0502020204030204" pitchFamily="34" charset="0"/>
                <a:cs typeface="Times New Roman" panose="02020603050405020304" pitchFamily="18" charset="0"/>
              </a:rPr>
              <a:t>i</a:t>
            </a:r>
            <a:r>
              <a:rPr lang="es-PE" sz="2200" i="1" dirty="0">
                <a:latin typeface="Times New Roman" panose="02020603050405020304" pitchFamily="18" charset="0"/>
                <a:ea typeface="Calibri" panose="020F0502020204030204" pitchFamily="34" charset="0"/>
                <a:cs typeface="Times New Roman" panose="02020603050405020304" pitchFamily="18" charset="0"/>
              </a:rPr>
              <a:t>) = ε [ </a:t>
            </a:r>
            <a:r>
              <a:rPr lang="es-MX" sz="2200" i="1" dirty="0">
                <a:effectLst/>
                <a:latin typeface="Times New Roman" panose="02020603050405020304" pitchFamily="18" charset="0"/>
                <a:ea typeface="Calibri" panose="020F0502020204030204" pitchFamily="34" charset="0"/>
                <a:cs typeface="Times New Roman" panose="02020603050405020304" pitchFamily="18" charset="0"/>
              </a:rPr>
              <a:t>p</a:t>
            </a:r>
            <a:r>
              <a:rPr lang="es-MX" sz="2200" i="1" baseline="-25000" dirty="0">
                <a:effectLst/>
                <a:latin typeface="Times New Roman" panose="02020603050405020304" pitchFamily="18" charset="0"/>
                <a:ea typeface="Calibri" panose="020F0502020204030204" pitchFamily="34" charset="0"/>
                <a:cs typeface="Times New Roman" panose="02020603050405020304" pitchFamily="18" charset="0"/>
              </a:rPr>
              <a:t>i</a:t>
            </a:r>
            <a:r>
              <a:rPr lang="es-MX" sz="2200" i="1" dirty="0">
                <a:effectLst/>
                <a:latin typeface="Times New Roman" panose="02020603050405020304" pitchFamily="18" charset="0"/>
                <a:ea typeface="Calibri" panose="020F0502020204030204" pitchFamily="34" charset="0"/>
                <a:cs typeface="Times New Roman" panose="02020603050405020304" pitchFamily="18" charset="0"/>
              </a:rPr>
              <a:t> – E</a:t>
            </a:r>
            <a:r>
              <a:rPr lang="es-MX" sz="2200" i="1" baseline="-25000" dirty="0">
                <a:effectLst/>
                <a:latin typeface="Times New Roman" panose="02020603050405020304" pitchFamily="18" charset="0"/>
                <a:ea typeface="Calibri" panose="020F0502020204030204" pitchFamily="34" charset="0"/>
                <a:cs typeface="Times New Roman" panose="02020603050405020304" pitchFamily="18" charset="0"/>
              </a:rPr>
              <a:t>t </a:t>
            </a:r>
            <a:r>
              <a:rPr lang="es-MX" sz="2200" i="1" dirty="0">
                <a:effectLst/>
                <a:latin typeface="Times New Roman" panose="02020603050405020304" pitchFamily="18" charset="0"/>
                <a:ea typeface="Calibri" panose="020F0502020204030204" pitchFamily="34" charset="0"/>
                <a:cs typeface="Times New Roman" panose="02020603050405020304" pitchFamily="18" charset="0"/>
              </a:rPr>
              <a:t>( p)</a:t>
            </a:r>
            <a:r>
              <a:rPr lang="es-MX" sz="2200" i="1" dirty="0">
                <a:latin typeface="Times New Roman" panose="02020603050405020304" pitchFamily="18" charset="0"/>
                <a:ea typeface="Calibri" panose="020F0502020204030204" pitchFamily="34" charset="0"/>
                <a:cs typeface="Times New Roman" panose="02020603050405020304" pitchFamily="18" charset="0"/>
              </a:rPr>
              <a:t>]</a:t>
            </a:r>
            <a:endParaRPr lang="es-PE" sz="22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70000"/>
              </a:lnSpc>
              <a:buFont typeface="Wingdings" panose="05000000000000000000" pitchFamily="2" charset="2"/>
              <a:buChar char="§"/>
            </a:pPr>
            <a:r>
              <a:rPr lang="es-PE" sz="2200" dirty="0">
                <a:effectLst/>
                <a:latin typeface="Calibri" panose="020F0502020204030204" pitchFamily="34" charset="0"/>
                <a:ea typeface="Calibri" panose="020F0502020204030204" pitchFamily="34" charset="0"/>
                <a:cs typeface="Times New Roman" panose="02020603050405020304" pitchFamily="18" charset="0"/>
              </a:rPr>
              <a:t> Se tiene: </a:t>
            </a:r>
          </a:p>
          <a:p>
            <a:pPr marL="0" lvl="0" indent="0" algn="ctr">
              <a:lnSpc>
                <a:spcPct val="170000"/>
              </a:lnSpc>
              <a:buNone/>
            </a:pPr>
            <a:r>
              <a:rPr lang="es-MX" sz="2200" i="1" dirty="0">
                <a:effectLst/>
                <a:latin typeface="Times New Roman" panose="02020603050405020304" pitchFamily="18" charset="0"/>
                <a:ea typeface="Calibri" panose="020F0502020204030204" pitchFamily="34" charset="0"/>
                <a:cs typeface="Times New Roman" panose="02020603050405020304" pitchFamily="18" charset="0"/>
              </a:rPr>
              <a:t>E</a:t>
            </a:r>
            <a:r>
              <a:rPr lang="es-MX" sz="2200" i="1" baseline="-25000" dirty="0">
                <a:effectLst/>
                <a:latin typeface="Times New Roman" panose="02020603050405020304" pitchFamily="18" charset="0"/>
                <a:ea typeface="Calibri" panose="020F0502020204030204" pitchFamily="34" charset="0"/>
                <a:cs typeface="Times New Roman" panose="02020603050405020304" pitchFamily="18" charset="0"/>
              </a:rPr>
              <a:t>t </a:t>
            </a:r>
            <a:r>
              <a:rPr lang="es-MX" sz="22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s-MX" sz="2200" i="1" dirty="0" err="1">
                <a:effectLst/>
                <a:latin typeface="Times New Roman" panose="02020603050405020304" pitchFamily="18" charset="0"/>
                <a:ea typeface="Calibri" panose="020F0502020204030204" pitchFamily="34" charset="0"/>
                <a:cs typeface="Times New Roman" panose="02020603050405020304" pitchFamily="18" charset="0"/>
              </a:rPr>
              <a:t>p|p</a:t>
            </a:r>
            <a:r>
              <a:rPr lang="es-MX" sz="2200" i="1" baseline="-25000" dirty="0" err="1">
                <a:effectLst/>
                <a:latin typeface="Times New Roman" panose="02020603050405020304" pitchFamily="18" charset="0"/>
                <a:ea typeface="Calibri" panose="020F0502020204030204" pitchFamily="34" charset="0"/>
                <a:cs typeface="Times New Roman" panose="02020603050405020304" pitchFamily="18" charset="0"/>
              </a:rPr>
              <a:t>i</a:t>
            </a:r>
            <a:r>
              <a:rPr lang="es-MX" sz="2200" i="1" dirty="0">
                <a:effectLst/>
                <a:latin typeface="Times New Roman" panose="02020603050405020304" pitchFamily="18" charset="0"/>
                <a:ea typeface="Calibri" panose="020F0502020204030204" pitchFamily="34" charset="0"/>
                <a:cs typeface="Times New Roman" panose="02020603050405020304" pitchFamily="18" charset="0"/>
              </a:rPr>
              <a:t>) = </a:t>
            </a:r>
            <a:r>
              <a:rPr lang="es-PE" sz="2200" i="1" dirty="0">
                <a:latin typeface="Times New Roman" panose="02020603050405020304" pitchFamily="18" charset="0"/>
                <a:ea typeface="Calibri" panose="020F0502020204030204" pitchFamily="34" charset="0"/>
                <a:cs typeface="Times New Roman" panose="02020603050405020304" pitchFamily="18" charset="0"/>
              </a:rPr>
              <a:t>ε </a:t>
            </a:r>
            <a:r>
              <a:rPr lang="es-MX" sz="2200" i="1" dirty="0">
                <a:effectLst/>
                <a:latin typeface="Times New Roman" panose="02020603050405020304" pitchFamily="18" charset="0"/>
                <a:ea typeface="Calibri" panose="020F0502020204030204" pitchFamily="34" charset="0"/>
                <a:cs typeface="Times New Roman" panose="02020603050405020304" pitchFamily="18" charset="0"/>
              </a:rPr>
              <a:t>E</a:t>
            </a:r>
            <a:r>
              <a:rPr lang="es-MX" sz="2200" i="1" baseline="-25000" dirty="0">
                <a:effectLst/>
                <a:latin typeface="Times New Roman" panose="02020603050405020304" pitchFamily="18" charset="0"/>
                <a:ea typeface="Calibri" panose="020F0502020204030204" pitchFamily="34" charset="0"/>
                <a:cs typeface="Times New Roman" panose="02020603050405020304" pitchFamily="18" charset="0"/>
              </a:rPr>
              <a:t>t </a:t>
            </a:r>
            <a:r>
              <a:rPr lang="es-MX" sz="2200" i="1" dirty="0">
                <a:effectLst/>
                <a:latin typeface="Times New Roman" panose="02020603050405020304" pitchFamily="18" charset="0"/>
                <a:ea typeface="Calibri" panose="020F0502020204030204" pitchFamily="34" charset="0"/>
                <a:cs typeface="Times New Roman" panose="02020603050405020304" pitchFamily="18" charset="0"/>
              </a:rPr>
              <a:t>( p) + (1- </a:t>
            </a:r>
            <a:r>
              <a:rPr lang="es-PE" sz="2200" i="1" dirty="0">
                <a:latin typeface="Times New Roman" panose="02020603050405020304" pitchFamily="18" charset="0"/>
                <a:ea typeface="Calibri" panose="020F0502020204030204" pitchFamily="34" charset="0"/>
                <a:cs typeface="Times New Roman" panose="02020603050405020304" pitchFamily="18" charset="0"/>
              </a:rPr>
              <a:t>ε ) </a:t>
            </a:r>
            <a:r>
              <a:rPr lang="es-MX" sz="2200" i="1" dirty="0">
                <a:effectLst/>
                <a:latin typeface="Times New Roman" panose="02020603050405020304" pitchFamily="18" charset="0"/>
                <a:ea typeface="Calibri" panose="020F0502020204030204" pitchFamily="34" charset="0"/>
                <a:cs typeface="Times New Roman" panose="02020603050405020304" pitchFamily="18" charset="0"/>
              </a:rPr>
              <a:t>p</a:t>
            </a:r>
            <a:r>
              <a:rPr lang="es-MX" sz="2200" i="1" baseline="-25000" dirty="0">
                <a:effectLst/>
                <a:latin typeface="Times New Roman" panose="02020603050405020304" pitchFamily="18" charset="0"/>
                <a:ea typeface="Calibri" panose="020F0502020204030204" pitchFamily="34" charset="0"/>
                <a:cs typeface="Times New Roman" panose="02020603050405020304" pitchFamily="18" charset="0"/>
              </a:rPr>
              <a:t>i</a:t>
            </a:r>
            <a:endParaRPr lang="es-PE" sz="22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3178009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F97B85B-8C23-48E2-98DE-23B7544F2FC1}"/>
              </a:ext>
            </a:extLst>
          </p:cNvPr>
          <p:cNvSpPr>
            <a:spLocks noGrp="1"/>
          </p:cNvSpPr>
          <p:nvPr>
            <p:ph type="title"/>
          </p:nvPr>
        </p:nvSpPr>
        <p:spPr>
          <a:xfrm>
            <a:off x="1066800" y="8046"/>
            <a:ext cx="10058400" cy="1450757"/>
          </a:xfrm>
        </p:spPr>
        <p:txBody>
          <a:bodyPr>
            <a:normAutofit/>
          </a:bodyPr>
          <a:lstStyle/>
          <a:p>
            <a:r>
              <a:rPr lang="es-PE" sz="3200" dirty="0"/>
              <a:t>Crítica de Lucas: </a:t>
            </a:r>
            <a:r>
              <a:rPr lang="es-ES" sz="3200" dirty="0"/>
              <a:t>Información imperfecta y</a:t>
            </a:r>
            <a:br>
              <a:rPr lang="es-ES" sz="3200" dirty="0"/>
            </a:br>
            <a:r>
              <a:rPr lang="es-ES" sz="3200" dirty="0"/>
              <a:t>expectativas racionales</a:t>
            </a:r>
            <a:endParaRPr lang="es-PE" sz="3200" dirty="0"/>
          </a:p>
        </p:txBody>
      </p:sp>
      <p:sp>
        <p:nvSpPr>
          <p:cNvPr id="3" name="Marcador de contenido 2">
            <a:extLst>
              <a:ext uri="{FF2B5EF4-FFF2-40B4-BE49-F238E27FC236}">
                <a16:creationId xmlns:a16="http://schemas.microsoft.com/office/drawing/2014/main" id="{FAA52731-DD0F-46D7-B34C-199E4FD24FCF}"/>
              </a:ext>
            </a:extLst>
          </p:cNvPr>
          <p:cNvSpPr>
            <a:spLocks noGrp="1"/>
          </p:cNvSpPr>
          <p:nvPr>
            <p:ph idx="1"/>
          </p:nvPr>
        </p:nvSpPr>
        <p:spPr>
          <a:xfrm>
            <a:off x="1066800" y="1699896"/>
            <a:ext cx="10348595" cy="4457064"/>
          </a:xfrm>
        </p:spPr>
        <p:txBody>
          <a:bodyPr>
            <a:noAutofit/>
          </a:bodyPr>
          <a:lstStyle/>
          <a:p>
            <a:pPr algn="just">
              <a:lnSpc>
                <a:spcPct val="170000"/>
              </a:lnSpc>
              <a:buFont typeface="Wingdings" panose="05000000000000000000" pitchFamily="2" charset="2"/>
              <a:buChar char="§"/>
            </a:pPr>
            <a:r>
              <a:rPr lang="es-PE" sz="2200" dirty="0">
                <a:effectLst/>
                <a:latin typeface="Calibri" panose="020F0502020204030204" pitchFamily="34" charset="0"/>
                <a:ea typeface="Calibri" panose="020F0502020204030204" pitchFamily="34" charset="0"/>
                <a:cs typeface="Times New Roman" panose="02020603050405020304" pitchFamily="18" charset="0"/>
              </a:rPr>
              <a:t> Se tiene: </a:t>
            </a:r>
          </a:p>
          <a:p>
            <a:pPr marL="0" lvl="0" indent="0" algn="ctr">
              <a:lnSpc>
                <a:spcPct val="170000"/>
              </a:lnSpc>
              <a:buNone/>
            </a:pPr>
            <a:r>
              <a:rPr lang="es-MX" sz="2200" i="1" dirty="0">
                <a:effectLst/>
                <a:latin typeface="Times New Roman" panose="02020603050405020304" pitchFamily="18" charset="0"/>
                <a:ea typeface="Calibri" panose="020F0502020204030204" pitchFamily="34" charset="0"/>
                <a:cs typeface="Times New Roman" panose="02020603050405020304" pitchFamily="18" charset="0"/>
              </a:rPr>
              <a:t>E</a:t>
            </a:r>
            <a:r>
              <a:rPr lang="es-MX" sz="2200" i="1" baseline="-25000" dirty="0">
                <a:effectLst/>
                <a:latin typeface="Times New Roman" panose="02020603050405020304" pitchFamily="18" charset="0"/>
                <a:ea typeface="Calibri" panose="020F0502020204030204" pitchFamily="34" charset="0"/>
                <a:cs typeface="Times New Roman" panose="02020603050405020304" pitchFamily="18" charset="0"/>
              </a:rPr>
              <a:t>t </a:t>
            </a:r>
            <a:r>
              <a:rPr lang="es-MX" sz="22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s-MX" sz="2200" i="1" dirty="0" err="1">
                <a:effectLst/>
                <a:latin typeface="Times New Roman" panose="02020603050405020304" pitchFamily="18" charset="0"/>
                <a:ea typeface="Calibri" panose="020F0502020204030204" pitchFamily="34" charset="0"/>
                <a:cs typeface="Times New Roman" panose="02020603050405020304" pitchFamily="18" charset="0"/>
              </a:rPr>
              <a:t>p|p</a:t>
            </a:r>
            <a:r>
              <a:rPr lang="es-MX" sz="2200" i="1" baseline="-25000" dirty="0" err="1">
                <a:effectLst/>
                <a:latin typeface="Times New Roman" panose="02020603050405020304" pitchFamily="18" charset="0"/>
                <a:ea typeface="Calibri" panose="020F0502020204030204" pitchFamily="34" charset="0"/>
                <a:cs typeface="Times New Roman" panose="02020603050405020304" pitchFamily="18" charset="0"/>
              </a:rPr>
              <a:t>i</a:t>
            </a:r>
            <a:r>
              <a:rPr lang="es-MX" sz="2200" i="1" dirty="0">
                <a:effectLst/>
                <a:latin typeface="Times New Roman" panose="02020603050405020304" pitchFamily="18" charset="0"/>
                <a:ea typeface="Calibri" panose="020F0502020204030204" pitchFamily="34" charset="0"/>
                <a:cs typeface="Times New Roman" panose="02020603050405020304" pitchFamily="18" charset="0"/>
              </a:rPr>
              <a:t>) = </a:t>
            </a:r>
            <a:r>
              <a:rPr lang="es-PE" sz="2200" i="1" dirty="0">
                <a:latin typeface="Times New Roman" panose="02020603050405020304" pitchFamily="18" charset="0"/>
                <a:ea typeface="Calibri" panose="020F0502020204030204" pitchFamily="34" charset="0"/>
                <a:cs typeface="Times New Roman" panose="02020603050405020304" pitchFamily="18" charset="0"/>
              </a:rPr>
              <a:t>ε </a:t>
            </a:r>
            <a:r>
              <a:rPr lang="es-MX" sz="2200" i="1" dirty="0">
                <a:effectLst/>
                <a:latin typeface="Times New Roman" panose="02020603050405020304" pitchFamily="18" charset="0"/>
                <a:ea typeface="Calibri" panose="020F0502020204030204" pitchFamily="34" charset="0"/>
                <a:cs typeface="Times New Roman" panose="02020603050405020304" pitchFamily="18" charset="0"/>
              </a:rPr>
              <a:t>E</a:t>
            </a:r>
            <a:r>
              <a:rPr lang="es-MX" sz="2200" i="1" baseline="-25000" dirty="0">
                <a:effectLst/>
                <a:latin typeface="Times New Roman" panose="02020603050405020304" pitchFamily="18" charset="0"/>
                <a:ea typeface="Calibri" panose="020F0502020204030204" pitchFamily="34" charset="0"/>
                <a:cs typeface="Times New Roman" panose="02020603050405020304" pitchFamily="18" charset="0"/>
              </a:rPr>
              <a:t>t </a:t>
            </a:r>
            <a:r>
              <a:rPr lang="es-MX" sz="2200" i="1" dirty="0">
                <a:effectLst/>
                <a:latin typeface="Times New Roman" panose="02020603050405020304" pitchFamily="18" charset="0"/>
                <a:ea typeface="Calibri" panose="020F0502020204030204" pitchFamily="34" charset="0"/>
                <a:cs typeface="Times New Roman" panose="02020603050405020304" pitchFamily="18" charset="0"/>
              </a:rPr>
              <a:t>( p) + (1- </a:t>
            </a:r>
            <a:r>
              <a:rPr lang="es-PE" sz="2200" i="1" dirty="0">
                <a:latin typeface="Times New Roman" panose="02020603050405020304" pitchFamily="18" charset="0"/>
                <a:ea typeface="Calibri" panose="020F0502020204030204" pitchFamily="34" charset="0"/>
                <a:cs typeface="Times New Roman" panose="02020603050405020304" pitchFamily="18" charset="0"/>
              </a:rPr>
              <a:t>ε ) </a:t>
            </a:r>
            <a:r>
              <a:rPr lang="es-MX" sz="2200" i="1" dirty="0">
                <a:effectLst/>
                <a:latin typeface="Times New Roman" panose="02020603050405020304" pitchFamily="18" charset="0"/>
                <a:ea typeface="Calibri" panose="020F0502020204030204" pitchFamily="34" charset="0"/>
                <a:cs typeface="Times New Roman" panose="02020603050405020304" pitchFamily="18" charset="0"/>
              </a:rPr>
              <a:t>p</a:t>
            </a:r>
            <a:r>
              <a:rPr lang="es-MX" sz="2200" i="1" baseline="-25000" dirty="0">
                <a:effectLst/>
                <a:latin typeface="Times New Roman" panose="02020603050405020304" pitchFamily="18" charset="0"/>
                <a:ea typeface="Calibri" panose="020F0502020204030204" pitchFamily="34" charset="0"/>
                <a:cs typeface="Times New Roman" panose="02020603050405020304" pitchFamily="18" charset="0"/>
              </a:rPr>
              <a:t>i</a:t>
            </a:r>
          </a:p>
          <a:p>
            <a:pPr marL="355600" indent="-355600" algn="just">
              <a:lnSpc>
                <a:spcPct val="170000"/>
              </a:lnSpc>
              <a:buFont typeface="Wingdings" panose="05000000000000000000" pitchFamily="2" charset="2"/>
              <a:buChar char="§"/>
            </a:pPr>
            <a:r>
              <a:rPr lang="es-MX" sz="2200" dirty="0">
                <a:latin typeface="Calibri" panose="020F0502020204030204" pitchFamily="34" charset="0"/>
                <a:ea typeface="Calibri" panose="020F0502020204030204" pitchFamily="34" charset="0"/>
                <a:cs typeface="Times New Roman" panose="02020603050405020304" pitchFamily="18" charset="0"/>
              </a:rPr>
              <a:t>Que es una ecuación parecida a: </a:t>
            </a:r>
          </a:p>
          <a:p>
            <a:pPr marL="0" indent="0" algn="ctr">
              <a:lnSpc>
                <a:spcPct val="170000"/>
              </a:lnSpc>
              <a:buNone/>
            </a:pPr>
            <a:r>
              <a:rPr lang="es-MX" sz="2000" i="1" dirty="0">
                <a:effectLst/>
                <a:latin typeface="Times New Roman" panose="02020603050405020304" pitchFamily="18" charset="0"/>
                <a:ea typeface="Calibri" panose="020F0502020204030204" pitchFamily="34" charset="0"/>
                <a:cs typeface="Times New Roman" panose="02020603050405020304" pitchFamily="18" charset="0"/>
              </a:rPr>
              <a:t>p</a:t>
            </a:r>
            <a:r>
              <a:rPr lang="es-MX" sz="2000" i="1" baseline="30000" dirty="0">
                <a:effectLst/>
                <a:latin typeface="Times New Roman" panose="02020603050405020304" pitchFamily="18" charset="0"/>
                <a:ea typeface="Calibri" panose="020F0502020204030204" pitchFamily="34" charset="0"/>
                <a:cs typeface="Times New Roman" panose="02020603050405020304" pitchFamily="18" charset="0"/>
              </a:rPr>
              <a:t>e</a:t>
            </a:r>
            <a:r>
              <a:rPr lang="es-MX" sz="2000" dirty="0">
                <a:effectLst/>
                <a:latin typeface="Calibri" panose="020F0502020204030204" pitchFamily="34" charset="0"/>
                <a:ea typeface="Calibri" panose="020F0502020204030204" pitchFamily="34" charset="0"/>
                <a:cs typeface="Times New Roman" panose="02020603050405020304" pitchFamily="18" charset="0"/>
              </a:rPr>
              <a:t> = </a:t>
            </a:r>
            <a:r>
              <a:rPr lang="es-MX" sz="2000" i="1" dirty="0">
                <a:effectLst/>
                <a:latin typeface="Times New Roman" panose="02020603050405020304" pitchFamily="18" charset="0"/>
                <a:ea typeface="Calibri" panose="020F0502020204030204" pitchFamily="34" charset="0"/>
                <a:cs typeface="Times New Roman" panose="02020603050405020304" pitchFamily="18" charset="0"/>
              </a:rPr>
              <a:t>d</a:t>
            </a:r>
            <a:r>
              <a:rPr lang="es-MX" sz="2000" i="1" baseline="-25000" dirty="0">
                <a:effectLst/>
                <a:latin typeface="Times New Roman" panose="02020603050405020304" pitchFamily="18" charset="0"/>
                <a:ea typeface="Calibri" panose="020F0502020204030204" pitchFamily="34" charset="0"/>
                <a:cs typeface="Times New Roman" panose="02020603050405020304" pitchFamily="18" charset="0"/>
              </a:rPr>
              <a:t>o</a:t>
            </a:r>
            <a:r>
              <a:rPr lang="es-MX" sz="2000" i="1" dirty="0">
                <a:effectLst/>
                <a:latin typeface="Times New Roman" panose="02020603050405020304" pitchFamily="18" charset="0"/>
                <a:ea typeface="Calibri" panose="020F0502020204030204" pitchFamily="34" charset="0"/>
                <a:cs typeface="Times New Roman" panose="02020603050405020304" pitchFamily="18" charset="0"/>
              </a:rPr>
              <a:t> + d</a:t>
            </a:r>
            <a:r>
              <a:rPr lang="es-MX" sz="2000" i="1" baseline="-25000" dirty="0">
                <a:effectLst/>
                <a:latin typeface="Times New Roman" panose="02020603050405020304" pitchFamily="18" charset="0"/>
                <a:ea typeface="Calibri" panose="020F0502020204030204" pitchFamily="34" charset="0"/>
                <a:cs typeface="Times New Roman" panose="02020603050405020304" pitchFamily="18" charset="0"/>
              </a:rPr>
              <a:t>1</a:t>
            </a:r>
            <a:r>
              <a:rPr lang="es-MX" sz="2000" i="1" dirty="0">
                <a:effectLst/>
                <a:latin typeface="Times New Roman" panose="02020603050405020304" pitchFamily="18" charset="0"/>
                <a:ea typeface="Calibri" panose="020F0502020204030204" pitchFamily="34" charset="0"/>
                <a:cs typeface="Times New Roman" panose="02020603050405020304" pitchFamily="18" charset="0"/>
              </a:rPr>
              <a:t> p</a:t>
            </a:r>
            <a:r>
              <a:rPr lang="es-MX" sz="2000" i="1" baseline="-25000" dirty="0">
                <a:effectLst/>
                <a:latin typeface="Times New Roman" panose="02020603050405020304" pitchFamily="18" charset="0"/>
                <a:ea typeface="Calibri" panose="020F0502020204030204" pitchFamily="34" charset="0"/>
                <a:cs typeface="Times New Roman" panose="02020603050405020304" pitchFamily="18" charset="0"/>
              </a:rPr>
              <a:t>i</a:t>
            </a:r>
            <a:endParaRPr lang="es-PE" sz="2000" dirty="0">
              <a:latin typeface="Calibri" panose="020F0502020204030204" pitchFamily="34" charset="0"/>
              <a:ea typeface="Calibri" panose="020F0502020204030204" pitchFamily="34" charset="0"/>
              <a:cs typeface="Times New Roman" panose="02020603050405020304" pitchFamily="18" charset="0"/>
            </a:endParaRPr>
          </a:p>
          <a:p>
            <a:pPr marL="355600" indent="-355600" algn="just">
              <a:lnSpc>
                <a:spcPct val="170000"/>
              </a:lnSpc>
              <a:buFont typeface="Wingdings" panose="05000000000000000000" pitchFamily="2" charset="2"/>
              <a:buChar char="§"/>
            </a:pPr>
            <a:r>
              <a:rPr lang="es-PE" sz="2200" dirty="0">
                <a:latin typeface="Calibri" panose="020F0502020204030204" pitchFamily="34" charset="0"/>
                <a:ea typeface="Calibri" panose="020F0502020204030204" pitchFamily="34" charset="0"/>
                <a:cs typeface="Times New Roman" panose="02020603050405020304" pitchFamily="18" charset="0"/>
              </a:rPr>
              <a:t>Con lo que se concluye que la oferta de cada empresa es:</a:t>
            </a:r>
          </a:p>
          <a:p>
            <a:pPr marL="0" lvl="0" indent="0" algn="ctr">
              <a:lnSpc>
                <a:spcPct val="170000"/>
              </a:lnSpc>
              <a:buNone/>
            </a:pPr>
            <a:r>
              <a:rPr lang="es-MX" sz="22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s-MX" sz="2200" i="1" dirty="0" err="1">
                <a:effectLst/>
                <a:latin typeface="Times New Roman" panose="02020603050405020304" pitchFamily="18" charset="0"/>
                <a:ea typeface="Calibri" panose="020F0502020204030204" pitchFamily="34" charset="0"/>
                <a:cs typeface="Times New Roman" panose="02020603050405020304" pitchFamily="18" charset="0"/>
              </a:rPr>
              <a:t>y</a:t>
            </a:r>
            <a:r>
              <a:rPr lang="es-MX" sz="2200" i="1" baseline="30000" dirty="0" err="1">
                <a:effectLst/>
                <a:latin typeface="Times New Roman" panose="02020603050405020304" pitchFamily="18" charset="0"/>
                <a:ea typeface="Calibri" panose="020F0502020204030204" pitchFamily="34" charset="0"/>
                <a:cs typeface="Times New Roman" panose="02020603050405020304" pitchFamily="18" charset="0"/>
              </a:rPr>
              <a:t>s</a:t>
            </a:r>
            <a:r>
              <a:rPr lang="es-MX" sz="2200" i="1" baseline="-25000" dirty="0" err="1">
                <a:effectLst/>
                <a:latin typeface="Times New Roman" panose="02020603050405020304" pitchFamily="18" charset="0"/>
                <a:ea typeface="Calibri" panose="020F0502020204030204" pitchFamily="34" charset="0"/>
                <a:cs typeface="Times New Roman" panose="02020603050405020304" pitchFamily="18" charset="0"/>
              </a:rPr>
              <a:t>i</a:t>
            </a:r>
            <a:r>
              <a:rPr lang="es-MX" sz="22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l-GR" sz="2200" i="1" dirty="0">
                <a:effectLst/>
                <a:latin typeface="Times New Roman" panose="02020603050405020304" pitchFamily="18" charset="0"/>
                <a:ea typeface="Calibri" panose="020F0502020204030204" pitchFamily="34" charset="0"/>
                <a:cs typeface="Times New Roman" panose="02020603050405020304" pitchFamily="18" charset="0"/>
              </a:rPr>
              <a:t>γ</a:t>
            </a:r>
            <a:r>
              <a:rPr lang="es-PE" sz="22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s-PE" sz="2200" i="1" dirty="0">
                <a:latin typeface="Times New Roman" panose="02020603050405020304" pitchFamily="18" charset="0"/>
                <a:ea typeface="Calibri" panose="020F0502020204030204" pitchFamily="34" charset="0"/>
                <a:cs typeface="Times New Roman" panose="02020603050405020304" pitchFamily="18" charset="0"/>
              </a:rPr>
              <a:t>ε </a:t>
            </a:r>
            <a:r>
              <a:rPr lang="es-PE" sz="2200" dirty="0">
                <a:latin typeface="Times New Roman" panose="02020603050405020304" pitchFamily="18" charset="0"/>
                <a:ea typeface="Calibri" panose="020F0502020204030204" pitchFamily="34" charset="0"/>
                <a:cs typeface="Times New Roman" panose="02020603050405020304" pitchFamily="18" charset="0"/>
              </a:rPr>
              <a:t>[</a:t>
            </a:r>
            <a:r>
              <a:rPr lang="es-MX" sz="2200" i="1" dirty="0">
                <a:effectLst/>
                <a:latin typeface="Times New Roman" panose="02020603050405020304" pitchFamily="18" charset="0"/>
                <a:ea typeface="Calibri" panose="020F0502020204030204" pitchFamily="34" charset="0"/>
                <a:cs typeface="Times New Roman" panose="02020603050405020304" pitchFamily="18" charset="0"/>
              </a:rPr>
              <a:t>p</a:t>
            </a:r>
            <a:r>
              <a:rPr lang="es-MX" sz="2200" i="1" baseline="-25000" dirty="0">
                <a:effectLst/>
                <a:latin typeface="Times New Roman" panose="02020603050405020304" pitchFamily="18" charset="0"/>
                <a:ea typeface="Calibri" panose="020F0502020204030204" pitchFamily="34" charset="0"/>
                <a:cs typeface="Times New Roman" panose="02020603050405020304" pitchFamily="18" charset="0"/>
              </a:rPr>
              <a:t>i</a:t>
            </a:r>
            <a:r>
              <a:rPr lang="es-MX" sz="2200" i="1" dirty="0">
                <a:effectLst/>
                <a:latin typeface="Times New Roman" panose="02020603050405020304" pitchFamily="18" charset="0"/>
                <a:ea typeface="Calibri" panose="020F0502020204030204" pitchFamily="34" charset="0"/>
                <a:cs typeface="Times New Roman" panose="02020603050405020304" pitchFamily="18" charset="0"/>
              </a:rPr>
              <a:t> - E</a:t>
            </a:r>
            <a:r>
              <a:rPr lang="es-MX" sz="2200" i="1" baseline="-25000" dirty="0">
                <a:effectLst/>
                <a:latin typeface="Times New Roman" panose="02020603050405020304" pitchFamily="18" charset="0"/>
                <a:ea typeface="Calibri" panose="020F0502020204030204" pitchFamily="34" charset="0"/>
                <a:cs typeface="Times New Roman" panose="02020603050405020304" pitchFamily="18" charset="0"/>
              </a:rPr>
              <a:t>t </a:t>
            </a:r>
            <a:r>
              <a:rPr lang="es-MX" sz="2200" i="1" dirty="0">
                <a:effectLst/>
                <a:latin typeface="Times New Roman" panose="02020603050405020304" pitchFamily="18" charset="0"/>
                <a:ea typeface="Calibri" panose="020F0502020204030204" pitchFamily="34" charset="0"/>
                <a:cs typeface="Times New Roman" panose="02020603050405020304" pitchFamily="18" charset="0"/>
              </a:rPr>
              <a:t>( p)</a:t>
            </a:r>
            <a:r>
              <a:rPr lang="es-MX" sz="22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s-PE" sz="22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1017322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F97B85B-8C23-48E2-98DE-23B7544F2FC1}"/>
              </a:ext>
            </a:extLst>
          </p:cNvPr>
          <p:cNvSpPr>
            <a:spLocks noGrp="1"/>
          </p:cNvSpPr>
          <p:nvPr>
            <p:ph type="title"/>
          </p:nvPr>
        </p:nvSpPr>
        <p:spPr>
          <a:xfrm>
            <a:off x="1066800" y="8046"/>
            <a:ext cx="10058400" cy="1450757"/>
          </a:xfrm>
        </p:spPr>
        <p:txBody>
          <a:bodyPr>
            <a:normAutofit/>
          </a:bodyPr>
          <a:lstStyle/>
          <a:p>
            <a:r>
              <a:rPr lang="es-PE" sz="3200" dirty="0"/>
              <a:t>Crítica de Lucas: </a:t>
            </a:r>
            <a:r>
              <a:rPr lang="es-ES" sz="3200" dirty="0"/>
              <a:t>Información imperfecta y</a:t>
            </a:r>
            <a:br>
              <a:rPr lang="es-ES" sz="3200" dirty="0"/>
            </a:br>
            <a:r>
              <a:rPr lang="es-ES" sz="3200" dirty="0"/>
              <a:t>expectativas racionales</a:t>
            </a:r>
            <a:endParaRPr lang="es-PE" sz="3200"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FAA52731-DD0F-46D7-B34C-199E4FD24FCF}"/>
                  </a:ext>
                </a:extLst>
              </p:cNvPr>
              <p:cNvSpPr>
                <a:spLocks noGrp="1"/>
              </p:cNvSpPr>
              <p:nvPr>
                <p:ph idx="1"/>
              </p:nvPr>
            </p:nvSpPr>
            <p:spPr>
              <a:xfrm>
                <a:off x="1066800" y="1699896"/>
                <a:ext cx="10348595" cy="4457064"/>
              </a:xfrm>
            </p:spPr>
            <p:txBody>
              <a:bodyPr>
                <a:noAutofit/>
              </a:bodyPr>
              <a:lstStyle/>
              <a:p>
                <a:pPr algn="just">
                  <a:lnSpc>
                    <a:spcPct val="170000"/>
                  </a:lnSpc>
                  <a:buFont typeface="Wingdings" panose="05000000000000000000" pitchFamily="2" charset="2"/>
                  <a:buChar char="§"/>
                </a:pPr>
                <a:r>
                  <a:rPr lang="es-PE" sz="2200" dirty="0">
                    <a:effectLst/>
                    <a:latin typeface="Calibri" panose="020F0502020204030204" pitchFamily="34" charset="0"/>
                    <a:ea typeface="Calibri" panose="020F0502020204030204" pitchFamily="34" charset="0"/>
                    <a:cs typeface="Times New Roman" panose="02020603050405020304" pitchFamily="18" charset="0"/>
                  </a:rPr>
                  <a:t> Agregando para toda la economía:</a:t>
                </a:r>
              </a:p>
              <a:p>
                <a:pPr marL="0" lvl="0" indent="0" algn="ctr">
                  <a:lnSpc>
                    <a:spcPct val="170000"/>
                  </a:lnSpc>
                  <a:buNone/>
                </a:pPr>
                <a:r>
                  <a:rPr lang="es-MX" sz="2200" i="1" dirty="0">
                    <a:effectLst/>
                    <a:latin typeface="Times New Roman" panose="02020603050405020304" pitchFamily="18" charset="0"/>
                    <a:ea typeface="Calibri" panose="020F0502020204030204" pitchFamily="34" charset="0"/>
                    <a:cs typeface="Times New Roman" panose="02020603050405020304" pitchFamily="18" charset="0"/>
                  </a:rPr>
                  <a:t>y = </a:t>
                </a:r>
                <a:r>
                  <a:rPr lang="es-MX" sz="2200" i="1" dirty="0" err="1">
                    <a:effectLst/>
                    <a:latin typeface="Times New Roman" panose="02020603050405020304" pitchFamily="18" charset="0"/>
                    <a:ea typeface="Calibri" panose="020F0502020204030204" pitchFamily="34" charset="0"/>
                    <a:cs typeface="Times New Roman" panose="02020603050405020304" pitchFamily="18" charset="0"/>
                  </a:rPr>
                  <a:t>y</a:t>
                </a:r>
                <a:r>
                  <a:rPr lang="es-MX" sz="2200" i="1" baseline="-25000" dirty="0" err="1">
                    <a:effectLst/>
                    <a:latin typeface="Times New Roman" panose="02020603050405020304" pitchFamily="18" charset="0"/>
                    <a:ea typeface="Calibri" panose="020F0502020204030204" pitchFamily="34" charset="0"/>
                    <a:cs typeface="Times New Roman" panose="02020603050405020304" pitchFamily="18" charset="0"/>
                  </a:rPr>
                  <a:t>n</a:t>
                </a:r>
                <a:r>
                  <a:rPr lang="es-MX" sz="2200" i="1" dirty="0">
                    <a:effectLst/>
                    <a:latin typeface="Times New Roman" panose="02020603050405020304" pitchFamily="18" charset="0"/>
                    <a:ea typeface="Calibri" panose="020F0502020204030204" pitchFamily="34" charset="0"/>
                    <a:cs typeface="Times New Roman" panose="02020603050405020304" pitchFamily="18" charset="0"/>
                  </a:rPr>
                  <a:t> + </a:t>
                </a:r>
                <a:r>
                  <a:rPr lang="el-GR" sz="2200" i="1" dirty="0">
                    <a:effectLst/>
                    <a:latin typeface="Times New Roman" panose="02020603050405020304" pitchFamily="18" charset="0"/>
                    <a:ea typeface="Calibri" panose="020F0502020204030204" pitchFamily="34" charset="0"/>
                    <a:cs typeface="Times New Roman" panose="02020603050405020304" pitchFamily="18" charset="0"/>
                  </a:rPr>
                  <a:t>α</a:t>
                </a:r>
                <a:r>
                  <a:rPr lang="es-PE" sz="22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s-MX" sz="2200" i="1" dirty="0">
                    <a:effectLst/>
                    <a:latin typeface="Times New Roman" panose="02020603050405020304" pitchFamily="18" charset="0"/>
                    <a:ea typeface="Calibri" panose="020F0502020204030204" pitchFamily="34" charset="0"/>
                    <a:cs typeface="Times New Roman" panose="02020603050405020304" pitchFamily="18" charset="0"/>
                  </a:rPr>
                  <a:t> p – p</a:t>
                </a:r>
                <a:r>
                  <a:rPr lang="es-MX" sz="2200" i="1" baseline="30000" dirty="0">
                    <a:effectLst/>
                    <a:latin typeface="Times New Roman" panose="02020603050405020304" pitchFamily="18" charset="0"/>
                    <a:ea typeface="Calibri" panose="020F0502020204030204" pitchFamily="34" charset="0"/>
                    <a:cs typeface="Times New Roman" panose="02020603050405020304" pitchFamily="18" charset="0"/>
                  </a:rPr>
                  <a:t>e</a:t>
                </a:r>
                <a:r>
                  <a:rPr lang="es-MX" sz="2200" i="1" dirty="0">
                    <a:effectLst/>
                    <a:latin typeface="Times New Roman" panose="02020603050405020304" pitchFamily="18" charset="0"/>
                    <a:ea typeface="Calibri" panose="020F0502020204030204" pitchFamily="34" charset="0"/>
                    <a:cs typeface="Times New Roman" panose="02020603050405020304" pitchFamily="18" charset="0"/>
                  </a:rPr>
                  <a:t> )</a:t>
                </a:r>
                <a:endParaRPr lang="es-MX" sz="2200" i="1" baseline="-25000" dirty="0">
                  <a:effectLst/>
                  <a:latin typeface="Times New Roman" panose="02020603050405020304" pitchFamily="18" charset="0"/>
                  <a:ea typeface="Calibri" panose="020F0502020204030204" pitchFamily="34" charset="0"/>
                  <a:cs typeface="Times New Roman" panose="02020603050405020304" pitchFamily="18" charset="0"/>
                </a:endParaRPr>
              </a:p>
              <a:p>
                <a:pPr marL="355600" indent="-355600" algn="just">
                  <a:lnSpc>
                    <a:spcPct val="170000"/>
                  </a:lnSpc>
                  <a:buFont typeface="Wingdings" panose="05000000000000000000" pitchFamily="2" charset="2"/>
                  <a:buChar char="§"/>
                </a:pPr>
                <a:r>
                  <a:rPr lang="es-MX" sz="2200" dirty="0">
                    <a:latin typeface="Calibri" panose="020F0502020204030204" pitchFamily="34" charset="0"/>
                    <a:ea typeface="Calibri" panose="020F0502020204030204" pitchFamily="34" charset="0"/>
                    <a:cs typeface="Times New Roman" panose="02020603050405020304" pitchFamily="18" charset="0"/>
                  </a:rPr>
                  <a:t>donde p</a:t>
                </a:r>
                <a:r>
                  <a:rPr lang="es-MX" sz="2200" baseline="30000" dirty="0">
                    <a:latin typeface="Calibri" panose="020F0502020204030204" pitchFamily="34" charset="0"/>
                    <a:ea typeface="Calibri" panose="020F0502020204030204" pitchFamily="34" charset="0"/>
                    <a:cs typeface="Times New Roman" panose="02020603050405020304" pitchFamily="18" charset="0"/>
                  </a:rPr>
                  <a:t>e</a:t>
                </a:r>
                <a:r>
                  <a:rPr lang="es-MX" sz="2200" dirty="0">
                    <a:latin typeface="Calibri" panose="020F0502020204030204" pitchFamily="34" charset="0"/>
                    <a:ea typeface="Calibri" panose="020F0502020204030204" pitchFamily="34" charset="0"/>
                    <a:cs typeface="Times New Roman" panose="02020603050405020304" pitchFamily="18" charset="0"/>
                  </a:rPr>
                  <a:t> es el valor esperado de p antes de que se observe la señal p</a:t>
                </a:r>
                <a:r>
                  <a:rPr lang="es-MX" sz="2200" baseline="-25000" dirty="0">
                    <a:latin typeface="Calibri" panose="020F0502020204030204" pitchFamily="34" charset="0"/>
                    <a:ea typeface="Calibri" panose="020F0502020204030204" pitchFamily="34" charset="0"/>
                    <a:cs typeface="Times New Roman" panose="02020603050405020304" pitchFamily="18" charset="0"/>
                  </a:rPr>
                  <a:t>i</a:t>
                </a:r>
                <a:r>
                  <a:rPr lang="es-MX" sz="2200" dirty="0">
                    <a:latin typeface="Calibri" panose="020F0502020204030204" pitchFamily="34" charset="0"/>
                    <a:ea typeface="Calibri" panose="020F0502020204030204" pitchFamily="34" charset="0"/>
                    <a:cs typeface="Times New Roman" panose="02020603050405020304" pitchFamily="18" charset="0"/>
                  </a:rPr>
                  <a:t> </a:t>
                </a:r>
              </a:p>
              <a:p>
                <a:pPr marL="355600" indent="-355600" algn="just">
                  <a:lnSpc>
                    <a:spcPct val="170000"/>
                  </a:lnSpc>
                  <a:buFont typeface="Wingdings" panose="05000000000000000000" pitchFamily="2" charset="2"/>
                  <a:buChar char="§"/>
                </a:pPr>
                <a:r>
                  <a:rPr lang="es-MX" sz="2200" dirty="0">
                    <a:latin typeface="Calibri" panose="020F0502020204030204" pitchFamily="34" charset="0"/>
                    <a:ea typeface="Calibri" panose="020F0502020204030204" pitchFamily="34" charset="0"/>
                    <a:cs typeface="Times New Roman" panose="02020603050405020304" pitchFamily="18" charset="0"/>
                  </a:rPr>
                  <a:t>la pendiente de la curva de Phillips es:</a:t>
                </a:r>
              </a:p>
              <a:p>
                <a:pPr marL="0" indent="0" algn="just">
                  <a:lnSpc>
                    <a:spcPct val="170000"/>
                  </a:lnSpc>
                  <a:buNone/>
                </a:pPr>
                <a14:m>
                  <m:oMathPara xmlns:m="http://schemas.openxmlformats.org/officeDocument/2006/math">
                    <m:oMathParaPr>
                      <m:jc m:val="centerGroup"/>
                    </m:oMathParaPr>
                    <m:oMath xmlns:m="http://schemas.openxmlformats.org/officeDocument/2006/math">
                      <m:r>
                        <a:rPr lang="es-MX" sz="2200" i="1" smtClean="0">
                          <a:latin typeface="Cambria Math" panose="02040503050406030204" pitchFamily="18" charset="0"/>
                          <a:ea typeface="Cambria Math" panose="02040503050406030204" pitchFamily="18" charset="0"/>
                          <a:cs typeface="Times New Roman" panose="02020603050405020304" pitchFamily="18" charset="0"/>
                        </a:rPr>
                        <m:t>𝛼</m:t>
                      </m:r>
                      <m:r>
                        <a:rPr lang="es-PE" sz="2200" i="1">
                          <a:latin typeface="Cambria Math" panose="02040503050406030204" pitchFamily="18" charset="0"/>
                          <a:ea typeface="Cambria Math" panose="02040503050406030204" pitchFamily="18" charset="0"/>
                          <a:cs typeface="Times New Roman" panose="02020603050405020304" pitchFamily="18" charset="0"/>
                        </a:rPr>
                        <m:t>=</m:t>
                      </m:r>
                      <m:r>
                        <a:rPr lang="es-PE" sz="2200" i="1" smtClean="0">
                          <a:latin typeface="Cambria Math" panose="02040503050406030204" pitchFamily="18" charset="0"/>
                          <a:ea typeface="Cambria Math" panose="02040503050406030204" pitchFamily="18" charset="0"/>
                          <a:cs typeface="Times New Roman" panose="02020603050405020304" pitchFamily="18" charset="0"/>
                        </a:rPr>
                        <m:t>𝛾</m:t>
                      </m:r>
                      <m:f>
                        <m:fPr>
                          <m:ctrlPr>
                            <a:rPr lang="es-MX" sz="2200" i="1">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s-MX" sz="2200" i="1">
                                  <a:latin typeface="Cambria Math" panose="02040503050406030204" pitchFamily="18" charset="0"/>
                                  <a:ea typeface="Calibri" panose="020F0502020204030204" pitchFamily="34" charset="0"/>
                                  <a:cs typeface="Times New Roman" panose="02020603050405020304" pitchFamily="18" charset="0"/>
                                </a:rPr>
                              </m:ctrlPr>
                            </m:sSubPr>
                            <m:e>
                              <m:r>
                                <a:rPr lang="es-PE" sz="2200" i="1">
                                  <a:latin typeface="Cambria Math" panose="02040503050406030204" pitchFamily="18" charset="0"/>
                                  <a:ea typeface="Calibri" panose="020F0502020204030204" pitchFamily="34" charset="0"/>
                                  <a:cs typeface="Times New Roman" panose="02020603050405020304" pitchFamily="18" charset="0"/>
                                </a:rPr>
                                <m:t>𝑉</m:t>
                              </m:r>
                            </m:e>
                            <m:sub>
                              <m:r>
                                <a:rPr lang="es-PE" sz="2200" i="1">
                                  <a:latin typeface="Cambria Math" panose="02040503050406030204" pitchFamily="18" charset="0"/>
                                  <a:ea typeface="Calibri" panose="020F0502020204030204" pitchFamily="34" charset="0"/>
                                  <a:cs typeface="Times New Roman" panose="02020603050405020304" pitchFamily="18" charset="0"/>
                                </a:rPr>
                                <m:t>𝑟</m:t>
                              </m:r>
                            </m:sub>
                          </m:sSub>
                        </m:num>
                        <m:den>
                          <m:sSub>
                            <m:sSubPr>
                              <m:ctrlPr>
                                <a:rPr lang="es-MX" sz="2200" i="1">
                                  <a:latin typeface="Cambria Math" panose="02040503050406030204" pitchFamily="18" charset="0"/>
                                  <a:ea typeface="Calibri" panose="020F0502020204030204" pitchFamily="34" charset="0"/>
                                  <a:cs typeface="Times New Roman" panose="02020603050405020304" pitchFamily="18" charset="0"/>
                                </a:rPr>
                              </m:ctrlPr>
                            </m:sSubPr>
                            <m:e>
                              <m:r>
                                <a:rPr lang="es-PE" sz="2200" i="1">
                                  <a:latin typeface="Cambria Math" panose="02040503050406030204" pitchFamily="18" charset="0"/>
                                  <a:ea typeface="Calibri" panose="020F0502020204030204" pitchFamily="34" charset="0"/>
                                  <a:cs typeface="Times New Roman" panose="02020603050405020304" pitchFamily="18" charset="0"/>
                                </a:rPr>
                                <m:t>𝑉</m:t>
                              </m:r>
                            </m:e>
                            <m:sub>
                              <m:r>
                                <a:rPr lang="es-PE" sz="2200" i="1">
                                  <a:latin typeface="Cambria Math" panose="02040503050406030204" pitchFamily="18" charset="0"/>
                                  <a:ea typeface="Calibri" panose="020F0502020204030204" pitchFamily="34" charset="0"/>
                                  <a:cs typeface="Times New Roman" panose="02020603050405020304" pitchFamily="18" charset="0"/>
                                </a:rPr>
                                <m:t>𝑟</m:t>
                              </m:r>
                            </m:sub>
                          </m:sSub>
                          <m:r>
                            <a:rPr lang="es-PE" sz="2200" i="1">
                              <a:latin typeface="Cambria Math" panose="02040503050406030204" pitchFamily="18" charset="0"/>
                              <a:ea typeface="Calibri" panose="020F0502020204030204" pitchFamily="34" charset="0"/>
                              <a:cs typeface="Times New Roman" panose="02020603050405020304" pitchFamily="18" charset="0"/>
                            </a:rPr>
                            <m:t>+</m:t>
                          </m:r>
                          <m:sSub>
                            <m:sSubPr>
                              <m:ctrlPr>
                                <a:rPr lang="es-PE" sz="2200" i="1">
                                  <a:latin typeface="Cambria Math" panose="02040503050406030204" pitchFamily="18" charset="0"/>
                                  <a:ea typeface="Calibri" panose="020F0502020204030204" pitchFamily="34" charset="0"/>
                                  <a:cs typeface="Times New Roman" panose="02020603050405020304" pitchFamily="18" charset="0"/>
                                </a:rPr>
                              </m:ctrlPr>
                            </m:sSubPr>
                            <m:e>
                              <m:r>
                                <a:rPr lang="es-PE" sz="2200" i="1">
                                  <a:latin typeface="Cambria Math" panose="02040503050406030204" pitchFamily="18" charset="0"/>
                                  <a:ea typeface="Calibri" panose="020F0502020204030204" pitchFamily="34" charset="0"/>
                                  <a:cs typeface="Times New Roman" panose="02020603050405020304" pitchFamily="18" charset="0"/>
                                </a:rPr>
                                <m:t>𝑉</m:t>
                              </m:r>
                            </m:e>
                            <m:sub>
                              <m:r>
                                <a:rPr lang="es-PE" sz="2200" i="1">
                                  <a:latin typeface="Cambria Math" panose="02040503050406030204" pitchFamily="18" charset="0"/>
                                  <a:ea typeface="Calibri" panose="020F0502020204030204" pitchFamily="34" charset="0"/>
                                  <a:cs typeface="Times New Roman" panose="02020603050405020304" pitchFamily="18" charset="0"/>
                                </a:rPr>
                                <m:t>𝑝</m:t>
                              </m:r>
                            </m:sub>
                          </m:sSub>
                        </m:den>
                      </m:f>
                    </m:oMath>
                  </m:oMathPara>
                </a14:m>
                <a:endParaRPr lang="es-MX" sz="2200" dirty="0">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3" name="Marcador de contenido 2">
                <a:extLst>
                  <a:ext uri="{FF2B5EF4-FFF2-40B4-BE49-F238E27FC236}">
                    <a16:creationId xmlns:a16="http://schemas.microsoft.com/office/drawing/2014/main" id="{FAA52731-DD0F-46D7-B34C-199E4FD24FCF}"/>
                  </a:ext>
                </a:extLst>
              </p:cNvPr>
              <p:cNvSpPr>
                <a:spLocks noGrp="1" noRot="1" noChangeAspect="1" noMove="1" noResize="1" noEditPoints="1" noAdjustHandles="1" noChangeArrowheads="1" noChangeShapeType="1" noTextEdit="1"/>
              </p:cNvSpPr>
              <p:nvPr>
                <p:ph idx="1"/>
              </p:nvPr>
            </p:nvSpPr>
            <p:spPr>
              <a:xfrm>
                <a:off x="1066800" y="1699896"/>
                <a:ext cx="10348595" cy="4457064"/>
              </a:xfrm>
              <a:blipFill>
                <a:blip r:embed="rId2"/>
                <a:stretch>
                  <a:fillRect l="-1531"/>
                </a:stretch>
              </a:blipFill>
            </p:spPr>
            <p:txBody>
              <a:bodyPr/>
              <a:lstStyle/>
              <a:p>
                <a:r>
                  <a:rPr lang="es-PE">
                    <a:noFill/>
                  </a:rPr>
                  <a:t> </a:t>
                </a:r>
              </a:p>
            </p:txBody>
          </p:sp>
        </mc:Fallback>
      </mc:AlternateContent>
    </p:spTree>
    <p:extLst>
      <p:ext uri="{BB962C8B-B14F-4D97-AF65-F5344CB8AC3E}">
        <p14:creationId xmlns:p14="http://schemas.microsoft.com/office/powerpoint/2010/main" val="42712124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F97B85B-8C23-48E2-98DE-23B7544F2FC1}"/>
              </a:ext>
            </a:extLst>
          </p:cNvPr>
          <p:cNvSpPr>
            <a:spLocks noGrp="1"/>
          </p:cNvSpPr>
          <p:nvPr>
            <p:ph type="title"/>
          </p:nvPr>
        </p:nvSpPr>
        <p:spPr>
          <a:xfrm>
            <a:off x="1066800" y="8046"/>
            <a:ext cx="10058400" cy="1450757"/>
          </a:xfrm>
        </p:spPr>
        <p:txBody>
          <a:bodyPr>
            <a:normAutofit/>
          </a:bodyPr>
          <a:lstStyle/>
          <a:p>
            <a:r>
              <a:rPr lang="es-PE" sz="3200" dirty="0"/>
              <a:t>Crítica de Lucas: </a:t>
            </a:r>
            <a:r>
              <a:rPr lang="es-ES" sz="3200" dirty="0"/>
              <a:t>Información imperfecta y</a:t>
            </a:r>
            <a:br>
              <a:rPr lang="es-ES" sz="3200" dirty="0"/>
            </a:br>
            <a:r>
              <a:rPr lang="es-ES" sz="3200" dirty="0"/>
              <a:t>expectativas racionales</a:t>
            </a:r>
            <a:endParaRPr lang="es-PE" sz="3200" dirty="0"/>
          </a:p>
        </p:txBody>
      </p:sp>
      <p:sp>
        <p:nvSpPr>
          <p:cNvPr id="3" name="Marcador de contenido 2">
            <a:extLst>
              <a:ext uri="{FF2B5EF4-FFF2-40B4-BE49-F238E27FC236}">
                <a16:creationId xmlns:a16="http://schemas.microsoft.com/office/drawing/2014/main" id="{FAA52731-DD0F-46D7-B34C-199E4FD24FCF}"/>
              </a:ext>
            </a:extLst>
          </p:cNvPr>
          <p:cNvSpPr>
            <a:spLocks noGrp="1"/>
          </p:cNvSpPr>
          <p:nvPr>
            <p:ph idx="1"/>
          </p:nvPr>
        </p:nvSpPr>
        <p:spPr>
          <a:xfrm>
            <a:off x="1066800" y="1699896"/>
            <a:ext cx="10348595" cy="4457064"/>
          </a:xfrm>
        </p:spPr>
        <p:txBody>
          <a:bodyPr>
            <a:noAutofit/>
          </a:bodyPr>
          <a:lstStyle/>
          <a:p>
            <a:pPr algn="just">
              <a:lnSpc>
                <a:spcPct val="170000"/>
              </a:lnSpc>
              <a:buFont typeface="Wingdings" panose="05000000000000000000" pitchFamily="2" charset="2"/>
              <a:buChar char="§"/>
            </a:pPr>
            <a:r>
              <a:rPr lang="es-PE" sz="2200" dirty="0">
                <a:effectLst/>
                <a:latin typeface="Calibri" panose="020F0502020204030204" pitchFamily="34" charset="0"/>
                <a:ea typeface="Calibri" panose="020F0502020204030204" pitchFamily="34" charset="0"/>
                <a:cs typeface="Times New Roman" panose="02020603050405020304" pitchFamily="18" charset="0"/>
              </a:rPr>
              <a:t> La curva de </a:t>
            </a:r>
            <a:r>
              <a:rPr lang="es-PE" sz="2200" b="1" dirty="0">
                <a:effectLst/>
                <a:latin typeface="Calibri" panose="020F0502020204030204" pitchFamily="34" charset="0"/>
                <a:ea typeface="Calibri" panose="020F0502020204030204" pitchFamily="34" charset="0"/>
                <a:cs typeface="Times New Roman" panose="02020603050405020304" pitchFamily="18" charset="0"/>
              </a:rPr>
              <a:t>oferta de Lucas </a:t>
            </a:r>
            <a:r>
              <a:rPr lang="es-PE" sz="2200" dirty="0">
                <a:effectLst/>
                <a:latin typeface="Calibri" panose="020F0502020204030204" pitchFamily="34" charset="0"/>
                <a:ea typeface="Calibri" panose="020F0502020204030204" pitchFamily="34" charset="0"/>
                <a:cs typeface="Times New Roman" panose="02020603050405020304" pitchFamily="18" charset="0"/>
              </a:rPr>
              <a:t>indica que solo los shocks no anticipados en el nivel de precios tienen efectos reales.</a:t>
            </a:r>
          </a:p>
          <a:p>
            <a:pPr algn="just">
              <a:lnSpc>
                <a:spcPct val="170000"/>
              </a:lnSpc>
              <a:buFont typeface="Wingdings" panose="05000000000000000000" pitchFamily="2" charset="2"/>
              <a:buChar char="§"/>
            </a:pPr>
            <a:r>
              <a:rPr lang="es-PE" sz="2200" dirty="0">
                <a:latin typeface="Calibri" panose="020F0502020204030204" pitchFamily="34" charset="0"/>
                <a:ea typeface="Calibri" panose="020F0502020204030204" pitchFamily="34" charset="0"/>
                <a:cs typeface="Times New Roman" panose="02020603050405020304" pitchFamily="18" charset="0"/>
              </a:rPr>
              <a:t>Si la política monetaria es anticipada, no tendrá efectos reales (en el PBI).</a:t>
            </a:r>
          </a:p>
          <a:p>
            <a:pPr algn="just">
              <a:lnSpc>
                <a:spcPct val="170000"/>
              </a:lnSpc>
              <a:buFont typeface="Wingdings" panose="05000000000000000000" pitchFamily="2" charset="2"/>
              <a:buChar char="§"/>
            </a:pPr>
            <a:r>
              <a:rPr lang="es-PE" sz="2200" dirty="0">
                <a:latin typeface="Calibri" panose="020F0502020204030204" pitchFamily="34" charset="0"/>
                <a:ea typeface="Calibri" panose="020F0502020204030204" pitchFamily="34" charset="0"/>
                <a:cs typeface="Times New Roman" panose="02020603050405020304" pitchFamily="18" charset="0"/>
              </a:rPr>
              <a:t>Los shocks no anticipados son los que hacen que la expectativa de los precios difiera del precio efectivo.</a:t>
            </a:r>
            <a:endParaRPr lang="es-MX" sz="22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9874231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F97B85B-8C23-48E2-98DE-23B7544F2FC1}"/>
              </a:ext>
            </a:extLst>
          </p:cNvPr>
          <p:cNvSpPr>
            <a:spLocks noGrp="1"/>
          </p:cNvSpPr>
          <p:nvPr>
            <p:ph type="title"/>
          </p:nvPr>
        </p:nvSpPr>
        <p:spPr>
          <a:xfrm>
            <a:off x="1066800" y="8046"/>
            <a:ext cx="10058400" cy="1450757"/>
          </a:xfrm>
        </p:spPr>
        <p:txBody>
          <a:bodyPr>
            <a:normAutofit/>
          </a:bodyPr>
          <a:lstStyle/>
          <a:p>
            <a:r>
              <a:rPr lang="es-PE" sz="3200" dirty="0"/>
              <a:t>Crítica de Lucas: </a:t>
            </a:r>
            <a:r>
              <a:rPr lang="es-ES" sz="3200" dirty="0"/>
              <a:t>Información imperfecta y</a:t>
            </a:r>
            <a:br>
              <a:rPr lang="es-ES" sz="3200" dirty="0"/>
            </a:br>
            <a:r>
              <a:rPr lang="es-ES" sz="3200" dirty="0"/>
              <a:t>expectativas racionales</a:t>
            </a:r>
            <a:endParaRPr lang="es-PE" sz="3200" dirty="0"/>
          </a:p>
        </p:txBody>
      </p:sp>
      <p:sp>
        <p:nvSpPr>
          <p:cNvPr id="3" name="Marcador de contenido 2">
            <a:extLst>
              <a:ext uri="{FF2B5EF4-FFF2-40B4-BE49-F238E27FC236}">
                <a16:creationId xmlns:a16="http://schemas.microsoft.com/office/drawing/2014/main" id="{FAA52731-DD0F-46D7-B34C-199E4FD24FCF}"/>
              </a:ext>
            </a:extLst>
          </p:cNvPr>
          <p:cNvSpPr>
            <a:spLocks noGrp="1"/>
          </p:cNvSpPr>
          <p:nvPr>
            <p:ph idx="1"/>
          </p:nvPr>
        </p:nvSpPr>
        <p:spPr>
          <a:xfrm>
            <a:off x="1066800" y="1699896"/>
            <a:ext cx="10348595" cy="4457064"/>
          </a:xfrm>
        </p:spPr>
        <p:txBody>
          <a:bodyPr>
            <a:noAutofit/>
          </a:bodyPr>
          <a:lstStyle/>
          <a:p>
            <a:pPr algn="just">
              <a:lnSpc>
                <a:spcPct val="170000"/>
              </a:lnSpc>
              <a:buFont typeface="Wingdings" panose="05000000000000000000" pitchFamily="2" charset="2"/>
              <a:buChar char="§"/>
            </a:pPr>
            <a:r>
              <a:rPr lang="es-PE" sz="2200" dirty="0">
                <a:effectLst/>
                <a:latin typeface="Calibri" panose="020F0502020204030204" pitchFamily="34" charset="0"/>
                <a:ea typeface="Calibri" panose="020F0502020204030204" pitchFamily="34" charset="0"/>
                <a:cs typeface="Times New Roman" panose="02020603050405020304" pitchFamily="18" charset="0"/>
              </a:rPr>
              <a:t> La curva de Phillips depende de las características de la economía.</a:t>
            </a:r>
          </a:p>
          <a:p>
            <a:pPr algn="just">
              <a:lnSpc>
                <a:spcPct val="170000"/>
              </a:lnSpc>
              <a:buFont typeface="Wingdings" panose="05000000000000000000" pitchFamily="2" charset="2"/>
              <a:buChar char="§"/>
            </a:pPr>
            <a:r>
              <a:rPr lang="es-PE" sz="2200" dirty="0">
                <a:latin typeface="Calibri" panose="020F0502020204030204" pitchFamily="34" charset="0"/>
                <a:ea typeface="Calibri" panose="020F0502020204030204" pitchFamily="34" charset="0"/>
                <a:cs typeface="Times New Roman" panose="02020603050405020304" pitchFamily="18" charset="0"/>
              </a:rPr>
              <a:t>En un país con mucha volatilidad monetaria (p fluctúa mucho) la curva de Phillips tenderá a ser ver vertical ( </a:t>
            </a:r>
            <a:r>
              <a:rPr lang="el-GR" sz="2200" dirty="0">
                <a:latin typeface="Calibri" panose="020F0502020204030204" pitchFamily="34" charset="0"/>
                <a:ea typeface="Calibri" panose="020F0502020204030204" pitchFamily="34" charset="0"/>
                <a:cs typeface="Times New Roman" panose="02020603050405020304" pitchFamily="18" charset="0"/>
              </a:rPr>
              <a:t>α</a:t>
            </a:r>
            <a:r>
              <a:rPr lang="es-PE" sz="2200">
                <a:latin typeface="Calibri" panose="020F0502020204030204" pitchFamily="34" charset="0"/>
                <a:ea typeface="Calibri" panose="020F0502020204030204" pitchFamily="34" charset="0"/>
                <a:cs typeface="Times New Roman" panose="02020603050405020304" pitchFamily="18" charset="0"/>
              </a:rPr>
              <a:t> tiende </a:t>
            </a:r>
            <a:r>
              <a:rPr lang="es-PE" sz="2200" dirty="0">
                <a:latin typeface="Calibri" panose="020F0502020204030204" pitchFamily="34" charset="0"/>
                <a:ea typeface="Calibri" panose="020F0502020204030204" pitchFamily="34" charset="0"/>
                <a:cs typeface="Times New Roman" panose="02020603050405020304" pitchFamily="18" charset="0"/>
              </a:rPr>
              <a:t>a 0).</a:t>
            </a:r>
          </a:p>
          <a:p>
            <a:pPr algn="just">
              <a:lnSpc>
                <a:spcPct val="170000"/>
              </a:lnSpc>
              <a:buFont typeface="Wingdings" panose="05000000000000000000" pitchFamily="2" charset="2"/>
              <a:buChar char="§"/>
            </a:pPr>
            <a:r>
              <a:rPr lang="es-PE" sz="2200" dirty="0">
                <a:latin typeface="Calibri" panose="020F0502020204030204" pitchFamily="34" charset="0"/>
                <a:ea typeface="Calibri" panose="020F0502020204030204" pitchFamily="34" charset="0"/>
                <a:cs typeface="Times New Roman" panose="02020603050405020304" pitchFamily="18" charset="0"/>
              </a:rPr>
              <a:t>En un país con estabilidad monetaria, los cambios en p</a:t>
            </a:r>
            <a:r>
              <a:rPr lang="es-PE" sz="2200" baseline="-25000" dirty="0">
                <a:latin typeface="Calibri" panose="020F0502020204030204" pitchFamily="34" charset="0"/>
                <a:ea typeface="Calibri" panose="020F0502020204030204" pitchFamily="34" charset="0"/>
                <a:cs typeface="Times New Roman" panose="02020603050405020304" pitchFamily="18" charset="0"/>
              </a:rPr>
              <a:t>i</a:t>
            </a:r>
            <a:r>
              <a:rPr lang="es-PE" sz="2200" dirty="0">
                <a:latin typeface="Calibri" panose="020F0502020204030204" pitchFamily="34" charset="0"/>
                <a:ea typeface="Calibri" panose="020F0502020204030204" pitchFamily="34" charset="0"/>
                <a:cs typeface="Times New Roman" panose="02020603050405020304" pitchFamily="18" charset="0"/>
              </a:rPr>
              <a:t> serán percibidos como cambios de precios relativos y por lo tanto la curva de oferta será más horizontal.</a:t>
            </a:r>
            <a:endParaRPr lang="es-MX" sz="22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277490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865EF3-C860-142E-FA1D-A8309613076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6952E57-0F2E-3A44-EFA9-D0E49C101BC2}"/>
              </a:ext>
            </a:extLst>
          </p:cNvPr>
          <p:cNvSpPr>
            <a:spLocks noGrp="1"/>
          </p:cNvSpPr>
          <p:nvPr>
            <p:ph type="title"/>
          </p:nvPr>
        </p:nvSpPr>
        <p:spPr/>
        <p:txBody>
          <a:bodyPr/>
          <a:lstStyle/>
          <a:p>
            <a:endParaRPr lang="es-PE"/>
          </a:p>
        </p:txBody>
      </p:sp>
      <p:sp>
        <p:nvSpPr>
          <p:cNvPr id="3" name="Marcador de texto 2">
            <a:extLst>
              <a:ext uri="{FF2B5EF4-FFF2-40B4-BE49-F238E27FC236}">
                <a16:creationId xmlns:a16="http://schemas.microsoft.com/office/drawing/2014/main" id="{B04D4E11-A34B-8901-B97A-BCC4A900AD3F}"/>
              </a:ext>
            </a:extLst>
          </p:cNvPr>
          <p:cNvSpPr>
            <a:spLocks noGrp="1"/>
          </p:cNvSpPr>
          <p:nvPr>
            <p:ph type="body" idx="1"/>
          </p:nvPr>
        </p:nvSpPr>
        <p:spPr/>
        <p:txBody>
          <a:bodyPr>
            <a:normAutofit fontScale="85000" lnSpcReduction="20000"/>
          </a:bodyPr>
          <a:lstStyle/>
          <a:p>
            <a:pPr algn="r"/>
            <a:r>
              <a:rPr lang="es-PE" sz="3600" b="1" dirty="0"/>
              <a:t>	RIGIDECES SALARIALES Y </a:t>
            </a:r>
          </a:p>
          <a:p>
            <a:pPr algn="r"/>
            <a:r>
              <a:rPr lang="es-PE" sz="3600" b="1" dirty="0"/>
              <a:t>EXPECTATIVAS</a:t>
            </a:r>
          </a:p>
        </p:txBody>
      </p:sp>
    </p:spTree>
    <p:extLst>
      <p:ext uri="{BB962C8B-B14F-4D97-AF65-F5344CB8AC3E}">
        <p14:creationId xmlns:p14="http://schemas.microsoft.com/office/powerpoint/2010/main" val="36465645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79334D-D637-C61C-38B4-C92E369B9CB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98ABA3F-6201-B89A-ED5A-653D59BF1E28}"/>
              </a:ext>
            </a:extLst>
          </p:cNvPr>
          <p:cNvSpPr>
            <a:spLocks noGrp="1"/>
          </p:cNvSpPr>
          <p:nvPr>
            <p:ph type="title"/>
          </p:nvPr>
        </p:nvSpPr>
        <p:spPr>
          <a:xfrm>
            <a:off x="1066800" y="8046"/>
            <a:ext cx="10058400" cy="1450757"/>
          </a:xfrm>
        </p:spPr>
        <p:txBody>
          <a:bodyPr>
            <a:normAutofit/>
          </a:bodyPr>
          <a:lstStyle/>
          <a:p>
            <a:r>
              <a:rPr lang="es-PE" sz="3200" dirty="0"/>
              <a:t>Rigideces de salarios nominales y expectativas</a:t>
            </a:r>
          </a:p>
        </p:txBody>
      </p:sp>
      <p:sp>
        <p:nvSpPr>
          <p:cNvPr id="3" name="Marcador de contenido 2">
            <a:extLst>
              <a:ext uri="{FF2B5EF4-FFF2-40B4-BE49-F238E27FC236}">
                <a16:creationId xmlns:a16="http://schemas.microsoft.com/office/drawing/2014/main" id="{9B42A62D-4BFB-BF25-96A2-3D2E4AA8BC20}"/>
              </a:ext>
            </a:extLst>
          </p:cNvPr>
          <p:cNvSpPr>
            <a:spLocks noGrp="1"/>
          </p:cNvSpPr>
          <p:nvPr>
            <p:ph idx="1"/>
          </p:nvPr>
        </p:nvSpPr>
        <p:spPr>
          <a:xfrm>
            <a:off x="558800" y="1699896"/>
            <a:ext cx="10856595" cy="4457064"/>
          </a:xfrm>
        </p:spPr>
        <p:txBody>
          <a:bodyPr>
            <a:noAutofit/>
          </a:bodyPr>
          <a:lstStyle/>
          <a:p>
            <a:pPr marL="0" indent="0" algn="just">
              <a:lnSpc>
                <a:spcPct val="170000"/>
              </a:lnSpc>
              <a:buNone/>
            </a:pPr>
            <a:r>
              <a:rPr lang="es-PE" sz="2200" dirty="0">
                <a:latin typeface="Calibri" panose="020F0502020204030204" pitchFamily="34" charset="0"/>
                <a:ea typeface="Calibri" panose="020F0502020204030204" pitchFamily="34" charset="0"/>
                <a:cs typeface="Times New Roman" panose="02020603050405020304" pitchFamily="18" charset="0"/>
              </a:rPr>
              <a:t>Supuestos:</a:t>
            </a:r>
          </a:p>
          <a:p>
            <a:pPr marL="355600" indent="-355600" algn="just">
              <a:lnSpc>
                <a:spcPct val="170000"/>
              </a:lnSpc>
              <a:buFont typeface="Wingdings" panose="05000000000000000000" pitchFamily="2" charset="2"/>
              <a:buChar char="§"/>
            </a:pPr>
            <a:r>
              <a:rPr lang="es-PE" sz="2200" dirty="0">
                <a:effectLst/>
                <a:latin typeface="Calibri" panose="020F0502020204030204" pitchFamily="34" charset="0"/>
                <a:ea typeface="Calibri" panose="020F0502020204030204" pitchFamily="34" charset="0"/>
                <a:cs typeface="Times New Roman" panose="02020603050405020304" pitchFamily="18" charset="0"/>
              </a:rPr>
              <a:t>- mercado laboral competitivo</a:t>
            </a:r>
          </a:p>
          <a:p>
            <a:pPr marL="355600" indent="-355600" algn="just">
              <a:lnSpc>
                <a:spcPct val="170000"/>
              </a:lnSpc>
              <a:buFont typeface="Wingdings" panose="05000000000000000000" pitchFamily="2" charset="2"/>
              <a:buChar char="§"/>
            </a:pPr>
            <a:r>
              <a:rPr lang="es-PE" sz="2200" dirty="0">
                <a:latin typeface="Calibri" panose="020F0502020204030204" pitchFamily="34" charset="0"/>
                <a:ea typeface="Calibri" panose="020F0502020204030204" pitchFamily="34" charset="0"/>
                <a:cs typeface="Times New Roman" panose="02020603050405020304" pitchFamily="18" charset="0"/>
              </a:rPr>
              <a:t>- trabajadores fijan la oferta laboral sobre la base de sus expectativas</a:t>
            </a:r>
          </a:p>
          <a:p>
            <a:pPr marL="355600" indent="-355600" algn="just">
              <a:lnSpc>
                <a:spcPct val="170000"/>
              </a:lnSpc>
              <a:buFont typeface="Wingdings" panose="05000000000000000000" pitchFamily="2" charset="2"/>
              <a:buChar char="§"/>
            </a:pPr>
            <a:r>
              <a:rPr lang="es-PE" sz="2200" dirty="0">
                <a:latin typeface="Calibri" panose="020F0502020204030204" pitchFamily="34" charset="0"/>
                <a:ea typeface="Calibri" panose="020F0502020204030204" pitchFamily="34" charset="0"/>
                <a:cs typeface="Times New Roman" panose="02020603050405020304" pitchFamily="18" charset="0"/>
              </a:rPr>
              <a:t>- conocido el nivel de precios, las empresas demandan mano de obra.</a:t>
            </a:r>
            <a:endParaRPr lang="es-MX" sz="22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5889215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B8ADB4-8B2A-C744-4044-51F12468CF6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713DD11-500C-3CB8-E842-3FBA93EB0A03}"/>
              </a:ext>
            </a:extLst>
          </p:cNvPr>
          <p:cNvSpPr>
            <a:spLocks noGrp="1"/>
          </p:cNvSpPr>
          <p:nvPr>
            <p:ph type="title"/>
          </p:nvPr>
        </p:nvSpPr>
        <p:spPr>
          <a:xfrm>
            <a:off x="1066800" y="8046"/>
            <a:ext cx="10058400" cy="1450757"/>
          </a:xfrm>
        </p:spPr>
        <p:txBody>
          <a:bodyPr>
            <a:normAutofit/>
          </a:bodyPr>
          <a:lstStyle/>
          <a:p>
            <a:r>
              <a:rPr lang="es-PE" sz="3200" dirty="0"/>
              <a:t>Rigideces de salarios nominales y expectativas</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CDAAE860-DC73-7BA3-48F7-1AA52EC698C2}"/>
                  </a:ext>
                </a:extLst>
              </p:cNvPr>
              <p:cNvSpPr>
                <a:spLocks noGrp="1"/>
              </p:cNvSpPr>
              <p:nvPr>
                <p:ph idx="1"/>
              </p:nvPr>
            </p:nvSpPr>
            <p:spPr>
              <a:xfrm>
                <a:off x="436880" y="1991360"/>
                <a:ext cx="5435600" cy="4196080"/>
              </a:xfrm>
              <a:ln>
                <a:solidFill>
                  <a:schemeClr val="bg1">
                    <a:lumMod val="65000"/>
                  </a:schemeClr>
                </a:solidFill>
              </a:ln>
            </p:spPr>
            <p:txBody>
              <a:bodyPr>
                <a:noAutofit/>
              </a:bodyPr>
              <a:lstStyle/>
              <a:p>
                <a:pPr marL="355600" indent="-355600" algn="just">
                  <a:lnSpc>
                    <a:spcPct val="125000"/>
                  </a:lnSpc>
                  <a:buFont typeface="Arial" panose="020B0604020202020204" pitchFamily="34" charset="0"/>
                  <a:buChar char="•"/>
                  <a:tabLst>
                    <a:tab pos="5202238" algn="l"/>
                  </a:tabLst>
                </a:pPr>
                <a:r>
                  <a:rPr lang="es-PE" sz="2200" dirty="0">
                    <a:latin typeface="Calibri" panose="020F0502020204030204" pitchFamily="34" charset="0"/>
                    <a:ea typeface="Calibri" panose="020F0502020204030204" pitchFamily="34" charset="0"/>
                    <a:cs typeface="Times New Roman" panose="02020603050405020304" pitchFamily="18" charset="0"/>
                  </a:rPr>
                  <a:t>La demanda de mano de obra es</a:t>
                </a:r>
                <a:r>
                  <a:rPr lang="es-PE" sz="2200" dirty="0">
                    <a:ln>
                      <a:solidFill>
                        <a:schemeClr val="bg1">
                          <a:lumMod val="50000"/>
                        </a:schemeClr>
                      </a:solidFill>
                    </a:ln>
                    <a:latin typeface="Calibri" panose="020F0502020204030204" pitchFamily="34" charset="0"/>
                    <a:ea typeface="Calibri" panose="020F0502020204030204" pitchFamily="34" charset="0"/>
                    <a:cs typeface="Times New Roman" panose="02020603050405020304" pitchFamily="18" charset="0"/>
                  </a:rPr>
                  <a:t>:</a:t>
                </a:r>
              </a:p>
              <a:p>
                <a:pPr marL="292608" lvl="1" indent="0" algn="just">
                  <a:lnSpc>
                    <a:spcPct val="125000"/>
                  </a:lnSpc>
                  <a:buNone/>
                  <a:tabLst>
                    <a:tab pos="5202238" algn="l"/>
                  </a:tabLst>
                </a:pPr>
                <a14:m>
                  <m:oMathPara xmlns:m="http://schemas.openxmlformats.org/officeDocument/2006/math">
                    <m:oMathParaPr>
                      <m:jc m:val="center"/>
                    </m:oMathParaPr>
                    <m:oMath xmlns:m="http://schemas.openxmlformats.org/officeDocument/2006/math">
                      <m:r>
                        <a:rPr lang="es-PE" sz="2200" b="0" i="1" smtClean="0">
                          <a:ln w="9525">
                            <a:noFill/>
                          </a:ln>
                          <a:latin typeface="Cambria Math" panose="02040503050406030204" pitchFamily="18" charset="0"/>
                          <a:ea typeface="Calibri" panose="020F0502020204030204" pitchFamily="34" charset="0"/>
                          <a:cs typeface="Times New Roman" panose="02020603050405020304" pitchFamily="18" charset="0"/>
                        </a:rPr>
                        <m:t>𝑊</m:t>
                      </m:r>
                      <m:r>
                        <a:rPr lang="es-MX" sz="2200" i="1" smtClean="0">
                          <a:ln w="9525">
                            <a:noFill/>
                          </a:ln>
                          <a:latin typeface="Cambria Math" panose="02040503050406030204" pitchFamily="18" charset="0"/>
                          <a:ea typeface="Calibri" panose="020F0502020204030204" pitchFamily="34" charset="0"/>
                          <a:cs typeface="Times New Roman" panose="02020603050405020304" pitchFamily="18" charset="0"/>
                        </a:rPr>
                        <m:t>=</m:t>
                      </m:r>
                      <m:r>
                        <a:rPr lang="es-PE" sz="2200" b="0" i="1" smtClean="0">
                          <a:ln w="9525">
                            <a:noFill/>
                          </a:ln>
                          <a:latin typeface="Cambria Math" panose="02040503050406030204" pitchFamily="18" charset="0"/>
                          <a:ea typeface="Calibri" panose="020F0502020204030204" pitchFamily="34" charset="0"/>
                          <a:cs typeface="Times New Roman" panose="02020603050405020304" pitchFamily="18" charset="0"/>
                        </a:rPr>
                        <m:t>𝑃</m:t>
                      </m:r>
                      <m:r>
                        <a:rPr lang="es-PE" sz="2200" b="0" i="1" smtClean="0">
                          <a:ln w="9525">
                            <a:noFill/>
                          </a:ln>
                          <a:latin typeface="Cambria Math" panose="02040503050406030204" pitchFamily="18" charset="0"/>
                          <a:ea typeface="Cambria Math" panose="02040503050406030204" pitchFamily="18" charset="0"/>
                          <a:cs typeface="Times New Roman" panose="02020603050405020304" pitchFamily="18" charset="0"/>
                        </a:rPr>
                        <m:t>∙</m:t>
                      </m:r>
                      <m:r>
                        <a:rPr lang="es-PE" sz="2200" b="0" i="1" smtClean="0">
                          <a:ln w="9525">
                            <a:noFill/>
                          </a:ln>
                          <a:latin typeface="Cambria Math" panose="02040503050406030204" pitchFamily="18" charset="0"/>
                          <a:ea typeface="Cambria Math" panose="02040503050406030204" pitchFamily="18" charset="0"/>
                          <a:cs typeface="Times New Roman" panose="02020603050405020304" pitchFamily="18" charset="0"/>
                        </a:rPr>
                        <m:t>𝑃𝑚𝑔𝐿</m:t>
                      </m:r>
                    </m:oMath>
                  </m:oMathPara>
                </a14:m>
                <a:endParaRPr lang="es-MX" sz="2200" dirty="0">
                  <a:ln w="9525">
                    <a:solidFill>
                      <a:schemeClr val="bg1">
                        <a:lumMod val="50000"/>
                      </a:schemeClr>
                    </a:solidFill>
                  </a:ln>
                  <a:latin typeface="Calibri" panose="020F0502020204030204" pitchFamily="34" charset="0"/>
                  <a:ea typeface="Calibri" panose="020F0502020204030204" pitchFamily="34" charset="0"/>
                  <a:cs typeface="Times New Roman" panose="02020603050405020304" pitchFamily="18" charset="0"/>
                </a:endParaRPr>
              </a:p>
              <a:p>
                <a:pPr marL="263525" indent="-263525" algn="just">
                  <a:lnSpc>
                    <a:spcPct val="125000"/>
                  </a:lnSpc>
                  <a:buFont typeface="Arial" panose="020B0604020202020204" pitchFamily="34" charset="0"/>
                  <a:buChar char="•"/>
                  <a:tabLst>
                    <a:tab pos="5110163" algn="l"/>
                  </a:tabLst>
                </a:pPr>
                <a:r>
                  <a:rPr lang="es-MX" sz="2200" dirty="0">
                    <a:latin typeface="Calibri" panose="020F0502020204030204" pitchFamily="34" charset="0"/>
                    <a:ea typeface="Calibri" panose="020F0502020204030204" pitchFamily="34" charset="0"/>
                    <a:cs typeface="Times New Roman" panose="02020603050405020304" pitchFamily="18" charset="0"/>
                  </a:rPr>
                  <a:t>Los trabajadores definen para cada nivel de empleo el nivel de salario nominal W por el cual están dispuestos a trabajar.</a:t>
                </a:r>
              </a:p>
              <a:p>
                <a:pPr marL="263525" indent="-263525" algn="just">
                  <a:lnSpc>
                    <a:spcPct val="125000"/>
                  </a:lnSpc>
                  <a:buFont typeface="Arial" panose="020B0604020202020204" pitchFamily="34" charset="0"/>
                  <a:buChar char="•"/>
                  <a:tabLst>
                    <a:tab pos="5202238" algn="l"/>
                  </a:tabLst>
                </a:pPr>
                <a:r>
                  <a:rPr lang="es-MX" sz="2200" dirty="0">
                    <a:latin typeface="Calibri" panose="020F0502020204030204" pitchFamily="34" charset="0"/>
                    <a:ea typeface="Calibri" panose="020F0502020204030204" pitchFamily="34" charset="0"/>
                    <a:cs typeface="Times New Roman" panose="02020603050405020304" pitchFamily="18" charset="0"/>
                  </a:rPr>
                  <a:t>El salario W al que están dispuestos a trabajar está dado por el salario real esperado considerando el nivel de precios esperado.</a:t>
                </a:r>
              </a:p>
            </p:txBody>
          </p:sp>
        </mc:Choice>
        <mc:Fallback xmlns="">
          <p:sp>
            <p:nvSpPr>
              <p:cNvPr id="3" name="Marcador de contenido 2">
                <a:extLst>
                  <a:ext uri="{FF2B5EF4-FFF2-40B4-BE49-F238E27FC236}">
                    <a16:creationId xmlns:a16="http://schemas.microsoft.com/office/drawing/2014/main" id="{CDAAE860-DC73-7BA3-48F7-1AA52EC698C2}"/>
                  </a:ext>
                </a:extLst>
              </p:cNvPr>
              <p:cNvSpPr>
                <a:spLocks noGrp="1" noRot="1" noChangeAspect="1" noMove="1" noResize="1" noEditPoints="1" noAdjustHandles="1" noChangeArrowheads="1" noChangeShapeType="1" noTextEdit="1"/>
              </p:cNvSpPr>
              <p:nvPr>
                <p:ph idx="1"/>
              </p:nvPr>
            </p:nvSpPr>
            <p:spPr>
              <a:xfrm>
                <a:off x="436880" y="1991360"/>
                <a:ext cx="5435600" cy="4196080"/>
              </a:xfrm>
              <a:blipFill>
                <a:blip r:embed="rId2"/>
                <a:stretch>
                  <a:fillRect l="-2912" r="-3135" b="-3768"/>
                </a:stretch>
              </a:blipFill>
              <a:ln>
                <a:solidFill>
                  <a:schemeClr val="bg1">
                    <a:lumMod val="65000"/>
                  </a:schemeClr>
                </a:solidFill>
              </a:ln>
            </p:spPr>
            <p:txBody>
              <a:bodyPr/>
              <a:lstStyle/>
              <a:p>
                <a:r>
                  <a:rPr lang="es-PE">
                    <a:noFill/>
                  </a:rPr>
                  <a:t> </a:t>
                </a:r>
              </a:p>
            </p:txBody>
          </p:sp>
        </mc:Fallback>
      </mc:AlternateContent>
      <p:pic>
        <p:nvPicPr>
          <p:cNvPr id="5" name="Imagen 4">
            <a:extLst>
              <a:ext uri="{FF2B5EF4-FFF2-40B4-BE49-F238E27FC236}">
                <a16:creationId xmlns:a16="http://schemas.microsoft.com/office/drawing/2014/main" id="{9B9168D6-7363-27AC-AF90-5462308DAF16}"/>
              </a:ext>
            </a:extLst>
          </p:cNvPr>
          <p:cNvPicPr>
            <a:picLocks noChangeAspect="1"/>
          </p:cNvPicPr>
          <p:nvPr/>
        </p:nvPicPr>
        <p:blipFill>
          <a:blip r:embed="rId3"/>
          <a:stretch>
            <a:fillRect/>
          </a:stretch>
        </p:blipFill>
        <p:spPr>
          <a:xfrm>
            <a:off x="6614160" y="2150800"/>
            <a:ext cx="4754879" cy="4059352"/>
          </a:xfrm>
          <a:prstGeom prst="rect">
            <a:avLst/>
          </a:prstGeom>
        </p:spPr>
      </p:pic>
    </p:spTree>
    <p:extLst>
      <p:ext uri="{BB962C8B-B14F-4D97-AF65-F5344CB8AC3E}">
        <p14:creationId xmlns:p14="http://schemas.microsoft.com/office/powerpoint/2010/main" val="17990380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576F00-8C56-C9F3-AD2A-7A48162ADCB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52D8513-1ED3-291F-83CD-41B91417B3E7}"/>
              </a:ext>
            </a:extLst>
          </p:cNvPr>
          <p:cNvSpPr>
            <a:spLocks noGrp="1"/>
          </p:cNvSpPr>
          <p:nvPr>
            <p:ph type="title"/>
          </p:nvPr>
        </p:nvSpPr>
        <p:spPr>
          <a:xfrm>
            <a:off x="1066800" y="8046"/>
            <a:ext cx="10058400" cy="1450757"/>
          </a:xfrm>
        </p:spPr>
        <p:txBody>
          <a:bodyPr>
            <a:normAutofit/>
          </a:bodyPr>
          <a:lstStyle/>
          <a:p>
            <a:r>
              <a:rPr lang="es-PE" sz="3200" dirty="0"/>
              <a:t>Rigideces de salarios nominales y expectativas</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EE3F4EED-944B-6ABC-CCF9-52E000F9D1BE}"/>
                  </a:ext>
                </a:extLst>
              </p:cNvPr>
              <p:cNvSpPr>
                <a:spLocks noGrp="1"/>
              </p:cNvSpPr>
              <p:nvPr>
                <p:ph idx="1"/>
              </p:nvPr>
            </p:nvSpPr>
            <p:spPr>
              <a:xfrm>
                <a:off x="436880" y="1991360"/>
                <a:ext cx="5435600" cy="4196080"/>
              </a:xfrm>
              <a:ln>
                <a:solidFill>
                  <a:schemeClr val="bg1">
                    <a:lumMod val="65000"/>
                  </a:schemeClr>
                </a:solidFill>
              </a:ln>
            </p:spPr>
            <p:txBody>
              <a:bodyPr>
                <a:noAutofit/>
              </a:bodyPr>
              <a:lstStyle/>
              <a:p>
                <a:pPr marL="0" indent="0" algn="just">
                  <a:lnSpc>
                    <a:spcPct val="125000"/>
                  </a:lnSpc>
                  <a:buNone/>
                  <a:tabLst>
                    <a:tab pos="5202238" algn="l"/>
                  </a:tabLst>
                </a:pPr>
                <a:r>
                  <a:rPr lang="es-PE" sz="2200" dirty="0">
                    <a:latin typeface="Calibri" panose="020F0502020204030204" pitchFamily="34" charset="0"/>
                    <a:ea typeface="Calibri" panose="020F0502020204030204" pitchFamily="34" charset="0"/>
                    <a:cs typeface="Times New Roman" panose="02020603050405020304" pitchFamily="18" charset="0"/>
                  </a:rPr>
                  <a:t>Así la oferta de trabajo es:</a:t>
                </a:r>
              </a:p>
              <a:p>
                <a:pPr marL="355600" indent="-355600" algn="just">
                  <a:lnSpc>
                    <a:spcPct val="125000"/>
                  </a:lnSpc>
                  <a:buFont typeface="Arial" panose="020B0604020202020204" pitchFamily="34" charset="0"/>
                  <a:buChar char="•"/>
                  <a:tabLst>
                    <a:tab pos="5202238" algn="l"/>
                  </a:tabLst>
                </a:pPr>
                <a14:m>
                  <m:oMath xmlns:m="http://schemas.openxmlformats.org/officeDocument/2006/math">
                    <m:r>
                      <a:rPr lang="es-PE" sz="2200" b="0" i="1" smtClean="0">
                        <a:latin typeface="Cambria Math" panose="02040503050406030204" pitchFamily="18" charset="0"/>
                        <a:ea typeface="Calibri" panose="020F0502020204030204" pitchFamily="34" charset="0"/>
                        <a:cs typeface="Times New Roman" panose="02020603050405020304" pitchFamily="18" charset="0"/>
                      </a:rPr>
                      <m:t>𝐿</m:t>
                    </m:r>
                    <m:r>
                      <a:rPr lang="es-MX" sz="2200" i="1" smtClean="0">
                        <a:latin typeface="Cambria Math" panose="02040503050406030204" pitchFamily="18" charset="0"/>
                        <a:ea typeface="Calibri" panose="020F0502020204030204" pitchFamily="34" charset="0"/>
                        <a:cs typeface="Times New Roman" panose="02020603050405020304" pitchFamily="18" charset="0"/>
                      </a:rPr>
                      <m:t>=</m:t>
                    </m:r>
                    <m:sSup>
                      <m:sSupPr>
                        <m:ctrlPr>
                          <a:rPr lang="es-MX" sz="2200" i="1" smtClean="0">
                            <a:latin typeface="Cambria Math" panose="02040503050406030204" pitchFamily="18" charset="0"/>
                            <a:ea typeface="Calibri" panose="020F0502020204030204" pitchFamily="34" charset="0"/>
                            <a:cs typeface="Times New Roman" panose="02020603050405020304" pitchFamily="18" charset="0"/>
                          </a:rPr>
                        </m:ctrlPr>
                      </m:sSupPr>
                      <m:e>
                        <m:r>
                          <a:rPr lang="es-PE" sz="2200" b="0" i="1" smtClean="0">
                            <a:latin typeface="Cambria Math" panose="02040503050406030204" pitchFamily="18" charset="0"/>
                            <a:ea typeface="Calibri" panose="020F0502020204030204" pitchFamily="34" charset="0"/>
                            <a:cs typeface="Times New Roman" panose="02020603050405020304" pitchFamily="18" charset="0"/>
                          </a:rPr>
                          <m:t>𝐿</m:t>
                        </m:r>
                      </m:e>
                      <m:sup>
                        <m:r>
                          <a:rPr lang="es-PE" sz="2200" b="0" i="1" smtClean="0">
                            <a:latin typeface="Cambria Math" panose="02040503050406030204" pitchFamily="18" charset="0"/>
                            <a:ea typeface="Calibri" panose="020F0502020204030204" pitchFamily="34" charset="0"/>
                            <a:cs typeface="Times New Roman" panose="02020603050405020304" pitchFamily="18" charset="0"/>
                          </a:rPr>
                          <m:t>𝑠</m:t>
                        </m:r>
                      </m:sup>
                    </m:sSup>
                    <m:d>
                      <m:dPr>
                        <m:ctrlPr>
                          <a:rPr lang="es-MX" sz="2200" i="1" smtClean="0">
                            <a:latin typeface="Cambria Math" panose="02040503050406030204" pitchFamily="18" charset="0"/>
                            <a:ea typeface="Calibri" panose="020F0502020204030204" pitchFamily="34" charset="0"/>
                            <a:cs typeface="Times New Roman" panose="02020603050405020304" pitchFamily="18" charset="0"/>
                          </a:rPr>
                        </m:ctrlPr>
                      </m:dPr>
                      <m:e>
                        <m:f>
                          <m:fPr>
                            <m:type m:val="skw"/>
                            <m:ctrlPr>
                              <a:rPr lang="es-MX" sz="2200" i="1" smtClean="0">
                                <a:latin typeface="Cambria Math" panose="02040503050406030204" pitchFamily="18" charset="0"/>
                                <a:ea typeface="Calibri" panose="020F0502020204030204" pitchFamily="34" charset="0"/>
                                <a:cs typeface="Times New Roman" panose="02020603050405020304" pitchFamily="18" charset="0"/>
                              </a:rPr>
                            </m:ctrlPr>
                          </m:fPr>
                          <m:num>
                            <m:r>
                              <a:rPr lang="es-PE" sz="2200" b="0" i="1" smtClean="0">
                                <a:latin typeface="Cambria Math" panose="02040503050406030204" pitchFamily="18" charset="0"/>
                                <a:ea typeface="Calibri" panose="020F0502020204030204" pitchFamily="34" charset="0"/>
                                <a:cs typeface="Times New Roman" panose="02020603050405020304" pitchFamily="18" charset="0"/>
                              </a:rPr>
                              <m:t>𝑊</m:t>
                            </m:r>
                          </m:num>
                          <m:den>
                            <m:sSup>
                              <m:sSupPr>
                                <m:ctrlPr>
                                  <a:rPr lang="es-MX" sz="2200" i="1" smtClean="0">
                                    <a:latin typeface="Cambria Math" panose="02040503050406030204" pitchFamily="18" charset="0"/>
                                    <a:ea typeface="Calibri" panose="020F0502020204030204" pitchFamily="34" charset="0"/>
                                    <a:cs typeface="Times New Roman" panose="02020603050405020304" pitchFamily="18" charset="0"/>
                                  </a:rPr>
                                </m:ctrlPr>
                              </m:sSupPr>
                              <m:e>
                                <m:r>
                                  <a:rPr lang="es-PE" sz="2200" b="0" i="1" smtClean="0">
                                    <a:latin typeface="Cambria Math" panose="02040503050406030204" pitchFamily="18" charset="0"/>
                                    <a:ea typeface="Calibri" panose="020F0502020204030204" pitchFamily="34" charset="0"/>
                                    <a:cs typeface="Times New Roman" panose="02020603050405020304" pitchFamily="18" charset="0"/>
                                  </a:rPr>
                                  <m:t>𝑃</m:t>
                                </m:r>
                              </m:e>
                              <m:sup>
                                <m:r>
                                  <a:rPr lang="es-PE" sz="2200" b="0" i="1" smtClean="0">
                                    <a:latin typeface="Cambria Math" panose="02040503050406030204" pitchFamily="18" charset="0"/>
                                    <a:ea typeface="Calibri" panose="020F0502020204030204" pitchFamily="34" charset="0"/>
                                    <a:cs typeface="Times New Roman" panose="02020603050405020304" pitchFamily="18" charset="0"/>
                                  </a:rPr>
                                  <m:t>𝑒</m:t>
                                </m:r>
                              </m:sup>
                            </m:sSup>
                          </m:den>
                        </m:f>
                      </m:e>
                    </m:d>
                  </m:oMath>
                </a14:m>
                <a:endParaRPr lang="es-PE" sz="2200" dirty="0">
                  <a:latin typeface="Calibri" panose="020F0502020204030204" pitchFamily="34" charset="0"/>
                  <a:ea typeface="Calibri" panose="020F0502020204030204" pitchFamily="34" charset="0"/>
                  <a:cs typeface="Times New Roman" panose="02020603050405020304" pitchFamily="18" charset="0"/>
                </a:endParaRPr>
              </a:p>
              <a:p>
                <a:pPr marL="355600" indent="-355600" algn="just">
                  <a:lnSpc>
                    <a:spcPct val="125000"/>
                  </a:lnSpc>
                  <a:buFont typeface="Arial" panose="020B0604020202020204" pitchFamily="34" charset="0"/>
                  <a:buChar char="•"/>
                  <a:tabLst>
                    <a:tab pos="5202238" algn="l"/>
                  </a:tabLst>
                </a:pPr>
                <a14:m>
                  <m:oMath xmlns:m="http://schemas.openxmlformats.org/officeDocument/2006/math">
                    <m:f>
                      <m:fPr>
                        <m:ctrlPr>
                          <a:rPr lang="es-MX" sz="2200" i="1" smtClean="0">
                            <a:latin typeface="Cambria Math" panose="02040503050406030204" pitchFamily="18" charset="0"/>
                            <a:ea typeface="Calibri" panose="020F0502020204030204" pitchFamily="34" charset="0"/>
                            <a:cs typeface="Times New Roman" panose="02020603050405020304" pitchFamily="18" charset="0"/>
                          </a:rPr>
                        </m:ctrlPr>
                      </m:fPr>
                      <m:num>
                        <m:r>
                          <a:rPr lang="es-PE" sz="2200" b="0" i="1" smtClean="0">
                            <a:latin typeface="Cambria Math" panose="02040503050406030204" pitchFamily="18" charset="0"/>
                            <a:ea typeface="Calibri" panose="020F0502020204030204" pitchFamily="34" charset="0"/>
                            <a:cs typeface="Times New Roman" panose="02020603050405020304" pitchFamily="18" charset="0"/>
                          </a:rPr>
                          <m:t>𝑊</m:t>
                        </m:r>
                      </m:num>
                      <m:den>
                        <m:sSup>
                          <m:sSupPr>
                            <m:ctrlPr>
                              <a:rPr lang="es-MX" sz="2200" i="1" smtClean="0">
                                <a:latin typeface="Cambria Math" panose="02040503050406030204" pitchFamily="18" charset="0"/>
                                <a:ea typeface="Calibri" panose="020F0502020204030204" pitchFamily="34" charset="0"/>
                                <a:cs typeface="Times New Roman" panose="02020603050405020304" pitchFamily="18" charset="0"/>
                              </a:rPr>
                            </m:ctrlPr>
                          </m:sSupPr>
                          <m:e>
                            <m:r>
                              <a:rPr lang="es-PE" sz="2200" b="0" i="1" smtClean="0">
                                <a:latin typeface="Cambria Math" panose="02040503050406030204" pitchFamily="18" charset="0"/>
                                <a:ea typeface="Calibri" panose="020F0502020204030204" pitchFamily="34" charset="0"/>
                                <a:cs typeface="Times New Roman" panose="02020603050405020304" pitchFamily="18" charset="0"/>
                              </a:rPr>
                              <m:t>𝑃</m:t>
                            </m:r>
                          </m:e>
                          <m:sup>
                            <m:r>
                              <a:rPr lang="es-PE" sz="2200" b="0" i="1" smtClean="0">
                                <a:latin typeface="Cambria Math" panose="02040503050406030204" pitchFamily="18" charset="0"/>
                                <a:ea typeface="Calibri" panose="020F0502020204030204" pitchFamily="34" charset="0"/>
                                <a:cs typeface="Times New Roman" panose="02020603050405020304" pitchFamily="18" charset="0"/>
                              </a:rPr>
                              <m:t>𝑒</m:t>
                            </m:r>
                          </m:sup>
                        </m:sSup>
                      </m:den>
                    </m:f>
                    <m:r>
                      <a:rPr lang="es-PE" sz="2200" b="0" i="1" smtClean="0">
                        <a:latin typeface="Cambria Math" panose="02040503050406030204" pitchFamily="18" charset="0"/>
                        <a:ea typeface="Calibri" panose="020F0502020204030204" pitchFamily="34" charset="0"/>
                        <a:cs typeface="Times New Roman" panose="02020603050405020304" pitchFamily="18" charset="0"/>
                      </a:rPr>
                      <m:t>=</m:t>
                    </m:r>
                    <m:limLow>
                      <m:limLowPr>
                        <m:ctrlPr>
                          <a:rPr lang="es-PE" sz="2200" b="0" i="1" smtClean="0">
                            <a:latin typeface="Cambria Math" panose="02040503050406030204" pitchFamily="18" charset="0"/>
                            <a:ea typeface="Calibri" panose="020F0502020204030204" pitchFamily="34" charset="0"/>
                            <a:cs typeface="Times New Roman" panose="02020603050405020304" pitchFamily="18" charset="0"/>
                          </a:rPr>
                        </m:ctrlPr>
                      </m:limLowPr>
                      <m:e>
                        <m:groupChr>
                          <m:groupChrPr>
                            <m:chr m:val="⏟"/>
                            <m:ctrlPr>
                              <a:rPr lang="es-PE" sz="2200" b="0" i="1" smtClean="0">
                                <a:latin typeface="Cambria Math" panose="02040503050406030204" pitchFamily="18" charset="0"/>
                                <a:ea typeface="Calibri" panose="020F0502020204030204" pitchFamily="34" charset="0"/>
                                <a:cs typeface="Times New Roman" panose="02020603050405020304" pitchFamily="18" charset="0"/>
                              </a:rPr>
                            </m:ctrlPr>
                          </m:groupChrPr>
                          <m:e>
                            <m:sSup>
                              <m:sSupPr>
                                <m:ctrlPr>
                                  <a:rPr lang="es-PE" sz="2200" b="0" i="1" smtClean="0">
                                    <a:latin typeface="Cambria Math" panose="02040503050406030204" pitchFamily="18" charset="0"/>
                                    <a:ea typeface="Calibri" panose="020F0502020204030204" pitchFamily="34" charset="0"/>
                                    <a:cs typeface="Times New Roman" panose="02020603050405020304" pitchFamily="18" charset="0"/>
                                  </a:rPr>
                                </m:ctrlPr>
                              </m:sSupPr>
                              <m:e>
                                <m:r>
                                  <a:rPr lang="es-PE" sz="2200" b="0" i="1" smtClean="0">
                                    <a:latin typeface="Cambria Math" panose="02040503050406030204" pitchFamily="18" charset="0"/>
                                    <a:ea typeface="Calibri" panose="020F0502020204030204" pitchFamily="34" charset="0"/>
                                    <a:cs typeface="Times New Roman" panose="02020603050405020304" pitchFamily="18" charset="0"/>
                                  </a:rPr>
                                  <m:t>𝑤</m:t>
                                </m:r>
                              </m:e>
                              <m:sup>
                                <m:r>
                                  <a:rPr lang="es-PE" sz="2200" b="0" i="1" smtClean="0">
                                    <a:latin typeface="Cambria Math" panose="02040503050406030204" pitchFamily="18" charset="0"/>
                                    <a:ea typeface="Calibri" panose="020F0502020204030204" pitchFamily="34" charset="0"/>
                                    <a:cs typeface="Times New Roman" panose="02020603050405020304" pitchFamily="18" charset="0"/>
                                  </a:rPr>
                                  <m:t>𝑠</m:t>
                                </m:r>
                              </m:sup>
                            </m:sSup>
                            <m:r>
                              <a:rPr lang="es-PE" sz="2200" b="0" i="1" smtClean="0">
                                <a:latin typeface="Cambria Math" panose="02040503050406030204" pitchFamily="18" charset="0"/>
                                <a:ea typeface="Calibri" panose="020F0502020204030204" pitchFamily="34" charset="0"/>
                                <a:cs typeface="Times New Roman" panose="02020603050405020304" pitchFamily="18" charset="0"/>
                              </a:rPr>
                              <m:t>(</m:t>
                            </m:r>
                            <m:r>
                              <a:rPr lang="es-PE" sz="2200" b="0" i="1" smtClean="0">
                                <a:latin typeface="Cambria Math" panose="02040503050406030204" pitchFamily="18" charset="0"/>
                                <a:ea typeface="Calibri" panose="020F0502020204030204" pitchFamily="34" charset="0"/>
                                <a:cs typeface="Times New Roman" panose="02020603050405020304" pitchFamily="18" charset="0"/>
                              </a:rPr>
                              <m:t>𝐿</m:t>
                            </m:r>
                            <m:r>
                              <a:rPr lang="es-PE" sz="2200" b="0" i="1" smtClean="0">
                                <a:latin typeface="Cambria Math" panose="02040503050406030204" pitchFamily="18" charset="0"/>
                                <a:ea typeface="Calibri" panose="020F0502020204030204" pitchFamily="34" charset="0"/>
                                <a:cs typeface="Times New Roman" panose="02020603050405020304" pitchFamily="18" charset="0"/>
                              </a:rPr>
                              <m:t>)</m:t>
                            </m:r>
                          </m:e>
                        </m:groupChr>
                      </m:e>
                      <m:lim>
                        <m:eqArr>
                          <m:eqArrPr>
                            <m:ctrlPr>
                              <a:rPr lang="es-PE" sz="2200" b="0" i="1" smtClean="0">
                                <a:latin typeface="Cambria Math" panose="02040503050406030204" pitchFamily="18" charset="0"/>
                                <a:ea typeface="Calibri" panose="020F0502020204030204" pitchFamily="34" charset="0"/>
                                <a:cs typeface="Times New Roman" panose="02020603050405020304" pitchFamily="18" charset="0"/>
                              </a:rPr>
                            </m:ctrlPr>
                          </m:eqArrPr>
                          <m:e>
                            <m:r>
                              <a:rPr lang="es-PE" sz="2200" b="0" i="1" smtClean="0">
                                <a:latin typeface="Cambria Math" panose="02040503050406030204" pitchFamily="18" charset="0"/>
                                <a:ea typeface="Calibri" panose="020F0502020204030204" pitchFamily="34" charset="0"/>
                                <a:cs typeface="Times New Roman" panose="02020603050405020304" pitchFamily="18" charset="0"/>
                              </a:rPr>
                              <m:t>𝐹𝑠</m:t>
                            </m:r>
                            <m:r>
                              <a:rPr lang="es-PE" sz="2200" b="0" i="1" smtClean="0">
                                <a:latin typeface="Cambria Math" panose="02040503050406030204" pitchFamily="18" charset="0"/>
                                <a:ea typeface="Calibri" panose="020F0502020204030204" pitchFamily="34" charset="0"/>
                                <a:cs typeface="Times New Roman" panose="02020603050405020304" pitchFamily="18" charset="0"/>
                              </a:rPr>
                              <m:t> </m:t>
                            </m:r>
                            <m:r>
                              <a:rPr lang="es-PE" sz="2200" b="0" i="1" smtClean="0">
                                <a:latin typeface="Cambria Math" panose="02040503050406030204" pitchFamily="18" charset="0"/>
                                <a:ea typeface="Calibri" panose="020F0502020204030204" pitchFamily="34" charset="0"/>
                                <a:cs typeface="Times New Roman" panose="02020603050405020304" pitchFamily="18" charset="0"/>
                              </a:rPr>
                              <m:t>𝑖𝑛𝑣𝑒𝑟𝑠𝑎</m:t>
                            </m:r>
                          </m:e>
                          <m:e>
                            <m:r>
                              <a:rPr lang="es-PE" sz="2200" b="0" i="1" smtClean="0">
                                <a:latin typeface="Cambria Math" panose="02040503050406030204" pitchFamily="18" charset="0"/>
                                <a:ea typeface="Calibri" panose="020F0502020204030204" pitchFamily="34" charset="0"/>
                                <a:cs typeface="Times New Roman" panose="02020603050405020304" pitchFamily="18" charset="0"/>
                              </a:rPr>
                              <m:t>𝑑𝑒</m:t>
                            </m:r>
                            <m:r>
                              <a:rPr lang="es-PE" sz="2200" b="0" i="1" smtClean="0">
                                <a:latin typeface="Cambria Math" panose="02040503050406030204" pitchFamily="18" charset="0"/>
                                <a:ea typeface="Calibri" panose="020F0502020204030204" pitchFamily="34" charset="0"/>
                                <a:cs typeface="Times New Roman" panose="02020603050405020304" pitchFamily="18" charset="0"/>
                              </a:rPr>
                              <m:t> </m:t>
                            </m:r>
                            <m:r>
                              <a:rPr lang="es-PE" sz="2200" b="0" i="1" smtClean="0">
                                <a:latin typeface="Cambria Math" panose="02040503050406030204" pitchFamily="18" charset="0"/>
                                <a:ea typeface="Calibri" panose="020F0502020204030204" pitchFamily="34" charset="0"/>
                                <a:cs typeface="Times New Roman" panose="02020603050405020304" pitchFamily="18" charset="0"/>
                              </a:rPr>
                              <m:t>𝐿𝑠</m:t>
                            </m:r>
                            <m:r>
                              <a:rPr lang="es-PE" sz="2200" b="0" i="1" smtClean="0">
                                <a:latin typeface="Cambria Math" panose="02040503050406030204" pitchFamily="18" charset="0"/>
                                <a:ea typeface="Calibri" panose="020F0502020204030204" pitchFamily="34" charset="0"/>
                                <a:cs typeface="Times New Roman" panose="02020603050405020304" pitchFamily="18" charset="0"/>
                              </a:rPr>
                              <m:t>(</m:t>
                            </m:r>
                            <m:f>
                              <m:fPr>
                                <m:type m:val="skw"/>
                                <m:ctrlPr>
                                  <a:rPr lang="es-PE" sz="2200" b="0" i="1" smtClean="0">
                                    <a:latin typeface="Cambria Math" panose="02040503050406030204" pitchFamily="18" charset="0"/>
                                    <a:ea typeface="Calibri" panose="020F0502020204030204" pitchFamily="34" charset="0"/>
                                    <a:cs typeface="Times New Roman" panose="02020603050405020304" pitchFamily="18" charset="0"/>
                                  </a:rPr>
                                </m:ctrlPr>
                              </m:fPr>
                              <m:num>
                                <m:r>
                                  <a:rPr lang="es-PE" sz="2200" b="0" i="1" smtClean="0">
                                    <a:latin typeface="Cambria Math" panose="02040503050406030204" pitchFamily="18" charset="0"/>
                                    <a:ea typeface="Calibri" panose="020F0502020204030204" pitchFamily="34" charset="0"/>
                                    <a:cs typeface="Times New Roman" panose="02020603050405020304" pitchFamily="18" charset="0"/>
                                  </a:rPr>
                                  <m:t>𝑊</m:t>
                                </m:r>
                              </m:num>
                              <m:den>
                                <m:sSup>
                                  <m:sSupPr>
                                    <m:ctrlPr>
                                      <a:rPr lang="es-PE" sz="2200" b="0" i="1" smtClean="0">
                                        <a:latin typeface="Cambria Math" panose="02040503050406030204" pitchFamily="18" charset="0"/>
                                        <a:ea typeface="Calibri" panose="020F0502020204030204" pitchFamily="34" charset="0"/>
                                        <a:cs typeface="Times New Roman" panose="02020603050405020304" pitchFamily="18" charset="0"/>
                                      </a:rPr>
                                    </m:ctrlPr>
                                  </m:sSupPr>
                                  <m:e>
                                    <m:r>
                                      <a:rPr lang="es-PE" sz="2200" b="0" i="1" smtClean="0">
                                        <a:latin typeface="Cambria Math" panose="02040503050406030204" pitchFamily="18" charset="0"/>
                                        <a:ea typeface="Calibri" panose="020F0502020204030204" pitchFamily="34" charset="0"/>
                                        <a:cs typeface="Times New Roman" panose="02020603050405020304" pitchFamily="18" charset="0"/>
                                      </a:rPr>
                                      <m:t>𝑃</m:t>
                                    </m:r>
                                  </m:e>
                                  <m:sup>
                                    <m:r>
                                      <a:rPr lang="es-PE" sz="2200" b="0" i="1" smtClean="0">
                                        <a:latin typeface="Cambria Math" panose="02040503050406030204" pitchFamily="18" charset="0"/>
                                        <a:ea typeface="Calibri" panose="020F0502020204030204" pitchFamily="34" charset="0"/>
                                        <a:cs typeface="Times New Roman" panose="02020603050405020304" pitchFamily="18" charset="0"/>
                                      </a:rPr>
                                      <m:t>𝑒</m:t>
                                    </m:r>
                                  </m:sup>
                                </m:sSup>
                              </m:den>
                            </m:f>
                            <m:r>
                              <a:rPr lang="es-PE" sz="2200" b="0" i="1" smtClean="0">
                                <a:latin typeface="Cambria Math" panose="02040503050406030204" pitchFamily="18" charset="0"/>
                                <a:ea typeface="Calibri" panose="020F0502020204030204" pitchFamily="34" charset="0"/>
                                <a:cs typeface="Times New Roman" panose="02020603050405020304" pitchFamily="18" charset="0"/>
                              </a:rPr>
                              <m:t>)</m:t>
                            </m:r>
                          </m:e>
                        </m:eqArr>
                      </m:lim>
                    </m:limLow>
                  </m:oMath>
                </a14:m>
                <a:endParaRPr lang="es-MX" sz="2200" dirty="0">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3" name="Marcador de contenido 2">
                <a:extLst>
                  <a:ext uri="{FF2B5EF4-FFF2-40B4-BE49-F238E27FC236}">
                    <a16:creationId xmlns:a16="http://schemas.microsoft.com/office/drawing/2014/main" id="{EE3F4EED-944B-6ABC-CCF9-52E000F9D1BE}"/>
                  </a:ext>
                </a:extLst>
              </p:cNvPr>
              <p:cNvSpPr>
                <a:spLocks noGrp="1" noRot="1" noChangeAspect="1" noMove="1" noResize="1" noEditPoints="1" noAdjustHandles="1" noChangeArrowheads="1" noChangeShapeType="1" noTextEdit="1"/>
              </p:cNvSpPr>
              <p:nvPr>
                <p:ph idx="1"/>
              </p:nvPr>
            </p:nvSpPr>
            <p:spPr>
              <a:xfrm>
                <a:off x="436880" y="1991360"/>
                <a:ext cx="5435600" cy="4196080"/>
              </a:xfrm>
              <a:blipFill>
                <a:blip r:embed="rId2"/>
                <a:stretch>
                  <a:fillRect l="-3024"/>
                </a:stretch>
              </a:blipFill>
              <a:ln>
                <a:solidFill>
                  <a:schemeClr val="bg1">
                    <a:lumMod val="65000"/>
                  </a:schemeClr>
                </a:solidFill>
              </a:ln>
            </p:spPr>
            <p:txBody>
              <a:bodyPr/>
              <a:lstStyle/>
              <a:p>
                <a:r>
                  <a:rPr lang="es-PE">
                    <a:noFill/>
                  </a:rPr>
                  <a:t> </a:t>
                </a:r>
              </a:p>
            </p:txBody>
          </p:sp>
        </mc:Fallback>
      </mc:AlternateContent>
      <p:pic>
        <p:nvPicPr>
          <p:cNvPr id="5" name="Imagen 4">
            <a:extLst>
              <a:ext uri="{FF2B5EF4-FFF2-40B4-BE49-F238E27FC236}">
                <a16:creationId xmlns:a16="http://schemas.microsoft.com/office/drawing/2014/main" id="{449FAEA3-763D-5147-8FAA-80F9BD57C1D4}"/>
              </a:ext>
            </a:extLst>
          </p:cNvPr>
          <p:cNvPicPr>
            <a:picLocks noChangeAspect="1"/>
          </p:cNvPicPr>
          <p:nvPr/>
        </p:nvPicPr>
        <p:blipFill>
          <a:blip r:embed="rId3"/>
          <a:stretch>
            <a:fillRect/>
          </a:stretch>
        </p:blipFill>
        <p:spPr>
          <a:xfrm>
            <a:off x="6614160" y="2150800"/>
            <a:ext cx="4754879" cy="4059352"/>
          </a:xfrm>
          <a:prstGeom prst="rect">
            <a:avLst/>
          </a:prstGeom>
        </p:spPr>
      </p:pic>
    </p:spTree>
    <p:extLst>
      <p:ext uri="{BB962C8B-B14F-4D97-AF65-F5344CB8AC3E}">
        <p14:creationId xmlns:p14="http://schemas.microsoft.com/office/powerpoint/2010/main" val="12350648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15D8DC-3880-BAAF-34FB-2E3057412D2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51C056A-2614-AAEC-210F-4F871DFC79E0}"/>
              </a:ext>
            </a:extLst>
          </p:cNvPr>
          <p:cNvSpPr>
            <a:spLocks noGrp="1"/>
          </p:cNvSpPr>
          <p:nvPr>
            <p:ph type="title"/>
          </p:nvPr>
        </p:nvSpPr>
        <p:spPr>
          <a:xfrm>
            <a:off x="1066800" y="8046"/>
            <a:ext cx="10058400" cy="1450757"/>
          </a:xfrm>
        </p:spPr>
        <p:txBody>
          <a:bodyPr>
            <a:normAutofit/>
          </a:bodyPr>
          <a:lstStyle/>
          <a:p>
            <a:r>
              <a:rPr lang="es-PE" sz="3200" dirty="0"/>
              <a:t>Rigideces de salarios nominales y expectativas</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A2B0EFED-E24E-C89B-0F76-6E2F2936F623}"/>
                  </a:ext>
                </a:extLst>
              </p:cNvPr>
              <p:cNvSpPr>
                <a:spLocks noGrp="1"/>
              </p:cNvSpPr>
              <p:nvPr>
                <p:ph idx="1"/>
              </p:nvPr>
            </p:nvSpPr>
            <p:spPr>
              <a:xfrm>
                <a:off x="904240" y="2014072"/>
                <a:ext cx="5435600" cy="4196080"/>
              </a:xfrm>
              <a:ln>
                <a:solidFill>
                  <a:schemeClr val="bg1">
                    <a:lumMod val="65000"/>
                  </a:schemeClr>
                </a:solidFill>
              </a:ln>
            </p:spPr>
            <p:txBody>
              <a:bodyPr lIns="36000" rIns="180000">
                <a:noAutofit/>
              </a:bodyPr>
              <a:lstStyle/>
              <a:p>
                <a:pPr marL="182563" indent="0" algn="just">
                  <a:lnSpc>
                    <a:spcPct val="125000"/>
                  </a:lnSpc>
                  <a:buNone/>
                  <a:tabLst>
                    <a:tab pos="5202238" algn="l"/>
                  </a:tabLst>
                </a:pPr>
                <a:r>
                  <a:rPr lang="es-PE" sz="2200" b="1" dirty="0">
                    <a:latin typeface="Calibri" panose="020F0502020204030204" pitchFamily="34" charset="0"/>
                    <a:ea typeface="Calibri" panose="020F0502020204030204" pitchFamily="34" charset="0"/>
                    <a:cs typeface="Times New Roman" panose="02020603050405020304" pitchFamily="18" charset="0"/>
                  </a:rPr>
                  <a:t>P=P</a:t>
                </a:r>
                <a:r>
                  <a:rPr lang="es-PE" sz="2200" b="1" baseline="30000" dirty="0">
                    <a:latin typeface="Calibri" panose="020F0502020204030204" pitchFamily="34" charset="0"/>
                    <a:ea typeface="Calibri" panose="020F0502020204030204" pitchFamily="34" charset="0"/>
                    <a:cs typeface="Times New Roman" panose="02020603050405020304" pitchFamily="18" charset="0"/>
                  </a:rPr>
                  <a:t>e</a:t>
                </a:r>
              </a:p>
              <a:p>
                <a:pPr marL="355600" indent="-355600" algn="just">
                  <a:lnSpc>
                    <a:spcPct val="125000"/>
                  </a:lnSpc>
                  <a:buFont typeface="Arial" panose="020B0604020202020204" pitchFamily="34" charset="0"/>
                  <a:buChar char="•"/>
                  <a:tabLst>
                    <a:tab pos="5202238" algn="l"/>
                  </a:tabLst>
                </a:pPr>
                <a:r>
                  <a:rPr lang="es-PE" sz="2200" dirty="0">
                    <a:latin typeface="Calibri" panose="020F0502020204030204" pitchFamily="34" charset="0"/>
                    <a:ea typeface="Calibri" panose="020F0502020204030204" pitchFamily="34" charset="0"/>
                    <a:cs typeface="Times New Roman" panose="02020603050405020304" pitchFamily="18" charset="0"/>
                  </a:rPr>
                  <a:t>Los trabajadores tiene expectativas de salarios que calzan con el nivel de precios.</a:t>
                </a:r>
              </a:p>
              <a:p>
                <a:pPr marL="355600" indent="-355600" algn="just">
                  <a:lnSpc>
                    <a:spcPct val="125000"/>
                  </a:lnSpc>
                  <a:buFont typeface="Arial" panose="020B0604020202020204" pitchFamily="34" charset="0"/>
                  <a:buChar char="•"/>
                  <a:tabLst>
                    <a:tab pos="5202238" algn="l"/>
                  </a:tabLst>
                </a:pPr>
                <a:r>
                  <a:rPr lang="es-PE" sz="2200" dirty="0">
                    <a:latin typeface="Calibri" panose="020F0502020204030204" pitchFamily="34" charset="0"/>
                    <a:ea typeface="Calibri" panose="020F0502020204030204" pitchFamily="34" charset="0"/>
                    <a:cs typeface="Times New Roman" panose="02020603050405020304" pitchFamily="18" charset="0"/>
                  </a:rPr>
                  <a:t>El mercado laboral está en equilibrio en </a:t>
                </a:r>
                <a14:m>
                  <m:oMath xmlns:m="http://schemas.openxmlformats.org/officeDocument/2006/math">
                    <m:acc>
                      <m:accPr>
                        <m:chr m:val="̅"/>
                        <m:ctrlPr>
                          <a:rPr lang="es-PE" sz="2200" b="0" i="1" smtClean="0">
                            <a:latin typeface="Cambria Math" panose="02040503050406030204" pitchFamily="18" charset="0"/>
                            <a:ea typeface="Calibri" panose="020F0502020204030204" pitchFamily="34" charset="0"/>
                            <a:cs typeface="Times New Roman" panose="02020603050405020304" pitchFamily="18" charset="0"/>
                          </a:rPr>
                        </m:ctrlPr>
                      </m:accPr>
                      <m:e>
                        <m:r>
                          <a:rPr lang="es-PE" sz="2200" b="0" i="1" smtClean="0">
                            <a:latin typeface="Cambria Math" panose="02040503050406030204" pitchFamily="18" charset="0"/>
                            <a:ea typeface="Calibri" panose="020F0502020204030204" pitchFamily="34" charset="0"/>
                            <a:cs typeface="Times New Roman" panose="02020603050405020304" pitchFamily="18" charset="0"/>
                          </a:rPr>
                          <m:t>𝐿</m:t>
                        </m:r>
                      </m:e>
                    </m:acc>
                  </m:oMath>
                </a14:m>
                <a:r>
                  <a:rPr lang="es-PE" sz="2200" dirty="0">
                    <a:latin typeface="Calibri" panose="020F0502020204030204" pitchFamily="34" charset="0"/>
                    <a:ea typeface="Calibri" panose="020F0502020204030204" pitchFamily="34" charset="0"/>
                    <a:cs typeface="Times New Roman" panose="02020603050405020304" pitchFamily="18" charset="0"/>
                  </a:rPr>
                  <a:t> (punto A).</a:t>
                </a:r>
                <a:endParaRPr lang="es-MX" sz="2200" dirty="0">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3" name="Marcador de contenido 2">
                <a:extLst>
                  <a:ext uri="{FF2B5EF4-FFF2-40B4-BE49-F238E27FC236}">
                    <a16:creationId xmlns:a16="http://schemas.microsoft.com/office/drawing/2014/main" id="{A2B0EFED-E24E-C89B-0F76-6E2F2936F623}"/>
                  </a:ext>
                </a:extLst>
              </p:cNvPr>
              <p:cNvSpPr>
                <a:spLocks noGrp="1" noRot="1" noChangeAspect="1" noMove="1" noResize="1" noEditPoints="1" noAdjustHandles="1" noChangeArrowheads="1" noChangeShapeType="1" noTextEdit="1"/>
              </p:cNvSpPr>
              <p:nvPr>
                <p:ph idx="1"/>
              </p:nvPr>
            </p:nvSpPr>
            <p:spPr>
              <a:xfrm>
                <a:off x="904240" y="2014072"/>
                <a:ext cx="5435600" cy="4196080"/>
              </a:xfrm>
              <a:blipFill>
                <a:blip r:embed="rId2"/>
                <a:stretch>
                  <a:fillRect l="-2125" r="-3579"/>
                </a:stretch>
              </a:blipFill>
              <a:ln>
                <a:solidFill>
                  <a:schemeClr val="bg1">
                    <a:lumMod val="65000"/>
                  </a:schemeClr>
                </a:solidFill>
              </a:ln>
            </p:spPr>
            <p:txBody>
              <a:bodyPr/>
              <a:lstStyle/>
              <a:p>
                <a:r>
                  <a:rPr lang="es-PE">
                    <a:noFill/>
                  </a:rPr>
                  <a:t> </a:t>
                </a:r>
              </a:p>
            </p:txBody>
          </p:sp>
        </mc:Fallback>
      </mc:AlternateContent>
      <p:pic>
        <p:nvPicPr>
          <p:cNvPr id="5" name="Imagen 4">
            <a:extLst>
              <a:ext uri="{FF2B5EF4-FFF2-40B4-BE49-F238E27FC236}">
                <a16:creationId xmlns:a16="http://schemas.microsoft.com/office/drawing/2014/main" id="{8774E8BE-0246-16FB-C00B-B9CE8B42B1DD}"/>
              </a:ext>
            </a:extLst>
          </p:cNvPr>
          <p:cNvPicPr>
            <a:picLocks noChangeAspect="1"/>
          </p:cNvPicPr>
          <p:nvPr/>
        </p:nvPicPr>
        <p:blipFill>
          <a:blip r:embed="rId3"/>
          <a:stretch>
            <a:fillRect/>
          </a:stretch>
        </p:blipFill>
        <p:spPr>
          <a:xfrm>
            <a:off x="6614160" y="2150800"/>
            <a:ext cx="4754879" cy="4059352"/>
          </a:xfrm>
          <a:prstGeom prst="rect">
            <a:avLst/>
          </a:prstGeom>
        </p:spPr>
      </p:pic>
    </p:spTree>
    <p:extLst>
      <p:ext uri="{BB962C8B-B14F-4D97-AF65-F5344CB8AC3E}">
        <p14:creationId xmlns:p14="http://schemas.microsoft.com/office/powerpoint/2010/main" val="31880071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8C7AD5-0B81-82DA-598B-D6AF04D49DC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A302221-D122-1AF2-F234-3907B42EA126}"/>
              </a:ext>
            </a:extLst>
          </p:cNvPr>
          <p:cNvSpPr>
            <a:spLocks noGrp="1"/>
          </p:cNvSpPr>
          <p:nvPr>
            <p:ph type="title"/>
          </p:nvPr>
        </p:nvSpPr>
        <p:spPr>
          <a:xfrm>
            <a:off x="1066800" y="8046"/>
            <a:ext cx="10058400" cy="1450757"/>
          </a:xfrm>
        </p:spPr>
        <p:txBody>
          <a:bodyPr>
            <a:normAutofit/>
          </a:bodyPr>
          <a:lstStyle/>
          <a:p>
            <a:r>
              <a:rPr lang="es-PE" sz="3200" dirty="0"/>
              <a:t>Rigideces de salarios nominales y expectativas</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2C98B5F0-16D1-7C55-91A5-EFE4CBFD68F5}"/>
                  </a:ext>
                </a:extLst>
              </p:cNvPr>
              <p:cNvSpPr>
                <a:spLocks noGrp="1"/>
              </p:cNvSpPr>
              <p:nvPr>
                <p:ph idx="1"/>
              </p:nvPr>
            </p:nvSpPr>
            <p:spPr>
              <a:xfrm>
                <a:off x="904240" y="1942952"/>
                <a:ext cx="5435600" cy="4267200"/>
              </a:xfrm>
              <a:ln>
                <a:solidFill>
                  <a:schemeClr val="bg1">
                    <a:lumMod val="65000"/>
                  </a:schemeClr>
                </a:solidFill>
              </a:ln>
            </p:spPr>
            <p:txBody>
              <a:bodyPr lIns="36000" rIns="180000">
                <a:noAutofit/>
              </a:bodyPr>
              <a:lstStyle/>
              <a:p>
                <a:pPr marL="182563" indent="0" algn="just">
                  <a:lnSpc>
                    <a:spcPct val="125000"/>
                  </a:lnSpc>
                  <a:buNone/>
                  <a:tabLst>
                    <a:tab pos="5202238" algn="l"/>
                  </a:tabLst>
                </a:pPr>
                <a:r>
                  <a:rPr lang="es-PE" sz="2200" b="1" dirty="0">
                    <a:latin typeface="Calibri" panose="020F0502020204030204" pitchFamily="34" charset="0"/>
                    <a:ea typeface="Calibri" panose="020F0502020204030204" pitchFamily="34" charset="0"/>
                    <a:cs typeface="Times New Roman" panose="02020603050405020304" pitchFamily="18" charset="0"/>
                  </a:rPr>
                  <a:t>P &gt; P</a:t>
                </a:r>
                <a:r>
                  <a:rPr lang="es-PE" sz="2200" b="1" baseline="30000" dirty="0">
                    <a:latin typeface="Calibri" panose="020F0502020204030204" pitchFamily="34" charset="0"/>
                    <a:ea typeface="Calibri" panose="020F0502020204030204" pitchFamily="34" charset="0"/>
                    <a:cs typeface="Times New Roman" panose="02020603050405020304" pitchFamily="18" charset="0"/>
                  </a:rPr>
                  <a:t>e</a:t>
                </a:r>
              </a:p>
              <a:p>
                <a:pPr marL="355600" indent="-355600" algn="just">
                  <a:lnSpc>
                    <a:spcPct val="125000"/>
                  </a:lnSpc>
                  <a:buFont typeface="Arial" panose="020B0604020202020204" pitchFamily="34" charset="0"/>
                  <a:buChar char="•"/>
                  <a:tabLst>
                    <a:tab pos="5202238" algn="l"/>
                  </a:tabLst>
                </a:pPr>
                <a:r>
                  <a:rPr lang="es-PE" sz="2200" dirty="0">
                    <a:latin typeface="Calibri" panose="020F0502020204030204" pitchFamily="34" charset="0"/>
                    <a:ea typeface="Calibri" panose="020F0502020204030204" pitchFamily="34" charset="0"/>
                    <a:cs typeface="Times New Roman" panose="02020603050405020304" pitchFamily="18" charset="0"/>
                  </a:rPr>
                  <a:t>Hay un aumento inesperado en el nivel de precios efectivo.</a:t>
                </a:r>
              </a:p>
              <a:p>
                <a:pPr marL="355600" indent="-355600" algn="just">
                  <a:lnSpc>
                    <a:spcPct val="125000"/>
                  </a:lnSpc>
                  <a:buFont typeface="Arial" panose="020B0604020202020204" pitchFamily="34" charset="0"/>
                  <a:buChar char="•"/>
                  <a:tabLst>
                    <a:tab pos="5202238" algn="l"/>
                  </a:tabLst>
                </a:pPr>
                <a:r>
                  <a:rPr lang="es-PE" sz="2200" dirty="0">
                    <a:latin typeface="Calibri" panose="020F0502020204030204" pitchFamily="34" charset="0"/>
                    <a:ea typeface="Calibri" panose="020F0502020204030204" pitchFamily="34" charset="0"/>
                    <a:cs typeface="Times New Roman" panose="02020603050405020304" pitchFamily="18" charset="0"/>
                  </a:rPr>
                  <a:t>La demanda de mano de obra </a:t>
                </a:r>
                <a14:m>
                  <m:oMath xmlns:m="http://schemas.openxmlformats.org/officeDocument/2006/math">
                    <m:sSup>
                      <m:sSupPr>
                        <m:ctrlPr>
                          <a:rPr lang="es-MX" sz="2100" i="1">
                            <a:latin typeface="Cambria Math" panose="02040503050406030204" pitchFamily="18" charset="0"/>
                            <a:ea typeface="Calibri" panose="020F0502020204030204" pitchFamily="34" charset="0"/>
                            <a:cs typeface="Times New Roman" panose="02020603050405020304" pitchFamily="18" charset="0"/>
                          </a:rPr>
                        </m:ctrlPr>
                      </m:sSupPr>
                      <m:e>
                        <m:r>
                          <a:rPr lang="es-PE" sz="2100" i="1">
                            <a:latin typeface="Cambria Math" panose="02040503050406030204" pitchFamily="18" charset="0"/>
                            <a:ea typeface="Calibri" panose="020F0502020204030204" pitchFamily="34" charset="0"/>
                            <a:cs typeface="Times New Roman" panose="02020603050405020304" pitchFamily="18" charset="0"/>
                          </a:rPr>
                          <m:t>𝐿</m:t>
                        </m:r>
                      </m:e>
                      <m:sup>
                        <m:r>
                          <a:rPr lang="es-PE" sz="2100" b="0" i="1" smtClean="0">
                            <a:latin typeface="Cambria Math" panose="02040503050406030204" pitchFamily="18" charset="0"/>
                            <a:ea typeface="Calibri" panose="020F0502020204030204" pitchFamily="34" charset="0"/>
                            <a:cs typeface="Times New Roman" panose="02020603050405020304" pitchFamily="18" charset="0"/>
                          </a:rPr>
                          <m:t>𝑑</m:t>
                        </m:r>
                      </m:sup>
                    </m:sSup>
                    <m:r>
                      <a:rPr lang="es-PE" sz="2100" b="0" i="1" smtClean="0">
                        <a:latin typeface="Cambria Math" panose="02040503050406030204" pitchFamily="18" charset="0"/>
                        <a:ea typeface="Calibri" panose="020F0502020204030204" pitchFamily="34" charset="0"/>
                        <a:cs typeface="Times New Roman" panose="02020603050405020304" pitchFamily="18" charset="0"/>
                      </a:rPr>
                      <m:t>(=</m:t>
                    </m:r>
                    <m:r>
                      <a:rPr lang="es-PE" sz="2100" b="0" i="1" smtClean="0">
                        <a:latin typeface="Cambria Math" panose="02040503050406030204" pitchFamily="18" charset="0"/>
                        <a:ea typeface="Calibri" panose="020F0502020204030204" pitchFamily="34" charset="0"/>
                        <a:cs typeface="Times New Roman" panose="02020603050405020304" pitchFamily="18" charset="0"/>
                      </a:rPr>
                      <m:t>𝑃𝑚𝑔𝐿</m:t>
                    </m:r>
                    <m:r>
                      <a:rPr lang="es-PE" sz="2100" b="0" i="1" smtClean="0">
                        <a:latin typeface="Cambria Math" panose="02040503050406030204" pitchFamily="18" charset="0"/>
                        <a:ea typeface="Cambria Math" panose="02040503050406030204" pitchFamily="18" charset="0"/>
                        <a:cs typeface="Times New Roman" panose="02020603050405020304" pitchFamily="18" charset="0"/>
                      </a:rPr>
                      <m:t>∙</m:t>
                    </m:r>
                    <m:r>
                      <a:rPr lang="es-PE" sz="2100" b="0" i="1" smtClean="0">
                        <a:latin typeface="Cambria Math" panose="02040503050406030204" pitchFamily="18" charset="0"/>
                        <a:ea typeface="Calibri" panose="020F0502020204030204" pitchFamily="34" charset="0"/>
                        <a:cs typeface="Times New Roman" panose="02020603050405020304" pitchFamily="18" charset="0"/>
                      </a:rPr>
                      <m:t>𝑃</m:t>
                    </m:r>
                  </m:oMath>
                </a14:m>
                <a:r>
                  <a:rPr lang="es-MX" sz="2100" dirty="0">
                    <a:latin typeface="Calibri" panose="020F0502020204030204" pitchFamily="34" charset="0"/>
                    <a:ea typeface="Calibri" panose="020F0502020204030204" pitchFamily="34" charset="0"/>
                    <a:cs typeface="Times New Roman" panose="02020603050405020304" pitchFamily="18" charset="0"/>
                  </a:rPr>
                  <a:t>) se expande (</a:t>
                </a:r>
                <a14:m>
                  <m:oMath xmlns:m="http://schemas.openxmlformats.org/officeDocument/2006/math">
                    <m:r>
                      <a:rPr lang="es-PE" sz="2400" b="0" i="1" smtClean="0">
                        <a:latin typeface="Cambria Math" panose="02040503050406030204" pitchFamily="18" charset="0"/>
                        <a:ea typeface="Cambria Math" panose="02040503050406030204" pitchFamily="18" charset="0"/>
                        <a:cs typeface="Times New Roman" panose="02020603050405020304" pitchFamily="18" charset="0"/>
                      </a:rPr>
                      <m:t>↓</m:t>
                    </m:r>
                    <m:r>
                      <a:rPr lang="es-PE" sz="2400" b="0" i="1" smtClean="0">
                        <a:latin typeface="Cambria Math" panose="02040503050406030204" pitchFamily="18" charset="0"/>
                        <a:ea typeface="Calibri" panose="020F0502020204030204" pitchFamily="34" charset="0"/>
                        <a:cs typeface="Times New Roman" panose="02020603050405020304" pitchFamily="18" charset="0"/>
                      </a:rPr>
                      <m:t>𝑤</m:t>
                    </m:r>
                    <m:r>
                      <a:rPr lang="es-PE" sz="2400" b="0" i="1" smtClean="0">
                        <a:latin typeface="Cambria Math" panose="02040503050406030204" pitchFamily="18" charset="0"/>
                        <a:ea typeface="Calibri" panose="020F0502020204030204" pitchFamily="34" charset="0"/>
                        <a:cs typeface="Times New Roman" panose="02020603050405020304" pitchFamily="18" charset="0"/>
                      </a:rPr>
                      <m:t>=</m:t>
                    </m:r>
                    <m:d>
                      <m:dPr>
                        <m:ctrlPr>
                          <a:rPr lang="es-MX" sz="2400" i="1">
                            <a:latin typeface="Cambria Math" panose="02040503050406030204" pitchFamily="18" charset="0"/>
                            <a:ea typeface="Calibri" panose="020F0502020204030204" pitchFamily="34" charset="0"/>
                            <a:cs typeface="Times New Roman" panose="02020603050405020304" pitchFamily="18" charset="0"/>
                          </a:rPr>
                        </m:ctrlPr>
                      </m:dPr>
                      <m:e>
                        <m:f>
                          <m:fPr>
                            <m:type m:val="skw"/>
                            <m:ctrlPr>
                              <a:rPr lang="es-MX" sz="2400" i="1">
                                <a:latin typeface="Cambria Math" panose="02040503050406030204" pitchFamily="18" charset="0"/>
                                <a:ea typeface="Calibri" panose="020F0502020204030204" pitchFamily="34" charset="0"/>
                                <a:cs typeface="Times New Roman" panose="02020603050405020304" pitchFamily="18" charset="0"/>
                              </a:rPr>
                            </m:ctrlPr>
                          </m:fPr>
                          <m:num>
                            <m:r>
                              <a:rPr lang="es-PE" sz="2400" i="1">
                                <a:latin typeface="Cambria Math" panose="02040503050406030204" pitchFamily="18" charset="0"/>
                                <a:ea typeface="Calibri" panose="020F0502020204030204" pitchFamily="34" charset="0"/>
                                <a:cs typeface="Times New Roman" panose="02020603050405020304" pitchFamily="18" charset="0"/>
                              </a:rPr>
                              <m:t>𝑊</m:t>
                            </m:r>
                          </m:num>
                          <m:den>
                            <m:r>
                              <a:rPr lang="es-PE" sz="2400" b="0" i="1" smtClean="0">
                                <a:latin typeface="Cambria Math" panose="02040503050406030204" pitchFamily="18" charset="0"/>
                                <a:ea typeface="Calibri" panose="020F0502020204030204" pitchFamily="34" charset="0"/>
                                <a:cs typeface="Times New Roman" panose="02020603050405020304" pitchFamily="18" charset="0"/>
                              </a:rPr>
                              <m:t>𝑃</m:t>
                            </m:r>
                          </m:den>
                        </m:f>
                      </m:e>
                    </m:d>
                    <m:r>
                      <a:rPr lang="es-PE" sz="2400" b="0" i="1" smtClean="0">
                        <a:latin typeface="Cambria Math" panose="02040503050406030204" pitchFamily="18" charset="0"/>
                        <a:ea typeface="Calibri" panose="020F0502020204030204" pitchFamily="34" charset="0"/>
                        <a:cs typeface="Times New Roman" panose="02020603050405020304" pitchFamily="18" charset="0"/>
                      </a:rPr>
                      <m:t>)</m:t>
                    </m:r>
                    <m:r>
                      <a:rPr lang="es-PE" sz="2400" b="0" i="0" smtClean="0">
                        <a:latin typeface="Cambria Math" panose="02040503050406030204" pitchFamily="18" charset="0"/>
                        <a:ea typeface="Calibri" panose="020F0502020204030204" pitchFamily="34" charset="0"/>
                        <a:cs typeface="Times New Roman" panose="02020603050405020304" pitchFamily="18" charset="0"/>
                      </a:rPr>
                      <m:t>.</m:t>
                    </m:r>
                  </m:oMath>
                </a14:m>
                <a:endParaRPr lang="es-PE" sz="2400" b="0" dirty="0">
                  <a:latin typeface="Calibri" panose="020F0502020204030204" pitchFamily="34" charset="0"/>
                  <a:ea typeface="Calibri" panose="020F0502020204030204" pitchFamily="34" charset="0"/>
                  <a:cs typeface="Times New Roman" panose="02020603050405020304" pitchFamily="18" charset="0"/>
                </a:endParaRPr>
              </a:p>
              <a:p>
                <a:pPr marL="355600" indent="-355600" algn="just">
                  <a:lnSpc>
                    <a:spcPct val="125000"/>
                  </a:lnSpc>
                  <a:buFont typeface="Arial" panose="020B0604020202020204" pitchFamily="34" charset="0"/>
                  <a:buChar char="•"/>
                  <a:tabLst>
                    <a:tab pos="5202238" algn="l"/>
                  </a:tabLst>
                </a:pPr>
                <a:r>
                  <a:rPr lang="es-MX" sz="2100" dirty="0">
                    <a:latin typeface="Calibri" panose="020F0502020204030204" pitchFamily="34" charset="0"/>
                    <a:ea typeface="Calibri" panose="020F0502020204030204" pitchFamily="34" charset="0"/>
                    <a:cs typeface="Times New Roman" panose="02020603050405020304" pitchFamily="18" charset="0"/>
                  </a:rPr>
                  <a:t>El salario nominal que las empresas están dispuestos a pagar por c/unidad de mano de obra sube proporcionalmente al alza de precios.</a:t>
                </a:r>
              </a:p>
            </p:txBody>
          </p:sp>
        </mc:Choice>
        <mc:Fallback xmlns="">
          <p:sp>
            <p:nvSpPr>
              <p:cNvPr id="3" name="Marcador de contenido 2">
                <a:extLst>
                  <a:ext uri="{FF2B5EF4-FFF2-40B4-BE49-F238E27FC236}">
                    <a16:creationId xmlns:a16="http://schemas.microsoft.com/office/drawing/2014/main" id="{2C98B5F0-16D1-7C55-91A5-EFE4CBFD68F5}"/>
                  </a:ext>
                </a:extLst>
              </p:cNvPr>
              <p:cNvSpPr>
                <a:spLocks noGrp="1" noRot="1" noChangeAspect="1" noMove="1" noResize="1" noEditPoints="1" noAdjustHandles="1" noChangeArrowheads="1" noChangeShapeType="1" noTextEdit="1"/>
              </p:cNvSpPr>
              <p:nvPr>
                <p:ph idx="1"/>
              </p:nvPr>
            </p:nvSpPr>
            <p:spPr>
              <a:xfrm>
                <a:off x="904240" y="1942952"/>
                <a:ext cx="5435600" cy="4267200"/>
              </a:xfrm>
              <a:blipFill>
                <a:blip r:embed="rId2"/>
                <a:stretch>
                  <a:fillRect l="-2125" b="-4131"/>
                </a:stretch>
              </a:blipFill>
              <a:ln>
                <a:solidFill>
                  <a:schemeClr val="bg1">
                    <a:lumMod val="65000"/>
                  </a:schemeClr>
                </a:solidFill>
              </a:ln>
            </p:spPr>
            <p:txBody>
              <a:bodyPr/>
              <a:lstStyle/>
              <a:p>
                <a:r>
                  <a:rPr lang="es-PE">
                    <a:noFill/>
                  </a:rPr>
                  <a:t> </a:t>
                </a:r>
              </a:p>
            </p:txBody>
          </p:sp>
        </mc:Fallback>
      </mc:AlternateContent>
      <p:pic>
        <p:nvPicPr>
          <p:cNvPr id="5" name="Imagen 4">
            <a:extLst>
              <a:ext uri="{FF2B5EF4-FFF2-40B4-BE49-F238E27FC236}">
                <a16:creationId xmlns:a16="http://schemas.microsoft.com/office/drawing/2014/main" id="{5693FE0E-BE79-2F83-48C3-82B0A5FD7605}"/>
              </a:ext>
            </a:extLst>
          </p:cNvPr>
          <p:cNvPicPr>
            <a:picLocks noChangeAspect="1"/>
          </p:cNvPicPr>
          <p:nvPr/>
        </p:nvPicPr>
        <p:blipFill>
          <a:blip r:embed="rId3"/>
          <a:stretch>
            <a:fillRect/>
          </a:stretch>
        </p:blipFill>
        <p:spPr>
          <a:xfrm>
            <a:off x="6614160" y="2150800"/>
            <a:ext cx="4754879" cy="4059352"/>
          </a:xfrm>
          <a:prstGeom prst="rect">
            <a:avLst/>
          </a:prstGeom>
        </p:spPr>
      </p:pic>
    </p:spTree>
    <p:extLst>
      <p:ext uri="{BB962C8B-B14F-4D97-AF65-F5344CB8AC3E}">
        <p14:creationId xmlns:p14="http://schemas.microsoft.com/office/powerpoint/2010/main" val="279353065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2305E5-E681-74C4-BC7F-093A97E4509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D584CC0-E164-8954-316C-802ECDAE298A}"/>
              </a:ext>
            </a:extLst>
          </p:cNvPr>
          <p:cNvSpPr>
            <a:spLocks noGrp="1"/>
          </p:cNvSpPr>
          <p:nvPr>
            <p:ph type="title"/>
          </p:nvPr>
        </p:nvSpPr>
        <p:spPr>
          <a:xfrm>
            <a:off x="1066800" y="8046"/>
            <a:ext cx="10058400" cy="1450757"/>
          </a:xfrm>
        </p:spPr>
        <p:txBody>
          <a:bodyPr>
            <a:normAutofit/>
          </a:bodyPr>
          <a:lstStyle/>
          <a:p>
            <a:r>
              <a:rPr lang="es-PE" sz="3200" dirty="0"/>
              <a:t>Rigideces de salarios nominales y expectativas</a:t>
            </a:r>
          </a:p>
        </p:txBody>
      </p:sp>
      <p:sp>
        <p:nvSpPr>
          <p:cNvPr id="3" name="Marcador de contenido 2">
            <a:extLst>
              <a:ext uri="{FF2B5EF4-FFF2-40B4-BE49-F238E27FC236}">
                <a16:creationId xmlns:a16="http://schemas.microsoft.com/office/drawing/2014/main" id="{6E439CAF-629C-0391-5772-893D624D1AEC}"/>
              </a:ext>
            </a:extLst>
          </p:cNvPr>
          <p:cNvSpPr>
            <a:spLocks noGrp="1"/>
          </p:cNvSpPr>
          <p:nvPr>
            <p:ph idx="1"/>
          </p:nvPr>
        </p:nvSpPr>
        <p:spPr>
          <a:xfrm>
            <a:off x="904240" y="1942952"/>
            <a:ext cx="5435600" cy="4267200"/>
          </a:xfrm>
          <a:ln>
            <a:solidFill>
              <a:schemeClr val="bg1">
                <a:lumMod val="65000"/>
              </a:schemeClr>
            </a:solidFill>
          </a:ln>
        </p:spPr>
        <p:txBody>
          <a:bodyPr lIns="36000" rIns="180000">
            <a:noAutofit/>
          </a:bodyPr>
          <a:lstStyle/>
          <a:p>
            <a:pPr marL="182563" indent="0" algn="just">
              <a:lnSpc>
                <a:spcPct val="125000"/>
              </a:lnSpc>
              <a:buNone/>
              <a:tabLst>
                <a:tab pos="5202238" algn="l"/>
              </a:tabLst>
            </a:pPr>
            <a:r>
              <a:rPr lang="es-PE" sz="2200" b="1" dirty="0">
                <a:latin typeface="Calibri" panose="020F0502020204030204" pitchFamily="34" charset="0"/>
                <a:ea typeface="Calibri" panose="020F0502020204030204" pitchFamily="34" charset="0"/>
                <a:cs typeface="Times New Roman" panose="02020603050405020304" pitchFamily="18" charset="0"/>
              </a:rPr>
              <a:t>P &gt; P</a:t>
            </a:r>
            <a:r>
              <a:rPr lang="es-PE" sz="2200" b="1" baseline="30000" dirty="0">
                <a:latin typeface="Calibri" panose="020F0502020204030204" pitchFamily="34" charset="0"/>
                <a:ea typeface="Calibri" panose="020F0502020204030204" pitchFamily="34" charset="0"/>
                <a:cs typeface="Times New Roman" panose="02020603050405020304" pitchFamily="18" charset="0"/>
              </a:rPr>
              <a:t>e</a:t>
            </a:r>
          </a:p>
          <a:p>
            <a:pPr marL="355600" indent="-355600" algn="just">
              <a:lnSpc>
                <a:spcPct val="125000"/>
              </a:lnSpc>
              <a:buFont typeface="Arial" panose="020B0604020202020204" pitchFamily="34" charset="0"/>
              <a:buChar char="•"/>
              <a:tabLst>
                <a:tab pos="5202238" algn="l"/>
              </a:tabLst>
            </a:pPr>
            <a:r>
              <a:rPr lang="es-PE" sz="2200" dirty="0">
                <a:latin typeface="Calibri" panose="020F0502020204030204" pitchFamily="34" charset="0"/>
                <a:ea typeface="Calibri" panose="020F0502020204030204" pitchFamily="34" charset="0"/>
                <a:cs typeface="Times New Roman" panose="02020603050405020304" pitchFamily="18" charset="0"/>
              </a:rPr>
              <a:t>El equilibrio (</a:t>
            </a:r>
            <a:r>
              <a:rPr lang="es-PE" sz="2200" dirty="0" err="1">
                <a:latin typeface="Calibri" panose="020F0502020204030204" pitchFamily="34" charset="0"/>
                <a:ea typeface="Calibri" panose="020F0502020204030204" pitchFamily="34" charset="0"/>
                <a:cs typeface="Times New Roman" panose="02020603050405020304" pitchFamily="18" charset="0"/>
              </a:rPr>
              <a:t>pto</a:t>
            </a:r>
            <a:r>
              <a:rPr lang="es-PE" sz="2200" dirty="0">
                <a:latin typeface="Calibri" panose="020F0502020204030204" pitchFamily="34" charset="0"/>
                <a:ea typeface="Calibri" panose="020F0502020204030204" pitchFamily="34" charset="0"/>
                <a:cs typeface="Times New Roman" panose="02020603050405020304" pitchFamily="18" charset="0"/>
              </a:rPr>
              <a:t> C) hay un mayor empleo y salarios más altos. </a:t>
            </a:r>
          </a:p>
          <a:p>
            <a:pPr marL="355600" indent="-355600" algn="just">
              <a:lnSpc>
                <a:spcPct val="125000"/>
              </a:lnSpc>
              <a:buFont typeface="Arial" panose="020B0604020202020204" pitchFamily="34" charset="0"/>
              <a:buChar char="•"/>
              <a:tabLst>
                <a:tab pos="5202238" algn="l"/>
              </a:tabLst>
            </a:pPr>
            <a:r>
              <a:rPr lang="es-PE" sz="2200" dirty="0">
                <a:latin typeface="Calibri" panose="020F0502020204030204" pitchFamily="34" charset="0"/>
                <a:ea typeface="Calibri" panose="020F0502020204030204" pitchFamily="34" charset="0"/>
                <a:cs typeface="Times New Roman" panose="02020603050405020304" pitchFamily="18" charset="0"/>
              </a:rPr>
              <a:t>Pero el salario real (w) cae debido a que el aumento del salario nominal (W) es menor al alza de precios P.</a:t>
            </a:r>
          </a:p>
          <a:p>
            <a:pPr marL="355600" indent="-355600" algn="just">
              <a:lnSpc>
                <a:spcPct val="125000"/>
              </a:lnSpc>
              <a:buFont typeface="Arial" panose="020B0604020202020204" pitchFamily="34" charset="0"/>
              <a:buChar char="•"/>
              <a:tabLst>
                <a:tab pos="5202238" algn="l"/>
              </a:tabLst>
            </a:pPr>
            <a:r>
              <a:rPr lang="es-PE" sz="2200" dirty="0">
                <a:latin typeface="Calibri" panose="020F0502020204030204" pitchFamily="34" charset="0"/>
                <a:ea typeface="Calibri" panose="020F0502020204030204" pitchFamily="34" charset="0"/>
                <a:cs typeface="Times New Roman" panose="02020603050405020304" pitchFamily="18" charset="0"/>
              </a:rPr>
              <a:t>Algo similar ocurre si P&lt;P</a:t>
            </a:r>
            <a:r>
              <a:rPr lang="es-PE" sz="2200" baseline="30000" dirty="0">
                <a:latin typeface="Calibri" panose="020F0502020204030204" pitchFamily="34" charset="0"/>
                <a:ea typeface="Calibri" panose="020F0502020204030204" pitchFamily="34" charset="0"/>
                <a:cs typeface="Times New Roman" panose="02020603050405020304" pitchFamily="18" charset="0"/>
              </a:rPr>
              <a:t>e</a:t>
            </a:r>
            <a:r>
              <a:rPr lang="es-PE" sz="2200" dirty="0">
                <a:latin typeface="Calibri" panose="020F0502020204030204" pitchFamily="34" charset="0"/>
                <a:ea typeface="Calibri" panose="020F0502020204030204" pitchFamily="34" charset="0"/>
                <a:cs typeface="Times New Roman" panose="02020603050405020304" pitchFamily="18" charset="0"/>
              </a:rPr>
              <a:t> </a:t>
            </a:r>
            <a:r>
              <a:rPr lang="es-PE" sz="2200" dirty="0">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 salario nominal cae y el empleo cae.</a:t>
            </a:r>
            <a:endParaRPr lang="es-MX" sz="2100" dirty="0">
              <a:latin typeface="Calibri" panose="020F0502020204030204" pitchFamily="34" charset="0"/>
              <a:ea typeface="Calibri" panose="020F0502020204030204" pitchFamily="34" charset="0"/>
              <a:cs typeface="Times New Roman" panose="02020603050405020304" pitchFamily="18" charset="0"/>
            </a:endParaRPr>
          </a:p>
        </p:txBody>
      </p:sp>
      <p:pic>
        <p:nvPicPr>
          <p:cNvPr id="5" name="Imagen 4">
            <a:extLst>
              <a:ext uri="{FF2B5EF4-FFF2-40B4-BE49-F238E27FC236}">
                <a16:creationId xmlns:a16="http://schemas.microsoft.com/office/drawing/2014/main" id="{03D4AD97-FC5C-2B58-55BE-49DB72E18E73}"/>
              </a:ext>
            </a:extLst>
          </p:cNvPr>
          <p:cNvPicPr>
            <a:picLocks noChangeAspect="1"/>
          </p:cNvPicPr>
          <p:nvPr/>
        </p:nvPicPr>
        <p:blipFill>
          <a:blip r:embed="rId2"/>
          <a:stretch>
            <a:fillRect/>
          </a:stretch>
        </p:blipFill>
        <p:spPr>
          <a:xfrm>
            <a:off x="6614160" y="2150800"/>
            <a:ext cx="4754879" cy="4059352"/>
          </a:xfrm>
          <a:prstGeom prst="rect">
            <a:avLst/>
          </a:prstGeom>
        </p:spPr>
      </p:pic>
      <p:sp>
        <p:nvSpPr>
          <p:cNvPr id="6" name="CuadroTexto 5">
            <a:extLst>
              <a:ext uri="{FF2B5EF4-FFF2-40B4-BE49-F238E27FC236}">
                <a16:creationId xmlns:a16="http://schemas.microsoft.com/office/drawing/2014/main" id="{13738DED-CD51-9F5C-2222-8A8923ACD541}"/>
              </a:ext>
            </a:extLst>
          </p:cNvPr>
          <p:cNvSpPr txBox="1"/>
          <p:nvPr/>
        </p:nvSpPr>
        <p:spPr>
          <a:xfrm>
            <a:off x="3048000" y="3203875"/>
            <a:ext cx="6096000" cy="369332"/>
          </a:xfrm>
          <a:prstGeom prst="rect">
            <a:avLst/>
          </a:prstGeom>
          <a:noFill/>
        </p:spPr>
        <p:txBody>
          <a:bodyPr wrap="square">
            <a:spAutoFit/>
          </a:bodyPr>
          <a:lstStyle/>
          <a:p>
            <a:endParaRPr lang="es-PE" dirty="0"/>
          </a:p>
        </p:txBody>
      </p:sp>
    </p:spTree>
    <p:extLst>
      <p:ext uri="{BB962C8B-B14F-4D97-AF65-F5344CB8AC3E}">
        <p14:creationId xmlns:p14="http://schemas.microsoft.com/office/powerpoint/2010/main" val="5298777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4BF926-221E-6802-5528-4C270CE8BD6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6D6DCF7-1E5A-6452-EF93-256BCF382462}"/>
              </a:ext>
            </a:extLst>
          </p:cNvPr>
          <p:cNvSpPr>
            <a:spLocks noGrp="1"/>
          </p:cNvSpPr>
          <p:nvPr>
            <p:ph type="title"/>
          </p:nvPr>
        </p:nvSpPr>
        <p:spPr>
          <a:xfrm>
            <a:off x="1066800" y="8046"/>
            <a:ext cx="10058400" cy="1450757"/>
          </a:xfrm>
        </p:spPr>
        <p:txBody>
          <a:bodyPr>
            <a:normAutofit/>
          </a:bodyPr>
          <a:lstStyle/>
          <a:p>
            <a:r>
              <a:rPr lang="es-PE" sz="3200" dirty="0"/>
              <a:t>Rigideces de salarios nominales y expectativas</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3334333E-DFD9-6305-11CF-057295708F8F}"/>
                  </a:ext>
                </a:extLst>
              </p:cNvPr>
              <p:cNvSpPr>
                <a:spLocks noGrp="1"/>
              </p:cNvSpPr>
              <p:nvPr>
                <p:ph idx="1"/>
              </p:nvPr>
            </p:nvSpPr>
            <p:spPr>
              <a:xfrm>
                <a:off x="904240" y="1942952"/>
                <a:ext cx="10485120" cy="4267200"/>
              </a:xfrm>
              <a:ln>
                <a:solidFill>
                  <a:schemeClr val="bg1">
                    <a:lumMod val="65000"/>
                  </a:schemeClr>
                </a:solidFill>
              </a:ln>
            </p:spPr>
            <p:txBody>
              <a:bodyPr lIns="36000" rIns="180000">
                <a:noAutofit/>
              </a:bodyPr>
              <a:lstStyle/>
              <a:p>
                <a:pPr marL="525463" indent="-342900" algn="just">
                  <a:lnSpc>
                    <a:spcPct val="125000"/>
                  </a:lnSpc>
                  <a:buFont typeface="Arial" panose="020B0604020202020204" pitchFamily="34" charset="0"/>
                  <a:buChar char="•"/>
                  <a:tabLst>
                    <a:tab pos="5202238" algn="l"/>
                  </a:tabLst>
                </a:pPr>
                <a:r>
                  <a:rPr lang="es-PE" sz="2200" dirty="0">
                    <a:latin typeface="Calibri" panose="020F0502020204030204" pitchFamily="34" charset="0"/>
                    <a:ea typeface="Calibri" panose="020F0502020204030204" pitchFamily="34" charset="0"/>
                    <a:cs typeface="Times New Roman" panose="02020603050405020304" pitchFamily="18" charset="0"/>
                  </a:rPr>
                  <a:t>En </a:t>
                </a:r>
                <a:r>
                  <a:rPr lang="ar-AE" sz="2400" dirty="0">
                    <a:latin typeface="Calibri" panose="020F0502020204030204" pitchFamily="34" charset="0"/>
                    <a:ea typeface="Calibri" panose="020F0502020204030204" pitchFamily="34" charset="0"/>
                    <a:cs typeface="Times New Roman" panose="02020603050405020304" pitchFamily="18" charset="0"/>
                  </a:rPr>
                  <a:t>؞</a:t>
                </a:r>
                <a:r>
                  <a:rPr lang="es-PE" sz="2200" dirty="0">
                    <a:latin typeface="Calibri" panose="020F0502020204030204" pitchFamily="34" charset="0"/>
                    <a:ea typeface="Calibri" panose="020F0502020204030204" pitchFamily="34" charset="0"/>
                    <a:cs typeface="Times New Roman" panose="02020603050405020304" pitchFamily="18" charset="0"/>
                  </a:rPr>
                  <a:t> las desviaciones del empleo efectivo del pleno empleo dependen de las desviaciones de las expectativas de precios del precio efectivo: </a:t>
                </a:r>
              </a:p>
              <a:p>
                <a:pPr marL="182563" indent="0" algn="ctr">
                  <a:lnSpc>
                    <a:spcPct val="125000"/>
                  </a:lnSpc>
                  <a:buNone/>
                  <a:tabLst>
                    <a:tab pos="5202238" algn="l"/>
                  </a:tabLst>
                </a:pPr>
                <a14:m>
                  <m:oMath xmlns:m="http://schemas.openxmlformats.org/officeDocument/2006/math">
                    <m:r>
                      <a:rPr lang="es-PE" sz="2100" b="0" i="1" smtClean="0">
                        <a:latin typeface="Cambria Math" panose="02040503050406030204" pitchFamily="18" charset="0"/>
                        <a:ea typeface="Calibri" panose="020F0502020204030204" pitchFamily="34" charset="0"/>
                        <a:cs typeface="Times New Roman" panose="02020603050405020304" pitchFamily="18" charset="0"/>
                      </a:rPr>
                      <m:t>𝐿</m:t>
                    </m:r>
                    <m:r>
                      <a:rPr lang="es-PE" sz="2100" b="0" i="1" smtClean="0">
                        <a:latin typeface="Cambria Math" panose="02040503050406030204" pitchFamily="18" charset="0"/>
                        <a:ea typeface="Calibri" panose="020F0502020204030204" pitchFamily="34" charset="0"/>
                        <a:cs typeface="Times New Roman" panose="02020603050405020304" pitchFamily="18" charset="0"/>
                      </a:rPr>
                      <m:t>−</m:t>
                    </m:r>
                    <m:acc>
                      <m:accPr>
                        <m:chr m:val="̅"/>
                        <m:ctrlPr>
                          <a:rPr lang="es-PE" sz="2100" b="0" i="1" smtClean="0">
                            <a:latin typeface="Cambria Math" panose="02040503050406030204" pitchFamily="18" charset="0"/>
                            <a:ea typeface="Calibri" panose="020F0502020204030204" pitchFamily="34" charset="0"/>
                            <a:cs typeface="Times New Roman" panose="02020603050405020304" pitchFamily="18" charset="0"/>
                          </a:rPr>
                        </m:ctrlPr>
                      </m:accPr>
                      <m:e>
                        <m:r>
                          <a:rPr lang="es-PE" sz="2100" b="0" i="1" smtClean="0">
                            <a:latin typeface="Cambria Math" panose="02040503050406030204" pitchFamily="18" charset="0"/>
                            <a:ea typeface="Calibri" panose="020F0502020204030204" pitchFamily="34" charset="0"/>
                            <a:cs typeface="Times New Roman" panose="02020603050405020304" pitchFamily="18" charset="0"/>
                          </a:rPr>
                          <m:t>𝐿</m:t>
                        </m:r>
                      </m:e>
                    </m:acc>
                    <m:r>
                      <a:rPr lang="es-PE" sz="2100" b="0" i="1" smtClean="0">
                        <a:latin typeface="Cambria Math" panose="02040503050406030204" pitchFamily="18" charset="0"/>
                        <a:ea typeface="Calibri" panose="020F0502020204030204" pitchFamily="34" charset="0"/>
                        <a:cs typeface="Times New Roman" panose="02020603050405020304" pitchFamily="18" charset="0"/>
                      </a:rPr>
                      <m:t>=</m:t>
                    </m:r>
                    <m:r>
                      <a:rPr lang="es-PE" sz="2100" b="0" i="1" smtClean="0">
                        <a:latin typeface="Cambria Math" panose="02040503050406030204" pitchFamily="18" charset="0"/>
                        <a:ea typeface="Calibri" panose="020F0502020204030204" pitchFamily="34" charset="0"/>
                        <a:cs typeface="Times New Roman" panose="02020603050405020304" pitchFamily="18" charset="0"/>
                      </a:rPr>
                      <m:t>𝑓</m:t>
                    </m:r>
                    <m:r>
                      <a:rPr lang="es-PE" sz="2100" b="0" i="1" smtClean="0">
                        <a:latin typeface="Cambria Math" panose="02040503050406030204" pitchFamily="18" charset="0"/>
                        <a:ea typeface="Calibri" panose="020F0502020204030204" pitchFamily="34" charset="0"/>
                        <a:cs typeface="Times New Roman" panose="02020603050405020304" pitchFamily="18" charset="0"/>
                      </a:rPr>
                      <m:t>(</m:t>
                    </m:r>
                    <m:r>
                      <a:rPr lang="es-PE" sz="2100" b="0" i="1" smtClean="0">
                        <a:latin typeface="Cambria Math" panose="02040503050406030204" pitchFamily="18" charset="0"/>
                        <a:ea typeface="Calibri" panose="020F0502020204030204" pitchFamily="34" charset="0"/>
                        <a:cs typeface="Times New Roman" panose="02020603050405020304" pitchFamily="18" charset="0"/>
                      </a:rPr>
                      <m:t>𝑃</m:t>
                    </m:r>
                    <m:r>
                      <a:rPr lang="es-PE" sz="2100" b="0" i="1" smtClean="0">
                        <a:latin typeface="Cambria Math" panose="02040503050406030204" pitchFamily="18" charset="0"/>
                        <a:ea typeface="Calibri" panose="020F0502020204030204" pitchFamily="34" charset="0"/>
                        <a:cs typeface="Times New Roman" panose="02020603050405020304" pitchFamily="18" charset="0"/>
                      </a:rPr>
                      <m:t>−</m:t>
                    </m:r>
                    <m:sSup>
                      <m:sSupPr>
                        <m:ctrlPr>
                          <a:rPr lang="es-PE" sz="2100" b="0" i="1" smtClean="0">
                            <a:latin typeface="Cambria Math" panose="02040503050406030204" pitchFamily="18" charset="0"/>
                            <a:ea typeface="Calibri" panose="020F0502020204030204" pitchFamily="34" charset="0"/>
                            <a:cs typeface="Times New Roman" panose="02020603050405020304" pitchFamily="18" charset="0"/>
                          </a:rPr>
                        </m:ctrlPr>
                      </m:sSupPr>
                      <m:e>
                        <m:r>
                          <a:rPr lang="es-PE" sz="2100" b="0" i="1" smtClean="0">
                            <a:latin typeface="Cambria Math" panose="02040503050406030204" pitchFamily="18" charset="0"/>
                            <a:ea typeface="Calibri" panose="020F0502020204030204" pitchFamily="34" charset="0"/>
                            <a:cs typeface="Times New Roman" panose="02020603050405020304" pitchFamily="18" charset="0"/>
                          </a:rPr>
                          <m:t>𝑃</m:t>
                        </m:r>
                      </m:e>
                      <m:sup>
                        <m:r>
                          <a:rPr lang="es-PE" sz="2100" b="0" i="1" smtClean="0">
                            <a:latin typeface="Cambria Math" panose="02040503050406030204" pitchFamily="18" charset="0"/>
                            <a:ea typeface="Calibri" panose="020F0502020204030204" pitchFamily="34" charset="0"/>
                            <a:cs typeface="Times New Roman" panose="02020603050405020304" pitchFamily="18" charset="0"/>
                          </a:rPr>
                          <m:t>𝑒</m:t>
                        </m:r>
                      </m:sup>
                    </m:sSup>
                    <m:r>
                      <a:rPr lang="es-PE" sz="2100" b="0" i="1" smtClean="0">
                        <a:latin typeface="Cambria Math" panose="02040503050406030204" pitchFamily="18" charset="0"/>
                        <a:ea typeface="Calibri" panose="020F0502020204030204" pitchFamily="34" charset="0"/>
                        <a:cs typeface="Times New Roman" panose="02020603050405020304" pitchFamily="18" charset="0"/>
                      </a:rPr>
                      <m:t>)</m:t>
                    </m:r>
                  </m:oMath>
                </a14:m>
                <a:r>
                  <a:rPr lang="es-MX" sz="2100" dirty="0">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 </a:t>
                </a:r>
              </a:p>
              <a:p>
                <a:pPr marL="182563" indent="0" algn="just">
                  <a:lnSpc>
                    <a:spcPct val="125000"/>
                  </a:lnSpc>
                  <a:buNone/>
                  <a:tabLst>
                    <a:tab pos="5202238" algn="l"/>
                  </a:tabLst>
                </a:pPr>
                <a14:m>
                  <m:oMathPara xmlns:m="http://schemas.openxmlformats.org/officeDocument/2006/math">
                    <m:oMathParaPr>
                      <m:jc m:val="centerGroup"/>
                    </m:oMathParaPr>
                    <m:oMath xmlns:m="http://schemas.openxmlformats.org/officeDocument/2006/math">
                      <m:sSub>
                        <m:sSubPr>
                          <m:ctrlPr>
                            <a:rPr lang="es-PE" sz="2100" i="1" smtClean="0">
                              <a:latin typeface="Cambria Math" panose="02040503050406030204" pitchFamily="18" charset="0"/>
                              <a:ea typeface="Calibri" panose="020F0502020204030204" pitchFamily="34" charset="0"/>
                              <a:cs typeface="Times New Roman" panose="02020603050405020304" pitchFamily="18" charset="0"/>
                            </a:rPr>
                          </m:ctrlPr>
                        </m:sSubPr>
                        <m:e>
                          <m:r>
                            <a:rPr lang="es-PE" sz="2100" b="0" i="1" smtClean="0">
                              <a:latin typeface="Cambria Math" panose="02040503050406030204" pitchFamily="18" charset="0"/>
                              <a:ea typeface="Calibri" panose="020F0502020204030204" pitchFamily="34" charset="0"/>
                              <a:cs typeface="Times New Roman" panose="02020603050405020304" pitchFamily="18" charset="0"/>
                            </a:rPr>
                            <m:t>𝑦</m:t>
                          </m:r>
                        </m:e>
                        <m:sub>
                          <m:r>
                            <a:rPr lang="es-PE" sz="2100" b="0" i="1" smtClean="0">
                              <a:latin typeface="Cambria Math" panose="02040503050406030204" pitchFamily="18" charset="0"/>
                              <a:ea typeface="Calibri" panose="020F0502020204030204" pitchFamily="34" charset="0"/>
                              <a:cs typeface="Times New Roman" panose="02020603050405020304" pitchFamily="18" charset="0"/>
                            </a:rPr>
                            <m:t>𝑡</m:t>
                          </m:r>
                        </m:sub>
                      </m:sSub>
                      <m:r>
                        <a:rPr lang="es-PE" sz="2100" i="1">
                          <a:latin typeface="Cambria Math" panose="02040503050406030204" pitchFamily="18" charset="0"/>
                          <a:ea typeface="Calibri" panose="020F0502020204030204" pitchFamily="34" charset="0"/>
                          <a:cs typeface="Times New Roman" panose="02020603050405020304" pitchFamily="18" charset="0"/>
                        </a:rPr>
                        <m:t>−</m:t>
                      </m:r>
                      <m:acc>
                        <m:accPr>
                          <m:chr m:val="̅"/>
                          <m:ctrlPr>
                            <a:rPr lang="es-PE" sz="2100" i="1">
                              <a:latin typeface="Cambria Math" panose="02040503050406030204" pitchFamily="18" charset="0"/>
                              <a:ea typeface="Calibri" panose="020F0502020204030204" pitchFamily="34" charset="0"/>
                              <a:cs typeface="Times New Roman" panose="02020603050405020304" pitchFamily="18" charset="0"/>
                            </a:rPr>
                          </m:ctrlPr>
                        </m:accPr>
                        <m:e>
                          <m:r>
                            <a:rPr lang="es-PE" sz="2100" b="0" i="1" smtClean="0">
                              <a:latin typeface="Cambria Math" panose="02040503050406030204" pitchFamily="18" charset="0"/>
                              <a:ea typeface="Calibri" panose="020F0502020204030204" pitchFamily="34" charset="0"/>
                              <a:cs typeface="Times New Roman" panose="02020603050405020304" pitchFamily="18" charset="0"/>
                            </a:rPr>
                            <m:t>𝑦</m:t>
                          </m:r>
                        </m:e>
                      </m:acc>
                      <m:r>
                        <a:rPr lang="es-PE" sz="2100" i="1">
                          <a:latin typeface="Cambria Math" panose="02040503050406030204" pitchFamily="18" charset="0"/>
                          <a:ea typeface="Calibri" panose="020F0502020204030204" pitchFamily="34" charset="0"/>
                          <a:cs typeface="Times New Roman" panose="02020603050405020304" pitchFamily="18" charset="0"/>
                        </a:rPr>
                        <m:t>=</m:t>
                      </m:r>
                      <m:r>
                        <a:rPr lang="es-PE" sz="2100" i="1" smtClean="0">
                          <a:latin typeface="Cambria Math" panose="02040503050406030204" pitchFamily="18" charset="0"/>
                          <a:ea typeface="Cambria Math" panose="02040503050406030204" pitchFamily="18" charset="0"/>
                          <a:cs typeface="Times New Roman" panose="02020603050405020304" pitchFamily="18" charset="0"/>
                        </a:rPr>
                        <m:t>𝛼</m:t>
                      </m:r>
                      <m:d>
                        <m:dPr>
                          <m:ctrlPr>
                            <a:rPr lang="es-PE" sz="2100" i="1" smtClean="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es-PE" sz="2100" i="1" smtClean="0">
                                  <a:latin typeface="Cambria Math" panose="02040503050406030204" pitchFamily="18" charset="0"/>
                                  <a:ea typeface="Calibri" panose="020F0502020204030204" pitchFamily="34" charset="0"/>
                                  <a:cs typeface="Times New Roman" panose="02020603050405020304" pitchFamily="18" charset="0"/>
                                </a:rPr>
                              </m:ctrlPr>
                            </m:sSubPr>
                            <m:e>
                              <m:r>
                                <a:rPr lang="es-PE" sz="2100" i="1" smtClean="0">
                                  <a:latin typeface="Cambria Math" panose="02040503050406030204" pitchFamily="18" charset="0"/>
                                  <a:ea typeface="Cambria Math" panose="02040503050406030204" pitchFamily="18" charset="0"/>
                                  <a:cs typeface="Times New Roman" panose="02020603050405020304" pitchFamily="18" charset="0"/>
                                </a:rPr>
                                <m:t>𝜋</m:t>
                              </m:r>
                            </m:e>
                            <m:sub>
                              <m:r>
                                <a:rPr lang="es-PE" sz="2100" b="0" i="1" smtClean="0">
                                  <a:latin typeface="Cambria Math" panose="02040503050406030204" pitchFamily="18" charset="0"/>
                                  <a:ea typeface="Calibri" panose="020F0502020204030204" pitchFamily="34" charset="0"/>
                                  <a:cs typeface="Times New Roman" panose="02020603050405020304" pitchFamily="18" charset="0"/>
                                </a:rPr>
                                <m:t>𝑡</m:t>
                              </m:r>
                            </m:sub>
                          </m:sSub>
                          <m:r>
                            <a:rPr lang="es-PE" sz="2100" i="1">
                              <a:latin typeface="Cambria Math" panose="02040503050406030204" pitchFamily="18" charset="0"/>
                              <a:ea typeface="Calibri" panose="020F0502020204030204" pitchFamily="34" charset="0"/>
                              <a:cs typeface="Times New Roman" panose="02020603050405020304" pitchFamily="18" charset="0"/>
                            </a:rPr>
                            <m:t>−</m:t>
                          </m:r>
                          <m:sSubSup>
                            <m:sSubSupPr>
                              <m:ctrlPr>
                                <a:rPr lang="es-PE" sz="2100" i="1" smtClean="0">
                                  <a:latin typeface="Cambria Math" panose="02040503050406030204" pitchFamily="18" charset="0"/>
                                  <a:ea typeface="Calibri" panose="020F0502020204030204" pitchFamily="34" charset="0"/>
                                  <a:cs typeface="Times New Roman" panose="02020603050405020304" pitchFamily="18" charset="0"/>
                                </a:rPr>
                              </m:ctrlPr>
                            </m:sSubSupPr>
                            <m:e>
                              <m:r>
                                <a:rPr lang="es-PE" sz="2100" i="1" smtClean="0">
                                  <a:latin typeface="Cambria Math" panose="02040503050406030204" pitchFamily="18" charset="0"/>
                                  <a:ea typeface="Cambria Math" panose="02040503050406030204" pitchFamily="18" charset="0"/>
                                  <a:cs typeface="Times New Roman" panose="02020603050405020304" pitchFamily="18" charset="0"/>
                                </a:rPr>
                                <m:t>𝜋</m:t>
                              </m:r>
                            </m:e>
                            <m:sub>
                              <m:r>
                                <a:rPr lang="es-PE" sz="2100" b="0" i="1" smtClean="0">
                                  <a:latin typeface="Cambria Math" panose="02040503050406030204" pitchFamily="18" charset="0"/>
                                  <a:ea typeface="Calibri" panose="020F0502020204030204" pitchFamily="34" charset="0"/>
                                  <a:cs typeface="Times New Roman" panose="02020603050405020304" pitchFamily="18" charset="0"/>
                                </a:rPr>
                                <m:t>𝑡</m:t>
                              </m:r>
                            </m:sub>
                            <m:sup>
                              <m:r>
                                <a:rPr lang="es-PE" sz="2100" b="0" i="1" smtClean="0">
                                  <a:latin typeface="Cambria Math" panose="02040503050406030204" pitchFamily="18" charset="0"/>
                                  <a:ea typeface="Calibri" panose="020F0502020204030204" pitchFamily="34" charset="0"/>
                                  <a:cs typeface="Times New Roman" panose="02020603050405020304" pitchFamily="18" charset="0"/>
                                </a:rPr>
                                <m:t>𝑒</m:t>
                              </m:r>
                            </m:sup>
                          </m:sSubSup>
                        </m:e>
                      </m:d>
                      <m:r>
                        <a:rPr lang="es-PE" sz="2100" b="0" i="1" smtClean="0">
                          <a:latin typeface="Cambria Math" panose="02040503050406030204" pitchFamily="18" charset="0"/>
                          <a:ea typeface="Calibri" panose="020F0502020204030204" pitchFamily="34" charset="0"/>
                          <a:cs typeface="Times New Roman" panose="02020603050405020304" pitchFamily="18" charset="0"/>
                        </a:rPr>
                        <m:t>  </m:t>
                      </m:r>
                      <m:r>
                        <a:rPr lang="es-PE" sz="2100" b="0" i="1" smtClean="0">
                          <a:latin typeface="Cambria Math" panose="02040503050406030204" pitchFamily="18" charset="0"/>
                          <a:ea typeface="Cambria Math" panose="02040503050406030204" pitchFamily="18" charset="0"/>
                          <a:cs typeface="Times New Roman" panose="02020603050405020304" pitchFamily="18" charset="0"/>
                        </a:rPr>
                        <m:t>≡</m:t>
                      </m:r>
                      <m:r>
                        <a:rPr lang="es-PE" sz="2100" b="0" i="1" smtClean="0">
                          <a:latin typeface="Cambria Math" panose="02040503050406030204" pitchFamily="18" charset="0"/>
                          <a:ea typeface="Cambria Math" panose="02040503050406030204" pitchFamily="18" charset="0"/>
                          <a:cs typeface="Times New Roman" panose="02020603050405020304" pitchFamily="18" charset="0"/>
                        </a:rPr>
                        <m:t>𝑃𝐶</m:t>
                      </m:r>
                    </m:oMath>
                  </m:oMathPara>
                </a14:m>
                <a:endParaRPr lang="es-MX" sz="2100" dirty="0">
                  <a:latin typeface="Calibri" panose="020F0502020204030204" pitchFamily="34" charset="0"/>
                  <a:ea typeface="Calibri" panose="020F0502020204030204" pitchFamily="34" charset="0"/>
                  <a:cs typeface="Times New Roman" panose="02020603050405020304" pitchFamily="18" charset="0"/>
                </a:endParaRPr>
              </a:p>
              <a:p>
                <a:pPr marL="525463" indent="-342900" algn="just">
                  <a:lnSpc>
                    <a:spcPct val="125000"/>
                  </a:lnSpc>
                  <a:buFont typeface="Arial" panose="020B0604020202020204" pitchFamily="34" charset="0"/>
                  <a:buChar char="•"/>
                  <a:tabLst>
                    <a:tab pos="5202238" algn="l"/>
                  </a:tabLst>
                </a:pPr>
                <a:r>
                  <a:rPr lang="es-MX" sz="2100" dirty="0">
                    <a:latin typeface="Calibri" panose="020F0502020204030204" pitchFamily="34" charset="0"/>
                    <a:ea typeface="Calibri" panose="020F0502020204030204" pitchFamily="34" charset="0"/>
                    <a:cs typeface="Times New Roman" panose="02020603050405020304" pitchFamily="18" charset="0"/>
                  </a:rPr>
                  <a:t>Cabe destacar que la PC usando rigideces de salarios nominales es que el salario real será </a:t>
                </a:r>
                <a:r>
                  <a:rPr lang="es-MX" sz="2100" dirty="0" err="1">
                    <a:latin typeface="Calibri" panose="020F0502020204030204" pitchFamily="34" charset="0"/>
                    <a:ea typeface="Calibri" panose="020F0502020204030204" pitchFamily="34" charset="0"/>
                    <a:cs typeface="Times New Roman" panose="02020603050405020304" pitchFamily="18" charset="0"/>
                  </a:rPr>
                  <a:t>contracíclico</a:t>
                </a:r>
                <a:r>
                  <a:rPr lang="es-MX" sz="2100" dirty="0">
                    <a:latin typeface="Calibri" panose="020F0502020204030204" pitchFamily="34" charset="0"/>
                    <a:ea typeface="Calibri" panose="020F0502020204030204" pitchFamily="34" charset="0"/>
                    <a:cs typeface="Times New Roman" panose="02020603050405020304" pitchFamily="18" charset="0"/>
                  </a:rPr>
                  <a:t>, lo que es inconsistente con la realidad.</a:t>
                </a:r>
              </a:p>
            </p:txBody>
          </p:sp>
        </mc:Choice>
        <mc:Fallback xmlns="">
          <p:sp>
            <p:nvSpPr>
              <p:cNvPr id="3" name="Marcador de contenido 2">
                <a:extLst>
                  <a:ext uri="{FF2B5EF4-FFF2-40B4-BE49-F238E27FC236}">
                    <a16:creationId xmlns:a16="http://schemas.microsoft.com/office/drawing/2014/main" id="{3334333E-DFD9-6305-11CF-057295708F8F}"/>
                  </a:ext>
                </a:extLst>
              </p:cNvPr>
              <p:cNvSpPr>
                <a:spLocks noGrp="1" noRot="1" noChangeAspect="1" noMove="1" noResize="1" noEditPoints="1" noAdjustHandles="1" noChangeArrowheads="1" noChangeShapeType="1" noTextEdit="1"/>
              </p:cNvSpPr>
              <p:nvPr>
                <p:ph idx="1"/>
              </p:nvPr>
            </p:nvSpPr>
            <p:spPr>
              <a:xfrm>
                <a:off x="904240" y="1942952"/>
                <a:ext cx="10485120" cy="4267200"/>
              </a:xfrm>
              <a:blipFill>
                <a:blip r:embed="rId2"/>
                <a:stretch>
                  <a:fillRect/>
                </a:stretch>
              </a:blipFill>
              <a:ln>
                <a:solidFill>
                  <a:schemeClr val="bg1">
                    <a:lumMod val="65000"/>
                  </a:schemeClr>
                </a:solidFill>
              </a:ln>
            </p:spPr>
            <p:txBody>
              <a:bodyPr/>
              <a:lstStyle/>
              <a:p>
                <a:r>
                  <a:rPr lang="es-PE">
                    <a:noFill/>
                  </a:rPr>
                  <a:t> </a:t>
                </a:r>
              </a:p>
            </p:txBody>
          </p:sp>
        </mc:Fallback>
      </mc:AlternateContent>
      <p:sp>
        <p:nvSpPr>
          <p:cNvPr id="6" name="CuadroTexto 5">
            <a:extLst>
              <a:ext uri="{FF2B5EF4-FFF2-40B4-BE49-F238E27FC236}">
                <a16:creationId xmlns:a16="http://schemas.microsoft.com/office/drawing/2014/main" id="{7A804333-F591-6D06-E8B7-AA0D50736D02}"/>
              </a:ext>
            </a:extLst>
          </p:cNvPr>
          <p:cNvSpPr txBox="1"/>
          <p:nvPr/>
        </p:nvSpPr>
        <p:spPr>
          <a:xfrm>
            <a:off x="3048000" y="3203875"/>
            <a:ext cx="6096000" cy="369332"/>
          </a:xfrm>
          <a:prstGeom prst="rect">
            <a:avLst/>
          </a:prstGeom>
          <a:noFill/>
        </p:spPr>
        <p:txBody>
          <a:bodyPr wrap="square">
            <a:spAutoFit/>
          </a:bodyPr>
          <a:lstStyle/>
          <a:p>
            <a:endParaRPr lang="es-PE" dirty="0"/>
          </a:p>
        </p:txBody>
      </p:sp>
    </p:spTree>
    <p:extLst>
      <p:ext uri="{BB962C8B-B14F-4D97-AF65-F5344CB8AC3E}">
        <p14:creationId xmlns:p14="http://schemas.microsoft.com/office/powerpoint/2010/main" val="17231153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F75FF9-D909-0333-406B-9C993CD38DE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80D8CDC-FF85-CE85-D1E9-CE7DC332335D}"/>
              </a:ext>
            </a:extLst>
          </p:cNvPr>
          <p:cNvSpPr>
            <a:spLocks noGrp="1"/>
          </p:cNvSpPr>
          <p:nvPr>
            <p:ph type="title"/>
          </p:nvPr>
        </p:nvSpPr>
        <p:spPr/>
        <p:txBody>
          <a:bodyPr/>
          <a:lstStyle/>
          <a:p>
            <a:endParaRPr lang="es-PE"/>
          </a:p>
        </p:txBody>
      </p:sp>
      <p:sp>
        <p:nvSpPr>
          <p:cNvPr id="3" name="Marcador de texto 2">
            <a:extLst>
              <a:ext uri="{FF2B5EF4-FFF2-40B4-BE49-F238E27FC236}">
                <a16:creationId xmlns:a16="http://schemas.microsoft.com/office/drawing/2014/main" id="{733A2712-D04E-2D3A-5DCF-EC84949A24AA}"/>
              </a:ext>
            </a:extLst>
          </p:cNvPr>
          <p:cNvSpPr>
            <a:spLocks noGrp="1"/>
          </p:cNvSpPr>
          <p:nvPr>
            <p:ph type="body" idx="1"/>
          </p:nvPr>
        </p:nvSpPr>
        <p:spPr/>
        <p:txBody>
          <a:bodyPr>
            <a:normAutofit fontScale="85000" lnSpcReduction="20000"/>
          </a:bodyPr>
          <a:lstStyle/>
          <a:p>
            <a:pPr algn="r"/>
            <a:r>
              <a:rPr lang="es-PE" sz="3600" b="1" dirty="0"/>
              <a:t>	RIGIDECES DE PRECIOS E</a:t>
            </a:r>
          </a:p>
          <a:p>
            <a:pPr algn="r"/>
            <a:r>
              <a:rPr lang="es-PE" sz="3600" b="1" dirty="0"/>
              <a:t>INDEXACION</a:t>
            </a:r>
          </a:p>
        </p:txBody>
      </p:sp>
    </p:spTree>
    <p:extLst>
      <p:ext uri="{BB962C8B-B14F-4D97-AF65-F5344CB8AC3E}">
        <p14:creationId xmlns:p14="http://schemas.microsoft.com/office/powerpoint/2010/main" val="276599076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D8A38-9654-787F-67AE-6BC848D6539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2A9139C-FA93-AAC2-8E11-EC71AD014BE0}"/>
              </a:ext>
            </a:extLst>
          </p:cNvPr>
          <p:cNvSpPr>
            <a:spLocks noGrp="1"/>
          </p:cNvSpPr>
          <p:nvPr>
            <p:ph type="title"/>
          </p:nvPr>
        </p:nvSpPr>
        <p:spPr>
          <a:xfrm>
            <a:off x="1066800" y="8046"/>
            <a:ext cx="10058400" cy="1450757"/>
          </a:xfrm>
        </p:spPr>
        <p:txBody>
          <a:bodyPr>
            <a:normAutofit/>
          </a:bodyPr>
          <a:lstStyle/>
          <a:p>
            <a:r>
              <a:rPr lang="es-PE" sz="3200" dirty="0"/>
              <a:t>Rigideces de precios e indexación</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B8A55318-0B08-9917-DC8D-F81321377BBC}"/>
                  </a:ext>
                </a:extLst>
              </p:cNvPr>
              <p:cNvSpPr>
                <a:spLocks noGrp="1"/>
              </p:cNvSpPr>
              <p:nvPr>
                <p:ph idx="1"/>
              </p:nvPr>
            </p:nvSpPr>
            <p:spPr>
              <a:xfrm>
                <a:off x="925504" y="1900421"/>
                <a:ext cx="10663983" cy="4372787"/>
              </a:xfrm>
              <a:ln>
                <a:solidFill>
                  <a:schemeClr val="bg1">
                    <a:lumMod val="65000"/>
                  </a:schemeClr>
                </a:solidFill>
              </a:ln>
            </p:spPr>
            <p:txBody>
              <a:bodyPr lIns="36000" rIns="180000">
                <a:noAutofit/>
              </a:bodyPr>
              <a:lstStyle/>
              <a:p>
                <a:pPr marL="182563" indent="0" algn="just">
                  <a:lnSpc>
                    <a:spcPct val="125000"/>
                  </a:lnSpc>
                  <a:buNone/>
                  <a:tabLst>
                    <a:tab pos="5202238" algn="l"/>
                  </a:tabLst>
                </a:pPr>
                <a:r>
                  <a:rPr lang="es-PE" sz="2400" dirty="0">
                    <a:latin typeface="Calibri" panose="020F0502020204030204" pitchFamily="34" charset="0"/>
                    <a:ea typeface="Calibri" panose="020F0502020204030204" pitchFamily="34" charset="0"/>
                    <a:cs typeface="Times New Roman" panose="02020603050405020304" pitchFamily="18" charset="0"/>
                  </a:rPr>
                  <a:t>Supuestos:</a:t>
                </a:r>
              </a:p>
              <a:p>
                <a:pPr marL="525463" indent="-342900" algn="just">
                  <a:lnSpc>
                    <a:spcPct val="125000"/>
                  </a:lnSpc>
                  <a:buFont typeface="Arial" panose="020B0604020202020204" pitchFamily="34" charset="0"/>
                  <a:buChar char="•"/>
                  <a:tabLst>
                    <a:tab pos="5202238" algn="l"/>
                  </a:tabLst>
                </a:pPr>
                <a:r>
                  <a:rPr lang="es-PE" sz="2400" dirty="0">
                    <a:latin typeface="Calibri" panose="020F0502020204030204" pitchFamily="34" charset="0"/>
                    <a:ea typeface="Calibri" panose="020F0502020204030204" pitchFamily="34" charset="0"/>
                    <a:cs typeface="Times New Roman" panose="02020603050405020304" pitchFamily="18" charset="0"/>
                  </a:rPr>
                  <a:t>Mercados de Bienes y Servicios hay precios rígidos</a:t>
                </a:r>
              </a:p>
              <a:p>
                <a:pPr marL="525463" indent="-342900" algn="just">
                  <a:lnSpc>
                    <a:spcPct val="125000"/>
                  </a:lnSpc>
                  <a:buFont typeface="Arial" panose="020B0604020202020204" pitchFamily="34" charset="0"/>
                  <a:buChar char="•"/>
                  <a:tabLst>
                    <a:tab pos="5202238" algn="l"/>
                  </a:tabLst>
                </a:pPr>
                <a:r>
                  <a:rPr lang="es-PE" sz="2400" dirty="0">
                    <a:latin typeface="Calibri" panose="020F0502020204030204" pitchFamily="34" charset="0"/>
                    <a:ea typeface="Calibri" panose="020F0502020204030204" pitchFamily="34" charset="0"/>
                    <a:cs typeface="Times New Roman" panose="02020603050405020304" pitchFamily="18" charset="0"/>
                  </a:rPr>
                  <a:t>Existen 3 tipos de empresas: </a:t>
                </a:r>
              </a:p>
              <a:p>
                <a:pPr marL="712788" lvl="1" indent="-238125" algn="just">
                  <a:lnSpc>
                    <a:spcPct val="125000"/>
                  </a:lnSpc>
                  <a:buFont typeface="+mj-lt"/>
                  <a:buAutoNum type="romanLcPeriod"/>
                  <a:tabLst>
                    <a:tab pos="5202238" algn="l"/>
                  </a:tabLst>
                </a:pPr>
                <a:r>
                  <a:rPr lang="es-PE" sz="2400" dirty="0">
                    <a:latin typeface="Calibri" panose="020F0502020204030204" pitchFamily="34" charset="0"/>
                    <a:ea typeface="Calibri" panose="020F0502020204030204" pitchFamily="34" charset="0"/>
                    <a:cs typeface="Times New Roman" panose="02020603050405020304" pitchFamily="18" charset="0"/>
                  </a:rPr>
                  <a:t>Empresas con precios flexibles (</a:t>
                </a:r>
                <a:r>
                  <a:rPr lang="es-PE" sz="2400" dirty="0" err="1">
                    <a:latin typeface="Calibri" panose="020F0502020204030204" pitchFamily="34" charset="0"/>
                    <a:ea typeface="Calibri" panose="020F0502020204030204" pitchFamily="34" charset="0"/>
                    <a:cs typeface="Times New Roman" panose="02020603050405020304" pitchFamily="18" charset="0"/>
                  </a:rPr>
                  <a:t>p</a:t>
                </a:r>
                <a:r>
                  <a:rPr lang="es-PE" sz="2400" baseline="-25000" dirty="0" err="1">
                    <a:latin typeface="Calibri" panose="020F0502020204030204" pitchFamily="34" charset="0"/>
                    <a:ea typeface="Calibri" panose="020F0502020204030204" pitchFamily="34" charset="0"/>
                    <a:cs typeface="Times New Roman" panose="02020603050405020304" pitchFamily="18" charset="0"/>
                  </a:rPr>
                  <a:t>f</a:t>
                </a:r>
                <a:r>
                  <a:rPr lang="es-PE" sz="2400" dirty="0">
                    <a:latin typeface="Calibri" panose="020F0502020204030204" pitchFamily="34" charset="0"/>
                    <a:ea typeface="Calibri" panose="020F0502020204030204" pitchFamily="34" charset="0"/>
                    <a:cs typeface="Times New Roman" panose="02020603050405020304" pitchFamily="18" charset="0"/>
                  </a:rPr>
                  <a:t>): fijan los precios según la demanda que se refleja en la brecha producto </a:t>
                </a:r>
                <a14:m>
                  <m:oMath xmlns:m="http://schemas.openxmlformats.org/officeDocument/2006/math">
                    <m:sSub>
                      <m:sSubPr>
                        <m:ctrlPr>
                          <a:rPr lang="es-PE" sz="2000" i="1">
                            <a:latin typeface="Cambria Math" panose="02040503050406030204" pitchFamily="18" charset="0"/>
                            <a:ea typeface="Calibri" panose="020F0502020204030204" pitchFamily="34" charset="0"/>
                            <a:cs typeface="Times New Roman" panose="02020603050405020304" pitchFamily="18" charset="0"/>
                          </a:rPr>
                        </m:ctrlPr>
                      </m:sSubPr>
                      <m:e>
                        <m:r>
                          <a:rPr lang="es-PE" sz="2000" i="1" smtClean="0">
                            <a:latin typeface="Cambria Math" panose="02040503050406030204" pitchFamily="18" charset="0"/>
                            <a:ea typeface="Cambria Math" panose="02040503050406030204" pitchFamily="18" charset="0"/>
                            <a:cs typeface="Times New Roman" panose="02020603050405020304" pitchFamily="18" charset="0"/>
                          </a:rPr>
                          <m:t>↑</m:t>
                        </m:r>
                        <m:r>
                          <a:rPr lang="es-PE" sz="2000" b="0" i="1" smtClean="0">
                            <a:latin typeface="Cambria Math" panose="02040503050406030204" pitchFamily="18" charset="0"/>
                            <a:ea typeface="Calibri" panose="020F0502020204030204" pitchFamily="34" charset="0"/>
                            <a:cs typeface="Times New Roman" panose="02020603050405020304" pitchFamily="18" charset="0"/>
                          </a:rPr>
                          <m:t>(</m:t>
                        </m:r>
                        <m:r>
                          <a:rPr lang="es-PE" sz="2000" i="1">
                            <a:latin typeface="Cambria Math" panose="02040503050406030204" pitchFamily="18" charset="0"/>
                            <a:ea typeface="Calibri" panose="020F0502020204030204" pitchFamily="34" charset="0"/>
                            <a:cs typeface="Times New Roman" panose="02020603050405020304" pitchFamily="18" charset="0"/>
                          </a:rPr>
                          <m:t>𝑦</m:t>
                        </m:r>
                      </m:e>
                      <m:sub>
                        <m:r>
                          <a:rPr lang="es-PE" sz="2000" i="1">
                            <a:latin typeface="Cambria Math" panose="02040503050406030204" pitchFamily="18" charset="0"/>
                            <a:ea typeface="Calibri" panose="020F0502020204030204" pitchFamily="34" charset="0"/>
                            <a:cs typeface="Times New Roman" panose="02020603050405020304" pitchFamily="18" charset="0"/>
                          </a:rPr>
                          <m:t>𝑡</m:t>
                        </m:r>
                      </m:sub>
                    </m:sSub>
                    <m:r>
                      <a:rPr lang="es-PE" sz="2000" i="1">
                        <a:latin typeface="Cambria Math" panose="02040503050406030204" pitchFamily="18" charset="0"/>
                        <a:ea typeface="Calibri" panose="020F0502020204030204" pitchFamily="34" charset="0"/>
                        <a:cs typeface="Times New Roman" panose="02020603050405020304" pitchFamily="18" charset="0"/>
                      </a:rPr>
                      <m:t>−</m:t>
                    </m:r>
                    <m:acc>
                      <m:accPr>
                        <m:chr m:val="̅"/>
                        <m:ctrlPr>
                          <a:rPr lang="es-PE" sz="2000" i="1">
                            <a:latin typeface="Cambria Math" panose="02040503050406030204" pitchFamily="18" charset="0"/>
                            <a:ea typeface="Calibri" panose="020F0502020204030204" pitchFamily="34" charset="0"/>
                            <a:cs typeface="Times New Roman" panose="02020603050405020304" pitchFamily="18" charset="0"/>
                          </a:rPr>
                        </m:ctrlPr>
                      </m:accPr>
                      <m:e>
                        <m:r>
                          <a:rPr lang="es-PE" sz="2000" i="1">
                            <a:latin typeface="Cambria Math" panose="02040503050406030204" pitchFamily="18" charset="0"/>
                            <a:ea typeface="Calibri" panose="020F0502020204030204" pitchFamily="34" charset="0"/>
                            <a:cs typeface="Times New Roman" panose="02020603050405020304" pitchFamily="18" charset="0"/>
                          </a:rPr>
                          <m:t>𝑦</m:t>
                        </m:r>
                      </m:e>
                    </m:acc>
                    <m:r>
                      <a:rPr lang="es-PE" sz="2000" b="0" i="1" smtClean="0">
                        <a:latin typeface="Cambria Math" panose="02040503050406030204" pitchFamily="18" charset="0"/>
                        <a:ea typeface="Calibri" panose="020F0502020204030204" pitchFamily="34" charset="0"/>
                        <a:cs typeface="Times New Roman" panose="02020603050405020304" pitchFamily="18" charset="0"/>
                      </a:rPr>
                      <m:t>)→ </m:t>
                    </m:r>
                    <m:r>
                      <a:rPr lang="es-PE" sz="2000" b="0" i="1" smtClean="0">
                        <a:latin typeface="Cambria Math" panose="02040503050406030204" pitchFamily="18" charset="0"/>
                        <a:ea typeface="Cambria Math" panose="02040503050406030204" pitchFamily="18" charset="0"/>
                        <a:cs typeface="Times New Roman" panose="02020603050405020304" pitchFamily="18" charset="0"/>
                      </a:rPr>
                      <m:t>↑</m:t>
                    </m:r>
                    <m:r>
                      <a:rPr lang="es-PE" sz="2000" b="0" i="1" smtClean="0">
                        <a:latin typeface="Cambria Math" panose="02040503050406030204" pitchFamily="18" charset="0"/>
                        <a:ea typeface="Cambria Math" panose="02040503050406030204" pitchFamily="18" charset="0"/>
                        <a:cs typeface="Times New Roman" panose="02020603050405020304" pitchFamily="18" charset="0"/>
                      </a:rPr>
                      <m:t>𝑑𝑒𝑚𝑎𝑛𝑑𝑎</m:t>
                    </m:r>
                  </m:oMath>
                </a14:m>
                <a:r>
                  <a:rPr lang="es-PE" sz="2000" dirty="0">
                    <a:latin typeface="Calibri" panose="020F0502020204030204" pitchFamily="34" charset="0"/>
                    <a:ea typeface="Calibri" panose="020F0502020204030204" pitchFamily="34" charset="0"/>
                    <a:cs typeface="Times New Roman" panose="02020603050405020304" pitchFamily="18" charset="0"/>
                  </a:rPr>
                  <a:t>, </a:t>
                </a:r>
                <a:r>
                  <a:rPr lang="es-PE" sz="2400" dirty="0">
                    <a:latin typeface="Calibri" panose="020F0502020204030204" pitchFamily="34" charset="0"/>
                    <a:ea typeface="Calibri" panose="020F0502020204030204" pitchFamily="34" charset="0"/>
                    <a:cs typeface="Times New Roman" panose="02020603050405020304" pitchFamily="18" charset="0"/>
                  </a:rPr>
                  <a:t>así el precio relativo de éstas empresas es:</a:t>
                </a:r>
              </a:p>
              <a:p>
                <a:pPr marL="182563" indent="0" algn="just">
                  <a:lnSpc>
                    <a:spcPct val="125000"/>
                  </a:lnSpc>
                  <a:buNone/>
                  <a:tabLst>
                    <a:tab pos="5202238" algn="l"/>
                  </a:tabLst>
                </a:pPr>
                <a14:m>
                  <m:oMathPara xmlns:m="http://schemas.openxmlformats.org/officeDocument/2006/math">
                    <m:oMathParaPr>
                      <m:jc m:val="centerGroup"/>
                    </m:oMathParaPr>
                    <m:oMath xmlns:m="http://schemas.openxmlformats.org/officeDocument/2006/math">
                      <m:sSub>
                        <m:sSubPr>
                          <m:ctrlPr>
                            <a:rPr lang="es-PE" sz="2400" i="1" smtClean="0">
                              <a:latin typeface="Cambria Math" panose="02040503050406030204" pitchFamily="18" charset="0"/>
                              <a:ea typeface="Calibri" panose="020F0502020204030204" pitchFamily="34" charset="0"/>
                              <a:cs typeface="Times New Roman" panose="02020603050405020304" pitchFamily="18" charset="0"/>
                            </a:rPr>
                          </m:ctrlPr>
                        </m:sSubPr>
                        <m:e>
                          <m:r>
                            <a:rPr lang="es-PE" sz="2400" b="0" i="1" smtClean="0">
                              <a:latin typeface="Cambria Math" panose="02040503050406030204" pitchFamily="18" charset="0"/>
                              <a:ea typeface="Calibri" panose="020F0502020204030204" pitchFamily="34" charset="0"/>
                              <a:cs typeface="Times New Roman" panose="02020603050405020304" pitchFamily="18" charset="0"/>
                            </a:rPr>
                            <m:t>𝑝</m:t>
                          </m:r>
                        </m:e>
                        <m:sub>
                          <m:r>
                            <a:rPr lang="es-PE" sz="2400" b="0" i="1" smtClean="0">
                              <a:latin typeface="Cambria Math" panose="02040503050406030204" pitchFamily="18" charset="0"/>
                              <a:ea typeface="Calibri" panose="020F0502020204030204" pitchFamily="34" charset="0"/>
                              <a:cs typeface="Times New Roman" panose="02020603050405020304" pitchFamily="18" charset="0"/>
                            </a:rPr>
                            <m:t>𝑓𝑡</m:t>
                          </m:r>
                        </m:sub>
                      </m:sSub>
                      <m:r>
                        <a:rPr lang="es-PE" sz="2400" i="1">
                          <a:latin typeface="Cambria Math" panose="02040503050406030204" pitchFamily="18" charset="0"/>
                          <a:ea typeface="Calibri" panose="020F0502020204030204" pitchFamily="34" charset="0"/>
                          <a:cs typeface="Times New Roman" panose="02020603050405020304" pitchFamily="18" charset="0"/>
                        </a:rPr>
                        <m:t>−</m:t>
                      </m:r>
                      <m:sSub>
                        <m:sSubPr>
                          <m:ctrlPr>
                            <a:rPr lang="es-PE" sz="2400" i="1" smtClean="0">
                              <a:latin typeface="Cambria Math" panose="02040503050406030204" pitchFamily="18" charset="0"/>
                              <a:ea typeface="Calibri" panose="020F0502020204030204" pitchFamily="34" charset="0"/>
                              <a:cs typeface="Times New Roman" panose="02020603050405020304" pitchFamily="18" charset="0"/>
                            </a:rPr>
                          </m:ctrlPr>
                        </m:sSubPr>
                        <m:e>
                          <m:r>
                            <a:rPr lang="es-PE" sz="2400" b="0" i="1" smtClean="0">
                              <a:latin typeface="Cambria Math" panose="02040503050406030204" pitchFamily="18" charset="0"/>
                              <a:ea typeface="Calibri" panose="020F0502020204030204" pitchFamily="34" charset="0"/>
                              <a:cs typeface="Times New Roman" panose="02020603050405020304" pitchFamily="18" charset="0"/>
                            </a:rPr>
                            <m:t>𝑝</m:t>
                          </m:r>
                        </m:e>
                        <m:sub>
                          <m:r>
                            <a:rPr lang="es-PE" sz="2400" b="0" i="1" smtClean="0">
                              <a:latin typeface="Cambria Math" panose="02040503050406030204" pitchFamily="18" charset="0"/>
                              <a:ea typeface="Calibri" panose="020F0502020204030204" pitchFamily="34" charset="0"/>
                              <a:cs typeface="Times New Roman" panose="02020603050405020304" pitchFamily="18" charset="0"/>
                            </a:rPr>
                            <m:t>𝑡</m:t>
                          </m:r>
                        </m:sub>
                      </m:sSub>
                      <m:r>
                        <a:rPr lang="es-PE" sz="2400" i="1">
                          <a:latin typeface="Cambria Math" panose="02040503050406030204" pitchFamily="18" charset="0"/>
                          <a:ea typeface="Calibri" panose="020F0502020204030204" pitchFamily="34" charset="0"/>
                          <a:cs typeface="Times New Roman" panose="02020603050405020304" pitchFamily="18" charset="0"/>
                        </a:rPr>
                        <m:t>=</m:t>
                      </m:r>
                      <m:r>
                        <a:rPr lang="es-PE" sz="2400" b="0" i="1" smtClean="0">
                          <a:latin typeface="Cambria Math" panose="02040503050406030204" pitchFamily="18" charset="0"/>
                          <a:ea typeface="Cambria Math" panose="02040503050406030204" pitchFamily="18" charset="0"/>
                          <a:cs typeface="Times New Roman" panose="02020603050405020304" pitchFamily="18" charset="0"/>
                        </a:rPr>
                        <m:t>𝑘</m:t>
                      </m:r>
                      <m:d>
                        <m:dPr>
                          <m:ctrlPr>
                            <a:rPr lang="es-PE" sz="2400" i="1" smtClean="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es-PE" sz="2400" i="1" smtClean="0">
                                  <a:latin typeface="Cambria Math" panose="02040503050406030204" pitchFamily="18" charset="0"/>
                                  <a:ea typeface="Calibri" panose="020F0502020204030204" pitchFamily="34" charset="0"/>
                                  <a:cs typeface="Times New Roman" panose="02020603050405020304" pitchFamily="18" charset="0"/>
                                </a:rPr>
                              </m:ctrlPr>
                            </m:sSubPr>
                            <m:e>
                              <m:r>
                                <a:rPr lang="es-PE" sz="2400" b="0" i="1" smtClean="0">
                                  <a:latin typeface="Cambria Math" panose="02040503050406030204" pitchFamily="18" charset="0"/>
                                  <a:ea typeface="Cambria Math" panose="02040503050406030204" pitchFamily="18" charset="0"/>
                                  <a:cs typeface="Times New Roman" panose="02020603050405020304" pitchFamily="18" charset="0"/>
                                </a:rPr>
                                <m:t>𝑦</m:t>
                              </m:r>
                            </m:e>
                            <m:sub>
                              <m:r>
                                <a:rPr lang="es-PE" sz="2400" b="0" i="1" smtClean="0">
                                  <a:latin typeface="Cambria Math" panose="02040503050406030204" pitchFamily="18" charset="0"/>
                                  <a:ea typeface="Calibri" panose="020F0502020204030204" pitchFamily="34" charset="0"/>
                                  <a:cs typeface="Times New Roman" panose="02020603050405020304" pitchFamily="18" charset="0"/>
                                </a:rPr>
                                <m:t>𝑡</m:t>
                              </m:r>
                            </m:sub>
                          </m:sSub>
                          <m:r>
                            <a:rPr lang="es-PE" sz="2400" i="1">
                              <a:latin typeface="Cambria Math" panose="02040503050406030204" pitchFamily="18" charset="0"/>
                              <a:ea typeface="Calibri" panose="020F0502020204030204" pitchFamily="34" charset="0"/>
                              <a:cs typeface="Times New Roman" panose="02020603050405020304" pitchFamily="18" charset="0"/>
                            </a:rPr>
                            <m:t>−</m:t>
                          </m:r>
                          <m:acc>
                            <m:accPr>
                              <m:chr m:val="̅"/>
                              <m:ctrlPr>
                                <a:rPr lang="es-PE" sz="2800" i="1">
                                  <a:latin typeface="Cambria Math" panose="02040503050406030204" pitchFamily="18" charset="0"/>
                                  <a:ea typeface="Calibri" panose="020F0502020204030204" pitchFamily="34" charset="0"/>
                                  <a:cs typeface="Times New Roman" panose="02020603050405020304" pitchFamily="18" charset="0"/>
                                </a:rPr>
                              </m:ctrlPr>
                            </m:accPr>
                            <m:e>
                              <m:r>
                                <a:rPr lang="es-PE" sz="2800" i="1">
                                  <a:latin typeface="Cambria Math" panose="02040503050406030204" pitchFamily="18" charset="0"/>
                                  <a:ea typeface="Calibri" panose="020F0502020204030204" pitchFamily="34" charset="0"/>
                                  <a:cs typeface="Times New Roman" panose="02020603050405020304" pitchFamily="18" charset="0"/>
                                </a:rPr>
                                <m:t>𝑦</m:t>
                              </m:r>
                            </m:e>
                          </m:acc>
                        </m:e>
                      </m:d>
                    </m:oMath>
                  </m:oMathPara>
                </a14:m>
                <a:endParaRPr lang="es-MX" sz="2400" dirty="0">
                  <a:latin typeface="Calibri" panose="020F0502020204030204" pitchFamily="34" charset="0"/>
                  <a:ea typeface="Calibri" panose="020F0502020204030204" pitchFamily="34" charset="0"/>
                  <a:cs typeface="Times New Roman" panose="02020603050405020304" pitchFamily="18" charset="0"/>
                </a:endParaRPr>
              </a:p>
              <a:p>
                <a:pPr marL="182563" indent="0" algn="just">
                  <a:lnSpc>
                    <a:spcPct val="125000"/>
                  </a:lnSpc>
                  <a:buNone/>
                  <a:tabLst>
                    <a:tab pos="5202238" algn="l"/>
                  </a:tabLst>
                </a:pPr>
                <a14:m>
                  <m:oMathPara xmlns:m="http://schemas.openxmlformats.org/officeDocument/2006/math">
                    <m:oMathParaPr>
                      <m:jc m:val="centerGroup"/>
                    </m:oMathParaPr>
                    <m:oMath xmlns:m="http://schemas.openxmlformats.org/officeDocument/2006/math">
                      <m:sSub>
                        <m:sSubPr>
                          <m:ctrlPr>
                            <a:rPr lang="es-PE" sz="2400" i="1">
                              <a:latin typeface="Cambria Math" panose="02040503050406030204" pitchFamily="18" charset="0"/>
                              <a:ea typeface="Calibri" panose="020F0502020204030204" pitchFamily="34" charset="0"/>
                              <a:cs typeface="Times New Roman" panose="02020603050405020304" pitchFamily="18" charset="0"/>
                            </a:rPr>
                          </m:ctrlPr>
                        </m:sSubPr>
                        <m:e>
                          <m:r>
                            <a:rPr lang="es-PE" sz="2400" i="1">
                              <a:latin typeface="Cambria Math" panose="02040503050406030204" pitchFamily="18" charset="0"/>
                              <a:ea typeface="Calibri" panose="020F0502020204030204" pitchFamily="34" charset="0"/>
                              <a:cs typeface="Times New Roman" panose="02020603050405020304" pitchFamily="18" charset="0"/>
                            </a:rPr>
                            <m:t>𝑝</m:t>
                          </m:r>
                        </m:e>
                        <m:sub>
                          <m:r>
                            <a:rPr lang="es-PE" sz="2400" i="1">
                              <a:latin typeface="Cambria Math" panose="02040503050406030204" pitchFamily="18" charset="0"/>
                              <a:ea typeface="Calibri" panose="020F0502020204030204" pitchFamily="34" charset="0"/>
                              <a:cs typeface="Times New Roman" panose="02020603050405020304" pitchFamily="18" charset="0"/>
                            </a:rPr>
                            <m:t>𝑓𝑡</m:t>
                          </m:r>
                        </m:sub>
                      </m:sSub>
                      <m:r>
                        <a:rPr lang="es-PE" sz="2400" b="0" i="1" smtClean="0">
                          <a:latin typeface="Cambria Math" panose="02040503050406030204" pitchFamily="18" charset="0"/>
                          <a:ea typeface="Calibri" panose="020F0502020204030204" pitchFamily="34" charset="0"/>
                          <a:cs typeface="Times New Roman" panose="02020603050405020304" pitchFamily="18" charset="0"/>
                        </a:rPr>
                        <m:t>=</m:t>
                      </m:r>
                      <m:sSub>
                        <m:sSubPr>
                          <m:ctrlPr>
                            <a:rPr lang="es-PE" sz="2400" i="1">
                              <a:latin typeface="Cambria Math" panose="02040503050406030204" pitchFamily="18" charset="0"/>
                              <a:ea typeface="Calibri" panose="020F0502020204030204" pitchFamily="34" charset="0"/>
                              <a:cs typeface="Times New Roman" panose="02020603050405020304" pitchFamily="18" charset="0"/>
                            </a:rPr>
                          </m:ctrlPr>
                        </m:sSubPr>
                        <m:e>
                          <m:r>
                            <a:rPr lang="es-PE" sz="2400" i="1">
                              <a:latin typeface="Cambria Math" panose="02040503050406030204" pitchFamily="18" charset="0"/>
                              <a:ea typeface="Calibri" panose="020F0502020204030204" pitchFamily="34" charset="0"/>
                              <a:cs typeface="Times New Roman" panose="02020603050405020304" pitchFamily="18" charset="0"/>
                            </a:rPr>
                            <m:t>𝑝</m:t>
                          </m:r>
                        </m:e>
                        <m:sub>
                          <m:r>
                            <a:rPr lang="es-PE" sz="2400" i="1">
                              <a:latin typeface="Cambria Math" panose="02040503050406030204" pitchFamily="18" charset="0"/>
                              <a:ea typeface="Calibri" panose="020F0502020204030204" pitchFamily="34" charset="0"/>
                              <a:cs typeface="Times New Roman" panose="02020603050405020304" pitchFamily="18" charset="0"/>
                            </a:rPr>
                            <m:t>𝑡</m:t>
                          </m:r>
                        </m:sub>
                      </m:sSub>
                      <m:r>
                        <a:rPr lang="es-PE" sz="2400" b="0" i="1" smtClean="0">
                          <a:latin typeface="Cambria Math" panose="02040503050406030204" pitchFamily="18" charset="0"/>
                          <a:ea typeface="Calibri" panose="020F0502020204030204" pitchFamily="34" charset="0"/>
                          <a:cs typeface="Times New Roman" panose="02020603050405020304" pitchFamily="18" charset="0"/>
                        </a:rPr>
                        <m:t>+</m:t>
                      </m:r>
                      <m:r>
                        <a:rPr lang="es-PE" sz="2400" i="1">
                          <a:latin typeface="Cambria Math" panose="02040503050406030204" pitchFamily="18" charset="0"/>
                          <a:ea typeface="Cambria Math" panose="02040503050406030204" pitchFamily="18" charset="0"/>
                          <a:cs typeface="Times New Roman" panose="02020603050405020304" pitchFamily="18" charset="0"/>
                        </a:rPr>
                        <m:t>𝑘</m:t>
                      </m:r>
                      <m:d>
                        <m:dPr>
                          <m:ctrlPr>
                            <a:rPr lang="es-PE" sz="2400" i="1">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es-PE" sz="2400" i="1">
                                  <a:latin typeface="Cambria Math" panose="02040503050406030204" pitchFamily="18" charset="0"/>
                                  <a:ea typeface="Calibri" panose="020F0502020204030204" pitchFamily="34" charset="0"/>
                                  <a:cs typeface="Times New Roman" panose="02020603050405020304" pitchFamily="18" charset="0"/>
                                </a:rPr>
                              </m:ctrlPr>
                            </m:sSubPr>
                            <m:e>
                              <m:r>
                                <a:rPr lang="es-PE" sz="2400" i="1">
                                  <a:latin typeface="Cambria Math" panose="02040503050406030204" pitchFamily="18" charset="0"/>
                                  <a:ea typeface="Cambria Math" panose="02040503050406030204" pitchFamily="18" charset="0"/>
                                  <a:cs typeface="Times New Roman" panose="02020603050405020304" pitchFamily="18" charset="0"/>
                                </a:rPr>
                                <m:t>𝑦</m:t>
                              </m:r>
                            </m:e>
                            <m:sub>
                              <m:r>
                                <a:rPr lang="es-PE" sz="2400" i="1">
                                  <a:latin typeface="Cambria Math" panose="02040503050406030204" pitchFamily="18" charset="0"/>
                                  <a:ea typeface="Calibri" panose="020F0502020204030204" pitchFamily="34" charset="0"/>
                                  <a:cs typeface="Times New Roman" panose="02020603050405020304" pitchFamily="18" charset="0"/>
                                </a:rPr>
                                <m:t>𝑡</m:t>
                              </m:r>
                            </m:sub>
                          </m:sSub>
                          <m:r>
                            <a:rPr lang="es-PE" sz="2400" i="1">
                              <a:latin typeface="Cambria Math" panose="02040503050406030204" pitchFamily="18" charset="0"/>
                              <a:ea typeface="Calibri" panose="020F0502020204030204" pitchFamily="34" charset="0"/>
                              <a:cs typeface="Times New Roman" panose="02020603050405020304" pitchFamily="18" charset="0"/>
                            </a:rPr>
                            <m:t>−</m:t>
                          </m:r>
                          <m:acc>
                            <m:accPr>
                              <m:chr m:val="̅"/>
                              <m:ctrlPr>
                                <a:rPr lang="es-PE" sz="2800" i="1">
                                  <a:latin typeface="Cambria Math" panose="02040503050406030204" pitchFamily="18" charset="0"/>
                                  <a:ea typeface="Calibri" panose="020F0502020204030204" pitchFamily="34" charset="0"/>
                                  <a:cs typeface="Times New Roman" panose="02020603050405020304" pitchFamily="18" charset="0"/>
                                </a:rPr>
                              </m:ctrlPr>
                            </m:accPr>
                            <m:e>
                              <m:r>
                                <a:rPr lang="es-PE" sz="2800" i="1">
                                  <a:latin typeface="Cambria Math" panose="02040503050406030204" pitchFamily="18" charset="0"/>
                                  <a:ea typeface="Calibri" panose="020F0502020204030204" pitchFamily="34" charset="0"/>
                                  <a:cs typeface="Times New Roman" panose="02020603050405020304" pitchFamily="18" charset="0"/>
                                </a:rPr>
                                <m:t>𝑦</m:t>
                              </m:r>
                            </m:e>
                          </m:acc>
                        </m:e>
                      </m:d>
                    </m:oMath>
                  </m:oMathPara>
                </a14:m>
                <a:endParaRPr lang="es-MX" sz="2400" dirty="0">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3" name="Marcador de contenido 2">
                <a:extLst>
                  <a:ext uri="{FF2B5EF4-FFF2-40B4-BE49-F238E27FC236}">
                    <a16:creationId xmlns:a16="http://schemas.microsoft.com/office/drawing/2014/main" id="{B8A55318-0B08-9917-DC8D-F81321377BBC}"/>
                  </a:ext>
                </a:extLst>
              </p:cNvPr>
              <p:cNvSpPr>
                <a:spLocks noGrp="1" noRot="1" noChangeAspect="1" noMove="1" noResize="1" noEditPoints="1" noAdjustHandles="1" noChangeArrowheads="1" noChangeShapeType="1" noTextEdit="1"/>
              </p:cNvSpPr>
              <p:nvPr>
                <p:ph idx="1"/>
              </p:nvPr>
            </p:nvSpPr>
            <p:spPr>
              <a:xfrm>
                <a:off x="925504" y="1900421"/>
                <a:ext cx="10663983" cy="4372787"/>
              </a:xfrm>
              <a:blipFill>
                <a:blip r:embed="rId2"/>
                <a:stretch>
                  <a:fillRect/>
                </a:stretch>
              </a:blipFill>
              <a:ln>
                <a:solidFill>
                  <a:schemeClr val="bg1">
                    <a:lumMod val="65000"/>
                  </a:schemeClr>
                </a:solidFill>
              </a:ln>
            </p:spPr>
            <p:txBody>
              <a:bodyPr/>
              <a:lstStyle/>
              <a:p>
                <a:r>
                  <a:rPr lang="es-PE">
                    <a:noFill/>
                  </a:rPr>
                  <a:t> </a:t>
                </a:r>
              </a:p>
            </p:txBody>
          </p:sp>
        </mc:Fallback>
      </mc:AlternateContent>
      <p:sp>
        <p:nvSpPr>
          <p:cNvPr id="6" name="CuadroTexto 5">
            <a:extLst>
              <a:ext uri="{FF2B5EF4-FFF2-40B4-BE49-F238E27FC236}">
                <a16:creationId xmlns:a16="http://schemas.microsoft.com/office/drawing/2014/main" id="{EDA70242-2083-BCE1-7BDC-3B64E290FABE}"/>
              </a:ext>
            </a:extLst>
          </p:cNvPr>
          <p:cNvSpPr txBox="1"/>
          <p:nvPr/>
        </p:nvSpPr>
        <p:spPr>
          <a:xfrm>
            <a:off x="3048000" y="3203875"/>
            <a:ext cx="6096000" cy="369332"/>
          </a:xfrm>
          <a:prstGeom prst="rect">
            <a:avLst/>
          </a:prstGeom>
          <a:noFill/>
        </p:spPr>
        <p:txBody>
          <a:bodyPr wrap="square">
            <a:spAutoFit/>
          </a:bodyPr>
          <a:lstStyle/>
          <a:p>
            <a:endParaRPr lang="es-PE" dirty="0"/>
          </a:p>
        </p:txBody>
      </p:sp>
    </p:spTree>
    <p:extLst>
      <p:ext uri="{BB962C8B-B14F-4D97-AF65-F5344CB8AC3E}">
        <p14:creationId xmlns:p14="http://schemas.microsoft.com/office/powerpoint/2010/main" val="35899130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97FA2-0482-226A-E75B-93048501151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C2B239A-2351-5850-5A44-DA7D2408937A}"/>
              </a:ext>
            </a:extLst>
          </p:cNvPr>
          <p:cNvSpPr>
            <a:spLocks noGrp="1"/>
          </p:cNvSpPr>
          <p:nvPr>
            <p:ph type="title"/>
          </p:nvPr>
        </p:nvSpPr>
        <p:spPr>
          <a:xfrm>
            <a:off x="1066800" y="8046"/>
            <a:ext cx="10058400" cy="1450757"/>
          </a:xfrm>
        </p:spPr>
        <p:txBody>
          <a:bodyPr>
            <a:normAutofit/>
          </a:bodyPr>
          <a:lstStyle/>
          <a:p>
            <a:r>
              <a:rPr lang="es-PE" sz="3200" dirty="0"/>
              <a:t>Rigideces de precios e indexación</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E227A279-C7B3-2574-AAF2-187662C1A761}"/>
                  </a:ext>
                </a:extLst>
              </p:cNvPr>
              <p:cNvSpPr>
                <a:spLocks noGrp="1"/>
              </p:cNvSpPr>
              <p:nvPr>
                <p:ph idx="1"/>
              </p:nvPr>
            </p:nvSpPr>
            <p:spPr>
              <a:xfrm>
                <a:off x="968035" y="1815361"/>
                <a:ext cx="10663983" cy="4553542"/>
              </a:xfrm>
              <a:ln>
                <a:solidFill>
                  <a:schemeClr val="bg1">
                    <a:lumMod val="65000"/>
                  </a:schemeClr>
                </a:solidFill>
              </a:ln>
            </p:spPr>
            <p:txBody>
              <a:bodyPr lIns="36000" rIns="180000">
                <a:noAutofit/>
              </a:bodyPr>
              <a:lstStyle/>
              <a:p>
                <a:pPr marL="182563" indent="0" algn="just">
                  <a:lnSpc>
                    <a:spcPct val="125000"/>
                  </a:lnSpc>
                  <a:buNone/>
                  <a:tabLst>
                    <a:tab pos="5202238" algn="l"/>
                  </a:tabLst>
                </a:pPr>
                <a:r>
                  <a:rPr lang="es-PE" sz="2400" dirty="0">
                    <a:latin typeface="Calibri" panose="020F0502020204030204" pitchFamily="34" charset="0"/>
                    <a:ea typeface="Calibri" panose="020F0502020204030204" pitchFamily="34" charset="0"/>
                    <a:cs typeface="Times New Roman" panose="02020603050405020304" pitchFamily="18" charset="0"/>
                  </a:rPr>
                  <a:t>Supuestos:</a:t>
                </a:r>
              </a:p>
              <a:p>
                <a:pPr marL="525463" indent="-342900" algn="just">
                  <a:lnSpc>
                    <a:spcPct val="125000"/>
                  </a:lnSpc>
                  <a:buFont typeface="Arial" panose="020B0604020202020204" pitchFamily="34" charset="0"/>
                  <a:buChar char="•"/>
                  <a:tabLst>
                    <a:tab pos="5202238" algn="l"/>
                  </a:tabLst>
                </a:pPr>
                <a:r>
                  <a:rPr lang="es-PE" sz="2400" dirty="0">
                    <a:latin typeface="Calibri" panose="020F0502020204030204" pitchFamily="34" charset="0"/>
                    <a:ea typeface="Calibri" panose="020F0502020204030204" pitchFamily="34" charset="0"/>
                    <a:cs typeface="Times New Roman" panose="02020603050405020304" pitchFamily="18" charset="0"/>
                  </a:rPr>
                  <a:t>Existen 3 tipos de empresas: </a:t>
                </a:r>
              </a:p>
              <a:p>
                <a:pPr marL="808038" lvl="1" indent="-333375" algn="just">
                  <a:lnSpc>
                    <a:spcPct val="125000"/>
                  </a:lnSpc>
                  <a:buNone/>
                  <a:tabLst>
                    <a:tab pos="5202238" algn="l"/>
                  </a:tabLst>
                </a:pPr>
                <a:r>
                  <a:rPr lang="es-PE" sz="2400" dirty="0" err="1">
                    <a:latin typeface="Calibri" panose="020F0502020204030204" pitchFamily="34" charset="0"/>
                    <a:ea typeface="Calibri" panose="020F0502020204030204" pitchFamily="34" charset="0"/>
                    <a:cs typeface="Times New Roman" panose="02020603050405020304" pitchFamily="18" charset="0"/>
                  </a:rPr>
                  <a:t>ii</a:t>
                </a:r>
                <a:r>
                  <a:rPr lang="es-PE" sz="2400" dirty="0">
                    <a:latin typeface="Calibri" panose="020F0502020204030204" pitchFamily="34" charset="0"/>
                    <a:ea typeface="Calibri" panose="020F0502020204030204" pitchFamily="34" charset="0"/>
                    <a:cs typeface="Times New Roman" panose="02020603050405020304" pitchFamily="18" charset="0"/>
                  </a:rPr>
                  <a:t>. Empresas que tienen sus precios fijos (rígidos) (</a:t>
                </a:r>
                <a:r>
                  <a:rPr lang="es-PE" sz="2000" i="1" dirty="0" err="1">
                    <a:latin typeface="+mj-lt"/>
                    <a:ea typeface="Calibri" panose="020F0502020204030204" pitchFamily="34" charset="0"/>
                    <a:cs typeface="Times New Roman" panose="02020603050405020304" pitchFamily="18" charset="0"/>
                  </a:rPr>
                  <a:t>p</a:t>
                </a:r>
                <a:r>
                  <a:rPr lang="es-PE" sz="2400" baseline="-25000" dirty="0" err="1">
                    <a:latin typeface="Calibri" panose="020F0502020204030204" pitchFamily="34" charset="0"/>
                    <a:ea typeface="Calibri" panose="020F0502020204030204" pitchFamily="34" charset="0"/>
                    <a:cs typeface="Times New Roman" panose="02020603050405020304" pitchFamily="18" charset="0"/>
                  </a:rPr>
                  <a:t>r</a:t>
                </a:r>
                <a:r>
                  <a:rPr lang="es-PE" sz="2400" dirty="0">
                    <a:latin typeface="Calibri" panose="020F0502020204030204" pitchFamily="34" charset="0"/>
                    <a:ea typeface="Calibri" panose="020F0502020204030204" pitchFamily="34" charset="0"/>
                    <a:cs typeface="Times New Roman" panose="02020603050405020304" pitchFamily="18" charset="0"/>
                  </a:rPr>
                  <a:t>): al iniciar el período. Fijan los precios según el valor esperado de la demanda:</a:t>
                </a:r>
              </a:p>
              <a:p>
                <a:pPr marL="182563" indent="0" algn="just">
                  <a:lnSpc>
                    <a:spcPct val="125000"/>
                  </a:lnSpc>
                  <a:buNone/>
                  <a:tabLst>
                    <a:tab pos="5202238" algn="l"/>
                  </a:tabLst>
                </a:pPr>
                <a14:m>
                  <m:oMathPara xmlns:m="http://schemas.openxmlformats.org/officeDocument/2006/math">
                    <m:oMathParaPr>
                      <m:jc m:val="centerGroup"/>
                    </m:oMathParaPr>
                    <m:oMath xmlns:m="http://schemas.openxmlformats.org/officeDocument/2006/math">
                      <m:sSub>
                        <m:sSubPr>
                          <m:ctrlPr>
                            <a:rPr lang="es-PE" sz="2400" i="1" smtClean="0">
                              <a:latin typeface="Cambria Math" panose="02040503050406030204" pitchFamily="18" charset="0"/>
                              <a:ea typeface="Calibri" panose="020F0502020204030204" pitchFamily="34" charset="0"/>
                              <a:cs typeface="Times New Roman" panose="02020603050405020304" pitchFamily="18" charset="0"/>
                            </a:rPr>
                          </m:ctrlPr>
                        </m:sSubPr>
                        <m:e>
                          <m:r>
                            <a:rPr lang="es-PE" sz="2400" b="0" i="1" smtClean="0">
                              <a:latin typeface="Cambria Math" panose="02040503050406030204" pitchFamily="18" charset="0"/>
                              <a:ea typeface="Calibri" panose="020F0502020204030204" pitchFamily="34" charset="0"/>
                              <a:cs typeface="Times New Roman" panose="02020603050405020304" pitchFamily="18" charset="0"/>
                            </a:rPr>
                            <m:t>𝑝</m:t>
                          </m:r>
                        </m:e>
                        <m:sub>
                          <m:r>
                            <a:rPr lang="es-PE" sz="2400" b="0" i="1" smtClean="0">
                              <a:latin typeface="Cambria Math" panose="02040503050406030204" pitchFamily="18" charset="0"/>
                              <a:ea typeface="Calibri" panose="020F0502020204030204" pitchFamily="34" charset="0"/>
                              <a:cs typeface="Times New Roman" panose="02020603050405020304" pitchFamily="18" charset="0"/>
                            </a:rPr>
                            <m:t>𝑟𝑡</m:t>
                          </m:r>
                        </m:sub>
                      </m:sSub>
                      <m:r>
                        <a:rPr lang="es-PE" sz="2400" i="1">
                          <a:latin typeface="Cambria Math" panose="02040503050406030204" pitchFamily="18" charset="0"/>
                          <a:ea typeface="Calibri" panose="020F0502020204030204" pitchFamily="34" charset="0"/>
                          <a:cs typeface="Times New Roman" panose="02020603050405020304" pitchFamily="18" charset="0"/>
                        </a:rPr>
                        <m:t>−</m:t>
                      </m:r>
                      <m:sSup>
                        <m:sSupPr>
                          <m:ctrlPr>
                            <a:rPr lang="es-PE" sz="2400" i="1" smtClean="0">
                              <a:latin typeface="Cambria Math" panose="02040503050406030204" pitchFamily="18" charset="0"/>
                              <a:ea typeface="Calibri" panose="020F0502020204030204" pitchFamily="34" charset="0"/>
                              <a:cs typeface="Times New Roman" panose="02020603050405020304" pitchFamily="18" charset="0"/>
                            </a:rPr>
                          </m:ctrlPr>
                        </m:sSupPr>
                        <m:e>
                          <m:r>
                            <a:rPr lang="es-PE" sz="2400" b="0" i="1" smtClean="0">
                              <a:latin typeface="Cambria Math" panose="02040503050406030204" pitchFamily="18" charset="0"/>
                              <a:ea typeface="Calibri" panose="020F0502020204030204" pitchFamily="34" charset="0"/>
                              <a:cs typeface="Times New Roman" panose="02020603050405020304" pitchFamily="18" charset="0"/>
                            </a:rPr>
                            <m:t>𝑝</m:t>
                          </m:r>
                        </m:e>
                        <m:sup>
                          <m:r>
                            <a:rPr lang="es-PE" sz="2400" b="0" i="1" smtClean="0">
                              <a:latin typeface="Cambria Math" panose="02040503050406030204" pitchFamily="18" charset="0"/>
                              <a:ea typeface="Calibri" panose="020F0502020204030204" pitchFamily="34" charset="0"/>
                              <a:cs typeface="Times New Roman" panose="02020603050405020304" pitchFamily="18" charset="0"/>
                            </a:rPr>
                            <m:t>𝑒</m:t>
                          </m:r>
                        </m:sup>
                      </m:sSup>
                      <m:r>
                        <a:rPr lang="es-PE" sz="2400" i="1">
                          <a:latin typeface="Cambria Math" panose="02040503050406030204" pitchFamily="18" charset="0"/>
                          <a:ea typeface="Calibri" panose="020F0502020204030204" pitchFamily="34" charset="0"/>
                          <a:cs typeface="Times New Roman" panose="02020603050405020304" pitchFamily="18" charset="0"/>
                        </a:rPr>
                        <m:t>=</m:t>
                      </m:r>
                      <m:r>
                        <a:rPr lang="es-PE" sz="2400" b="0" i="1" smtClean="0">
                          <a:latin typeface="Cambria Math" panose="02040503050406030204" pitchFamily="18" charset="0"/>
                          <a:ea typeface="Cambria Math" panose="02040503050406030204" pitchFamily="18" charset="0"/>
                          <a:cs typeface="Times New Roman" panose="02020603050405020304" pitchFamily="18" charset="0"/>
                        </a:rPr>
                        <m:t>𝜎</m:t>
                      </m:r>
                      <m:d>
                        <m:dPr>
                          <m:ctrlPr>
                            <a:rPr lang="es-PE" sz="2400" i="1" smtClean="0">
                              <a:latin typeface="Cambria Math" panose="02040503050406030204" pitchFamily="18" charset="0"/>
                              <a:ea typeface="Cambria Math" panose="02040503050406030204" pitchFamily="18" charset="0"/>
                              <a:cs typeface="Times New Roman" panose="02020603050405020304" pitchFamily="18" charset="0"/>
                            </a:rPr>
                          </m:ctrlPr>
                        </m:dPr>
                        <m:e>
                          <m:sSubSup>
                            <m:sSubSupPr>
                              <m:ctrlPr>
                                <a:rPr lang="es-PE" sz="2400" i="1" smtClean="0">
                                  <a:latin typeface="Cambria Math" panose="02040503050406030204" pitchFamily="18" charset="0"/>
                                  <a:ea typeface="Cambria Math" panose="02040503050406030204" pitchFamily="18" charset="0"/>
                                  <a:cs typeface="Times New Roman" panose="02020603050405020304" pitchFamily="18" charset="0"/>
                                </a:rPr>
                              </m:ctrlPr>
                            </m:sSubSupPr>
                            <m:e>
                              <m:r>
                                <a:rPr lang="es-PE" sz="2400" b="0" i="1" smtClean="0">
                                  <a:latin typeface="Cambria Math" panose="02040503050406030204" pitchFamily="18" charset="0"/>
                                  <a:ea typeface="Cambria Math" panose="02040503050406030204" pitchFamily="18" charset="0"/>
                                  <a:cs typeface="Times New Roman" panose="02020603050405020304" pitchFamily="18" charset="0"/>
                                </a:rPr>
                                <m:t>𝑦</m:t>
                              </m:r>
                            </m:e>
                            <m:sub>
                              <m:r>
                                <a:rPr lang="es-PE" sz="2400" b="0" i="1" smtClean="0">
                                  <a:latin typeface="Cambria Math" panose="02040503050406030204" pitchFamily="18" charset="0"/>
                                  <a:ea typeface="Cambria Math" panose="02040503050406030204" pitchFamily="18" charset="0"/>
                                  <a:cs typeface="Times New Roman" panose="02020603050405020304" pitchFamily="18" charset="0"/>
                                </a:rPr>
                                <m:t>𝑡</m:t>
                              </m:r>
                            </m:sub>
                            <m:sup>
                              <m:r>
                                <a:rPr lang="es-PE" sz="2400" b="0" i="1" smtClean="0">
                                  <a:latin typeface="Cambria Math" panose="02040503050406030204" pitchFamily="18" charset="0"/>
                                  <a:ea typeface="Cambria Math" panose="02040503050406030204" pitchFamily="18" charset="0"/>
                                  <a:cs typeface="Times New Roman" panose="02020603050405020304" pitchFamily="18" charset="0"/>
                                </a:rPr>
                                <m:t>𝑒</m:t>
                              </m:r>
                            </m:sup>
                          </m:sSubSup>
                          <m:r>
                            <a:rPr lang="es-PE" sz="2400" i="1">
                              <a:latin typeface="Cambria Math" panose="02040503050406030204" pitchFamily="18" charset="0"/>
                              <a:ea typeface="Calibri" panose="020F0502020204030204" pitchFamily="34" charset="0"/>
                              <a:cs typeface="Times New Roman" panose="02020603050405020304" pitchFamily="18" charset="0"/>
                            </a:rPr>
                            <m:t>−</m:t>
                          </m:r>
                          <m:acc>
                            <m:accPr>
                              <m:chr m:val="̅"/>
                              <m:ctrlPr>
                                <a:rPr lang="es-PE" sz="2800" i="1">
                                  <a:latin typeface="Cambria Math" panose="02040503050406030204" pitchFamily="18" charset="0"/>
                                  <a:ea typeface="Calibri" panose="020F0502020204030204" pitchFamily="34" charset="0"/>
                                  <a:cs typeface="Times New Roman" panose="02020603050405020304" pitchFamily="18" charset="0"/>
                                </a:rPr>
                              </m:ctrlPr>
                            </m:accPr>
                            <m:e>
                              <m:r>
                                <a:rPr lang="es-PE" sz="2800" i="1">
                                  <a:latin typeface="Cambria Math" panose="02040503050406030204" pitchFamily="18" charset="0"/>
                                  <a:ea typeface="Calibri" panose="020F0502020204030204" pitchFamily="34" charset="0"/>
                                  <a:cs typeface="Times New Roman" panose="02020603050405020304" pitchFamily="18" charset="0"/>
                                </a:rPr>
                                <m:t>𝑦</m:t>
                              </m:r>
                            </m:e>
                          </m:acc>
                        </m:e>
                      </m:d>
                    </m:oMath>
                  </m:oMathPara>
                </a14:m>
                <a:endParaRPr lang="es-MX" sz="2400" dirty="0">
                  <a:latin typeface="Calibri" panose="020F0502020204030204" pitchFamily="34" charset="0"/>
                  <a:ea typeface="Calibri" panose="020F0502020204030204" pitchFamily="34" charset="0"/>
                  <a:cs typeface="Times New Roman" panose="02020603050405020304" pitchFamily="18" charset="0"/>
                </a:endParaRPr>
              </a:p>
              <a:p>
                <a:pPr marL="182563" indent="0" algn="just">
                  <a:lnSpc>
                    <a:spcPct val="125000"/>
                  </a:lnSpc>
                  <a:buNone/>
                  <a:tabLst>
                    <a:tab pos="5202238" algn="l"/>
                  </a:tabLst>
                </a:pPr>
                <a14:m>
                  <m:oMathPara xmlns:m="http://schemas.openxmlformats.org/officeDocument/2006/math">
                    <m:oMathParaPr>
                      <m:jc m:val="centerGroup"/>
                    </m:oMathParaPr>
                    <m:oMath xmlns:m="http://schemas.openxmlformats.org/officeDocument/2006/math">
                      <m:sSub>
                        <m:sSubPr>
                          <m:ctrlPr>
                            <a:rPr lang="es-PE" sz="2400" i="1">
                              <a:latin typeface="Cambria Math" panose="02040503050406030204" pitchFamily="18" charset="0"/>
                              <a:ea typeface="Calibri" panose="020F0502020204030204" pitchFamily="34" charset="0"/>
                              <a:cs typeface="Times New Roman" panose="02020603050405020304" pitchFamily="18" charset="0"/>
                            </a:rPr>
                          </m:ctrlPr>
                        </m:sSubPr>
                        <m:e>
                          <m:r>
                            <a:rPr lang="es-PE" sz="2400" i="1">
                              <a:latin typeface="Cambria Math" panose="02040503050406030204" pitchFamily="18" charset="0"/>
                              <a:ea typeface="Calibri" panose="020F0502020204030204" pitchFamily="34" charset="0"/>
                              <a:cs typeface="Times New Roman" panose="02020603050405020304" pitchFamily="18" charset="0"/>
                            </a:rPr>
                            <m:t>𝑝</m:t>
                          </m:r>
                        </m:e>
                        <m:sub>
                          <m:r>
                            <a:rPr lang="es-PE" sz="2400" i="1">
                              <a:latin typeface="Cambria Math" panose="02040503050406030204" pitchFamily="18" charset="0"/>
                              <a:ea typeface="Calibri" panose="020F0502020204030204" pitchFamily="34" charset="0"/>
                              <a:cs typeface="Times New Roman" panose="02020603050405020304" pitchFamily="18" charset="0"/>
                            </a:rPr>
                            <m:t>𝑟𝑡</m:t>
                          </m:r>
                        </m:sub>
                      </m:sSub>
                      <m:r>
                        <a:rPr lang="es-PE" sz="2400" b="0" i="1" smtClean="0">
                          <a:latin typeface="Cambria Math" panose="02040503050406030204" pitchFamily="18" charset="0"/>
                          <a:ea typeface="Calibri" panose="020F0502020204030204" pitchFamily="34" charset="0"/>
                          <a:cs typeface="Times New Roman" panose="02020603050405020304" pitchFamily="18" charset="0"/>
                        </a:rPr>
                        <m:t>=</m:t>
                      </m:r>
                      <m:sSup>
                        <m:sSupPr>
                          <m:ctrlPr>
                            <a:rPr lang="es-PE" sz="2400" i="1">
                              <a:latin typeface="Cambria Math" panose="02040503050406030204" pitchFamily="18" charset="0"/>
                              <a:ea typeface="Calibri" panose="020F0502020204030204" pitchFamily="34" charset="0"/>
                              <a:cs typeface="Times New Roman" panose="02020603050405020304" pitchFamily="18" charset="0"/>
                            </a:rPr>
                          </m:ctrlPr>
                        </m:sSupPr>
                        <m:e>
                          <m:r>
                            <a:rPr lang="es-PE" sz="2400" i="1">
                              <a:latin typeface="Cambria Math" panose="02040503050406030204" pitchFamily="18" charset="0"/>
                              <a:ea typeface="Calibri" panose="020F0502020204030204" pitchFamily="34" charset="0"/>
                              <a:cs typeface="Times New Roman" panose="02020603050405020304" pitchFamily="18" charset="0"/>
                            </a:rPr>
                            <m:t>𝑝</m:t>
                          </m:r>
                        </m:e>
                        <m:sup>
                          <m:r>
                            <a:rPr lang="es-PE" sz="2400" i="1">
                              <a:latin typeface="Cambria Math" panose="02040503050406030204" pitchFamily="18" charset="0"/>
                              <a:ea typeface="Calibri" panose="020F0502020204030204" pitchFamily="34" charset="0"/>
                              <a:cs typeface="Times New Roman" panose="02020603050405020304" pitchFamily="18" charset="0"/>
                            </a:rPr>
                            <m:t>𝑒</m:t>
                          </m:r>
                        </m:sup>
                      </m:sSup>
                      <m:r>
                        <a:rPr lang="es-PE" sz="2400" b="0" i="1" smtClean="0">
                          <a:latin typeface="Cambria Math" panose="02040503050406030204" pitchFamily="18" charset="0"/>
                          <a:ea typeface="Calibri" panose="020F0502020204030204" pitchFamily="34" charset="0"/>
                          <a:cs typeface="Times New Roman" panose="02020603050405020304" pitchFamily="18" charset="0"/>
                        </a:rPr>
                        <m:t>+</m:t>
                      </m:r>
                      <m:r>
                        <a:rPr lang="es-PE" sz="2400" i="1">
                          <a:latin typeface="Cambria Math" panose="02040503050406030204" pitchFamily="18" charset="0"/>
                          <a:ea typeface="Cambria Math" panose="02040503050406030204" pitchFamily="18" charset="0"/>
                          <a:cs typeface="Times New Roman" panose="02020603050405020304" pitchFamily="18" charset="0"/>
                        </a:rPr>
                        <m:t>𝜎</m:t>
                      </m:r>
                      <m:d>
                        <m:dPr>
                          <m:ctrlPr>
                            <a:rPr lang="es-PE" sz="2400" i="1">
                              <a:latin typeface="Cambria Math" panose="02040503050406030204" pitchFamily="18" charset="0"/>
                              <a:ea typeface="Cambria Math" panose="02040503050406030204" pitchFamily="18" charset="0"/>
                              <a:cs typeface="Times New Roman" panose="02020603050405020304" pitchFamily="18" charset="0"/>
                            </a:rPr>
                          </m:ctrlPr>
                        </m:dPr>
                        <m:e>
                          <m:sSubSup>
                            <m:sSubSupPr>
                              <m:ctrlPr>
                                <a:rPr lang="es-PE" sz="2400" i="1">
                                  <a:latin typeface="Cambria Math" panose="02040503050406030204" pitchFamily="18" charset="0"/>
                                  <a:ea typeface="Cambria Math" panose="02040503050406030204" pitchFamily="18" charset="0"/>
                                  <a:cs typeface="Times New Roman" panose="02020603050405020304" pitchFamily="18" charset="0"/>
                                </a:rPr>
                              </m:ctrlPr>
                            </m:sSubSupPr>
                            <m:e>
                              <m:r>
                                <a:rPr lang="es-PE" sz="2400" i="1">
                                  <a:latin typeface="Cambria Math" panose="02040503050406030204" pitchFamily="18" charset="0"/>
                                  <a:ea typeface="Cambria Math" panose="02040503050406030204" pitchFamily="18" charset="0"/>
                                  <a:cs typeface="Times New Roman" panose="02020603050405020304" pitchFamily="18" charset="0"/>
                                </a:rPr>
                                <m:t>𝑦</m:t>
                              </m:r>
                            </m:e>
                            <m:sub>
                              <m:r>
                                <a:rPr lang="es-PE" sz="2400" i="1">
                                  <a:latin typeface="Cambria Math" panose="02040503050406030204" pitchFamily="18" charset="0"/>
                                  <a:ea typeface="Cambria Math" panose="02040503050406030204" pitchFamily="18" charset="0"/>
                                  <a:cs typeface="Times New Roman" panose="02020603050405020304" pitchFamily="18" charset="0"/>
                                </a:rPr>
                                <m:t>𝑡</m:t>
                              </m:r>
                            </m:sub>
                            <m:sup>
                              <m:r>
                                <a:rPr lang="es-PE" sz="2400" i="1">
                                  <a:latin typeface="Cambria Math" panose="02040503050406030204" pitchFamily="18" charset="0"/>
                                  <a:ea typeface="Cambria Math" panose="02040503050406030204" pitchFamily="18" charset="0"/>
                                  <a:cs typeface="Times New Roman" panose="02020603050405020304" pitchFamily="18" charset="0"/>
                                </a:rPr>
                                <m:t>𝑒</m:t>
                              </m:r>
                            </m:sup>
                          </m:sSubSup>
                          <m:r>
                            <a:rPr lang="es-PE" sz="2400" i="1">
                              <a:latin typeface="Cambria Math" panose="02040503050406030204" pitchFamily="18" charset="0"/>
                              <a:ea typeface="Calibri" panose="020F0502020204030204" pitchFamily="34" charset="0"/>
                              <a:cs typeface="Times New Roman" panose="02020603050405020304" pitchFamily="18" charset="0"/>
                            </a:rPr>
                            <m:t>−</m:t>
                          </m:r>
                          <m:acc>
                            <m:accPr>
                              <m:chr m:val="̅"/>
                              <m:ctrlPr>
                                <a:rPr lang="es-PE" sz="2800" i="1">
                                  <a:latin typeface="Cambria Math" panose="02040503050406030204" pitchFamily="18" charset="0"/>
                                  <a:ea typeface="Calibri" panose="020F0502020204030204" pitchFamily="34" charset="0"/>
                                  <a:cs typeface="Times New Roman" panose="02020603050405020304" pitchFamily="18" charset="0"/>
                                </a:rPr>
                              </m:ctrlPr>
                            </m:accPr>
                            <m:e>
                              <m:r>
                                <a:rPr lang="es-PE" sz="2800" i="1">
                                  <a:latin typeface="Cambria Math" panose="02040503050406030204" pitchFamily="18" charset="0"/>
                                  <a:ea typeface="Calibri" panose="020F0502020204030204" pitchFamily="34" charset="0"/>
                                  <a:cs typeface="Times New Roman" panose="02020603050405020304" pitchFamily="18" charset="0"/>
                                </a:rPr>
                                <m:t>𝑦</m:t>
                              </m:r>
                            </m:e>
                          </m:acc>
                        </m:e>
                      </m:d>
                    </m:oMath>
                  </m:oMathPara>
                </a14:m>
                <a:endParaRPr lang="es-MX" sz="2400" dirty="0">
                  <a:latin typeface="Calibri" panose="020F0502020204030204" pitchFamily="34" charset="0"/>
                  <a:ea typeface="Calibri" panose="020F0502020204030204" pitchFamily="34" charset="0"/>
                  <a:cs typeface="Times New Roman" panose="02020603050405020304" pitchFamily="18" charset="0"/>
                </a:endParaRPr>
              </a:p>
              <a:p>
                <a:pPr marL="808038" indent="0" algn="just">
                  <a:lnSpc>
                    <a:spcPct val="125000"/>
                  </a:lnSpc>
                  <a:buNone/>
                  <a:tabLst>
                    <a:tab pos="5202238" algn="l"/>
                  </a:tabLst>
                </a:pPr>
                <a:r>
                  <a:rPr lang="es-MX" sz="2400" dirty="0">
                    <a:latin typeface="Calibri" panose="020F0502020204030204" pitchFamily="34" charset="0"/>
                    <a:ea typeface="Calibri" panose="020F0502020204030204" pitchFamily="34" charset="0"/>
                    <a:cs typeface="Times New Roman" panose="02020603050405020304" pitchFamily="18" charset="0"/>
                  </a:rPr>
                  <a:t>Si las empresas asumen que el producto ‘</a:t>
                </a:r>
                <a:r>
                  <a:rPr lang="es-MX" sz="2400" i="1" dirty="0">
                    <a:latin typeface="Cambria Math" panose="02040503050406030204" pitchFamily="18" charset="0"/>
                    <a:ea typeface="Cambria Math" panose="02040503050406030204" pitchFamily="18" charset="0"/>
                    <a:cs typeface="Times New Roman" panose="02020603050405020304" pitchFamily="18" charset="0"/>
                  </a:rPr>
                  <a:t>y’ </a:t>
                </a:r>
                <a:r>
                  <a:rPr lang="es-MX" sz="2400" dirty="0">
                    <a:latin typeface="Calibri" panose="020F0502020204030204" pitchFamily="34" charset="0"/>
                    <a:ea typeface="Calibri" panose="020F0502020204030204" pitchFamily="34" charset="0"/>
                    <a:cs typeface="Times New Roman" panose="02020603050405020304" pitchFamily="18" charset="0"/>
                  </a:rPr>
                  <a:t>sea el de pleno empleo </a:t>
                </a:r>
              </a:p>
              <a:p>
                <a:pPr marL="808038" indent="0" algn="ctr">
                  <a:lnSpc>
                    <a:spcPct val="125000"/>
                  </a:lnSpc>
                  <a:buNone/>
                  <a:tabLst>
                    <a:tab pos="5202238" algn="l"/>
                  </a:tabLst>
                </a:pPr>
                <a:r>
                  <a:rPr lang="es-MX" sz="2400" dirty="0">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 si </a:t>
                </a:r>
                <a14:m>
                  <m:oMath xmlns:m="http://schemas.openxmlformats.org/officeDocument/2006/math">
                    <m:d>
                      <m:dPr>
                        <m:ctrlPr>
                          <a:rPr lang="es-PE" sz="2400" i="1">
                            <a:latin typeface="Cambria Math" panose="02040503050406030204" pitchFamily="18" charset="0"/>
                            <a:ea typeface="Cambria Math" panose="02040503050406030204" pitchFamily="18" charset="0"/>
                            <a:cs typeface="Times New Roman" panose="02020603050405020304" pitchFamily="18" charset="0"/>
                          </a:rPr>
                        </m:ctrlPr>
                      </m:dPr>
                      <m:e>
                        <m:sSubSup>
                          <m:sSubSupPr>
                            <m:ctrlPr>
                              <a:rPr lang="es-PE" sz="2400" i="1">
                                <a:latin typeface="Cambria Math" panose="02040503050406030204" pitchFamily="18" charset="0"/>
                                <a:ea typeface="Cambria Math" panose="02040503050406030204" pitchFamily="18" charset="0"/>
                                <a:cs typeface="Times New Roman" panose="02020603050405020304" pitchFamily="18" charset="0"/>
                              </a:rPr>
                            </m:ctrlPr>
                          </m:sSubSupPr>
                          <m:e>
                            <m:r>
                              <a:rPr lang="es-PE" sz="2400" i="1">
                                <a:latin typeface="Cambria Math" panose="02040503050406030204" pitchFamily="18" charset="0"/>
                                <a:ea typeface="Cambria Math" panose="02040503050406030204" pitchFamily="18" charset="0"/>
                                <a:cs typeface="Times New Roman" panose="02020603050405020304" pitchFamily="18" charset="0"/>
                              </a:rPr>
                              <m:t>𝑦</m:t>
                            </m:r>
                          </m:e>
                          <m:sub>
                            <m:r>
                              <a:rPr lang="es-PE" sz="2400" i="1">
                                <a:latin typeface="Cambria Math" panose="02040503050406030204" pitchFamily="18" charset="0"/>
                                <a:ea typeface="Cambria Math" panose="02040503050406030204" pitchFamily="18" charset="0"/>
                                <a:cs typeface="Times New Roman" panose="02020603050405020304" pitchFamily="18" charset="0"/>
                              </a:rPr>
                              <m:t>𝑡</m:t>
                            </m:r>
                          </m:sub>
                          <m:sup>
                            <m:r>
                              <a:rPr lang="es-PE" sz="2400" i="1">
                                <a:latin typeface="Cambria Math" panose="02040503050406030204" pitchFamily="18" charset="0"/>
                                <a:ea typeface="Cambria Math" panose="02040503050406030204" pitchFamily="18" charset="0"/>
                                <a:cs typeface="Times New Roman" panose="02020603050405020304" pitchFamily="18" charset="0"/>
                              </a:rPr>
                              <m:t>𝑒</m:t>
                            </m:r>
                          </m:sup>
                        </m:sSubSup>
                        <m:r>
                          <a:rPr lang="es-PE" sz="2400" i="1">
                            <a:latin typeface="Cambria Math" panose="02040503050406030204" pitchFamily="18" charset="0"/>
                            <a:ea typeface="Calibri" panose="020F0502020204030204" pitchFamily="34" charset="0"/>
                            <a:cs typeface="Times New Roman" panose="02020603050405020304" pitchFamily="18" charset="0"/>
                          </a:rPr>
                          <m:t>−</m:t>
                        </m:r>
                        <m:acc>
                          <m:accPr>
                            <m:chr m:val="̅"/>
                            <m:ctrlPr>
                              <a:rPr lang="es-PE" sz="2800" i="1">
                                <a:latin typeface="Cambria Math" panose="02040503050406030204" pitchFamily="18" charset="0"/>
                                <a:ea typeface="Calibri" panose="020F0502020204030204" pitchFamily="34" charset="0"/>
                                <a:cs typeface="Times New Roman" panose="02020603050405020304" pitchFamily="18" charset="0"/>
                              </a:rPr>
                            </m:ctrlPr>
                          </m:accPr>
                          <m:e>
                            <m:r>
                              <a:rPr lang="es-PE" sz="2800" i="1">
                                <a:latin typeface="Cambria Math" panose="02040503050406030204" pitchFamily="18" charset="0"/>
                                <a:ea typeface="Calibri" panose="020F0502020204030204" pitchFamily="34" charset="0"/>
                                <a:cs typeface="Times New Roman" panose="02020603050405020304" pitchFamily="18" charset="0"/>
                              </a:rPr>
                              <m:t>𝑦</m:t>
                            </m:r>
                          </m:e>
                        </m:acc>
                      </m:e>
                    </m:d>
                  </m:oMath>
                </a14:m>
                <a:r>
                  <a:rPr lang="es-MX" sz="2400" dirty="0">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    </a:t>
                </a:r>
                <a14:m>
                  <m:oMath xmlns:m="http://schemas.openxmlformats.org/officeDocument/2006/math">
                    <m:sSub>
                      <m:sSubPr>
                        <m:ctrlPr>
                          <a:rPr lang="es-PE" sz="2400" i="1">
                            <a:latin typeface="Cambria Math" panose="02040503050406030204" pitchFamily="18" charset="0"/>
                            <a:ea typeface="Calibri" panose="020F0502020204030204" pitchFamily="34" charset="0"/>
                            <a:cs typeface="Times New Roman" panose="02020603050405020304" pitchFamily="18" charset="0"/>
                          </a:rPr>
                        </m:ctrlPr>
                      </m:sSubPr>
                      <m:e>
                        <m:r>
                          <a:rPr lang="es-PE" sz="2400" i="1">
                            <a:latin typeface="Cambria Math" panose="02040503050406030204" pitchFamily="18" charset="0"/>
                            <a:ea typeface="Calibri" panose="020F0502020204030204" pitchFamily="34" charset="0"/>
                            <a:cs typeface="Times New Roman" panose="02020603050405020304" pitchFamily="18" charset="0"/>
                          </a:rPr>
                          <m:t>𝑝</m:t>
                        </m:r>
                      </m:e>
                      <m:sub>
                        <m:r>
                          <a:rPr lang="es-PE" sz="2400" i="1">
                            <a:latin typeface="Cambria Math" panose="02040503050406030204" pitchFamily="18" charset="0"/>
                            <a:ea typeface="Calibri" panose="020F0502020204030204" pitchFamily="34" charset="0"/>
                            <a:cs typeface="Times New Roman" panose="02020603050405020304" pitchFamily="18" charset="0"/>
                          </a:rPr>
                          <m:t>𝑟</m:t>
                        </m:r>
                      </m:sub>
                    </m:sSub>
                    <m:r>
                      <a:rPr lang="es-PE" sz="2400" i="1">
                        <a:latin typeface="Cambria Math" panose="02040503050406030204" pitchFamily="18" charset="0"/>
                        <a:ea typeface="Calibri" panose="020F0502020204030204" pitchFamily="34" charset="0"/>
                        <a:cs typeface="Times New Roman" panose="02020603050405020304" pitchFamily="18" charset="0"/>
                      </a:rPr>
                      <m:t>=</m:t>
                    </m:r>
                    <m:sSup>
                      <m:sSupPr>
                        <m:ctrlPr>
                          <a:rPr lang="es-PE" sz="2400" i="1">
                            <a:latin typeface="Cambria Math" panose="02040503050406030204" pitchFamily="18" charset="0"/>
                            <a:ea typeface="Calibri" panose="020F0502020204030204" pitchFamily="34" charset="0"/>
                            <a:cs typeface="Times New Roman" panose="02020603050405020304" pitchFamily="18" charset="0"/>
                          </a:rPr>
                        </m:ctrlPr>
                      </m:sSupPr>
                      <m:e>
                        <m:r>
                          <a:rPr lang="es-PE" sz="2400" i="1">
                            <a:latin typeface="Cambria Math" panose="02040503050406030204" pitchFamily="18" charset="0"/>
                            <a:ea typeface="Calibri" panose="020F0502020204030204" pitchFamily="34" charset="0"/>
                            <a:cs typeface="Times New Roman" panose="02020603050405020304" pitchFamily="18" charset="0"/>
                          </a:rPr>
                          <m:t>𝑝</m:t>
                        </m:r>
                      </m:e>
                      <m:sup>
                        <m:r>
                          <a:rPr lang="es-PE" sz="2400" i="1">
                            <a:latin typeface="Cambria Math" panose="02040503050406030204" pitchFamily="18" charset="0"/>
                            <a:ea typeface="Calibri" panose="020F0502020204030204" pitchFamily="34" charset="0"/>
                            <a:cs typeface="Times New Roman" panose="02020603050405020304" pitchFamily="18" charset="0"/>
                          </a:rPr>
                          <m:t>𝑒</m:t>
                        </m:r>
                      </m:sup>
                    </m:sSup>
                  </m:oMath>
                </a14:m>
                <a:endParaRPr lang="es-MX" sz="2400" dirty="0">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3" name="Marcador de contenido 2">
                <a:extLst>
                  <a:ext uri="{FF2B5EF4-FFF2-40B4-BE49-F238E27FC236}">
                    <a16:creationId xmlns:a16="http://schemas.microsoft.com/office/drawing/2014/main" id="{E227A279-C7B3-2574-AAF2-187662C1A761}"/>
                  </a:ext>
                </a:extLst>
              </p:cNvPr>
              <p:cNvSpPr>
                <a:spLocks noGrp="1" noRot="1" noChangeAspect="1" noMove="1" noResize="1" noEditPoints="1" noAdjustHandles="1" noChangeArrowheads="1" noChangeShapeType="1" noTextEdit="1"/>
              </p:cNvSpPr>
              <p:nvPr>
                <p:ph idx="1"/>
              </p:nvPr>
            </p:nvSpPr>
            <p:spPr>
              <a:xfrm>
                <a:off x="968035" y="1815361"/>
                <a:ext cx="10663983" cy="4553542"/>
              </a:xfrm>
              <a:blipFill>
                <a:blip r:embed="rId2"/>
                <a:stretch>
                  <a:fillRect b="-2403"/>
                </a:stretch>
              </a:blipFill>
              <a:ln>
                <a:solidFill>
                  <a:schemeClr val="bg1">
                    <a:lumMod val="65000"/>
                  </a:schemeClr>
                </a:solidFill>
              </a:ln>
            </p:spPr>
            <p:txBody>
              <a:bodyPr/>
              <a:lstStyle/>
              <a:p>
                <a:r>
                  <a:rPr lang="es-PE">
                    <a:noFill/>
                  </a:rPr>
                  <a:t> </a:t>
                </a:r>
              </a:p>
            </p:txBody>
          </p:sp>
        </mc:Fallback>
      </mc:AlternateContent>
    </p:spTree>
    <p:extLst>
      <p:ext uri="{BB962C8B-B14F-4D97-AF65-F5344CB8AC3E}">
        <p14:creationId xmlns:p14="http://schemas.microsoft.com/office/powerpoint/2010/main" val="230726158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37C6F5-A597-F339-C68F-3EF371BD967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97EDF48-A3B1-A7C0-35BD-E6689F969E34}"/>
              </a:ext>
            </a:extLst>
          </p:cNvPr>
          <p:cNvSpPr>
            <a:spLocks noGrp="1"/>
          </p:cNvSpPr>
          <p:nvPr>
            <p:ph type="title"/>
          </p:nvPr>
        </p:nvSpPr>
        <p:spPr>
          <a:xfrm>
            <a:off x="1066800" y="8046"/>
            <a:ext cx="10058400" cy="1450757"/>
          </a:xfrm>
        </p:spPr>
        <p:txBody>
          <a:bodyPr>
            <a:normAutofit/>
          </a:bodyPr>
          <a:lstStyle/>
          <a:p>
            <a:r>
              <a:rPr lang="es-PE" sz="3200" dirty="0"/>
              <a:t>Rigideces de precios e indexación</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BA6A7B24-5CDF-1142-9D32-6C55ECBCE89E}"/>
                  </a:ext>
                </a:extLst>
              </p:cNvPr>
              <p:cNvSpPr>
                <a:spLocks noGrp="1"/>
              </p:cNvSpPr>
              <p:nvPr>
                <p:ph idx="1"/>
              </p:nvPr>
            </p:nvSpPr>
            <p:spPr>
              <a:xfrm>
                <a:off x="929935" y="2019299"/>
                <a:ext cx="10663983" cy="4324203"/>
              </a:xfrm>
              <a:ln>
                <a:solidFill>
                  <a:schemeClr val="bg1">
                    <a:lumMod val="65000"/>
                  </a:schemeClr>
                </a:solidFill>
              </a:ln>
            </p:spPr>
            <p:txBody>
              <a:bodyPr lIns="36000" rIns="180000">
                <a:noAutofit/>
              </a:bodyPr>
              <a:lstStyle/>
              <a:p>
                <a:pPr marL="182563" indent="0" algn="just">
                  <a:lnSpc>
                    <a:spcPct val="125000"/>
                  </a:lnSpc>
                  <a:buNone/>
                  <a:tabLst>
                    <a:tab pos="5202238" algn="l"/>
                  </a:tabLst>
                </a:pPr>
                <a:r>
                  <a:rPr lang="es-PE" sz="2400" dirty="0">
                    <a:latin typeface="Calibri" panose="020F0502020204030204" pitchFamily="34" charset="0"/>
                    <a:ea typeface="Calibri" panose="020F0502020204030204" pitchFamily="34" charset="0"/>
                    <a:cs typeface="Times New Roman" panose="02020603050405020304" pitchFamily="18" charset="0"/>
                  </a:rPr>
                  <a:t>Supuestos:</a:t>
                </a:r>
              </a:p>
              <a:p>
                <a:pPr marL="808038" lvl="1" indent="-452438" algn="just">
                  <a:lnSpc>
                    <a:spcPct val="125000"/>
                  </a:lnSpc>
                  <a:buNone/>
                  <a:tabLst>
                    <a:tab pos="5202238" algn="l"/>
                  </a:tabLst>
                </a:pPr>
                <a:r>
                  <a:rPr lang="es-PE" sz="2400" dirty="0" err="1">
                    <a:latin typeface="Calibri" panose="020F0502020204030204" pitchFamily="34" charset="0"/>
                    <a:ea typeface="Calibri" panose="020F0502020204030204" pitchFamily="34" charset="0"/>
                    <a:cs typeface="Times New Roman" panose="02020603050405020304" pitchFamily="18" charset="0"/>
                  </a:rPr>
                  <a:t>iii</a:t>
                </a:r>
                <a:r>
                  <a:rPr lang="es-PE" sz="2400" dirty="0">
                    <a:latin typeface="Calibri" panose="020F0502020204030204" pitchFamily="34" charset="0"/>
                    <a:ea typeface="Calibri" panose="020F0502020204030204" pitchFamily="34" charset="0"/>
                    <a:cs typeface="Times New Roman" panose="02020603050405020304" pitchFamily="18" charset="0"/>
                  </a:rPr>
                  <a:t>. Empresas ajustan sus precios desde el período anterior (</a:t>
                </a:r>
                <a:r>
                  <a:rPr lang="es-PE" sz="2000" i="1" dirty="0" err="1">
                    <a:latin typeface="+mj-lt"/>
                    <a:ea typeface="Calibri" panose="020F0502020204030204" pitchFamily="34" charset="0"/>
                    <a:cs typeface="Times New Roman" panose="02020603050405020304" pitchFamily="18" charset="0"/>
                  </a:rPr>
                  <a:t>p</a:t>
                </a:r>
                <a:r>
                  <a:rPr lang="es-PE" sz="2400" baseline="-25000" dirty="0" err="1">
                    <a:latin typeface="Calibri" panose="020F0502020204030204" pitchFamily="34" charset="0"/>
                    <a:ea typeface="Calibri" panose="020F0502020204030204" pitchFamily="34" charset="0"/>
                    <a:cs typeface="Times New Roman" panose="02020603050405020304" pitchFamily="18" charset="0"/>
                  </a:rPr>
                  <a:t>it</a:t>
                </a:r>
                <a:r>
                  <a:rPr lang="es-PE" sz="2400" dirty="0">
                    <a:latin typeface="Calibri" panose="020F0502020204030204" pitchFamily="34" charset="0"/>
                    <a:ea typeface="Calibri" panose="020F0502020204030204" pitchFamily="34" charset="0"/>
                    <a:cs typeface="Times New Roman" panose="02020603050405020304" pitchFamily="18" charset="0"/>
                  </a:rPr>
                  <a:t>) y estos se reajustan según la inflación.</a:t>
                </a:r>
              </a:p>
              <a:p>
                <a:pPr marL="808038" lvl="1" indent="-333375" algn="just">
                  <a:lnSpc>
                    <a:spcPct val="125000"/>
                  </a:lnSpc>
                  <a:buNone/>
                  <a:tabLst>
                    <a:tab pos="5202238" algn="l"/>
                  </a:tabLst>
                </a:pPr>
                <a:r>
                  <a:rPr lang="es-PE" sz="2400" dirty="0">
                    <a:latin typeface="Calibri" panose="020F0502020204030204" pitchFamily="34" charset="0"/>
                    <a:ea typeface="Calibri" panose="020F0502020204030204" pitchFamily="34" charset="0"/>
                    <a:cs typeface="Times New Roman" panose="02020603050405020304" pitchFamily="18" charset="0"/>
                  </a:rPr>
                  <a:t>	Son empresas cuya decisión de precios es por un período largo, lo van reajustando según </a:t>
                </a:r>
                <a:r>
                  <a:rPr lang="el-GR" sz="2400" i="1" dirty="0">
                    <a:latin typeface="Cambria Math" panose="02040503050406030204" pitchFamily="18" charset="0"/>
                    <a:ea typeface="Cambria Math" panose="02040503050406030204" pitchFamily="18" charset="0"/>
                    <a:cs typeface="Arial" panose="020B0604020202020204" pitchFamily="34" charset="0"/>
                  </a:rPr>
                  <a:t>π</a:t>
                </a:r>
                <a:r>
                  <a:rPr lang="es-PE" sz="2400" dirty="0">
                    <a:latin typeface="Calibri" panose="020F0502020204030204" pitchFamily="34" charset="0"/>
                    <a:ea typeface="Calibri" panose="020F0502020204030204" pitchFamily="34" charset="0"/>
                    <a:cs typeface="Times New Roman" panose="02020603050405020304" pitchFamily="18" charset="0"/>
                  </a:rPr>
                  <a:t>, para evitar que el precio disminuya en términos reales.</a:t>
                </a:r>
              </a:p>
              <a:p>
                <a:pPr marL="808038" lvl="1" indent="-333375" algn="just">
                  <a:lnSpc>
                    <a:spcPct val="125000"/>
                  </a:lnSpc>
                  <a:buNone/>
                  <a:tabLst>
                    <a:tab pos="5202238" algn="l"/>
                  </a:tabLst>
                </a:pPr>
                <a:r>
                  <a:rPr lang="es-PE" sz="2400" dirty="0">
                    <a:latin typeface="Calibri" panose="020F0502020204030204" pitchFamily="34" charset="0"/>
                    <a:ea typeface="Calibri" panose="020F0502020204030204" pitchFamily="34" charset="0"/>
                    <a:cs typeface="Times New Roman" panose="02020603050405020304" pitchFamily="18" charset="0"/>
                  </a:rPr>
                  <a:t>	Se puede considerar a empresas que tiene precios regulados por el gobierno (empresas de </a:t>
                </a:r>
                <a:r>
                  <a:rPr lang="es-PE" sz="2400" dirty="0" err="1">
                    <a:latin typeface="Calibri" panose="020F0502020204030204" pitchFamily="34" charset="0"/>
                    <a:ea typeface="Calibri" panose="020F0502020204030204" pitchFamily="34" charset="0"/>
                    <a:cs typeface="Times New Roman" panose="02020603050405020304" pitchFamily="18" charset="0"/>
                  </a:rPr>
                  <a:t>Ss</a:t>
                </a:r>
                <a:r>
                  <a:rPr lang="es-PE" sz="2400" dirty="0">
                    <a:latin typeface="Calibri" panose="020F0502020204030204" pitchFamily="34" charset="0"/>
                    <a:ea typeface="Calibri" panose="020F0502020204030204" pitchFamily="34" charset="0"/>
                    <a:cs typeface="Times New Roman" panose="02020603050405020304" pitchFamily="18" charset="0"/>
                  </a:rPr>
                  <a:t> públicos que usan tarifas).</a:t>
                </a:r>
              </a:p>
              <a:p>
                <a:pPr marL="808038" lvl="1" indent="-333375" algn="just">
                  <a:lnSpc>
                    <a:spcPct val="125000"/>
                  </a:lnSpc>
                  <a:buNone/>
                  <a:tabLst>
                    <a:tab pos="3944938" algn="l"/>
                  </a:tabLst>
                </a:pPr>
                <a:r>
                  <a:rPr lang="es-PE" sz="2400" dirty="0">
                    <a:latin typeface="Calibri" panose="020F0502020204030204" pitchFamily="34" charset="0"/>
                    <a:ea typeface="Calibri" panose="020F0502020204030204" pitchFamily="34" charset="0"/>
                    <a:cs typeface="Times New Roman" panose="02020603050405020304" pitchFamily="18" charset="0"/>
                  </a:rPr>
                  <a:t>	Así el precio indexado es: 	 </a:t>
                </a:r>
                <a14:m>
                  <m:oMath xmlns:m="http://schemas.openxmlformats.org/officeDocument/2006/math">
                    <m:sSub>
                      <m:sSubPr>
                        <m:ctrlPr>
                          <a:rPr lang="es-PE" sz="2400" i="1" smtClean="0">
                            <a:latin typeface="Cambria Math" panose="02040503050406030204" pitchFamily="18" charset="0"/>
                            <a:ea typeface="Calibri" panose="020F0502020204030204" pitchFamily="34" charset="0"/>
                            <a:cs typeface="Times New Roman" panose="02020603050405020304" pitchFamily="18" charset="0"/>
                          </a:rPr>
                        </m:ctrlPr>
                      </m:sSubPr>
                      <m:e>
                        <m:r>
                          <a:rPr lang="es-PE" sz="2400" b="0" i="1" smtClean="0">
                            <a:latin typeface="Cambria Math" panose="02040503050406030204" pitchFamily="18" charset="0"/>
                            <a:ea typeface="Calibri" panose="020F0502020204030204" pitchFamily="34" charset="0"/>
                            <a:cs typeface="Times New Roman" panose="02020603050405020304" pitchFamily="18" charset="0"/>
                          </a:rPr>
                          <m:t>𝑝</m:t>
                        </m:r>
                      </m:e>
                      <m:sub>
                        <m:r>
                          <a:rPr lang="es-PE" sz="2400" b="0" i="1" smtClean="0">
                            <a:latin typeface="Cambria Math" panose="02040503050406030204" pitchFamily="18" charset="0"/>
                            <a:ea typeface="Calibri" panose="020F0502020204030204" pitchFamily="34" charset="0"/>
                            <a:cs typeface="Times New Roman" panose="02020603050405020304" pitchFamily="18" charset="0"/>
                          </a:rPr>
                          <m:t>𝑖𝑡</m:t>
                        </m:r>
                      </m:sub>
                    </m:sSub>
                    <m:r>
                      <a:rPr lang="es-PE" sz="2400" b="0" i="1" smtClean="0">
                        <a:latin typeface="Cambria Math" panose="02040503050406030204" pitchFamily="18" charset="0"/>
                        <a:ea typeface="Calibri" panose="020F0502020204030204" pitchFamily="34" charset="0"/>
                        <a:cs typeface="Times New Roman" panose="02020603050405020304" pitchFamily="18" charset="0"/>
                      </a:rPr>
                      <m:t>=</m:t>
                    </m:r>
                    <m:sSub>
                      <m:sSubPr>
                        <m:ctrlPr>
                          <a:rPr lang="es-PE" sz="2400" b="0" i="1" smtClean="0">
                            <a:latin typeface="Cambria Math" panose="02040503050406030204" pitchFamily="18" charset="0"/>
                            <a:ea typeface="Calibri" panose="020F0502020204030204" pitchFamily="34" charset="0"/>
                            <a:cs typeface="Times New Roman" panose="02020603050405020304" pitchFamily="18" charset="0"/>
                          </a:rPr>
                        </m:ctrlPr>
                      </m:sSubPr>
                      <m:e>
                        <m:r>
                          <a:rPr lang="es-PE" sz="2400" b="0" i="1" smtClean="0">
                            <a:latin typeface="Cambria Math" panose="02040503050406030204" pitchFamily="18" charset="0"/>
                            <a:ea typeface="Calibri" panose="020F0502020204030204" pitchFamily="34" charset="0"/>
                            <a:cs typeface="Times New Roman" panose="02020603050405020304" pitchFamily="18" charset="0"/>
                          </a:rPr>
                          <m:t>𝑝</m:t>
                        </m:r>
                      </m:e>
                      <m:sub>
                        <m:r>
                          <a:rPr lang="es-PE" sz="2400" b="0" i="1" smtClean="0">
                            <a:latin typeface="Cambria Math" panose="02040503050406030204" pitchFamily="18" charset="0"/>
                            <a:ea typeface="Calibri" panose="020F0502020204030204" pitchFamily="34" charset="0"/>
                            <a:cs typeface="Times New Roman" panose="02020603050405020304" pitchFamily="18" charset="0"/>
                          </a:rPr>
                          <m:t>𝑖</m:t>
                        </m:r>
                        <m:r>
                          <a:rPr lang="es-PE" sz="2400" b="0" i="1" smtClean="0">
                            <a:latin typeface="Cambria Math" panose="02040503050406030204" pitchFamily="18" charset="0"/>
                            <a:ea typeface="Calibri" panose="020F0502020204030204" pitchFamily="34" charset="0"/>
                            <a:cs typeface="Times New Roman" panose="02020603050405020304" pitchFamily="18" charset="0"/>
                          </a:rPr>
                          <m:t>,</m:t>
                        </m:r>
                        <m:r>
                          <a:rPr lang="es-PE" sz="2400" b="0" i="1" smtClean="0">
                            <a:latin typeface="Cambria Math" panose="02040503050406030204" pitchFamily="18" charset="0"/>
                            <a:ea typeface="Calibri" panose="020F0502020204030204" pitchFamily="34" charset="0"/>
                            <a:cs typeface="Times New Roman" panose="02020603050405020304" pitchFamily="18" charset="0"/>
                          </a:rPr>
                          <m:t>𝑡</m:t>
                        </m:r>
                        <m:r>
                          <a:rPr lang="es-PE" sz="2400" b="0" i="1" smtClean="0">
                            <a:latin typeface="Cambria Math" panose="02040503050406030204" pitchFamily="18" charset="0"/>
                            <a:ea typeface="Calibri" panose="020F0502020204030204" pitchFamily="34" charset="0"/>
                            <a:cs typeface="Times New Roman" panose="02020603050405020304" pitchFamily="18" charset="0"/>
                          </a:rPr>
                          <m:t>−1</m:t>
                        </m:r>
                      </m:sub>
                    </m:sSub>
                    <m:r>
                      <a:rPr lang="es-PE" sz="2400" i="1" smtClean="0">
                        <a:latin typeface="Cambria Math" panose="02040503050406030204" pitchFamily="18" charset="0"/>
                        <a:ea typeface="Calibri" panose="020F0502020204030204" pitchFamily="34" charset="0"/>
                        <a:cs typeface="Times New Roman" panose="02020603050405020304" pitchFamily="18" charset="0"/>
                      </a:rPr>
                      <m:t>+</m:t>
                    </m:r>
                    <m:sSub>
                      <m:sSubPr>
                        <m:ctrlPr>
                          <a:rPr lang="es-PE" sz="2400" i="1" smtClean="0">
                            <a:latin typeface="Cambria Math" panose="02040503050406030204" pitchFamily="18" charset="0"/>
                            <a:ea typeface="Calibri" panose="020F0502020204030204" pitchFamily="34" charset="0"/>
                            <a:cs typeface="Times New Roman" panose="02020603050405020304" pitchFamily="18" charset="0"/>
                          </a:rPr>
                        </m:ctrlPr>
                      </m:sSubPr>
                      <m:e>
                        <m:r>
                          <a:rPr lang="es-PE" sz="2400" i="1" smtClean="0">
                            <a:latin typeface="Cambria Math" panose="02040503050406030204" pitchFamily="18" charset="0"/>
                            <a:ea typeface="Cambria Math" panose="02040503050406030204" pitchFamily="18" charset="0"/>
                            <a:cs typeface="Times New Roman" panose="02020603050405020304" pitchFamily="18" charset="0"/>
                          </a:rPr>
                          <m:t>𝜋</m:t>
                        </m:r>
                      </m:e>
                      <m:sub>
                        <m:r>
                          <a:rPr lang="es-PE" sz="2400" b="0" i="1" smtClean="0">
                            <a:latin typeface="Cambria Math" panose="02040503050406030204" pitchFamily="18" charset="0"/>
                            <a:ea typeface="Calibri" panose="020F0502020204030204" pitchFamily="34" charset="0"/>
                            <a:cs typeface="Times New Roman" panose="02020603050405020304" pitchFamily="18" charset="0"/>
                          </a:rPr>
                          <m:t>𝑡</m:t>
                        </m:r>
                        <m:r>
                          <a:rPr lang="es-PE" sz="2400" b="0" i="1" smtClean="0">
                            <a:latin typeface="Cambria Math" panose="02040503050406030204" pitchFamily="18" charset="0"/>
                            <a:ea typeface="Calibri" panose="020F0502020204030204" pitchFamily="34" charset="0"/>
                            <a:cs typeface="Times New Roman" panose="02020603050405020304" pitchFamily="18" charset="0"/>
                          </a:rPr>
                          <m:t>−1</m:t>
                        </m:r>
                      </m:sub>
                    </m:sSub>
                  </m:oMath>
                </a14:m>
                <a:endParaRPr lang="es-MX" sz="2400" dirty="0">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3" name="Marcador de contenido 2">
                <a:extLst>
                  <a:ext uri="{FF2B5EF4-FFF2-40B4-BE49-F238E27FC236}">
                    <a16:creationId xmlns:a16="http://schemas.microsoft.com/office/drawing/2014/main" id="{BA6A7B24-5CDF-1142-9D32-6C55ECBCE89E}"/>
                  </a:ext>
                </a:extLst>
              </p:cNvPr>
              <p:cNvSpPr>
                <a:spLocks noGrp="1" noRot="1" noChangeAspect="1" noMove="1" noResize="1" noEditPoints="1" noAdjustHandles="1" noChangeArrowheads="1" noChangeShapeType="1" noTextEdit="1"/>
              </p:cNvSpPr>
              <p:nvPr>
                <p:ph idx="1"/>
              </p:nvPr>
            </p:nvSpPr>
            <p:spPr>
              <a:xfrm>
                <a:off x="929935" y="2019299"/>
                <a:ext cx="10663983" cy="4324203"/>
              </a:xfrm>
              <a:blipFill>
                <a:blip r:embed="rId2"/>
                <a:stretch>
                  <a:fillRect/>
                </a:stretch>
              </a:blipFill>
              <a:ln>
                <a:solidFill>
                  <a:schemeClr val="bg1">
                    <a:lumMod val="65000"/>
                  </a:schemeClr>
                </a:solidFill>
              </a:ln>
            </p:spPr>
            <p:txBody>
              <a:bodyPr/>
              <a:lstStyle/>
              <a:p>
                <a:r>
                  <a:rPr lang="es-PE">
                    <a:noFill/>
                  </a:rPr>
                  <a:t> </a:t>
                </a:r>
              </a:p>
            </p:txBody>
          </p:sp>
        </mc:Fallback>
      </mc:AlternateContent>
    </p:spTree>
    <p:extLst>
      <p:ext uri="{BB962C8B-B14F-4D97-AF65-F5344CB8AC3E}">
        <p14:creationId xmlns:p14="http://schemas.microsoft.com/office/powerpoint/2010/main" val="14982551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A86289-B74C-FF83-9AA9-3371F181B20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8C362C0-79F7-7E17-EC43-21B48E767139}"/>
              </a:ext>
            </a:extLst>
          </p:cNvPr>
          <p:cNvSpPr>
            <a:spLocks noGrp="1"/>
          </p:cNvSpPr>
          <p:nvPr>
            <p:ph type="title"/>
          </p:nvPr>
        </p:nvSpPr>
        <p:spPr>
          <a:xfrm>
            <a:off x="1066800" y="8046"/>
            <a:ext cx="10058400" cy="1450757"/>
          </a:xfrm>
        </p:spPr>
        <p:txBody>
          <a:bodyPr>
            <a:normAutofit/>
          </a:bodyPr>
          <a:lstStyle/>
          <a:p>
            <a:r>
              <a:rPr lang="es-PE" sz="3200" dirty="0"/>
              <a:t>Rigideces de precios e indexación</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C719D20C-04B7-6BD9-8273-EC41BDEF535B}"/>
                  </a:ext>
                </a:extLst>
              </p:cNvPr>
              <p:cNvSpPr>
                <a:spLocks noGrp="1"/>
              </p:cNvSpPr>
              <p:nvPr>
                <p:ph idx="1"/>
              </p:nvPr>
            </p:nvSpPr>
            <p:spPr>
              <a:xfrm>
                <a:off x="929935" y="2019299"/>
                <a:ext cx="10663983" cy="4324203"/>
              </a:xfrm>
              <a:ln>
                <a:solidFill>
                  <a:schemeClr val="bg1">
                    <a:lumMod val="65000"/>
                  </a:schemeClr>
                </a:solidFill>
              </a:ln>
            </p:spPr>
            <p:txBody>
              <a:bodyPr lIns="36000" rIns="180000">
                <a:noAutofit/>
              </a:bodyPr>
              <a:lstStyle/>
              <a:p>
                <a:pPr marL="182563" indent="0" algn="just">
                  <a:lnSpc>
                    <a:spcPct val="125000"/>
                  </a:lnSpc>
                  <a:buNone/>
                  <a:tabLst>
                    <a:tab pos="5202238" algn="l"/>
                  </a:tabLst>
                </a:pPr>
                <a:r>
                  <a:rPr lang="es-PE" sz="2400" dirty="0">
                    <a:latin typeface="Calibri" panose="020F0502020204030204" pitchFamily="34" charset="0"/>
                    <a:ea typeface="Calibri" panose="020F0502020204030204" pitchFamily="34" charset="0"/>
                    <a:cs typeface="Times New Roman" panose="02020603050405020304" pitchFamily="18" charset="0"/>
                  </a:rPr>
                  <a:t>Supuestos:</a:t>
                </a:r>
              </a:p>
              <a:p>
                <a:pPr marL="525463" indent="-342900" algn="just">
                  <a:lnSpc>
                    <a:spcPct val="125000"/>
                  </a:lnSpc>
                  <a:buFont typeface="Arial" panose="020B0604020202020204" pitchFamily="34" charset="0"/>
                  <a:buChar char="•"/>
                  <a:tabLst>
                    <a:tab pos="5202238" algn="l"/>
                  </a:tabLst>
                </a:pPr>
                <a:r>
                  <a:rPr lang="es-PE" sz="2400" dirty="0">
                    <a:latin typeface="Calibri" panose="020F0502020204030204" pitchFamily="34" charset="0"/>
                    <a:ea typeface="Calibri" panose="020F0502020204030204" pitchFamily="34" charset="0"/>
                    <a:cs typeface="Times New Roman" panose="02020603050405020304" pitchFamily="18" charset="0"/>
                  </a:rPr>
                  <a:t>La participación de precios rígidos o fijos: </a:t>
                </a:r>
                <a14:m>
                  <m:oMath xmlns:m="http://schemas.openxmlformats.org/officeDocument/2006/math">
                    <m:sSub>
                      <m:sSubPr>
                        <m:ctrlPr>
                          <a:rPr lang="es-PE" sz="2400" i="1">
                            <a:latin typeface="Cambria Math" panose="02040503050406030204" pitchFamily="18" charset="0"/>
                            <a:ea typeface="Calibri" panose="020F0502020204030204" pitchFamily="34" charset="0"/>
                            <a:cs typeface="Times New Roman" panose="02020603050405020304" pitchFamily="18" charset="0"/>
                          </a:rPr>
                        </m:ctrlPr>
                      </m:sSubPr>
                      <m:e>
                        <m:r>
                          <a:rPr lang="es-PE" sz="2400" i="1" smtClean="0">
                            <a:latin typeface="Cambria Math" panose="02040503050406030204" pitchFamily="18" charset="0"/>
                            <a:ea typeface="Cambria Math" panose="02040503050406030204" pitchFamily="18" charset="0"/>
                            <a:cs typeface="Times New Roman" panose="02020603050405020304" pitchFamily="18" charset="0"/>
                          </a:rPr>
                          <m:t>𝛼</m:t>
                        </m:r>
                      </m:e>
                      <m:sub>
                        <m:r>
                          <a:rPr lang="es-PE" sz="2400" b="0" i="1" smtClean="0">
                            <a:latin typeface="Cambria Math" panose="02040503050406030204" pitchFamily="18" charset="0"/>
                            <a:ea typeface="Cambria Math" panose="02040503050406030204" pitchFamily="18" charset="0"/>
                            <a:cs typeface="Times New Roman" panose="02020603050405020304" pitchFamily="18" charset="0"/>
                          </a:rPr>
                          <m:t>𝑟</m:t>
                        </m:r>
                      </m:sub>
                    </m:sSub>
                  </m:oMath>
                </a14:m>
                <a:r>
                  <a:rPr lang="es-PE" sz="2400" dirty="0">
                    <a:latin typeface="Calibri" panose="020F0502020204030204" pitchFamily="34" charset="0"/>
                    <a:ea typeface="Calibri" panose="020F0502020204030204" pitchFamily="34" charset="0"/>
                    <a:cs typeface="Times New Roman" panose="02020603050405020304" pitchFamily="18" charset="0"/>
                  </a:rPr>
                  <a:t>  </a:t>
                </a:r>
              </a:p>
              <a:p>
                <a:pPr marL="525463" indent="-342900" algn="just">
                  <a:lnSpc>
                    <a:spcPct val="125000"/>
                  </a:lnSpc>
                  <a:buFont typeface="Arial" panose="020B0604020202020204" pitchFamily="34" charset="0"/>
                  <a:buChar char="•"/>
                  <a:tabLst>
                    <a:tab pos="5202238" algn="l"/>
                  </a:tabLst>
                </a:pPr>
                <a:r>
                  <a:rPr lang="es-PE" sz="2400" dirty="0">
                    <a:latin typeface="Calibri" panose="020F0502020204030204" pitchFamily="34" charset="0"/>
                    <a:ea typeface="Calibri" panose="020F0502020204030204" pitchFamily="34" charset="0"/>
                    <a:cs typeface="Times New Roman" panose="02020603050405020304" pitchFamily="18" charset="0"/>
                  </a:rPr>
                  <a:t>La participación de precios indexados: </a:t>
                </a:r>
                <a14:m>
                  <m:oMath xmlns:m="http://schemas.openxmlformats.org/officeDocument/2006/math">
                    <m:sSub>
                      <m:sSubPr>
                        <m:ctrlPr>
                          <a:rPr lang="es-PE" sz="2400" i="1">
                            <a:latin typeface="Cambria Math" panose="02040503050406030204" pitchFamily="18" charset="0"/>
                            <a:ea typeface="Calibri" panose="020F0502020204030204" pitchFamily="34" charset="0"/>
                            <a:cs typeface="Times New Roman" panose="02020603050405020304" pitchFamily="18" charset="0"/>
                          </a:rPr>
                        </m:ctrlPr>
                      </m:sSubPr>
                      <m:e>
                        <m:r>
                          <a:rPr lang="es-PE" sz="2400" i="1">
                            <a:latin typeface="Cambria Math" panose="02040503050406030204" pitchFamily="18" charset="0"/>
                            <a:ea typeface="Cambria Math" panose="02040503050406030204" pitchFamily="18" charset="0"/>
                            <a:cs typeface="Times New Roman" panose="02020603050405020304" pitchFamily="18" charset="0"/>
                          </a:rPr>
                          <m:t>𝛼</m:t>
                        </m:r>
                      </m:e>
                      <m:sub>
                        <m:r>
                          <a:rPr lang="es-PE" sz="2400" b="0" i="1" smtClean="0">
                            <a:latin typeface="Cambria Math" panose="02040503050406030204" pitchFamily="18" charset="0"/>
                            <a:ea typeface="Cambria Math" panose="02040503050406030204" pitchFamily="18" charset="0"/>
                            <a:cs typeface="Times New Roman" panose="02020603050405020304" pitchFamily="18" charset="0"/>
                          </a:rPr>
                          <m:t>𝑖</m:t>
                        </m:r>
                      </m:sub>
                    </m:sSub>
                  </m:oMath>
                </a14:m>
                <a:endParaRPr lang="es-PE" sz="2400" dirty="0">
                  <a:latin typeface="Calibri" panose="020F0502020204030204" pitchFamily="34" charset="0"/>
                  <a:ea typeface="Calibri" panose="020F0502020204030204" pitchFamily="34" charset="0"/>
                  <a:cs typeface="Times New Roman" panose="02020603050405020304" pitchFamily="18" charset="0"/>
                </a:endParaRPr>
              </a:p>
              <a:p>
                <a:pPr marL="525463" indent="-342900" algn="just">
                  <a:lnSpc>
                    <a:spcPct val="125000"/>
                  </a:lnSpc>
                  <a:buFont typeface="Arial" panose="020B0604020202020204" pitchFamily="34" charset="0"/>
                  <a:buChar char="•"/>
                  <a:tabLst>
                    <a:tab pos="5202238" algn="l"/>
                  </a:tabLst>
                </a:pPr>
                <a:r>
                  <a:rPr lang="es-PE" sz="2400" dirty="0">
                    <a:latin typeface="Calibri" panose="020F0502020204030204" pitchFamily="34" charset="0"/>
                    <a:ea typeface="Calibri" panose="020F0502020204030204" pitchFamily="34" charset="0"/>
                    <a:cs typeface="Times New Roman" panose="02020603050405020304" pitchFamily="18" charset="0"/>
                  </a:rPr>
                  <a:t>La participación de precios flexibles: </a:t>
                </a:r>
                <a14:m>
                  <m:oMath xmlns:m="http://schemas.openxmlformats.org/officeDocument/2006/math">
                    <m:sSub>
                      <m:sSubPr>
                        <m:ctrlPr>
                          <a:rPr lang="es-PE" sz="2400" i="1">
                            <a:latin typeface="Cambria Math" panose="02040503050406030204" pitchFamily="18" charset="0"/>
                            <a:ea typeface="Calibri" panose="020F0502020204030204" pitchFamily="34" charset="0"/>
                            <a:cs typeface="Times New Roman" panose="02020603050405020304" pitchFamily="18" charset="0"/>
                          </a:rPr>
                        </m:ctrlPr>
                      </m:sSubPr>
                      <m:e>
                        <m:r>
                          <a:rPr lang="es-PE" sz="2400" b="0" i="1" smtClean="0">
                            <a:latin typeface="Cambria Math" panose="02040503050406030204" pitchFamily="18" charset="0"/>
                            <a:ea typeface="Calibri" panose="020F0502020204030204" pitchFamily="34" charset="0"/>
                            <a:cs typeface="Times New Roman" panose="02020603050405020304" pitchFamily="18" charset="0"/>
                          </a:rPr>
                          <m:t>1−</m:t>
                        </m:r>
                        <m:sSub>
                          <m:sSubPr>
                            <m:ctrlPr>
                              <a:rPr lang="es-PE" sz="2400" i="1">
                                <a:latin typeface="Cambria Math" panose="02040503050406030204" pitchFamily="18" charset="0"/>
                                <a:ea typeface="Calibri" panose="020F0502020204030204" pitchFamily="34" charset="0"/>
                                <a:cs typeface="Times New Roman" panose="02020603050405020304" pitchFamily="18" charset="0"/>
                              </a:rPr>
                            </m:ctrlPr>
                          </m:sSubPr>
                          <m:e>
                            <m:r>
                              <a:rPr lang="es-PE" sz="2400" i="1">
                                <a:latin typeface="Cambria Math" panose="02040503050406030204" pitchFamily="18" charset="0"/>
                                <a:ea typeface="Cambria Math" panose="02040503050406030204" pitchFamily="18" charset="0"/>
                                <a:cs typeface="Times New Roman" panose="02020603050405020304" pitchFamily="18" charset="0"/>
                              </a:rPr>
                              <m:t>𝛼</m:t>
                            </m:r>
                          </m:e>
                          <m:sub>
                            <m:r>
                              <a:rPr lang="es-PE" sz="2400" i="1">
                                <a:latin typeface="Cambria Math" panose="02040503050406030204" pitchFamily="18" charset="0"/>
                                <a:ea typeface="Cambria Math" panose="02040503050406030204" pitchFamily="18" charset="0"/>
                                <a:cs typeface="Times New Roman" panose="02020603050405020304" pitchFamily="18" charset="0"/>
                              </a:rPr>
                              <m:t>𝑖</m:t>
                            </m:r>
                          </m:sub>
                        </m:sSub>
                        <m:r>
                          <a:rPr lang="es-PE" sz="2400" b="0" i="1" smtClean="0">
                            <a:latin typeface="Cambria Math" panose="02040503050406030204" pitchFamily="18" charset="0"/>
                            <a:ea typeface="Cambria Math" panose="02040503050406030204" pitchFamily="18" charset="0"/>
                            <a:cs typeface="Times New Roman" panose="02020603050405020304" pitchFamily="18" charset="0"/>
                          </a:rPr>
                          <m:t>−</m:t>
                        </m:r>
                        <m:r>
                          <a:rPr lang="es-PE" sz="2400" i="1">
                            <a:latin typeface="Cambria Math" panose="02040503050406030204" pitchFamily="18" charset="0"/>
                            <a:ea typeface="Cambria Math" panose="02040503050406030204" pitchFamily="18" charset="0"/>
                            <a:cs typeface="Times New Roman" panose="02020603050405020304" pitchFamily="18" charset="0"/>
                          </a:rPr>
                          <m:t>𝛼</m:t>
                        </m:r>
                      </m:e>
                      <m:sub>
                        <m:r>
                          <a:rPr lang="es-PE" sz="2400" i="1">
                            <a:latin typeface="Cambria Math" panose="02040503050406030204" pitchFamily="18" charset="0"/>
                            <a:ea typeface="Cambria Math" panose="02040503050406030204" pitchFamily="18" charset="0"/>
                            <a:cs typeface="Times New Roman" panose="02020603050405020304" pitchFamily="18" charset="0"/>
                          </a:rPr>
                          <m:t>𝑟</m:t>
                        </m:r>
                      </m:sub>
                    </m:sSub>
                  </m:oMath>
                </a14:m>
                <a:endParaRPr lang="es-PE" sz="2400" dirty="0">
                  <a:latin typeface="Calibri" panose="020F0502020204030204" pitchFamily="34" charset="0"/>
                  <a:ea typeface="Calibri" panose="020F0502020204030204" pitchFamily="34" charset="0"/>
                  <a:cs typeface="Times New Roman" panose="02020603050405020304" pitchFamily="18" charset="0"/>
                </a:endParaRPr>
              </a:p>
              <a:p>
                <a:pPr marL="182563" indent="0" algn="just">
                  <a:lnSpc>
                    <a:spcPct val="125000"/>
                  </a:lnSpc>
                  <a:buNone/>
                  <a:tabLst>
                    <a:tab pos="5202238" algn="l"/>
                  </a:tabLst>
                </a:pPr>
                <a:r>
                  <a:rPr lang="es-PE" sz="2400" dirty="0">
                    <a:latin typeface="Calibri" panose="020F0502020204030204" pitchFamily="34" charset="0"/>
                    <a:ea typeface="Calibri" panose="020F0502020204030204" pitchFamily="34" charset="0"/>
                    <a:cs typeface="Times New Roman" panose="02020603050405020304" pitchFamily="18" charset="0"/>
                  </a:rPr>
                  <a:t>Así: </a:t>
                </a:r>
              </a:p>
              <a:p>
                <a:pPr marL="525463" indent="-342900" algn="just">
                  <a:lnSpc>
                    <a:spcPct val="125000"/>
                  </a:lnSpc>
                  <a:buFont typeface="Arial" panose="020B0604020202020204" pitchFamily="34" charset="0"/>
                  <a:buChar char="•"/>
                  <a:tabLst>
                    <a:tab pos="5202238" algn="l"/>
                  </a:tabLst>
                </a:pPr>
                <a14:m>
                  <m:oMath xmlns:m="http://schemas.openxmlformats.org/officeDocument/2006/math">
                    <m:sSub>
                      <m:sSubPr>
                        <m:ctrlPr>
                          <a:rPr lang="es-PE" sz="2400" i="1">
                            <a:latin typeface="Cambria Math" panose="02040503050406030204" pitchFamily="18" charset="0"/>
                            <a:ea typeface="Calibri" panose="020F0502020204030204" pitchFamily="34" charset="0"/>
                            <a:cs typeface="Times New Roman" panose="02020603050405020304" pitchFamily="18" charset="0"/>
                          </a:rPr>
                        </m:ctrlPr>
                      </m:sSubPr>
                      <m:e>
                        <m:sSub>
                          <m:sSubPr>
                            <m:ctrlPr>
                              <a:rPr lang="es-PE" sz="2400" i="1" smtClean="0">
                                <a:latin typeface="Cambria Math" panose="02040503050406030204" pitchFamily="18" charset="0"/>
                                <a:ea typeface="Calibri" panose="020F0502020204030204" pitchFamily="34" charset="0"/>
                                <a:cs typeface="Times New Roman" panose="02020603050405020304" pitchFamily="18" charset="0"/>
                              </a:rPr>
                            </m:ctrlPr>
                          </m:sSubPr>
                          <m:e>
                            <m:r>
                              <a:rPr lang="es-PE" sz="2400" b="0" i="1" smtClean="0">
                                <a:latin typeface="Cambria Math" panose="02040503050406030204" pitchFamily="18" charset="0"/>
                                <a:ea typeface="Calibri" panose="020F0502020204030204" pitchFamily="34" charset="0"/>
                                <a:cs typeface="Times New Roman" panose="02020603050405020304" pitchFamily="18" charset="0"/>
                              </a:rPr>
                              <m:t>𝑝</m:t>
                            </m:r>
                          </m:e>
                          <m:sub>
                            <m:r>
                              <a:rPr lang="es-PE" sz="2400" b="0" i="1" smtClean="0">
                                <a:latin typeface="Cambria Math" panose="02040503050406030204" pitchFamily="18" charset="0"/>
                                <a:ea typeface="Calibri" panose="020F0502020204030204" pitchFamily="34" charset="0"/>
                                <a:cs typeface="Times New Roman" panose="02020603050405020304" pitchFamily="18" charset="0"/>
                              </a:rPr>
                              <m:t>𝑡</m:t>
                            </m:r>
                          </m:sub>
                        </m:sSub>
                        <m:r>
                          <a:rPr lang="es-PE" sz="2400" b="0" i="1" smtClean="0">
                            <a:latin typeface="Cambria Math" panose="02040503050406030204" pitchFamily="18" charset="0"/>
                            <a:ea typeface="Calibri" panose="020F0502020204030204" pitchFamily="34" charset="0"/>
                            <a:cs typeface="Times New Roman" panose="02020603050405020304" pitchFamily="18" charset="0"/>
                          </a:rPr>
                          <m:t>=</m:t>
                        </m:r>
                        <m:sSub>
                          <m:sSubPr>
                            <m:ctrlPr>
                              <a:rPr lang="es-PE" sz="2400" b="0" i="1" smtClean="0">
                                <a:latin typeface="Cambria Math" panose="02040503050406030204" pitchFamily="18" charset="0"/>
                                <a:ea typeface="Calibri" panose="020F0502020204030204" pitchFamily="34" charset="0"/>
                                <a:cs typeface="Times New Roman" panose="02020603050405020304" pitchFamily="18" charset="0"/>
                              </a:rPr>
                            </m:ctrlPr>
                          </m:sSubPr>
                          <m:e>
                            <m:r>
                              <a:rPr lang="es-PE" sz="2400" b="0" i="1" smtClean="0">
                                <a:latin typeface="Cambria Math" panose="02040503050406030204" pitchFamily="18" charset="0"/>
                                <a:ea typeface="Cambria Math" panose="02040503050406030204" pitchFamily="18" charset="0"/>
                                <a:cs typeface="Times New Roman" panose="02020603050405020304" pitchFamily="18" charset="0"/>
                              </a:rPr>
                              <m:t>𝛼</m:t>
                            </m:r>
                          </m:e>
                          <m:sub>
                            <m:r>
                              <a:rPr lang="es-PE" sz="2400" b="0" i="1" smtClean="0">
                                <a:latin typeface="Cambria Math" panose="02040503050406030204" pitchFamily="18" charset="0"/>
                                <a:ea typeface="Calibri" panose="020F0502020204030204" pitchFamily="34" charset="0"/>
                                <a:cs typeface="Times New Roman" panose="02020603050405020304" pitchFamily="18" charset="0"/>
                              </a:rPr>
                              <m:t>𝑟</m:t>
                            </m:r>
                          </m:sub>
                        </m:sSub>
                        <m:sSub>
                          <m:sSubPr>
                            <m:ctrlPr>
                              <a:rPr lang="es-PE" sz="2400" b="0" i="1" smtClean="0">
                                <a:latin typeface="Cambria Math" panose="02040503050406030204" pitchFamily="18" charset="0"/>
                                <a:ea typeface="Calibri" panose="020F0502020204030204" pitchFamily="34" charset="0"/>
                                <a:cs typeface="Times New Roman" panose="02020603050405020304" pitchFamily="18" charset="0"/>
                              </a:rPr>
                            </m:ctrlPr>
                          </m:sSubPr>
                          <m:e>
                            <m:r>
                              <a:rPr lang="es-PE" sz="2400" b="0" i="1" smtClean="0">
                                <a:latin typeface="Cambria Math" panose="02040503050406030204" pitchFamily="18" charset="0"/>
                                <a:ea typeface="Calibri" panose="020F0502020204030204" pitchFamily="34" charset="0"/>
                                <a:cs typeface="Times New Roman" panose="02020603050405020304" pitchFamily="18" charset="0"/>
                              </a:rPr>
                              <m:t>𝑝</m:t>
                            </m:r>
                          </m:e>
                          <m:sub>
                            <m:r>
                              <a:rPr lang="es-PE" sz="2400" b="0" i="1" smtClean="0">
                                <a:solidFill>
                                  <a:srgbClr val="0070C0"/>
                                </a:solidFill>
                                <a:latin typeface="Cambria Math" panose="02040503050406030204" pitchFamily="18" charset="0"/>
                                <a:ea typeface="Calibri" panose="020F0502020204030204" pitchFamily="34" charset="0"/>
                                <a:cs typeface="Times New Roman" panose="02020603050405020304" pitchFamily="18" charset="0"/>
                              </a:rPr>
                              <m:t>𝑟</m:t>
                            </m:r>
                            <m:r>
                              <a:rPr lang="es-PE" sz="2400" b="0" i="1" smtClean="0">
                                <a:latin typeface="Cambria Math" panose="02040503050406030204" pitchFamily="18" charset="0"/>
                                <a:ea typeface="Calibri" panose="020F0502020204030204" pitchFamily="34" charset="0"/>
                                <a:cs typeface="Times New Roman" panose="02020603050405020304" pitchFamily="18" charset="0"/>
                              </a:rPr>
                              <m:t>𝑡</m:t>
                            </m:r>
                          </m:sub>
                        </m:sSub>
                        <m:r>
                          <a:rPr lang="es-PE" sz="2400" b="0" i="1" smtClean="0">
                            <a:latin typeface="Cambria Math" panose="02040503050406030204" pitchFamily="18" charset="0"/>
                            <a:ea typeface="Calibri" panose="020F0502020204030204" pitchFamily="34" charset="0"/>
                            <a:cs typeface="Times New Roman" panose="02020603050405020304" pitchFamily="18" charset="0"/>
                          </a:rPr>
                          <m:t>+</m:t>
                        </m:r>
                        <m:sSub>
                          <m:sSubPr>
                            <m:ctrlPr>
                              <a:rPr lang="es-PE" sz="2400" b="0" i="1" smtClean="0">
                                <a:latin typeface="Cambria Math" panose="02040503050406030204" pitchFamily="18" charset="0"/>
                                <a:ea typeface="Calibri" panose="020F0502020204030204" pitchFamily="34" charset="0"/>
                                <a:cs typeface="Times New Roman" panose="02020603050405020304" pitchFamily="18" charset="0"/>
                              </a:rPr>
                            </m:ctrlPr>
                          </m:sSubPr>
                          <m:e>
                            <m:r>
                              <a:rPr lang="es-PE" sz="2400" b="0" i="1" smtClean="0">
                                <a:latin typeface="Cambria Math" panose="02040503050406030204" pitchFamily="18" charset="0"/>
                                <a:ea typeface="Cambria Math" panose="02040503050406030204" pitchFamily="18" charset="0"/>
                                <a:cs typeface="Times New Roman" panose="02020603050405020304" pitchFamily="18" charset="0"/>
                              </a:rPr>
                              <m:t>𝛼</m:t>
                            </m:r>
                          </m:e>
                          <m:sub>
                            <m:r>
                              <a:rPr lang="es-PE" sz="2400" b="0" i="1" smtClean="0">
                                <a:latin typeface="Cambria Math" panose="02040503050406030204" pitchFamily="18" charset="0"/>
                                <a:ea typeface="Calibri" panose="020F0502020204030204" pitchFamily="34" charset="0"/>
                                <a:cs typeface="Times New Roman" panose="02020603050405020304" pitchFamily="18" charset="0"/>
                              </a:rPr>
                              <m:t>𝑖</m:t>
                            </m:r>
                          </m:sub>
                        </m:sSub>
                        <m:sSub>
                          <m:sSubPr>
                            <m:ctrlPr>
                              <a:rPr lang="es-PE" sz="2400" b="0" i="1" smtClean="0">
                                <a:latin typeface="Cambria Math" panose="02040503050406030204" pitchFamily="18" charset="0"/>
                                <a:ea typeface="Calibri" panose="020F0502020204030204" pitchFamily="34" charset="0"/>
                                <a:cs typeface="Times New Roman" panose="02020603050405020304" pitchFamily="18" charset="0"/>
                              </a:rPr>
                            </m:ctrlPr>
                          </m:sSubPr>
                          <m:e>
                            <m:r>
                              <a:rPr lang="es-PE" sz="2400" b="0" i="1" smtClean="0">
                                <a:latin typeface="Cambria Math" panose="02040503050406030204" pitchFamily="18" charset="0"/>
                                <a:ea typeface="Calibri" panose="020F0502020204030204" pitchFamily="34" charset="0"/>
                                <a:cs typeface="Times New Roman" panose="02020603050405020304" pitchFamily="18" charset="0"/>
                              </a:rPr>
                              <m:t>𝑝</m:t>
                            </m:r>
                          </m:e>
                          <m:sub>
                            <m:r>
                              <a:rPr lang="es-PE" sz="2400" b="0" i="1" smtClean="0">
                                <a:solidFill>
                                  <a:srgbClr val="0070C0"/>
                                </a:solidFill>
                                <a:latin typeface="Cambria Math" panose="02040503050406030204" pitchFamily="18" charset="0"/>
                                <a:ea typeface="Calibri" panose="020F0502020204030204" pitchFamily="34" charset="0"/>
                                <a:cs typeface="Times New Roman" panose="02020603050405020304" pitchFamily="18" charset="0"/>
                              </a:rPr>
                              <m:t>𝑖</m:t>
                            </m:r>
                            <m:r>
                              <a:rPr lang="es-PE" sz="2400" b="0" i="1" smtClean="0">
                                <a:latin typeface="Cambria Math" panose="02040503050406030204" pitchFamily="18" charset="0"/>
                                <a:ea typeface="Calibri" panose="020F0502020204030204" pitchFamily="34" charset="0"/>
                                <a:cs typeface="Times New Roman" panose="02020603050405020304" pitchFamily="18" charset="0"/>
                              </a:rPr>
                              <m:t>𝑡</m:t>
                            </m:r>
                          </m:sub>
                        </m:sSub>
                        <m:r>
                          <a:rPr lang="es-PE" sz="2400" b="0" i="1" smtClean="0">
                            <a:latin typeface="Cambria Math" panose="02040503050406030204" pitchFamily="18" charset="0"/>
                            <a:ea typeface="Calibri" panose="020F0502020204030204" pitchFamily="34" charset="0"/>
                            <a:cs typeface="Times New Roman" panose="02020603050405020304" pitchFamily="18" charset="0"/>
                          </a:rPr>
                          <m:t>+(</m:t>
                        </m:r>
                        <m:r>
                          <a:rPr lang="es-PE" sz="2400" i="1">
                            <a:latin typeface="Cambria Math" panose="02040503050406030204" pitchFamily="18" charset="0"/>
                            <a:ea typeface="Calibri" panose="020F0502020204030204" pitchFamily="34" charset="0"/>
                            <a:cs typeface="Times New Roman" panose="02020603050405020304" pitchFamily="18" charset="0"/>
                          </a:rPr>
                          <m:t>1−</m:t>
                        </m:r>
                        <m:sSub>
                          <m:sSubPr>
                            <m:ctrlPr>
                              <a:rPr lang="es-PE" sz="2400" i="1">
                                <a:latin typeface="Cambria Math" panose="02040503050406030204" pitchFamily="18" charset="0"/>
                                <a:ea typeface="Calibri" panose="020F0502020204030204" pitchFamily="34" charset="0"/>
                                <a:cs typeface="Times New Roman" panose="02020603050405020304" pitchFamily="18" charset="0"/>
                              </a:rPr>
                            </m:ctrlPr>
                          </m:sSubPr>
                          <m:e>
                            <m:r>
                              <a:rPr lang="es-PE" sz="2400" i="1">
                                <a:latin typeface="Cambria Math" panose="02040503050406030204" pitchFamily="18" charset="0"/>
                                <a:ea typeface="Cambria Math" panose="02040503050406030204" pitchFamily="18" charset="0"/>
                                <a:cs typeface="Times New Roman" panose="02020603050405020304" pitchFamily="18" charset="0"/>
                              </a:rPr>
                              <m:t>𝛼</m:t>
                            </m:r>
                          </m:e>
                          <m:sub>
                            <m:r>
                              <a:rPr lang="es-PE" sz="2400" i="1">
                                <a:latin typeface="Cambria Math" panose="02040503050406030204" pitchFamily="18" charset="0"/>
                                <a:ea typeface="Cambria Math" panose="02040503050406030204" pitchFamily="18" charset="0"/>
                                <a:cs typeface="Times New Roman" panose="02020603050405020304" pitchFamily="18" charset="0"/>
                              </a:rPr>
                              <m:t>𝑖</m:t>
                            </m:r>
                          </m:sub>
                        </m:sSub>
                        <m:r>
                          <a:rPr lang="es-PE" sz="2400" i="1">
                            <a:latin typeface="Cambria Math" panose="02040503050406030204" pitchFamily="18" charset="0"/>
                            <a:ea typeface="Cambria Math" panose="02040503050406030204" pitchFamily="18" charset="0"/>
                            <a:cs typeface="Times New Roman" panose="02020603050405020304" pitchFamily="18" charset="0"/>
                          </a:rPr>
                          <m:t>−</m:t>
                        </m:r>
                        <m:r>
                          <a:rPr lang="es-PE" sz="2400" i="1">
                            <a:latin typeface="Cambria Math" panose="02040503050406030204" pitchFamily="18" charset="0"/>
                            <a:ea typeface="Cambria Math" panose="02040503050406030204" pitchFamily="18" charset="0"/>
                            <a:cs typeface="Times New Roman" panose="02020603050405020304" pitchFamily="18" charset="0"/>
                          </a:rPr>
                          <m:t>𝛼</m:t>
                        </m:r>
                      </m:e>
                      <m:sub>
                        <m:r>
                          <a:rPr lang="es-PE" sz="2400" i="1">
                            <a:latin typeface="Cambria Math" panose="02040503050406030204" pitchFamily="18" charset="0"/>
                            <a:ea typeface="Cambria Math" panose="02040503050406030204" pitchFamily="18" charset="0"/>
                            <a:cs typeface="Times New Roman" panose="02020603050405020304" pitchFamily="18" charset="0"/>
                          </a:rPr>
                          <m:t>𝑟</m:t>
                        </m:r>
                      </m:sub>
                    </m:sSub>
                    <m:r>
                      <a:rPr lang="es-PE" sz="2400"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s-PE" sz="24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s-PE" sz="2400" b="0" i="1" smtClean="0">
                            <a:latin typeface="Cambria Math" panose="02040503050406030204" pitchFamily="18" charset="0"/>
                            <a:ea typeface="Cambria Math" panose="02040503050406030204" pitchFamily="18" charset="0"/>
                            <a:cs typeface="Times New Roman" panose="02020603050405020304" pitchFamily="18" charset="0"/>
                          </a:rPr>
                          <m:t>𝑝</m:t>
                        </m:r>
                      </m:e>
                      <m:sub>
                        <m:r>
                          <a:rPr lang="es-PE" sz="2400" b="0" i="1" smtClean="0">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𝑓</m:t>
                        </m:r>
                        <m:r>
                          <a:rPr lang="es-PE" sz="2400" b="0" i="1" smtClean="0">
                            <a:latin typeface="Cambria Math" panose="02040503050406030204" pitchFamily="18" charset="0"/>
                            <a:ea typeface="Cambria Math" panose="02040503050406030204" pitchFamily="18" charset="0"/>
                            <a:cs typeface="Times New Roman" panose="02020603050405020304" pitchFamily="18" charset="0"/>
                          </a:rPr>
                          <m:t>𝑡</m:t>
                        </m:r>
                      </m:sub>
                    </m:sSub>
                  </m:oMath>
                </a14:m>
                <a:endParaRPr lang="es-PE" sz="2400" dirty="0">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3" name="Marcador de contenido 2">
                <a:extLst>
                  <a:ext uri="{FF2B5EF4-FFF2-40B4-BE49-F238E27FC236}">
                    <a16:creationId xmlns:a16="http://schemas.microsoft.com/office/drawing/2014/main" id="{C719D20C-04B7-6BD9-8273-EC41BDEF535B}"/>
                  </a:ext>
                </a:extLst>
              </p:cNvPr>
              <p:cNvSpPr>
                <a:spLocks noGrp="1" noRot="1" noChangeAspect="1" noMove="1" noResize="1" noEditPoints="1" noAdjustHandles="1" noChangeArrowheads="1" noChangeShapeType="1" noTextEdit="1"/>
              </p:cNvSpPr>
              <p:nvPr>
                <p:ph idx="1"/>
              </p:nvPr>
            </p:nvSpPr>
            <p:spPr>
              <a:xfrm>
                <a:off x="929935" y="2019299"/>
                <a:ext cx="10663983" cy="4324203"/>
              </a:xfrm>
              <a:blipFill>
                <a:blip r:embed="rId2"/>
                <a:stretch>
                  <a:fillRect/>
                </a:stretch>
              </a:blipFill>
              <a:ln>
                <a:solidFill>
                  <a:schemeClr val="bg1">
                    <a:lumMod val="65000"/>
                  </a:schemeClr>
                </a:solidFill>
              </a:ln>
            </p:spPr>
            <p:txBody>
              <a:bodyPr/>
              <a:lstStyle/>
              <a:p>
                <a:r>
                  <a:rPr lang="es-PE">
                    <a:noFill/>
                  </a:rPr>
                  <a:t> </a:t>
                </a:r>
              </a:p>
            </p:txBody>
          </p:sp>
        </mc:Fallback>
      </mc:AlternateContent>
    </p:spTree>
    <p:extLst>
      <p:ext uri="{BB962C8B-B14F-4D97-AF65-F5344CB8AC3E}">
        <p14:creationId xmlns:p14="http://schemas.microsoft.com/office/powerpoint/2010/main" val="118610235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CE41A8-0B0A-BBAB-621C-038FAEC1DA7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E31C2BC-DB59-BEB5-1B4E-1D0112D13464}"/>
              </a:ext>
            </a:extLst>
          </p:cNvPr>
          <p:cNvSpPr>
            <a:spLocks noGrp="1"/>
          </p:cNvSpPr>
          <p:nvPr>
            <p:ph type="title"/>
          </p:nvPr>
        </p:nvSpPr>
        <p:spPr>
          <a:xfrm>
            <a:off x="1066800" y="8046"/>
            <a:ext cx="10058400" cy="1450757"/>
          </a:xfrm>
        </p:spPr>
        <p:txBody>
          <a:bodyPr>
            <a:normAutofit/>
          </a:bodyPr>
          <a:lstStyle/>
          <a:p>
            <a:r>
              <a:rPr lang="es-PE" sz="3200" dirty="0"/>
              <a:t>Rigideces de precios e indexación</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5B201FB1-1DA8-DA49-2E29-B645128E7583}"/>
                  </a:ext>
                </a:extLst>
              </p:cNvPr>
              <p:cNvSpPr>
                <a:spLocks noGrp="1"/>
              </p:cNvSpPr>
              <p:nvPr>
                <p:ph idx="1"/>
              </p:nvPr>
            </p:nvSpPr>
            <p:spPr>
              <a:xfrm>
                <a:off x="929935" y="2019299"/>
                <a:ext cx="10663983" cy="4324203"/>
              </a:xfrm>
              <a:ln>
                <a:solidFill>
                  <a:schemeClr val="bg1">
                    <a:lumMod val="65000"/>
                  </a:schemeClr>
                </a:solidFill>
              </a:ln>
            </p:spPr>
            <p:txBody>
              <a:bodyPr lIns="36000" rIns="180000">
                <a:noAutofit/>
              </a:bodyPr>
              <a:lstStyle/>
              <a:p>
                <a:pPr marL="182563" indent="0" algn="just">
                  <a:lnSpc>
                    <a:spcPct val="125000"/>
                  </a:lnSpc>
                  <a:buNone/>
                  <a:tabLst>
                    <a:tab pos="5202238" algn="l"/>
                  </a:tabLst>
                </a:pPr>
                <a:r>
                  <a:rPr lang="es-PE" sz="2400" dirty="0">
                    <a:latin typeface="Calibri" panose="020F0502020204030204" pitchFamily="34" charset="0"/>
                    <a:ea typeface="Calibri" panose="020F0502020204030204" pitchFamily="34" charset="0"/>
                    <a:cs typeface="Times New Roman" panose="02020603050405020304" pitchFamily="18" charset="0"/>
                  </a:rPr>
                  <a:t>Definiendo:</a:t>
                </a:r>
              </a:p>
              <a:p>
                <a:pPr marL="525463" indent="-342900" algn="just">
                  <a:lnSpc>
                    <a:spcPct val="125000"/>
                  </a:lnSpc>
                  <a:buFont typeface="Arial" panose="020B0604020202020204" pitchFamily="34" charset="0"/>
                  <a:buChar char="•"/>
                  <a:tabLst>
                    <a:tab pos="5202238" algn="l"/>
                  </a:tabLst>
                </a:pPr>
                <a14:m>
                  <m:oMath xmlns:m="http://schemas.openxmlformats.org/officeDocument/2006/math">
                    <m:r>
                      <a:rPr lang="es-PE" sz="2400" i="1" smtClean="0">
                        <a:latin typeface="Cambria Math" panose="02040503050406030204" pitchFamily="18" charset="0"/>
                        <a:ea typeface="Cambria Math" panose="02040503050406030204" pitchFamily="18" charset="0"/>
                        <a:cs typeface="Times New Roman" panose="02020603050405020304" pitchFamily="18" charset="0"/>
                      </a:rPr>
                      <m:t>𝜆</m:t>
                    </m:r>
                    <m:r>
                      <a:rPr lang="es-PE" sz="2400" i="1" smtClean="0">
                        <a:latin typeface="Cambria Math" panose="02040503050406030204" pitchFamily="18" charset="0"/>
                        <a:ea typeface="Calibri" panose="020F0502020204030204" pitchFamily="34" charset="0"/>
                        <a:cs typeface="Times New Roman" panose="02020603050405020304" pitchFamily="18" charset="0"/>
                      </a:rPr>
                      <m:t>=</m:t>
                    </m:r>
                    <m:f>
                      <m:fPr>
                        <m:ctrlPr>
                          <a:rPr lang="es-PE" sz="2400" i="1" smtClean="0">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s-PE" sz="2400" i="1" smtClean="0">
                                <a:latin typeface="Cambria Math" panose="02040503050406030204" pitchFamily="18" charset="0"/>
                                <a:ea typeface="Calibri" panose="020F0502020204030204" pitchFamily="34" charset="0"/>
                                <a:cs typeface="Times New Roman" panose="02020603050405020304" pitchFamily="18" charset="0"/>
                              </a:rPr>
                            </m:ctrlPr>
                          </m:sSubPr>
                          <m:e>
                            <m:r>
                              <a:rPr lang="es-PE" sz="2400" i="1" smtClean="0">
                                <a:latin typeface="Cambria Math" panose="02040503050406030204" pitchFamily="18" charset="0"/>
                                <a:ea typeface="Cambria Math" panose="02040503050406030204" pitchFamily="18" charset="0"/>
                                <a:cs typeface="Times New Roman" panose="02020603050405020304" pitchFamily="18" charset="0"/>
                              </a:rPr>
                              <m:t>𝛼</m:t>
                            </m:r>
                          </m:e>
                          <m:sub>
                            <m:r>
                              <a:rPr lang="es-PE" sz="2400" b="0" i="1" smtClean="0">
                                <a:latin typeface="Cambria Math" panose="02040503050406030204" pitchFamily="18" charset="0"/>
                                <a:ea typeface="Calibri" panose="020F0502020204030204" pitchFamily="34" charset="0"/>
                                <a:cs typeface="Times New Roman" panose="02020603050405020304" pitchFamily="18" charset="0"/>
                              </a:rPr>
                              <m:t>𝑟</m:t>
                            </m:r>
                          </m:sub>
                        </m:sSub>
                      </m:num>
                      <m:den>
                        <m:sSub>
                          <m:sSubPr>
                            <m:ctrlPr>
                              <a:rPr lang="es-PE" sz="2400" i="1" smtClean="0">
                                <a:latin typeface="Cambria Math" panose="02040503050406030204" pitchFamily="18" charset="0"/>
                                <a:ea typeface="Calibri" panose="020F0502020204030204" pitchFamily="34" charset="0"/>
                                <a:cs typeface="Times New Roman" panose="02020603050405020304" pitchFamily="18" charset="0"/>
                              </a:rPr>
                            </m:ctrlPr>
                          </m:sSubPr>
                          <m:e>
                            <m:r>
                              <a:rPr lang="es-PE" sz="2400" i="1" smtClean="0">
                                <a:latin typeface="Cambria Math" panose="02040503050406030204" pitchFamily="18" charset="0"/>
                                <a:ea typeface="Cambria Math" panose="02040503050406030204" pitchFamily="18" charset="0"/>
                                <a:cs typeface="Times New Roman" panose="02020603050405020304" pitchFamily="18" charset="0"/>
                              </a:rPr>
                              <m:t>𝛼</m:t>
                            </m:r>
                          </m:e>
                          <m:sub>
                            <m:r>
                              <a:rPr lang="es-PE" sz="2400" b="0" i="1" smtClean="0">
                                <a:latin typeface="Cambria Math" panose="02040503050406030204" pitchFamily="18" charset="0"/>
                                <a:ea typeface="Calibri" panose="020F0502020204030204" pitchFamily="34" charset="0"/>
                                <a:cs typeface="Times New Roman" panose="02020603050405020304" pitchFamily="18" charset="0"/>
                              </a:rPr>
                              <m:t>𝑟</m:t>
                            </m:r>
                          </m:sub>
                        </m:sSub>
                        <m:r>
                          <a:rPr lang="es-PE" sz="2400" b="0" i="1" smtClean="0">
                            <a:latin typeface="Cambria Math" panose="02040503050406030204" pitchFamily="18" charset="0"/>
                            <a:ea typeface="Calibri" panose="020F0502020204030204" pitchFamily="34" charset="0"/>
                            <a:cs typeface="Times New Roman" panose="02020603050405020304" pitchFamily="18" charset="0"/>
                          </a:rPr>
                          <m:t>+</m:t>
                        </m:r>
                        <m:sSub>
                          <m:sSubPr>
                            <m:ctrlPr>
                              <a:rPr lang="es-PE" sz="2400" b="0" i="1" smtClean="0">
                                <a:latin typeface="Cambria Math" panose="02040503050406030204" pitchFamily="18" charset="0"/>
                                <a:ea typeface="Calibri" panose="020F0502020204030204" pitchFamily="34" charset="0"/>
                                <a:cs typeface="Times New Roman" panose="02020603050405020304" pitchFamily="18" charset="0"/>
                              </a:rPr>
                            </m:ctrlPr>
                          </m:sSubPr>
                          <m:e>
                            <m:r>
                              <a:rPr lang="es-PE" sz="2400" b="0" i="1" smtClean="0">
                                <a:latin typeface="Cambria Math" panose="02040503050406030204" pitchFamily="18" charset="0"/>
                                <a:ea typeface="Cambria Math" panose="02040503050406030204" pitchFamily="18" charset="0"/>
                                <a:cs typeface="Times New Roman" panose="02020603050405020304" pitchFamily="18" charset="0"/>
                              </a:rPr>
                              <m:t>𝛼</m:t>
                            </m:r>
                          </m:e>
                          <m:sub>
                            <m:r>
                              <a:rPr lang="es-PE" sz="2400" b="0" i="1" smtClean="0">
                                <a:latin typeface="Cambria Math" panose="02040503050406030204" pitchFamily="18" charset="0"/>
                                <a:ea typeface="Calibri" panose="020F0502020204030204" pitchFamily="34" charset="0"/>
                                <a:cs typeface="Times New Roman" panose="02020603050405020304" pitchFamily="18" charset="0"/>
                              </a:rPr>
                              <m:t>𝑖</m:t>
                            </m:r>
                          </m:sub>
                        </m:sSub>
                      </m:den>
                    </m:f>
                  </m:oMath>
                </a14:m>
                <a:r>
                  <a:rPr lang="es-PE" sz="2400" dirty="0">
                    <a:latin typeface="Calibri" panose="020F0502020204030204" pitchFamily="34" charset="0"/>
                    <a:ea typeface="Calibri" panose="020F0502020204030204" pitchFamily="34" charset="0"/>
                    <a:cs typeface="Times New Roman" panose="02020603050405020304" pitchFamily="18" charset="0"/>
                  </a:rPr>
                  <a:t>    </a:t>
                </a:r>
                <a14:m>
                  <m:oMath xmlns:m="http://schemas.openxmlformats.org/officeDocument/2006/math">
                    <m:r>
                      <a:rPr lang="es-PE" sz="2400" i="1" dirty="0" smtClean="0">
                        <a:latin typeface="Cambria Math" panose="02040503050406030204" pitchFamily="18" charset="0"/>
                        <a:ea typeface="Cambria Math" panose="02040503050406030204" pitchFamily="18" charset="0"/>
                        <a:cs typeface="Times New Roman" panose="02020603050405020304" pitchFamily="18" charset="0"/>
                      </a:rPr>
                      <m:t>𝛼</m:t>
                    </m:r>
                    <m:r>
                      <a:rPr lang="es-PE" sz="2400" i="1" dirty="0" smtClean="0">
                        <a:latin typeface="Cambria Math" panose="02040503050406030204" pitchFamily="18" charset="0"/>
                        <a:ea typeface="Calibri" panose="020F0502020204030204" pitchFamily="34" charset="0"/>
                        <a:cs typeface="Times New Roman" panose="02020603050405020304" pitchFamily="18" charset="0"/>
                      </a:rPr>
                      <m:t>=</m:t>
                    </m:r>
                    <m:f>
                      <m:fPr>
                        <m:ctrlPr>
                          <a:rPr lang="es-PE" sz="2400" i="1" dirty="0" smtClean="0">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s-PE" sz="2400" i="1" dirty="0" smtClean="0">
                                <a:latin typeface="Cambria Math" panose="02040503050406030204" pitchFamily="18" charset="0"/>
                                <a:ea typeface="Calibri" panose="020F0502020204030204" pitchFamily="34" charset="0"/>
                                <a:cs typeface="Times New Roman" panose="02020603050405020304" pitchFamily="18" charset="0"/>
                              </a:rPr>
                            </m:ctrlPr>
                          </m:sSubPr>
                          <m:e>
                            <m:r>
                              <a:rPr lang="es-PE" sz="2400" i="1" dirty="0" smtClean="0">
                                <a:latin typeface="Cambria Math" panose="02040503050406030204" pitchFamily="18" charset="0"/>
                                <a:ea typeface="Cambria Math" panose="02040503050406030204" pitchFamily="18" charset="0"/>
                                <a:cs typeface="Times New Roman" panose="02020603050405020304" pitchFamily="18" charset="0"/>
                              </a:rPr>
                              <m:t>𝛼</m:t>
                            </m:r>
                          </m:e>
                          <m:sub>
                            <m:r>
                              <a:rPr lang="es-PE" sz="2400" b="0" i="1" dirty="0" smtClean="0">
                                <a:latin typeface="Cambria Math" panose="02040503050406030204" pitchFamily="18" charset="0"/>
                                <a:ea typeface="Calibri" panose="020F0502020204030204" pitchFamily="34" charset="0"/>
                                <a:cs typeface="Times New Roman" panose="02020603050405020304" pitchFamily="18" charset="0"/>
                              </a:rPr>
                              <m:t>𝑟</m:t>
                            </m:r>
                          </m:sub>
                        </m:sSub>
                        <m:r>
                          <a:rPr lang="es-PE" sz="2400" b="0" i="1" dirty="0" smtClean="0">
                            <a:latin typeface="Cambria Math" panose="02040503050406030204" pitchFamily="18" charset="0"/>
                            <a:ea typeface="Calibri" panose="020F0502020204030204" pitchFamily="34" charset="0"/>
                            <a:cs typeface="Times New Roman" panose="02020603050405020304" pitchFamily="18" charset="0"/>
                          </a:rPr>
                          <m:t>+</m:t>
                        </m:r>
                        <m:sSub>
                          <m:sSubPr>
                            <m:ctrlPr>
                              <a:rPr lang="es-PE" sz="2400" b="0" i="1" dirty="0" smtClean="0">
                                <a:latin typeface="Cambria Math" panose="02040503050406030204" pitchFamily="18" charset="0"/>
                                <a:ea typeface="Calibri" panose="020F0502020204030204" pitchFamily="34" charset="0"/>
                                <a:cs typeface="Times New Roman" panose="02020603050405020304" pitchFamily="18" charset="0"/>
                              </a:rPr>
                            </m:ctrlPr>
                          </m:sSubPr>
                          <m:e>
                            <m:r>
                              <a:rPr lang="es-PE" sz="2400" b="0" i="1" dirty="0" smtClean="0">
                                <a:latin typeface="Cambria Math" panose="02040503050406030204" pitchFamily="18" charset="0"/>
                                <a:ea typeface="Cambria Math" panose="02040503050406030204" pitchFamily="18" charset="0"/>
                                <a:cs typeface="Times New Roman" panose="02020603050405020304" pitchFamily="18" charset="0"/>
                              </a:rPr>
                              <m:t>𝛼</m:t>
                            </m:r>
                          </m:e>
                          <m:sub>
                            <m:r>
                              <a:rPr lang="es-PE" sz="2400" b="0" i="1" dirty="0" smtClean="0">
                                <a:latin typeface="Cambria Math" panose="02040503050406030204" pitchFamily="18" charset="0"/>
                                <a:ea typeface="Calibri" panose="020F0502020204030204" pitchFamily="34" charset="0"/>
                                <a:cs typeface="Times New Roman" panose="02020603050405020304" pitchFamily="18" charset="0"/>
                              </a:rPr>
                              <m:t>𝑖</m:t>
                            </m:r>
                          </m:sub>
                        </m:sSub>
                      </m:num>
                      <m:den>
                        <m:d>
                          <m:dPr>
                            <m:ctrlPr>
                              <a:rPr lang="es-PE" sz="2400" b="0" i="1" dirty="0" smtClean="0">
                                <a:latin typeface="Cambria Math" panose="02040503050406030204" pitchFamily="18" charset="0"/>
                                <a:ea typeface="Calibri" panose="020F0502020204030204" pitchFamily="34" charset="0"/>
                                <a:cs typeface="Times New Roman" panose="02020603050405020304" pitchFamily="18" charset="0"/>
                              </a:rPr>
                            </m:ctrlPr>
                          </m:dPr>
                          <m:e>
                            <m:r>
                              <a:rPr lang="es-PE" sz="2400" i="1">
                                <a:latin typeface="Cambria Math" panose="02040503050406030204" pitchFamily="18" charset="0"/>
                                <a:ea typeface="Calibri" panose="020F0502020204030204" pitchFamily="34" charset="0"/>
                                <a:cs typeface="Times New Roman" panose="02020603050405020304" pitchFamily="18" charset="0"/>
                              </a:rPr>
                              <m:t>1−</m:t>
                            </m:r>
                            <m:sSub>
                              <m:sSubPr>
                                <m:ctrlPr>
                                  <a:rPr lang="es-PE" sz="2400" i="1">
                                    <a:latin typeface="Cambria Math" panose="02040503050406030204" pitchFamily="18" charset="0"/>
                                    <a:ea typeface="Calibri" panose="020F0502020204030204" pitchFamily="34" charset="0"/>
                                    <a:cs typeface="Times New Roman" panose="02020603050405020304" pitchFamily="18" charset="0"/>
                                  </a:rPr>
                                </m:ctrlPr>
                              </m:sSubPr>
                              <m:e>
                                <m:r>
                                  <a:rPr lang="es-PE" sz="2400" i="1">
                                    <a:latin typeface="Cambria Math" panose="02040503050406030204" pitchFamily="18" charset="0"/>
                                    <a:ea typeface="Cambria Math" panose="02040503050406030204" pitchFamily="18" charset="0"/>
                                    <a:cs typeface="Times New Roman" panose="02020603050405020304" pitchFamily="18" charset="0"/>
                                  </a:rPr>
                                  <m:t>𝛼</m:t>
                                </m:r>
                              </m:e>
                              <m:sub>
                                <m:r>
                                  <a:rPr lang="es-PE" sz="2400" b="0" i="1" smtClean="0">
                                    <a:latin typeface="Cambria Math" panose="02040503050406030204" pitchFamily="18" charset="0"/>
                                    <a:ea typeface="Cambria Math" panose="02040503050406030204" pitchFamily="18" charset="0"/>
                                    <a:cs typeface="Times New Roman" panose="02020603050405020304" pitchFamily="18" charset="0"/>
                                  </a:rPr>
                                  <m:t>𝑟</m:t>
                                </m:r>
                              </m:sub>
                            </m:sSub>
                            <m:r>
                              <a:rPr lang="es-PE" sz="2400"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s-PE" sz="240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s-PE" sz="2400" i="1" smtClean="0">
                                    <a:latin typeface="Cambria Math" panose="02040503050406030204" pitchFamily="18" charset="0"/>
                                    <a:ea typeface="Cambria Math" panose="02040503050406030204" pitchFamily="18" charset="0"/>
                                    <a:cs typeface="Times New Roman" panose="02020603050405020304" pitchFamily="18" charset="0"/>
                                  </a:rPr>
                                  <m:t>𝛼</m:t>
                                </m:r>
                              </m:e>
                              <m:sub>
                                <m:r>
                                  <a:rPr lang="es-PE" sz="2400" b="0" i="1" smtClean="0">
                                    <a:latin typeface="Cambria Math" panose="02040503050406030204" pitchFamily="18" charset="0"/>
                                    <a:ea typeface="Cambria Math" panose="02040503050406030204" pitchFamily="18" charset="0"/>
                                    <a:cs typeface="Times New Roman" panose="02020603050405020304" pitchFamily="18" charset="0"/>
                                  </a:rPr>
                                  <m:t>𝑖</m:t>
                                </m:r>
                              </m:sub>
                            </m:sSub>
                          </m:e>
                        </m:d>
                        <m:r>
                          <a:rPr lang="es-PE" sz="2400" b="0" i="1" dirty="0" smtClean="0">
                            <a:latin typeface="Cambria Math" panose="02040503050406030204" pitchFamily="18" charset="0"/>
                            <a:ea typeface="Calibri" panose="020F0502020204030204" pitchFamily="34" charset="0"/>
                            <a:cs typeface="Times New Roman" panose="02020603050405020304" pitchFamily="18" charset="0"/>
                          </a:rPr>
                          <m:t>𝑘</m:t>
                        </m:r>
                      </m:den>
                    </m:f>
                  </m:oMath>
                </a14:m>
                <a:r>
                  <a:rPr lang="es-PE" sz="2400" dirty="0">
                    <a:latin typeface="Calibri" panose="020F0502020204030204" pitchFamily="34" charset="0"/>
                    <a:ea typeface="Calibri" panose="020F0502020204030204" pitchFamily="34" charset="0"/>
                    <a:cs typeface="Times New Roman" panose="02020603050405020304" pitchFamily="18" charset="0"/>
                  </a:rPr>
                  <a:t>  </a:t>
                </a:r>
                <a:endParaRPr lang="es-PE" sz="2400" dirty="0">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endParaRPr>
              </a:p>
              <a:p>
                <a:pPr marL="182563" indent="0" algn="just">
                  <a:lnSpc>
                    <a:spcPct val="125000"/>
                  </a:lnSpc>
                  <a:buNone/>
                  <a:tabLst>
                    <a:tab pos="5202238" algn="l"/>
                  </a:tabLst>
                </a:pPr>
                <a:r>
                  <a:rPr lang="es-PE" sz="2400" dirty="0">
                    <a:ea typeface="Calibri" panose="020F0502020204030204" pitchFamily="34" charset="0"/>
                    <a:cs typeface="Times New Roman" panose="02020603050405020304" pitchFamily="18" charset="0"/>
                  </a:rPr>
                  <a:t>Recordando la PC es:</a:t>
                </a:r>
                <a:endParaRPr lang="es-PE" sz="2400" dirty="0">
                  <a:latin typeface="Calibri" panose="020F0502020204030204" pitchFamily="34" charset="0"/>
                  <a:ea typeface="Calibri" panose="020F0502020204030204" pitchFamily="34" charset="0"/>
                  <a:cs typeface="Times New Roman" panose="02020603050405020304" pitchFamily="18" charset="0"/>
                </a:endParaRPr>
              </a:p>
              <a:p>
                <a:pPr marL="525463" indent="-342900" algn="just">
                  <a:lnSpc>
                    <a:spcPct val="125000"/>
                  </a:lnSpc>
                  <a:buFont typeface="Arial" panose="020B0604020202020204" pitchFamily="34" charset="0"/>
                  <a:buChar char="•"/>
                  <a:tabLst>
                    <a:tab pos="5202238" algn="l"/>
                  </a:tabLst>
                </a:pPr>
                <a14:m>
                  <m:oMath xmlns:m="http://schemas.openxmlformats.org/officeDocument/2006/math">
                    <m:sSub>
                      <m:sSubPr>
                        <m:ctrlPr>
                          <a:rPr lang="es-PE" sz="2400" i="1">
                            <a:latin typeface="Cambria Math" panose="02040503050406030204" pitchFamily="18" charset="0"/>
                            <a:ea typeface="Calibri" panose="020F0502020204030204" pitchFamily="34" charset="0"/>
                            <a:cs typeface="Times New Roman" panose="02020603050405020304" pitchFamily="18" charset="0"/>
                          </a:rPr>
                        </m:ctrlPr>
                      </m:sSubPr>
                      <m:e>
                        <m:r>
                          <a:rPr lang="es-PE" sz="2400" i="1">
                            <a:latin typeface="Cambria Math" panose="02040503050406030204" pitchFamily="18" charset="0"/>
                            <a:ea typeface="Calibri" panose="020F0502020204030204" pitchFamily="34" charset="0"/>
                            <a:cs typeface="Times New Roman" panose="02020603050405020304" pitchFamily="18" charset="0"/>
                          </a:rPr>
                          <m:t>𝑦</m:t>
                        </m:r>
                      </m:e>
                      <m:sub>
                        <m:r>
                          <a:rPr lang="es-PE" sz="2400" i="1">
                            <a:latin typeface="Cambria Math" panose="02040503050406030204" pitchFamily="18" charset="0"/>
                            <a:ea typeface="Calibri" panose="020F0502020204030204" pitchFamily="34" charset="0"/>
                            <a:cs typeface="Times New Roman" panose="02020603050405020304" pitchFamily="18" charset="0"/>
                          </a:rPr>
                          <m:t>𝑡</m:t>
                        </m:r>
                      </m:sub>
                    </m:sSub>
                    <m:r>
                      <a:rPr lang="es-PE" sz="2400" i="1">
                        <a:latin typeface="Cambria Math" panose="02040503050406030204" pitchFamily="18" charset="0"/>
                        <a:ea typeface="Calibri" panose="020F0502020204030204" pitchFamily="34" charset="0"/>
                        <a:cs typeface="Times New Roman" panose="02020603050405020304" pitchFamily="18" charset="0"/>
                      </a:rPr>
                      <m:t>−</m:t>
                    </m:r>
                    <m:acc>
                      <m:accPr>
                        <m:chr m:val="̅"/>
                        <m:ctrlPr>
                          <a:rPr lang="es-PE" sz="2400" i="1">
                            <a:latin typeface="Cambria Math" panose="02040503050406030204" pitchFamily="18" charset="0"/>
                            <a:ea typeface="Calibri" panose="020F0502020204030204" pitchFamily="34" charset="0"/>
                            <a:cs typeface="Times New Roman" panose="02020603050405020304" pitchFamily="18" charset="0"/>
                          </a:rPr>
                        </m:ctrlPr>
                      </m:accPr>
                      <m:e>
                        <m:r>
                          <a:rPr lang="es-PE" sz="2400" i="1">
                            <a:latin typeface="Cambria Math" panose="02040503050406030204" pitchFamily="18" charset="0"/>
                            <a:ea typeface="Calibri" panose="020F0502020204030204" pitchFamily="34" charset="0"/>
                            <a:cs typeface="Times New Roman" panose="02020603050405020304" pitchFamily="18" charset="0"/>
                          </a:rPr>
                          <m:t>𝑦</m:t>
                        </m:r>
                      </m:e>
                    </m:acc>
                    <m:r>
                      <a:rPr lang="es-PE" sz="2400" i="1">
                        <a:latin typeface="Cambria Math" panose="02040503050406030204" pitchFamily="18" charset="0"/>
                        <a:ea typeface="Calibri" panose="020F0502020204030204" pitchFamily="34" charset="0"/>
                        <a:cs typeface="Times New Roman" panose="02020603050405020304" pitchFamily="18" charset="0"/>
                      </a:rPr>
                      <m:t>=</m:t>
                    </m:r>
                    <m:r>
                      <a:rPr lang="es-PE" sz="2400" i="1">
                        <a:latin typeface="Cambria Math" panose="02040503050406030204" pitchFamily="18" charset="0"/>
                        <a:ea typeface="Cambria Math" panose="02040503050406030204" pitchFamily="18" charset="0"/>
                        <a:cs typeface="Times New Roman" panose="02020603050405020304" pitchFamily="18" charset="0"/>
                      </a:rPr>
                      <m:t>𝛼</m:t>
                    </m:r>
                    <m:d>
                      <m:dPr>
                        <m:ctrlPr>
                          <a:rPr lang="es-PE" sz="2400" i="1">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es-PE" sz="2400" i="1">
                                <a:latin typeface="Cambria Math" panose="02040503050406030204" pitchFamily="18" charset="0"/>
                                <a:ea typeface="Calibri" panose="020F0502020204030204" pitchFamily="34" charset="0"/>
                                <a:cs typeface="Times New Roman" panose="02020603050405020304" pitchFamily="18" charset="0"/>
                              </a:rPr>
                            </m:ctrlPr>
                          </m:sSubPr>
                          <m:e>
                            <m:r>
                              <a:rPr lang="es-PE" sz="2400" i="1">
                                <a:latin typeface="Cambria Math" panose="02040503050406030204" pitchFamily="18" charset="0"/>
                                <a:ea typeface="Cambria Math" panose="02040503050406030204" pitchFamily="18" charset="0"/>
                                <a:cs typeface="Times New Roman" panose="02020603050405020304" pitchFamily="18" charset="0"/>
                              </a:rPr>
                              <m:t>𝜋</m:t>
                            </m:r>
                          </m:e>
                          <m:sub>
                            <m:r>
                              <a:rPr lang="es-PE" sz="2400" i="1">
                                <a:latin typeface="Cambria Math" panose="02040503050406030204" pitchFamily="18" charset="0"/>
                                <a:ea typeface="Calibri" panose="020F0502020204030204" pitchFamily="34" charset="0"/>
                                <a:cs typeface="Times New Roman" panose="02020603050405020304" pitchFamily="18" charset="0"/>
                              </a:rPr>
                              <m:t>𝑡</m:t>
                            </m:r>
                          </m:sub>
                        </m:sSub>
                        <m:r>
                          <a:rPr lang="es-PE" sz="2400" i="1">
                            <a:latin typeface="Cambria Math" panose="02040503050406030204" pitchFamily="18" charset="0"/>
                            <a:ea typeface="Calibri" panose="020F0502020204030204" pitchFamily="34" charset="0"/>
                            <a:cs typeface="Times New Roman" panose="02020603050405020304" pitchFamily="18" charset="0"/>
                          </a:rPr>
                          <m:t>−</m:t>
                        </m:r>
                        <m:sSubSup>
                          <m:sSubSupPr>
                            <m:ctrlPr>
                              <a:rPr lang="es-PE" sz="2400" i="1">
                                <a:latin typeface="Cambria Math" panose="02040503050406030204" pitchFamily="18" charset="0"/>
                                <a:ea typeface="Calibri" panose="020F0502020204030204" pitchFamily="34" charset="0"/>
                                <a:cs typeface="Times New Roman" panose="02020603050405020304" pitchFamily="18" charset="0"/>
                              </a:rPr>
                            </m:ctrlPr>
                          </m:sSubSupPr>
                          <m:e>
                            <m:r>
                              <a:rPr lang="es-PE" sz="2400" i="1">
                                <a:latin typeface="Cambria Math" panose="02040503050406030204" pitchFamily="18" charset="0"/>
                                <a:ea typeface="Cambria Math" panose="02040503050406030204" pitchFamily="18" charset="0"/>
                                <a:cs typeface="Times New Roman" panose="02020603050405020304" pitchFamily="18" charset="0"/>
                              </a:rPr>
                              <m:t>𝜋</m:t>
                            </m:r>
                          </m:e>
                          <m:sub>
                            <m:r>
                              <a:rPr lang="es-PE" sz="2400" i="1">
                                <a:latin typeface="Cambria Math" panose="02040503050406030204" pitchFamily="18" charset="0"/>
                                <a:ea typeface="Calibri" panose="020F0502020204030204" pitchFamily="34" charset="0"/>
                                <a:cs typeface="Times New Roman" panose="02020603050405020304" pitchFamily="18" charset="0"/>
                              </a:rPr>
                              <m:t>𝑡</m:t>
                            </m:r>
                          </m:sub>
                          <m:sup>
                            <m:r>
                              <a:rPr lang="es-PE" sz="2400" i="1">
                                <a:latin typeface="Cambria Math" panose="02040503050406030204" pitchFamily="18" charset="0"/>
                                <a:ea typeface="Calibri" panose="020F0502020204030204" pitchFamily="34" charset="0"/>
                                <a:cs typeface="Times New Roman" panose="02020603050405020304" pitchFamily="18" charset="0"/>
                              </a:rPr>
                              <m:t>𝑒</m:t>
                            </m:r>
                          </m:sup>
                        </m:sSubSup>
                      </m:e>
                    </m:d>
                  </m:oMath>
                </a14:m>
                <a:endParaRPr lang="es-PE" sz="2400" dirty="0">
                  <a:latin typeface="Calibri" panose="020F0502020204030204" pitchFamily="34" charset="0"/>
                  <a:ea typeface="Calibri" panose="020F0502020204030204" pitchFamily="34" charset="0"/>
                  <a:cs typeface="Times New Roman" panose="02020603050405020304" pitchFamily="18" charset="0"/>
                </a:endParaRPr>
              </a:p>
              <a:p>
                <a:pPr marL="525463" indent="-342900" algn="just">
                  <a:lnSpc>
                    <a:spcPct val="125000"/>
                  </a:lnSpc>
                  <a:buFont typeface="Arial" panose="020B0604020202020204" pitchFamily="34" charset="0"/>
                  <a:buChar char="•"/>
                  <a:tabLst>
                    <a:tab pos="5202238" algn="l"/>
                  </a:tabLst>
                </a:pPr>
                <a14:m>
                  <m:oMath xmlns:m="http://schemas.openxmlformats.org/officeDocument/2006/math">
                    <m:sSub>
                      <m:sSubPr>
                        <m:ctrlPr>
                          <a:rPr lang="es-PE" sz="2400" i="1">
                            <a:latin typeface="Cambria Math" panose="02040503050406030204" pitchFamily="18" charset="0"/>
                            <a:ea typeface="Calibri" panose="020F0502020204030204" pitchFamily="34" charset="0"/>
                            <a:cs typeface="Times New Roman" panose="02020603050405020304" pitchFamily="18" charset="0"/>
                          </a:rPr>
                        </m:ctrlPr>
                      </m:sSubPr>
                      <m:e>
                        <m:r>
                          <a:rPr lang="es-PE" sz="2400" i="1">
                            <a:latin typeface="Cambria Math" panose="02040503050406030204" pitchFamily="18" charset="0"/>
                            <a:ea typeface="Calibri" panose="020F0502020204030204" pitchFamily="34" charset="0"/>
                            <a:cs typeface="Times New Roman" panose="02020603050405020304" pitchFamily="18" charset="0"/>
                          </a:rPr>
                          <m:t>𝑦</m:t>
                        </m:r>
                      </m:e>
                      <m:sub>
                        <m:r>
                          <a:rPr lang="es-PE" sz="2400" i="1">
                            <a:latin typeface="Cambria Math" panose="02040503050406030204" pitchFamily="18" charset="0"/>
                            <a:ea typeface="Calibri" panose="020F0502020204030204" pitchFamily="34" charset="0"/>
                            <a:cs typeface="Times New Roman" panose="02020603050405020304" pitchFamily="18" charset="0"/>
                          </a:rPr>
                          <m:t>𝑡</m:t>
                        </m:r>
                      </m:sub>
                    </m:sSub>
                    <m:r>
                      <a:rPr lang="es-PE" sz="2400" b="0" i="1" smtClean="0">
                        <a:latin typeface="Cambria Math" panose="02040503050406030204" pitchFamily="18" charset="0"/>
                        <a:ea typeface="Calibri" panose="020F0502020204030204" pitchFamily="34" charset="0"/>
                        <a:cs typeface="Times New Roman" panose="02020603050405020304" pitchFamily="18" charset="0"/>
                      </a:rPr>
                      <m:t>=</m:t>
                    </m:r>
                    <m:acc>
                      <m:accPr>
                        <m:chr m:val="̅"/>
                        <m:ctrlPr>
                          <a:rPr lang="es-PE" sz="2400" i="1">
                            <a:latin typeface="Cambria Math" panose="02040503050406030204" pitchFamily="18" charset="0"/>
                            <a:ea typeface="Calibri" panose="020F0502020204030204" pitchFamily="34" charset="0"/>
                            <a:cs typeface="Times New Roman" panose="02020603050405020304" pitchFamily="18" charset="0"/>
                          </a:rPr>
                        </m:ctrlPr>
                      </m:accPr>
                      <m:e>
                        <m:r>
                          <a:rPr lang="es-PE" sz="2400" i="1">
                            <a:latin typeface="Cambria Math" panose="02040503050406030204" pitchFamily="18" charset="0"/>
                            <a:ea typeface="Calibri" panose="020F0502020204030204" pitchFamily="34" charset="0"/>
                            <a:cs typeface="Times New Roman" panose="02020603050405020304" pitchFamily="18" charset="0"/>
                          </a:rPr>
                          <m:t>𝑦</m:t>
                        </m:r>
                      </m:e>
                    </m:acc>
                    <m:r>
                      <a:rPr lang="es-PE" sz="2400" b="0" i="1" smtClean="0">
                        <a:latin typeface="Cambria Math" panose="02040503050406030204" pitchFamily="18" charset="0"/>
                        <a:ea typeface="Calibri" panose="020F0502020204030204" pitchFamily="34" charset="0"/>
                        <a:cs typeface="Times New Roman" panose="02020603050405020304" pitchFamily="18" charset="0"/>
                      </a:rPr>
                      <m:t>+</m:t>
                    </m:r>
                    <m:r>
                      <a:rPr lang="es-PE" sz="2400" i="1">
                        <a:latin typeface="Cambria Math" panose="02040503050406030204" pitchFamily="18" charset="0"/>
                        <a:ea typeface="Cambria Math" panose="02040503050406030204" pitchFamily="18" charset="0"/>
                        <a:cs typeface="Times New Roman" panose="02020603050405020304" pitchFamily="18" charset="0"/>
                      </a:rPr>
                      <m:t>𝛼</m:t>
                    </m:r>
                    <m:r>
                      <a:rPr lang="es-PE" sz="2400"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s-PE" sz="2400" i="1">
                            <a:latin typeface="Cambria Math" panose="02040503050406030204" pitchFamily="18" charset="0"/>
                            <a:ea typeface="Calibri" panose="020F0502020204030204" pitchFamily="34" charset="0"/>
                            <a:cs typeface="Times New Roman" panose="02020603050405020304" pitchFamily="18" charset="0"/>
                          </a:rPr>
                        </m:ctrlPr>
                      </m:sSubPr>
                      <m:e>
                        <m:r>
                          <a:rPr lang="es-PE" sz="2400" i="1">
                            <a:latin typeface="Cambria Math" panose="02040503050406030204" pitchFamily="18" charset="0"/>
                            <a:ea typeface="Cambria Math" panose="02040503050406030204" pitchFamily="18" charset="0"/>
                            <a:cs typeface="Times New Roman" panose="02020603050405020304" pitchFamily="18" charset="0"/>
                          </a:rPr>
                          <m:t>𝜋</m:t>
                        </m:r>
                      </m:e>
                      <m:sub>
                        <m:r>
                          <a:rPr lang="es-PE" sz="2400" i="1">
                            <a:latin typeface="Cambria Math" panose="02040503050406030204" pitchFamily="18" charset="0"/>
                            <a:ea typeface="Calibri" panose="020F0502020204030204" pitchFamily="34" charset="0"/>
                            <a:cs typeface="Times New Roman" panose="02020603050405020304" pitchFamily="18" charset="0"/>
                          </a:rPr>
                          <m:t>𝑡</m:t>
                        </m:r>
                      </m:sub>
                    </m:sSub>
                    <m:r>
                      <a:rPr lang="es-PE" sz="2400" i="1">
                        <a:latin typeface="Cambria Math" panose="02040503050406030204" pitchFamily="18" charset="0"/>
                        <a:ea typeface="Calibri" panose="020F0502020204030204" pitchFamily="34" charset="0"/>
                        <a:cs typeface="Times New Roman" panose="02020603050405020304" pitchFamily="18" charset="0"/>
                      </a:rPr>
                      <m:t>−</m:t>
                    </m:r>
                    <m:sSubSup>
                      <m:sSubSupPr>
                        <m:ctrlPr>
                          <a:rPr lang="es-PE" sz="2400" i="1">
                            <a:latin typeface="Cambria Math" panose="02040503050406030204" pitchFamily="18" charset="0"/>
                            <a:ea typeface="Calibri" panose="020F0502020204030204" pitchFamily="34" charset="0"/>
                            <a:cs typeface="Times New Roman" panose="02020603050405020304" pitchFamily="18" charset="0"/>
                          </a:rPr>
                        </m:ctrlPr>
                      </m:sSubSupPr>
                      <m:e>
                        <m:r>
                          <a:rPr lang="es-PE" sz="2400" i="1" smtClean="0">
                            <a:latin typeface="Cambria Math" panose="02040503050406030204" pitchFamily="18" charset="0"/>
                            <a:ea typeface="Cambria Math" panose="02040503050406030204" pitchFamily="18" charset="0"/>
                            <a:cs typeface="Times New Roman" panose="02020603050405020304" pitchFamily="18" charset="0"/>
                          </a:rPr>
                          <m:t>𝜆</m:t>
                        </m:r>
                        <m:r>
                          <a:rPr lang="es-PE" sz="2400" i="1">
                            <a:latin typeface="Cambria Math" panose="02040503050406030204" pitchFamily="18" charset="0"/>
                            <a:ea typeface="Cambria Math" panose="02040503050406030204" pitchFamily="18" charset="0"/>
                            <a:cs typeface="Times New Roman" panose="02020603050405020304" pitchFamily="18" charset="0"/>
                          </a:rPr>
                          <m:t>𝜋</m:t>
                        </m:r>
                      </m:e>
                      <m:sub>
                        <m:r>
                          <a:rPr lang="es-PE" sz="2400" i="1">
                            <a:latin typeface="Cambria Math" panose="02040503050406030204" pitchFamily="18" charset="0"/>
                            <a:ea typeface="Calibri" panose="020F0502020204030204" pitchFamily="34" charset="0"/>
                            <a:cs typeface="Times New Roman" panose="02020603050405020304" pitchFamily="18" charset="0"/>
                          </a:rPr>
                          <m:t>𝑡</m:t>
                        </m:r>
                      </m:sub>
                      <m:sup>
                        <m:r>
                          <a:rPr lang="es-PE" sz="2400" i="1">
                            <a:latin typeface="Cambria Math" panose="02040503050406030204" pitchFamily="18" charset="0"/>
                            <a:ea typeface="Calibri" panose="020F0502020204030204" pitchFamily="34" charset="0"/>
                            <a:cs typeface="Times New Roman" panose="02020603050405020304" pitchFamily="18" charset="0"/>
                          </a:rPr>
                          <m:t>𝑒</m:t>
                        </m:r>
                      </m:sup>
                    </m:sSubSup>
                    <m:r>
                      <a:rPr lang="es-PE" sz="2400" b="0" i="1" smtClean="0">
                        <a:latin typeface="Cambria Math" panose="02040503050406030204" pitchFamily="18" charset="0"/>
                        <a:ea typeface="Calibri" panose="020F0502020204030204" pitchFamily="34" charset="0"/>
                        <a:cs typeface="Times New Roman" panose="02020603050405020304" pitchFamily="18" charset="0"/>
                      </a:rPr>
                      <m:t>−</m:t>
                    </m:r>
                    <m:d>
                      <m:dPr>
                        <m:ctrlPr>
                          <a:rPr lang="es-PE" sz="2400" b="0" i="1" smtClean="0">
                            <a:latin typeface="Cambria Math" panose="02040503050406030204" pitchFamily="18" charset="0"/>
                            <a:ea typeface="Calibri" panose="020F0502020204030204" pitchFamily="34" charset="0"/>
                            <a:cs typeface="Times New Roman" panose="02020603050405020304" pitchFamily="18" charset="0"/>
                          </a:rPr>
                        </m:ctrlPr>
                      </m:dPr>
                      <m:e>
                        <m:r>
                          <a:rPr lang="es-PE" sz="2400" b="0" i="1" smtClean="0">
                            <a:latin typeface="Cambria Math" panose="02040503050406030204" pitchFamily="18" charset="0"/>
                            <a:ea typeface="Calibri" panose="020F0502020204030204" pitchFamily="34" charset="0"/>
                            <a:cs typeface="Times New Roman" panose="02020603050405020304" pitchFamily="18" charset="0"/>
                          </a:rPr>
                          <m:t>1−</m:t>
                        </m:r>
                        <m:r>
                          <a:rPr lang="es-PE" sz="2400" b="0" i="1" smtClean="0">
                            <a:latin typeface="Cambria Math" panose="02040503050406030204" pitchFamily="18" charset="0"/>
                            <a:ea typeface="Cambria Math" panose="02040503050406030204" pitchFamily="18" charset="0"/>
                            <a:cs typeface="Times New Roman" panose="02020603050405020304" pitchFamily="18" charset="0"/>
                          </a:rPr>
                          <m:t>𝜆</m:t>
                        </m:r>
                      </m:e>
                    </m:d>
                    <m:sSub>
                      <m:sSubPr>
                        <m:ctrlPr>
                          <a:rPr lang="es-PE" sz="2400" i="1">
                            <a:latin typeface="Cambria Math" panose="02040503050406030204" pitchFamily="18" charset="0"/>
                            <a:ea typeface="Calibri" panose="020F0502020204030204" pitchFamily="34" charset="0"/>
                            <a:cs typeface="Times New Roman" panose="02020603050405020304" pitchFamily="18" charset="0"/>
                          </a:rPr>
                        </m:ctrlPr>
                      </m:sSubPr>
                      <m:e>
                        <m:r>
                          <a:rPr lang="es-PE" sz="2400" i="1">
                            <a:latin typeface="Cambria Math" panose="02040503050406030204" pitchFamily="18" charset="0"/>
                            <a:ea typeface="Cambria Math" panose="02040503050406030204" pitchFamily="18" charset="0"/>
                            <a:cs typeface="Times New Roman" panose="02020603050405020304" pitchFamily="18" charset="0"/>
                          </a:rPr>
                          <m:t>𝜋</m:t>
                        </m:r>
                      </m:e>
                      <m:sub>
                        <m:r>
                          <a:rPr lang="es-PE" sz="2400" i="1">
                            <a:latin typeface="Cambria Math" panose="02040503050406030204" pitchFamily="18" charset="0"/>
                            <a:ea typeface="Calibri" panose="020F0502020204030204" pitchFamily="34" charset="0"/>
                            <a:cs typeface="Times New Roman" panose="02020603050405020304" pitchFamily="18" charset="0"/>
                          </a:rPr>
                          <m:t>𝑡</m:t>
                        </m:r>
                        <m:r>
                          <a:rPr lang="es-PE" sz="2400" b="0" i="1" smtClean="0">
                            <a:latin typeface="Cambria Math" panose="02040503050406030204" pitchFamily="18" charset="0"/>
                            <a:ea typeface="Calibri" panose="020F0502020204030204" pitchFamily="34" charset="0"/>
                            <a:cs typeface="Times New Roman" panose="02020603050405020304" pitchFamily="18" charset="0"/>
                          </a:rPr>
                          <m:t>−1</m:t>
                        </m:r>
                      </m:sub>
                    </m:sSub>
                    <m:r>
                      <a:rPr lang="es-PE" sz="2400" b="0" i="1" smtClean="0">
                        <a:latin typeface="Cambria Math" panose="02040503050406030204" pitchFamily="18" charset="0"/>
                        <a:ea typeface="Calibri" panose="020F0502020204030204" pitchFamily="34" charset="0"/>
                        <a:cs typeface="Times New Roman" panose="02020603050405020304" pitchFamily="18" charset="0"/>
                      </a:rPr>
                      <m:t>−</m:t>
                    </m:r>
                    <m:d>
                      <m:dPr>
                        <m:ctrlPr>
                          <a:rPr lang="es-PE" sz="2400" b="0" i="1" smtClean="0">
                            <a:latin typeface="Cambria Math" panose="02040503050406030204" pitchFamily="18" charset="0"/>
                            <a:ea typeface="Calibri" panose="020F0502020204030204" pitchFamily="34" charset="0"/>
                            <a:cs typeface="Times New Roman" panose="02020603050405020304" pitchFamily="18" charset="0"/>
                          </a:rPr>
                        </m:ctrlPr>
                      </m:dPr>
                      <m:e>
                        <m:r>
                          <a:rPr lang="es-PE" sz="2400" b="0" i="1" smtClean="0">
                            <a:latin typeface="Cambria Math" panose="02040503050406030204" pitchFamily="18" charset="0"/>
                            <a:ea typeface="Calibri" panose="020F0502020204030204" pitchFamily="34" charset="0"/>
                            <a:cs typeface="Times New Roman" panose="02020603050405020304" pitchFamily="18" charset="0"/>
                          </a:rPr>
                          <m:t>1−</m:t>
                        </m:r>
                        <m:r>
                          <a:rPr lang="es-PE" sz="2400" b="0" i="1" smtClean="0">
                            <a:latin typeface="Cambria Math" panose="02040503050406030204" pitchFamily="18" charset="0"/>
                            <a:ea typeface="Cambria Math" panose="02040503050406030204" pitchFamily="18" charset="0"/>
                            <a:cs typeface="Times New Roman" panose="02020603050405020304" pitchFamily="18" charset="0"/>
                          </a:rPr>
                          <m:t>𝜆</m:t>
                        </m:r>
                      </m:e>
                    </m:d>
                    <m:d>
                      <m:dPr>
                        <m:ctrlPr>
                          <a:rPr lang="es-PE" sz="2400" b="0" i="1" smtClean="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es-PE" sz="24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s-PE" sz="2400" b="0" i="1" smtClean="0">
                                <a:latin typeface="Cambria Math" panose="02040503050406030204" pitchFamily="18" charset="0"/>
                                <a:ea typeface="Cambria Math" panose="02040503050406030204" pitchFamily="18" charset="0"/>
                                <a:cs typeface="Times New Roman" panose="02020603050405020304" pitchFamily="18" charset="0"/>
                              </a:rPr>
                              <m:t>𝑝</m:t>
                            </m:r>
                          </m:e>
                          <m:sub>
                            <m:r>
                              <a:rPr lang="es-PE" sz="2400" b="0" i="1" smtClean="0">
                                <a:latin typeface="Cambria Math" panose="02040503050406030204" pitchFamily="18" charset="0"/>
                                <a:ea typeface="Cambria Math" panose="02040503050406030204" pitchFamily="18" charset="0"/>
                                <a:cs typeface="Times New Roman" panose="02020603050405020304" pitchFamily="18" charset="0"/>
                              </a:rPr>
                              <m:t>𝑡</m:t>
                            </m:r>
                            <m:r>
                              <a:rPr lang="es-PE" sz="2400" b="0" i="1" smtClean="0">
                                <a:latin typeface="Cambria Math" panose="02040503050406030204" pitchFamily="18" charset="0"/>
                                <a:ea typeface="Cambria Math" panose="02040503050406030204" pitchFamily="18" charset="0"/>
                                <a:cs typeface="Times New Roman" panose="02020603050405020304" pitchFamily="18" charset="0"/>
                              </a:rPr>
                              <m:t>−1</m:t>
                            </m:r>
                          </m:sub>
                        </m:sSub>
                        <m:r>
                          <a:rPr lang="es-PE" sz="2400"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s-PE" sz="24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s-PE" sz="2400" b="0" i="1" smtClean="0">
                                <a:latin typeface="Cambria Math" panose="02040503050406030204" pitchFamily="18" charset="0"/>
                                <a:ea typeface="Cambria Math" panose="02040503050406030204" pitchFamily="18" charset="0"/>
                                <a:cs typeface="Times New Roman" panose="02020603050405020304" pitchFamily="18" charset="0"/>
                              </a:rPr>
                              <m:t>𝑝</m:t>
                            </m:r>
                          </m:e>
                          <m:sub>
                            <m:r>
                              <a:rPr lang="es-PE" sz="2400" b="0" i="1" smtClean="0">
                                <a:latin typeface="Cambria Math" panose="02040503050406030204" pitchFamily="18" charset="0"/>
                                <a:ea typeface="Cambria Math" panose="02040503050406030204" pitchFamily="18" charset="0"/>
                                <a:cs typeface="Times New Roman" panose="02020603050405020304" pitchFamily="18" charset="0"/>
                              </a:rPr>
                              <m:t>𝑖</m:t>
                            </m:r>
                            <m:r>
                              <a:rPr lang="es-PE" sz="2400" b="0" i="1" smtClean="0">
                                <a:latin typeface="Cambria Math" panose="02040503050406030204" pitchFamily="18" charset="0"/>
                                <a:ea typeface="Cambria Math" panose="02040503050406030204" pitchFamily="18" charset="0"/>
                                <a:cs typeface="Times New Roman" panose="02020603050405020304" pitchFamily="18" charset="0"/>
                              </a:rPr>
                              <m:t>,</m:t>
                            </m:r>
                            <m:r>
                              <a:rPr lang="es-PE" sz="2400" b="0" i="1" smtClean="0">
                                <a:latin typeface="Cambria Math" panose="02040503050406030204" pitchFamily="18" charset="0"/>
                                <a:ea typeface="Cambria Math" panose="02040503050406030204" pitchFamily="18" charset="0"/>
                                <a:cs typeface="Times New Roman" panose="02020603050405020304" pitchFamily="18" charset="0"/>
                              </a:rPr>
                              <m:t>𝑡</m:t>
                            </m:r>
                            <m:r>
                              <a:rPr lang="es-PE" sz="2400" b="0" i="1" smtClean="0">
                                <a:latin typeface="Cambria Math" panose="02040503050406030204" pitchFamily="18" charset="0"/>
                                <a:ea typeface="Cambria Math" panose="02040503050406030204" pitchFamily="18" charset="0"/>
                                <a:cs typeface="Times New Roman" panose="02020603050405020304" pitchFamily="18" charset="0"/>
                              </a:rPr>
                              <m:t>−1</m:t>
                            </m:r>
                          </m:sub>
                        </m:sSub>
                      </m:e>
                    </m:d>
                    <m:r>
                      <a:rPr lang="es-PE" sz="2400" b="0" i="1" smtClean="0">
                        <a:latin typeface="Cambria Math" panose="02040503050406030204" pitchFamily="18" charset="0"/>
                        <a:ea typeface="Cambria Math" panose="02040503050406030204" pitchFamily="18" charset="0"/>
                        <a:cs typeface="Times New Roman" panose="02020603050405020304" pitchFamily="18" charset="0"/>
                      </a:rPr>
                      <m:t>]</m:t>
                    </m:r>
                  </m:oMath>
                </a14:m>
                <a:endParaRPr lang="es-PE" sz="2400" dirty="0">
                  <a:latin typeface="Calibri" panose="020F0502020204030204" pitchFamily="34" charset="0"/>
                  <a:ea typeface="Calibri" panose="020F0502020204030204" pitchFamily="34" charset="0"/>
                  <a:cs typeface="Times New Roman" panose="02020603050405020304" pitchFamily="18" charset="0"/>
                </a:endParaRPr>
              </a:p>
              <a:p>
                <a:pPr marL="182563" indent="0" algn="just">
                  <a:lnSpc>
                    <a:spcPct val="125000"/>
                  </a:lnSpc>
                  <a:buNone/>
                  <a:tabLst>
                    <a:tab pos="5202238" algn="l"/>
                  </a:tabLst>
                </a:pPr>
                <a:r>
                  <a:rPr lang="es-PE" sz="2400" dirty="0">
                    <a:latin typeface="Calibri" panose="020F0502020204030204" pitchFamily="34" charset="0"/>
                    <a:ea typeface="Calibri" panose="020F0502020204030204" pitchFamily="34" charset="0"/>
                    <a:cs typeface="Times New Roman" panose="02020603050405020304" pitchFamily="18" charset="0"/>
                  </a:rPr>
                  <a:t>Si </a:t>
                </a:r>
                <a14:m>
                  <m:oMath xmlns:m="http://schemas.openxmlformats.org/officeDocument/2006/math">
                    <m:sSub>
                      <m:sSubPr>
                        <m:ctrlPr>
                          <a:rPr lang="es-PE" sz="2400" i="1">
                            <a:latin typeface="Cambria Math" panose="02040503050406030204" pitchFamily="18" charset="0"/>
                            <a:ea typeface="Cambria Math" panose="02040503050406030204" pitchFamily="18" charset="0"/>
                            <a:cs typeface="Times New Roman" panose="02020603050405020304" pitchFamily="18" charset="0"/>
                          </a:rPr>
                        </m:ctrlPr>
                      </m:sSubPr>
                      <m:e>
                        <m:r>
                          <a:rPr lang="es-PE" sz="2400" i="1">
                            <a:latin typeface="Cambria Math" panose="02040503050406030204" pitchFamily="18" charset="0"/>
                            <a:ea typeface="Cambria Math" panose="02040503050406030204" pitchFamily="18" charset="0"/>
                            <a:cs typeface="Times New Roman" panose="02020603050405020304" pitchFamily="18" charset="0"/>
                          </a:rPr>
                          <m:t>𝑝</m:t>
                        </m:r>
                      </m:e>
                      <m:sub>
                        <m:r>
                          <a:rPr lang="es-PE" sz="2400" i="1">
                            <a:latin typeface="Cambria Math" panose="02040503050406030204" pitchFamily="18" charset="0"/>
                            <a:ea typeface="Cambria Math" panose="02040503050406030204" pitchFamily="18" charset="0"/>
                            <a:cs typeface="Times New Roman" panose="02020603050405020304" pitchFamily="18" charset="0"/>
                          </a:rPr>
                          <m:t>𝑖</m:t>
                        </m:r>
                        <m:r>
                          <a:rPr lang="es-PE" sz="2400" i="1">
                            <a:latin typeface="Cambria Math" panose="02040503050406030204" pitchFamily="18" charset="0"/>
                            <a:ea typeface="Cambria Math" panose="02040503050406030204" pitchFamily="18" charset="0"/>
                            <a:cs typeface="Times New Roman" panose="02020603050405020304" pitchFamily="18" charset="0"/>
                          </a:rPr>
                          <m:t>,</m:t>
                        </m:r>
                        <m:r>
                          <a:rPr lang="es-PE" sz="2400" i="1">
                            <a:latin typeface="Cambria Math" panose="02040503050406030204" pitchFamily="18" charset="0"/>
                            <a:ea typeface="Cambria Math" panose="02040503050406030204" pitchFamily="18" charset="0"/>
                            <a:cs typeface="Times New Roman" panose="02020603050405020304" pitchFamily="18" charset="0"/>
                          </a:rPr>
                          <m:t>𝑡</m:t>
                        </m:r>
                      </m:sub>
                    </m:sSub>
                    <m:r>
                      <a:rPr lang="es-PE" sz="2400" b="0" i="1" smtClean="0">
                        <a:latin typeface="Cambria Math" panose="02040503050406030204" pitchFamily="18" charset="0"/>
                        <a:ea typeface="Cambria Math" panose="02040503050406030204" pitchFamily="18" charset="0"/>
                        <a:cs typeface="Times New Roman" panose="02020603050405020304" pitchFamily="18" charset="0"/>
                      </a:rPr>
                      <m:t>=</m:t>
                    </m:r>
                  </m:oMath>
                </a14:m>
                <a:r>
                  <a:rPr lang="es-PE" sz="2400" dirty="0">
                    <a:ea typeface="Cambria Math" panose="02040503050406030204" pitchFamily="18" charset="0"/>
                    <a:cs typeface="Times New Roman" panose="02020603050405020304" pitchFamily="18" charset="0"/>
                  </a:rPr>
                  <a:t> </a:t>
                </a:r>
                <a14:m>
                  <m:oMath xmlns:m="http://schemas.openxmlformats.org/officeDocument/2006/math">
                    <m:sSub>
                      <m:sSubPr>
                        <m:ctrlPr>
                          <a:rPr lang="es-PE" sz="2400" i="1">
                            <a:latin typeface="Cambria Math" panose="02040503050406030204" pitchFamily="18" charset="0"/>
                            <a:ea typeface="Cambria Math" panose="02040503050406030204" pitchFamily="18" charset="0"/>
                            <a:cs typeface="Times New Roman" panose="02020603050405020304" pitchFamily="18" charset="0"/>
                          </a:rPr>
                        </m:ctrlPr>
                      </m:sSubPr>
                      <m:e>
                        <m:r>
                          <a:rPr lang="es-PE" sz="2400" i="1">
                            <a:latin typeface="Cambria Math" panose="02040503050406030204" pitchFamily="18" charset="0"/>
                            <a:ea typeface="Cambria Math" panose="02040503050406030204" pitchFamily="18" charset="0"/>
                            <a:cs typeface="Times New Roman" panose="02020603050405020304" pitchFamily="18" charset="0"/>
                          </a:rPr>
                          <m:t>𝑝</m:t>
                        </m:r>
                      </m:e>
                      <m:sub>
                        <m:r>
                          <a:rPr lang="es-PE" sz="2400" i="1">
                            <a:latin typeface="Cambria Math" panose="02040503050406030204" pitchFamily="18" charset="0"/>
                            <a:ea typeface="Cambria Math" panose="02040503050406030204" pitchFamily="18" charset="0"/>
                            <a:cs typeface="Times New Roman" panose="02020603050405020304" pitchFamily="18" charset="0"/>
                          </a:rPr>
                          <m:t>𝑡</m:t>
                        </m:r>
                        <m:r>
                          <a:rPr lang="es-PE" sz="2400" b="0" i="1" smtClean="0">
                            <a:latin typeface="Cambria Math" panose="02040503050406030204" pitchFamily="18" charset="0"/>
                            <a:ea typeface="Cambria Math" panose="02040503050406030204" pitchFamily="18" charset="0"/>
                            <a:cs typeface="Times New Roman" panose="02020603050405020304" pitchFamily="18" charset="0"/>
                          </a:rPr>
                          <m:t>−1</m:t>
                        </m:r>
                      </m:sub>
                    </m:sSub>
                    <m:r>
                      <a:rPr lang="es-PE" sz="2400"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s-PE" sz="24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s-PE" sz="2400" b="0" i="1" smtClean="0">
                            <a:latin typeface="Cambria Math" panose="02040503050406030204" pitchFamily="18" charset="0"/>
                            <a:ea typeface="Cambria Math" panose="02040503050406030204" pitchFamily="18" charset="0"/>
                            <a:cs typeface="Times New Roman" panose="02020603050405020304" pitchFamily="18" charset="0"/>
                          </a:rPr>
                          <m:t>𝜋</m:t>
                        </m:r>
                      </m:e>
                      <m:sub>
                        <m:r>
                          <a:rPr lang="es-PE" sz="2400" b="0" i="1" smtClean="0">
                            <a:latin typeface="Cambria Math" panose="02040503050406030204" pitchFamily="18" charset="0"/>
                            <a:ea typeface="Cambria Math" panose="02040503050406030204" pitchFamily="18" charset="0"/>
                            <a:cs typeface="Times New Roman" panose="02020603050405020304" pitchFamily="18" charset="0"/>
                          </a:rPr>
                          <m:t>𝑡</m:t>
                        </m:r>
                        <m:r>
                          <a:rPr lang="es-PE" sz="2400" b="0" i="1" smtClean="0">
                            <a:latin typeface="Cambria Math" panose="02040503050406030204" pitchFamily="18" charset="0"/>
                            <a:ea typeface="Cambria Math" panose="02040503050406030204" pitchFamily="18" charset="0"/>
                            <a:cs typeface="Times New Roman" panose="02020603050405020304" pitchFamily="18" charset="0"/>
                          </a:rPr>
                          <m:t>−1</m:t>
                        </m:r>
                      </m:sub>
                    </m:sSub>
                  </m:oMath>
                </a14:m>
                <a:endParaRPr lang="es-PE" sz="2400" dirty="0">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3" name="Marcador de contenido 2">
                <a:extLst>
                  <a:ext uri="{FF2B5EF4-FFF2-40B4-BE49-F238E27FC236}">
                    <a16:creationId xmlns:a16="http://schemas.microsoft.com/office/drawing/2014/main" id="{5B201FB1-1DA8-DA49-2E29-B645128E7583}"/>
                  </a:ext>
                </a:extLst>
              </p:cNvPr>
              <p:cNvSpPr>
                <a:spLocks noGrp="1" noRot="1" noChangeAspect="1" noMove="1" noResize="1" noEditPoints="1" noAdjustHandles="1" noChangeArrowheads="1" noChangeShapeType="1" noTextEdit="1"/>
              </p:cNvSpPr>
              <p:nvPr>
                <p:ph idx="1"/>
              </p:nvPr>
            </p:nvSpPr>
            <p:spPr>
              <a:xfrm>
                <a:off x="929935" y="2019299"/>
                <a:ext cx="10663983" cy="4324203"/>
              </a:xfrm>
              <a:blipFill>
                <a:blip r:embed="rId2"/>
                <a:stretch>
                  <a:fillRect/>
                </a:stretch>
              </a:blipFill>
              <a:ln>
                <a:solidFill>
                  <a:schemeClr val="bg1">
                    <a:lumMod val="65000"/>
                  </a:schemeClr>
                </a:solidFill>
              </a:ln>
            </p:spPr>
            <p:txBody>
              <a:bodyPr/>
              <a:lstStyle/>
              <a:p>
                <a:r>
                  <a:rPr lang="es-PE">
                    <a:noFill/>
                  </a:rPr>
                  <a:t> </a:t>
                </a:r>
              </a:p>
            </p:txBody>
          </p:sp>
        </mc:Fallback>
      </mc:AlternateContent>
    </p:spTree>
    <p:extLst>
      <p:ext uri="{BB962C8B-B14F-4D97-AF65-F5344CB8AC3E}">
        <p14:creationId xmlns:p14="http://schemas.microsoft.com/office/powerpoint/2010/main" val="304958602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286D2-F738-E0E1-80AC-005D632E992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966C5EF-E2DC-F9B7-8E34-B77A27E4738C}"/>
              </a:ext>
            </a:extLst>
          </p:cNvPr>
          <p:cNvSpPr>
            <a:spLocks noGrp="1"/>
          </p:cNvSpPr>
          <p:nvPr>
            <p:ph type="title"/>
          </p:nvPr>
        </p:nvSpPr>
        <p:spPr>
          <a:xfrm>
            <a:off x="1066800" y="8046"/>
            <a:ext cx="10058400" cy="1450757"/>
          </a:xfrm>
        </p:spPr>
        <p:txBody>
          <a:bodyPr>
            <a:normAutofit/>
          </a:bodyPr>
          <a:lstStyle/>
          <a:p>
            <a:r>
              <a:rPr lang="es-PE" sz="3200" dirty="0"/>
              <a:t>Rigideces de precios e indexación</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74017829-ACBD-EFFF-48C4-5D46E4F0635B}"/>
                  </a:ext>
                </a:extLst>
              </p:cNvPr>
              <p:cNvSpPr>
                <a:spLocks noGrp="1"/>
              </p:cNvSpPr>
              <p:nvPr>
                <p:ph idx="1"/>
              </p:nvPr>
            </p:nvSpPr>
            <p:spPr>
              <a:xfrm>
                <a:off x="929935" y="2019299"/>
                <a:ext cx="10663983" cy="4324203"/>
              </a:xfrm>
              <a:ln>
                <a:solidFill>
                  <a:schemeClr val="bg1">
                    <a:lumMod val="65000"/>
                  </a:schemeClr>
                </a:solidFill>
              </a:ln>
            </p:spPr>
            <p:txBody>
              <a:bodyPr lIns="36000" rIns="180000">
                <a:noAutofit/>
              </a:bodyPr>
              <a:lstStyle/>
              <a:p>
                <a:pPr marL="182563" indent="0" algn="just">
                  <a:lnSpc>
                    <a:spcPct val="125000"/>
                  </a:lnSpc>
                  <a:buNone/>
                  <a:tabLst>
                    <a:tab pos="5202238" algn="l"/>
                  </a:tabLst>
                </a:pPr>
                <a:r>
                  <a:rPr lang="es-PE" sz="2400" dirty="0">
                    <a:latin typeface="Calibri" panose="020F0502020204030204" pitchFamily="34" charset="0"/>
                    <a:ea typeface="Calibri" panose="020F0502020204030204" pitchFamily="34" charset="0"/>
                    <a:cs typeface="Times New Roman" panose="02020603050405020304" pitchFamily="18" charset="0"/>
                  </a:rPr>
                  <a:t>Bajo el supuesto:</a:t>
                </a:r>
              </a:p>
              <a:p>
                <a:pPr marL="533400" indent="-266700" algn="just">
                  <a:lnSpc>
                    <a:spcPct val="125000"/>
                  </a:lnSpc>
                  <a:buFont typeface="Arial" panose="020B0604020202020204" pitchFamily="34" charset="0"/>
                  <a:buChar char="•"/>
                  <a:tabLst>
                    <a:tab pos="5202238" algn="l"/>
                  </a:tabLst>
                </a:pPr>
                <a14:m>
                  <m:oMath xmlns:m="http://schemas.openxmlformats.org/officeDocument/2006/math">
                    <m:sSub>
                      <m:sSubPr>
                        <m:ctrlPr>
                          <a:rPr lang="es-PE" sz="2400" i="1">
                            <a:latin typeface="Cambria Math" panose="02040503050406030204" pitchFamily="18" charset="0"/>
                            <a:ea typeface="Cambria Math" panose="02040503050406030204" pitchFamily="18" charset="0"/>
                            <a:cs typeface="Times New Roman" panose="02020603050405020304" pitchFamily="18" charset="0"/>
                          </a:rPr>
                        </m:ctrlPr>
                      </m:sSubPr>
                      <m:e>
                        <m:r>
                          <a:rPr lang="es-PE" sz="2400" i="1">
                            <a:latin typeface="Cambria Math" panose="02040503050406030204" pitchFamily="18" charset="0"/>
                            <a:ea typeface="Cambria Math" panose="02040503050406030204" pitchFamily="18" charset="0"/>
                            <a:cs typeface="Times New Roman" panose="02020603050405020304" pitchFamily="18" charset="0"/>
                          </a:rPr>
                          <m:t>𝑝</m:t>
                        </m:r>
                      </m:e>
                      <m:sub>
                        <m:r>
                          <a:rPr lang="es-PE" sz="2400" i="1">
                            <a:latin typeface="Cambria Math" panose="02040503050406030204" pitchFamily="18" charset="0"/>
                            <a:ea typeface="Cambria Math" panose="02040503050406030204" pitchFamily="18" charset="0"/>
                            <a:cs typeface="Times New Roman" panose="02020603050405020304" pitchFamily="18" charset="0"/>
                          </a:rPr>
                          <m:t>𝑖</m:t>
                        </m:r>
                        <m:r>
                          <a:rPr lang="es-PE" sz="2400" i="1">
                            <a:latin typeface="Cambria Math" panose="02040503050406030204" pitchFamily="18" charset="0"/>
                            <a:ea typeface="Cambria Math" panose="02040503050406030204" pitchFamily="18" charset="0"/>
                            <a:cs typeface="Times New Roman" panose="02020603050405020304" pitchFamily="18" charset="0"/>
                          </a:rPr>
                          <m:t>,</m:t>
                        </m:r>
                        <m:r>
                          <a:rPr lang="es-PE" sz="2400" i="1">
                            <a:latin typeface="Cambria Math" panose="02040503050406030204" pitchFamily="18" charset="0"/>
                            <a:ea typeface="Cambria Math" panose="02040503050406030204" pitchFamily="18" charset="0"/>
                            <a:cs typeface="Times New Roman" panose="02020603050405020304" pitchFamily="18" charset="0"/>
                          </a:rPr>
                          <m:t>𝑡</m:t>
                        </m:r>
                      </m:sub>
                    </m:sSub>
                    <m:r>
                      <a:rPr lang="es-PE" sz="2400" i="1">
                        <a:latin typeface="Cambria Math" panose="02040503050406030204" pitchFamily="18" charset="0"/>
                        <a:ea typeface="Cambria Math" panose="02040503050406030204" pitchFamily="18" charset="0"/>
                        <a:cs typeface="Times New Roman" panose="02020603050405020304" pitchFamily="18" charset="0"/>
                      </a:rPr>
                      <m:t>=</m:t>
                    </m:r>
                  </m:oMath>
                </a14:m>
                <a:r>
                  <a:rPr lang="es-PE" sz="2400" dirty="0">
                    <a:ea typeface="Cambria Math" panose="02040503050406030204" pitchFamily="18" charset="0"/>
                    <a:cs typeface="Times New Roman" panose="02020603050405020304" pitchFamily="18" charset="0"/>
                  </a:rPr>
                  <a:t> </a:t>
                </a:r>
                <a14:m>
                  <m:oMath xmlns:m="http://schemas.openxmlformats.org/officeDocument/2006/math">
                    <m:sSub>
                      <m:sSubPr>
                        <m:ctrlPr>
                          <a:rPr lang="es-PE" sz="2400" i="1">
                            <a:latin typeface="Cambria Math" panose="02040503050406030204" pitchFamily="18" charset="0"/>
                            <a:ea typeface="Cambria Math" panose="02040503050406030204" pitchFamily="18" charset="0"/>
                            <a:cs typeface="Times New Roman" panose="02020603050405020304" pitchFamily="18" charset="0"/>
                          </a:rPr>
                        </m:ctrlPr>
                      </m:sSubPr>
                      <m:e>
                        <m:r>
                          <a:rPr lang="es-PE" sz="2400" i="1">
                            <a:latin typeface="Cambria Math" panose="02040503050406030204" pitchFamily="18" charset="0"/>
                            <a:ea typeface="Cambria Math" panose="02040503050406030204" pitchFamily="18" charset="0"/>
                            <a:cs typeface="Times New Roman" panose="02020603050405020304" pitchFamily="18" charset="0"/>
                          </a:rPr>
                          <m:t>𝑝</m:t>
                        </m:r>
                      </m:e>
                      <m:sub>
                        <m:r>
                          <a:rPr lang="es-PE" sz="2400" i="1">
                            <a:latin typeface="Cambria Math" panose="02040503050406030204" pitchFamily="18" charset="0"/>
                            <a:ea typeface="Cambria Math" panose="02040503050406030204" pitchFamily="18" charset="0"/>
                            <a:cs typeface="Times New Roman" panose="02020603050405020304" pitchFamily="18" charset="0"/>
                          </a:rPr>
                          <m:t>𝑡</m:t>
                        </m:r>
                        <m:r>
                          <a:rPr lang="es-PE" sz="2400" i="1">
                            <a:latin typeface="Cambria Math" panose="02040503050406030204" pitchFamily="18" charset="0"/>
                            <a:ea typeface="Cambria Math" panose="02040503050406030204" pitchFamily="18" charset="0"/>
                            <a:cs typeface="Times New Roman" panose="02020603050405020304" pitchFamily="18" charset="0"/>
                          </a:rPr>
                          <m:t>−</m:t>
                        </m:r>
                        <m:r>
                          <a:rPr lang="es-PE" sz="2400" i="1">
                            <a:latin typeface="Cambria Math" panose="02040503050406030204" pitchFamily="18" charset="0"/>
                            <a:ea typeface="Cambria Math" panose="02040503050406030204" pitchFamily="18" charset="0"/>
                            <a:cs typeface="Times New Roman" panose="02020603050405020304" pitchFamily="18" charset="0"/>
                          </a:rPr>
                          <m:t>1</m:t>
                        </m:r>
                      </m:sub>
                    </m:sSub>
                    <m:r>
                      <a:rPr lang="es-PE" sz="2400"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s-PE" sz="2400" i="1">
                            <a:latin typeface="Cambria Math" panose="02040503050406030204" pitchFamily="18" charset="0"/>
                            <a:ea typeface="Cambria Math" panose="02040503050406030204" pitchFamily="18" charset="0"/>
                            <a:cs typeface="Times New Roman" panose="02020603050405020304" pitchFamily="18" charset="0"/>
                          </a:rPr>
                        </m:ctrlPr>
                      </m:sSubPr>
                      <m:e>
                        <m:r>
                          <a:rPr lang="es-PE" sz="2400" i="1">
                            <a:latin typeface="Cambria Math" panose="02040503050406030204" pitchFamily="18" charset="0"/>
                            <a:ea typeface="Cambria Math" panose="02040503050406030204" pitchFamily="18" charset="0"/>
                            <a:cs typeface="Times New Roman" panose="02020603050405020304" pitchFamily="18" charset="0"/>
                          </a:rPr>
                          <m:t>𝜋</m:t>
                        </m:r>
                      </m:e>
                      <m:sub>
                        <m:r>
                          <a:rPr lang="es-PE" sz="2400" i="1">
                            <a:latin typeface="Cambria Math" panose="02040503050406030204" pitchFamily="18" charset="0"/>
                            <a:ea typeface="Cambria Math" panose="02040503050406030204" pitchFamily="18" charset="0"/>
                            <a:cs typeface="Times New Roman" panose="02020603050405020304" pitchFamily="18" charset="0"/>
                          </a:rPr>
                          <m:t>𝑡</m:t>
                        </m:r>
                        <m:r>
                          <a:rPr lang="es-PE" sz="2400" i="1">
                            <a:latin typeface="Cambria Math" panose="02040503050406030204" pitchFamily="18" charset="0"/>
                            <a:ea typeface="Cambria Math" panose="02040503050406030204" pitchFamily="18" charset="0"/>
                            <a:cs typeface="Times New Roman" panose="02020603050405020304" pitchFamily="18" charset="0"/>
                          </a:rPr>
                          <m:t>−</m:t>
                        </m:r>
                        <m:r>
                          <a:rPr lang="es-PE" sz="2400" i="1">
                            <a:latin typeface="Cambria Math" panose="02040503050406030204" pitchFamily="18" charset="0"/>
                            <a:ea typeface="Cambria Math" panose="02040503050406030204" pitchFamily="18" charset="0"/>
                            <a:cs typeface="Times New Roman" panose="02020603050405020304" pitchFamily="18" charset="0"/>
                          </a:rPr>
                          <m:t>1</m:t>
                        </m:r>
                      </m:sub>
                    </m:sSub>
                  </m:oMath>
                </a14:m>
                <a:endParaRPr lang="es-PE" sz="2400" dirty="0">
                  <a:latin typeface="Calibri" panose="020F0502020204030204" pitchFamily="34" charset="0"/>
                  <a:ea typeface="Calibri" panose="020F0502020204030204" pitchFamily="34" charset="0"/>
                  <a:cs typeface="Times New Roman" panose="02020603050405020304" pitchFamily="18" charset="0"/>
                </a:endParaRPr>
              </a:p>
              <a:p>
                <a:pPr marL="182563" indent="0" algn="just">
                  <a:lnSpc>
                    <a:spcPct val="125000"/>
                  </a:lnSpc>
                  <a:buNone/>
                  <a:tabLst>
                    <a:tab pos="5202238" algn="l"/>
                  </a:tabLst>
                </a:pPr>
                <a:r>
                  <a:rPr lang="es-PE" sz="2400" dirty="0">
                    <a:latin typeface="Calibri" panose="020F0502020204030204" pitchFamily="34" charset="0"/>
                    <a:ea typeface="Calibri" panose="020F0502020204030204" pitchFamily="34" charset="0"/>
                    <a:cs typeface="Times New Roman" panose="02020603050405020304" pitchFamily="18" charset="0"/>
                  </a:rPr>
                  <a:t>Entonces la PC es:</a:t>
                </a:r>
              </a:p>
              <a:p>
                <a:pPr marL="525463" indent="-342900" algn="just">
                  <a:lnSpc>
                    <a:spcPct val="125000"/>
                  </a:lnSpc>
                  <a:buFont typeface="Arial" panose="020B0604020202020204" pitchFamily="34" charset="0"/>
                  <a:buChar char="•"/>
                  <a:tabLst>
                    <a:tab pos="5202238" algn="l"/>
                  </a:tabLst>
                </a:pPr>
                <a14:m>
                  <m:oMath xmlns:m="http://schemas.openxmlformats.org/officeDocument/2006/math">
                    <m:sSub>
                      <m:sSubPr>
                        <m:ctrlPr>
                          <a:rPr lang="es-PE" sz="2400" i="1">
                            <a:latin typeface="Cambria Math" panose="02040503050406030204" pitchFamily="18" charset="0"/>
                            <a:ea typeface="Calibri" panose="020F0502020204030204" pitchFamily="34" charset="0"/>
                            <a:cs typeface="Times New Roman" panose="02020603050405020304" pitchFamily="18" charset="0"/>
                          </a:rPr>
                        </m:ctrlPr>
                      </m:sSubPr>
                      <m:e>
                        <m:r>
                          <a:rPr lang="es-PE" sz="2400" i="1">
                            <a:latin typeface="Cambria Math" panose="02040503050406030204" pitchFamily="18" charset="0"/>
                            <a:ea typeface="Calibri" panose="020F0502020204030204" pitchFamily="34" charset="0"/>
                            <a:cs typeface="Times New Roman" panose="02020603050405020304" pitchFamily="18" charset="0"/>
                          </a:rPr>
                          <m:t>𝑦</m:t>
                        </m:r>
                      </m:e>
                      <m:sub>
                        <m:r>
                          <a:rPr lang="es-PE" sz="2400" i="1">
                            <a:latin typeface="Cambria Math" panose="02040503050406030204" pitchFamily="18" charset="0"/>
                            <a:ea typeface="Calibri" panose="020F0502020204030204" pitchFamily="34" charset="0"/>
                            <a:cs typeface="Times New Roman" panose="02020603050405020304" pitchFamily="18" charset="0"/>
                          </a:rPr>
                          <m:t>𝑡</m:t>
                        </m:r>
                      </m:sub>
                    </m:sSub>
                    <m:r>
                      <a:rPr lang="es-PE" sz="2400" b="0" i="1" smtClean="0">
                        <a:latin typeface="Cambria Math" panose="02040503050406030204" pitchFamily="18" charset="0"/>
                        <a:ea typeface="Calibri" panose="020F0502020204030204" pitchFamily="34" charset="0"/>
                        <a:cs typeface="Times New Roman" panose="02020603050405020304" pitchFamily="18" charset="0"/>
                      </a:rPr>
                      <m:t>=</m:t>
                    </m:r>
                    <m:acc>
                      <m:accPr>
                        <m:chr m:val="̅"/>
                        <m:ctrlPr>
                          <a:rPr lang="es-PE" sz="2400" i="1">
                            <a:latin typeface="Cambria Math" panose="02040503050406030204" pitchFamily="18" charset="0"/>
                            <a:ea typeface="Calibri" panose="020F0502020204030204" pitchFamily="34" charset="0"/>
                            <a:cs typeface="Times New Roman" panose="02020603050405020304" pitchFamily="18" charset="0"/>
                          </a:rPr>
                        </m:ctrlPr>
                      </m:accPr>
                      <m:e>
                        <m:r>
                          <a:rPr lang="es-PE" sz="2400" i="1">
                            <a:latin typeface="Cambria Math" panose="02040503050406030204" pitchFamily="18" charset="0"/>
                            <a:ea typeface="Calibri" panose="020F0502020204030204" pitchFamily="34" charset="0"/>
                            <a:cs typeface="Times New Roman" panose="02020603050405020304" pitchFamily="18" charset="0"/>
                          </a:rPr>
                          <m:t>𝑦</m:t>
                        </m:r>
                      </m:e>
                    </m:acc>
                    <m:r>
                      <a:rPr lang="es-PE" sz="2400" b="0" i="1" smtClean="0">
                        <a:latin typeface="Cambria Math" panose="02040503050406030204" pitchFamily="18" charset="0"/>
                        <a:ea typeface="Calibri" panose="020F0502020204030204" pitchFamily="34" charset="0"/>
                        <a:cs typeface="Times New Roman" panose="02020603050405020304" pitchFamily="18" charset="0"/>
                      </a:rPr>
                      <m:t>+</m:t>
                    </m:r>
                    <m:r>
                      <a:rPr lang="es-PE" sz="2400" i="1">
                        <a:latin typeface="Cambria Math" panose="02040503050406030204" pitchFamily="18" charset="0"/>
                        <a:ea typeface="Cambria Math" panose="02040503050406030204" pitchFamily="18" charset="0"/>
                        <a:cs typeface="Times New Roman" panose="02020603050405020304" pitchFamily="18" charset="0"/>
                      </a:rPr>
                      <m:t>𝛼</m:t>
                    </m:r>
                    <m:r>
                      <a:rPr lang="es-PE" sz="2400"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s-PE" sz="2400" i="1">
                            <a:latin typeface="Cambria Math" panose="02040503050406030204" pitchFamily="18" charset="0"/>
                            <a:ea typeface="Calibri" panose="020F0502020204030204" pitchFamily="34" charset="0"/>
                            <a:cs typeface="Times New Roman" panose="02020603050405020304" pitchFamily="18" charset="0"/>
                          </a:rPr>
                        </m:ctrlPr>
                      </m:sSubPr>
                      <m:e>
                        <m:r>
                          <a:rPr lang="es-PE" sz="2400" i="1">
                            <a:latin typeface="Cambria Math" panose="02040503050406030204" pitchFamily="18" charset="0"/>
                            <a:ea typeface="Cambria Math" panose="02040503050406030204" pitchFamily="18" charset="0"/>
                            <a:cs typeface="Times New Roman" panose="02020603050405020304" pitchFamily="18" charset="0"/>
                          </a:rPr>
                          <m:t>𝜋</m:t>
                        </m:r>
                      </m:e>
                      <m:sub>
                        <m:r>
                          <a:rPr lang="es-PE" sz="2400" i="1">
                            <a:latin typeface="Cambria Math" panose="02040503050406030204" pitchFamily="18" charset="0"/>
                            <a:ea typeface="Calibri" panose="020F0502020204030204" pitchFamily="34" charset="0"/>
                            <a:cs typeface="Times New Roman" panose="02020603050405020304" pitchFamily="18" charset="0"/>
                          </a:rPr>
                          <m:t>𝑡</m:t>
                        </m:r>
                      </m:sub>
                    </m:sSub>
                    <m:r>
                      <a:rPr lang="es-PE" sz="2400" i="1">
                        <a:latin typeface="Cambria Math" panose="02040503050406030204" pitchFamily="18" charset="0"/>
                        <a:ea typeface="Calibri" panose="020F0502020204030204" pitchFamily="34" charset="0"/>
                        <a:cs typeface="Times New Roman" panose="02020603050405020304" pitchFamily="18" charset="0"/>
                      </a:rPr>
                      <m:t>−</m:t>
                    </m:r>
                    <m:sSubSup>
                      <m:sSubSupPr>
                        <m:ctrlPr>
                          <a:rPr lang="es-PE" sz="2400" i="1">
                            <a:latin typeface="Cambria Math" panose="02040503050406030204" pitchFamily="18" charset="0"/>
                            <a:ea typeface="Calibri" panose="020F0502020204030204" pitchFamily="34" charset="0"/>
                            <a:cs typeface="Times New Roman" panose="02020603050405020304" pitchFamily="18" charset="0"/>
                          </a:rPr>
                        </m:ctrlPr>
                      </m:sSubSupPr>
                      <m:e>
                        <m:r>
                          <a:rPr lang="es-PE" sz="2400" i="1" smtClean="0">
                            <a:latin typeface="Cambria Math" panose="02040503050406030204" pitchFamily="18" charset="0"/>
                            <a:ea typeface="Cambria Math" panose="02040503050406030204" pitchFamily="18" charset="0"/>
                            <a:cs typeface="Times New Roman" panose="02020603050405020304" pitchFamily="18" charset="0"/>
                          </a:rPr>
                          <m:t>𝜆</m:t>
                        </m:r>
                        <m:r>
                          <a:rPr lang="es-PE" sz="2400" i="1">
                            <a:latin typeface="Cambria Math" panose="02040503050406030204" pitchFamily="18" charset="0"/>
                            <a:ea typeface="Cambria Math" panose="02040503050406030204" pitchFamily="18" charset="0"/>
                            <a:cs typeface="Times New Roman" panose="02020603050405020304" pitchFamily="18" charset="0"/>
                          </a:rPr>
                          <m:t>𝜋</m:t>
                        </m:r>
                      </m:e>
                      <m:sub>
                        <m:r>
                          <a:rPr lang="es-PE" sz="2400" i="1">
                            <a:latin typeface="Cambria Math" panose="02040503050406030204" pitchFamily="18" charset="0"/>
                            <a:ea typeface="Calibri" panose="020F0502020204030204" pitchFamily="34" charset="0"/>
                            <a:cs typeface="Times New Roman" panose="02020603050405020304" pitchFamily="18" charset="0"/>
                          </a:rPr>
                          <m:t>𝑡</m:t>
                        </m:r>
                      </m:sub>
                      <m:sup>
                        <m:r>
                          <a:rPr lang="es-PE" sz="2400" i="1">
                            <a:latin typeface="Cambria Math" panose="02040503050406030204" pitchFamily="18" charset="0"/>
                            <a:ea typeface="Calibri" panose="020F0502020204030204" pitchFamily="34" charset="0"/>
                            <a:cs typeface="Times New Roman" panose="02020603050405020304" pitchFamily="18" charset="0"/>
                          </a:rPr>
                          <m:t>𝑒</m:t>
                        </m:r>
                      </m:sup>
                    </m:sSubSup>
                    <m:r>
                      <a:rPr lang="es-PE" sz="2400" b="0" i="1" smtClean="0">
                        <a:latin typeface="Cambria Math" panose="02040503050406030204" pitchFamily="18" charset="0"/>
                        <a:ea typeface="Calibri" panose="020F0502020204030204" pitchFamily="34" charset="0"/>
                        <a:cs typeface="Times New Roman" panose="02020603050405020304" pitchFamily="18" charset="0"/>
                      </a:rPr>
                      <m:t>−</m:t>
                    </m:r>
                    <m:d>
                      <m:dPr>
                        <m:ctrlPr>
                          <a:rPr lang="es-PE" sz="2400" b="0" i="1" smtClean="0">
                            <a:latin typeface="Cambria Math" panose="02040503050406030204" pitchFamily="18" charset="0"/>
                            <a:ea typeface="Calibri" panose="020F0502020204030204" pitchFamily="34" charset="0"/>
                            <a:cs typeface="Times New Roman" panose="02020603050405020304" pitchFamily="18" charset="0"/>
                          </a:rPr>
                        </m:ctrlPr>
                      </m:dPr>
                      <m:e>
                        <m:r>
                          <a:rPr lang="es-PE" sz="2400" b="0" i="1" smtClean="0">
                            <a:latin typeface="Cambria Math" panose="02040503050406030204" pitchFamily="18" charset="0"/>
                            <a:ea typeface="Calibri" panose="020F0502020204030204" pitchFamily="34" charset="0"/>
                            <a:cs typeface="Times New Roman" panose="02020603050405020304" pitchFamily="18" charset="0"/>
                          </a:rPr>
                          <m:t>1</m:t>
                        </m:r>
                        <m:r>
                          <a:rPr lang="es-PE" sz="2400" b="0" i="1" smtClean="0">
                            <a:latin typeface="Cambria Math" panose="02040503050406030204" pitchFamily="18" charset="0"/>
                            <a:ea typeface="Calibri" panose="020F0502020204030204" pitchFamily="34" charset="0"/>
                            <a:cs typeface="Times New Roman" panose="02020603050405020304" pitchFamily="18" charset="0"/>
                          </a:rPr>
                          <m:t>−</m:t>
                        </m:r>
                        <m:r>
                          <a:rPr lang="es-PE" sz="2400" b="0" i="1" smtClean="0">
                            <a:latin typeface="Cambria Math" panose="02040503050406030204" pitchFamily="18" charset="0"/>
                            <a:ea typeface="Cambria Math" panose="02040503050406030204" pitchFamily="18" charset="0"/>
                            <a:cs typeface="Times New Roman" panose="02020603050405020304" pitchFamily="18" charset="0"/>
                          </a:rPr>
                          <m:t>𝜆</m:t>
                        </m:r>
                      </m:e>
                    </m:d>
                    <m:sSub>
                      <m:sSubPr>
                        <m:ctrlPr>
                          <a:rPr lang="es-PE" sz="2400" i="1">
                            <a:latin typeface="Cambria Math" panose="02040503050406030204" pitchFamily="18" charset="0"/>
                            <a:ea typeface="Calibri" panose="020F0502020204030204" pitchFamily="34" charset="0"/>
                            <a:cs typeface="Times New Roman" panose="02020603050405020304" pitchFamily="18" charset="0"/>
                          </a:rPr>
                        </m:ctrlPr>
                      </m:sSubPr>
                      <m:e>
                        <m:r>
                          <a:rPr lang="es-PE" sz="2400" i="1">
                            <a:latin typeface="Cambria Math" panose="02040503050406030204" pitchFamily="18" charset="0"/>
                            <a:ea typeface="Cambria Math" panose="02040503050406030204" pitchFamily="18" charset="0"/>
                            <a:cs typeface="Times New Roman" panose="02020603050405020304" pitchFamily="18" charset="0"/>
                          </a:rPr>
                          <m:t>𝜋</m:t>
                        </m:r>
                      </m:e>
                      <m:sub>
                        <m:r>
                          <a:rPr lang="es-PE" sz="2400" i="1">
                            <a:latin typeface="Cambria Math" panose="02040503050406030204" pitchFamily="18" charset="0"/>
                            <a:ea typeface="Calibri" panose="020F0502020204030204" pitchFamily="34" charset="0"/>
                            <a:cs typeface="Times New Roman" panose="02020603050405020304" pitchFamily="18" charset="0"/>
                          </a:rPr>
                          <m:t>𝑡</m:t>
                        </m:r>
                        <m:r>
                          <a:rPr lang="es-PE" sz="2400" b="0" i="1" smtClean="0">
                            <a:latin typeface="Cambria Math" panose="02040503050406030204" pitchFamily="18" charset="0"/>
                            <a:ea typeface="Calibri" panose="020F0502020204030204" pitchFamily="34" charset="0"/>
                            <a:cs typeface="Times New Roman" panose="02020603050405020304" pitchFamily="18" charset="0"/>
                          </a:rPr>
                          <m:t>−</m:t>
                        </m:r>
                        <m:r>
                          <a:rPr lang="es-PE" sz="2400" b="0" i="1" smtClean="0">
                            <a:latin typeface="Cambria Math" panose="02040503050406030204" pitchFamily="18" charset="0"/>
                            <a:ea typeface="Calibri" panose="020F0502020204030204" pitchFamily="34" charset="0"/>
                            <a:cs typeface="Times New Roman" panose="02020603050405020304" pitchFamily="18" charset="0"/>
                          </a:rPr>
                          <m:t>1</m:t>
                        </m:r>
                      </m:sub>
                    </m:sSub>
                    <m:r>
                      <a:rPr lang="es-PE" sz="2400" b="0" i="0" smtClean="0">
                        <a:latin typeface="Cambria Math" panose="02040503050406030204" pitchFamily="18" charset="0"/>
                        <a:ea typeface="Cambria Math" panose="02040503050406030204" pitchFamily="18" charset="0"/>
                        <a:cs typeface="Times New Roman" panose="02020603050405020304" pitchFamily="18" charset="0"/>
                      </a:rPr>
                      <m:t>]</m:t>
                    </m:r>
                  </m:oMath>
                </a14:m>
                <a:endParaRPr lang="es-PE" sz="2400" dirty="0">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3" name="Marcador de contenido 2">
                <a:extLst>
                  <a:ext uri="{FF2B5EF4-FFF2-40B4-BE49-F238E27FC236}">
                    <a16:creationId xmlns:a16="http://schemas.microsoft.com/office/drawing/2014/main" id="{74017829-ACBD-EFFF-48C4-5D46E4F0635B}"/>
                  </a:ext>
                </a:extLst>
              </p:cNvPr>
              <p:cNvSpPr>
                <a:spLocks noGrp="1" noRot="1" noChangeAspect="1" noMove="1" noResize="1" noEditPoints="1" noAdjustHandles="1" noChangeArrowheads="1" noChangeShapeType="1" noTextEdit="1"/>
              </p:cNvSpPr>
              <p:nvPr>
                <p:ph idx="1"/>
              </p:nvPr>
            </p:nvSpPr>
            <p:spPr>
              <a:xfrm>
                <a:off x="929935" y="2019299"/>
                <a:ext cx="10663983" cy="4324203"/>
              </a:xfrm>
              <a:blipFill>
                <a:blip r:embed="rId2"/>
                <a:stretch>
                  <a:fillRect/>
                </a:stretch>
              </a:blipFill>
              <a:ln>
                <a:solidFill>
                  <a:schemeClr val="bg1">
                    <a:lumMod val="65000"/>
                  </a:schemeClr>
                </a:solidFill>
              </a:ln>
            </p:spPr>
            <p:txBody>
              <a:bodyPr/>
              <a:lstStyle/>
              <a:p>
                <a:r>
                  <a:rPr lang="es-PE">
                    <a:noFill/>
                  </a:rPr>
                  <a:t> </a:t>
                </a:r>
              </a:p>
            </p:txBody>
          </p:sp>
        </mc:Fallback>
      </mc:AlternateContent>
    </p:spTree>
    <p:extLst>
      <p:ext uri="{BB962C8B-B14F-4D97-AF65-F5344CB8AC3E}">
        <p14:creationId xmlns:p14="http://schemas.microsoft.com/office/powerpoint/2010/main" val="86845622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15AA5E-E3BD-7B74-ADAD-8B68A4C55A4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9CA787E-3239-5784-A2CF-91B775CF401D}"/>
              </a:ext>
            </a:extLst>
          </p:cNvPr>
          <p:cNvSpPr>
            <a:spLocks noGrp="1"/>
          </p:cNvSpPr>
          <p:nvPr>
            <p:ph type="title"/>
          </p:nvPr>
        </p:nvSpPr>
        <p:spPr>
          <a:xfrm>
            <a:off x="1066800" y="8046"/>
            <a:ext cx="10058400" cy="1450757"/>
          </a:xfrm>
        </p:spPr>
        <p:txBody>
          <a:bodyPr>
            <a:normAutofit/>
          </a:bodyPr>
          <a:lstStyle/>
          <a:p>
            <a:r>
              <a:rPr lang="es-PE" sz="3200" dirty="0"/>
              <a:t>Rigideces de precios e indexación</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748C5F7D-C9A1-7645-CEA8-1DE408D7EE37}"/>
                  </a:ext>
                </a:extLst>
              </p:cNvPr>
              <p:cNvSpPr>
                <a:spLocks noGrp="1"/>
              </p:cNvSpPr>
              <p:nvPr>
                <p:ph idx="1"/>
              </p:nvPr>
            </p:nvSpPr>
            <p:spPr>
              <a:xfrm>
                <a:off x="929935" y="2019299"/>
                <a:ext cx="10663983" cy="4324203"/>
              </a:xfrm>
              <a:ln>
                <a:solidFill>
                  <a:schemeClr val="bg1">
                    <a:lumMod val="65000"/>
                  </a:schemeClr>
                </a:solidFill>
              </a:ln>
            </p:spPr>
            <p:txBody>
              <a:bodyPr lIns="36000" rIns="180000">
                <a:noAutofit/>
              </a:bodyPr>
              <a:lstStyle/>
              <a:p>
                <a:pPr marL="525463" indent="-342900" algn="just">
                  <a:lnSpc>
                    <a:spcPct val="125000"/>
                  </a:lnSpc>
                  <a:buFont typeface="Arial" panose="020B0604020202020204" pitchFamily="34" charset="0"/>
                  <a:buChar char="•"/>
                  <a:tabLst>
                    <a:tab pos="5202238" algn="l"/>
                  </a:tabLst>
                </a:pPr>
                <a:r>
                  <a:rPr lang="es-PE" sz="2400" dirty="0">
                    <a:latin typeface="Calibri" panose="020F0502020204030204" pitchFamily="34" charset="0"/>
                    <a:ea typeface="Calibri" panose="020F0502020204030204" pitchFamily="34" charset="0"/>
                    <a:cs typeface="Times New Roman" panose="02020603050405020304" pitchFamily="18" charset="0"/>
                  </a:rPr>
                  <a:t>La PC es más inelástica (vertical) si </a:t>
                </a:r>
                <a14:m>
                  <m:oMath xmlns:m="http://schemas.openxmlformats.org/officeDocument/2006/math">
                    <m:r>
                      <a:rPr lang="es-PE" sz="2400" i="1" smtClean="0">
                        <a:latin typeface="Cambria Math" panose="02040503050406030204" pitchFamily="18" charset="0"/>
                        <a:ea typeface="Cambria Math" panose="02040503050406030204" pitchFamily="18" charset="0"/>
                        <a:cs typeface="Times New Roman" panose="02020603050405020304" pitchFamily="18" charset="0"/>
                      </a:rPr>
                      <m:t>𝛼</m:t>
                    </m:r>
                    <m:r>
                      <a:rPr lang="es-PE" sz="2400" i="1" smtClean="0">
                        <a:latin typeface="Cambria Math" panose="02040503050406030204" pitchFamily="18" charset="0"/>
                        <a:ea typeface="Cambria Math" panose="02040503050406030204" pitchFamily="18" charset="0"/>
                        <a:cs typeface="Times New Roman" panose="02020603050405020304" pitchFamily="18" charset="0"/>
                      </a:rPr>
                      <m:t>↠</m:t>
                    </m:r>
                    <m:r>
                      <a:rPr lang="es-PE" sz="2400" b="0" i="1" smtClean="0">
                        <a:latin typeface="Cambria Math" panose="02040503050406030204" pitchFamily="18" charset="0"/>
                        <a:ea typeface="Cambria Math" panose="02040503050406030204" pitchFamily="18" charset="0"/>
                        <a:cs typeface="Times New Roman" panose="02020603050405020304" pitchFamily="18" charset="0"/>
                      </a:rPr>
                      <m:t>0</m:t>
                    </m:r>
                    <m:r>
                      <a:rPr lang="es-PE" sz="2400" b="0" i="1" smtClean="0">
                        <a:latin typeface="Cambria Math" panose="02040503050406030204" pitchFamily="18" charset="0"/>
                        <a:ea typeface="Cambria Math" panose="02040503050406030204" pitchFamily="18" charset="0"/>
                        <a:cs typeface="Times New Roman" panose="02020603050405020304" pitchFamily="18" charset="0"/>
                      </a:rPr>
                      <m:t> </m:t>
                    </m:r>
                  </m:oMath>
                </a14:m>
                <a:r>
                  <a:rPr lang="es-PE" sz="2400" dirty="0">
                    <a:latin typeface="Calibri" panose="020F0502020204030204" pitchFamily="34" charset="0"/>
                    <a:ea typeface="Calibri" panose="020F0502020204030204" pitchFamily="34" charset="0"/>
                    <a:cs typeface="Times New Roman" panose="02020603050405020304" pitchFamily="18" charset="0"/>
                  </a:rPr>
                  <a:t>las empresas de precios flexibles reaccionan con fuertes cambios de precios ante cambio en la demanda.</a:t>
                </a:r>
              </a:p>
              <a:p>
                <a:pPr marL="525463" indent="-342900" algn="just">
                  <a:lnSpc>
                    <a:spcPct val="125000"/>
                  </a:lnSpc>
                  <a:buFont typeface="Arial" panose="020B0604020202020204" pitchFamily="34" charset="0"/>
                  <a:buChar char="•"/>
                  <a:tabLst>
                    <a:tab pos="5202238" algn="l"/>
                  </a:tabLst>
                </a:pPr>
                <a:r>
                  <a:rPr lang="es-PE" sz="2400" dirty="0">
                    <a:latin typeface="Calibri" panose="020F0502020204030204" pitchFamily="34" charset="0"/>
                    <a:ea typeface="Calibri" panose="020F0502020204030204" pitchFamily="34" charset="0"/>
                    <a:cs typeface="Times New Roman" panose="02020603050405020304" pitchFamily="18" charset="0"/>
                  </a:rPr>
                  <a:t>La PC es más inelástica mientras menor es la participación relativa de los precios no flexibles </a:t>
                </a:r>
                <a14:m>
                  <m:oMath xmlns:m="http://schemas.openxmlformats.org/officeDocument/2006/math">
                    <m:sSub>
                      <m:sSubPr>
                        <m:ctrlPr>
                          <a:rPr lang="es-PE" sz="240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s-PE" sz="2400" i="1" smtClean="0">
                            <a:latin typeface="Cambria Math" panose="02040503050406030204" pitchFamily="18" charset="0"/>
                            <a:ea typeface="Cambria Math" panose="02040503050406030204" pitchFamily="18" charset="0"/>
                            <a:cs typeface="Times New Roman" panose="02020603050405020304" pitchFamily="18" charset="0"/>
                          </a:rPr>
                          <m:t>𝛼</m:t>
                        </m:r>
                      </m:e>
                      <m:sub>
                        <m:r>
                          <a:rPr lang="es-PE" sz="2400" b="0" i="1" smtClean="0">
                            <a:latin typeface="Cambria Math" panose="02040503050406030204" pitchFamily="18" charset="0"/>
                            <a:ea typeface="Cambria Math" panose="02040503050406030204" pitchFamily="18" charset="0"/>
                            <a:cs typeface="Times New Roman" panose="02020603050405020304" pitchFamily="18" charset="0"/>
                          </a:rPr>
                          <m:t>𝑟</m:t>
                        </m:r>
                      </m:sub>
                    </m:sSub>
                    <m:r>
                      <a:rPr lang="es-PE" sz="2400"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s-PE" sz="24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s-PE" sz="2400" b="0" i="1" smtClean="0">
                            <a:latin typeface="Cambria Math" panose="02040503050406030204" pitchFamily="18" charset="0"/>
                            <a:ea typeface="Cambria Math" panose="02040503050406030204" pitchFamily="18" charset="0"/>
                            <a:cs typeface="Times New Roman" panose="02020603050405020304" pitchFamily="18" charset="0"/>
                          </a:rPr>
                          <m:t>𝛼</m:t>
                        </m:r>
                      </m:e>
                      <m:sub>
                        <m:r>
                          <a:rPr lang="es-PE" sz="2400" b="0" i="1" smtClean="0">
                            <a:latin typeface="Cambria Math" panose="02040503050406030204" pitchFamily="18" charset="0"/>
                            <a:ea typeface="Cambria Math" panose="02040503050406030204" pitchFamily="18" charset="0"/>
                            <a:cs typeface="Times New Roman" panose="02020603050405020304" pitchFamily="18" charset="0"/>
                          </a:rPr>
                          <m:t>𝑖</m:t>
                        </m:r>
                      </m:sub>
                    </m:sSub>
                    <m:r>
                      <a:rPr lang="es-PE" sz="2400" i="1">
                        <a:latin typeface="Cambria Math" panose="02040503050406030204" pitchFamily="18" charset="0"/>
                        <a:ea typeface="Cambria Math" panose="02040503050406030204" pitchFamily="18" charset="0"/>
                        <a:cs typeface="Times New Roman" panose="02020603050405020304" pitchFamily="18" charset="0"/>
                      </a:rPr>
                      <m:t>↠</m:t>
                    </m:r>
                    <m:r>
                      <a:rPr lang="es-PE" sz="2400" i="1">
                        <a:latin typeface="Cambria Math" panose="02040503050406030204" pitchFamily="18" charset="0"/>
                        <a:ea typeface="Cambria Math" panose="02040503050406030204" pitchFamily="18" charset="0"/>
                        <a:cs typeface="Times New Roman" panose="02020603050405020304" pitchFamily="18" charset="0"/>
                      </a:rPr>
                      <m:t>0</m:t>
                    </m:r>
                  </m:oMath>
                </a14:m>
                <a:endParaRPr lang="es-PE" sz="2400" dirty="0">
                  <a:latin typeface="Calibri" panose="020F0502020204030204" pitchFamily="34" charset="0"/>
                  <a:ea typeface="Calibri" panose="020F0502020204030204" pitchFamily="34" charset="0"/>
                  <a:cs typeface="Times New Roman" panose="02020603050405020304" pitchFamily="18" charset="0"/>
                </a:endParaRPr>
              </a:p>
              <a:p>
                <a:pPr marL="533400" indent="-266700" algn="just">
                  <a:lnSpc>
                    <a:spcPct val="125000"/>
                  </a:lnSpc>
                  <a:buFont typeface="Arial" panose="020B0604020202020204" pitchFamily="34" charset="0"/>
                  <a:buChar char="•"/>
                  <a:tabLst>
                    <a:tab pos="5202238" algn="l"/>
                  </a:tabLst>
                </a:pPr>
                <a:r>
                  <a:rPr lang="es-PE" sz="2400" dirty="0">
                    <a:latin typeface="Calibri" panose="020F0502020204030204" pitchFamily="34" charset="0"/>
                    <a:ea typeface="Calibri" panose="020F0502020204030204" pitchFamily="34" charset="0"/>
                    <a:cs typeface="Times New Roman" panose="02020603050405020304" pitchFamily="18" charset="0"/>
                  </a:rPr>
                  <a:t>La inercia de la PC es mayor mientras (1-</a:t>
                </a:r>
                <a:r>
                  <a:rPr lang="el-GR" sz="2400" dirty="0">
                    <a:latin typeface="Palatino Linotype" panose="02040502050505030304" pitchFamily="18" charset="0"/>
                    <a:ea typeface="Calibri" panose="020F0502020204030204" pitchFamily="34" charset="0"/>
                    <a:cs typeface="Times New Roman" panose="02020603050405020304" pitchFamily="18" charset="0"/>
                  </a:rPr>
                  <a:t>λ</a:t>
                </a:r>
                <a:r>
                  <a:rPr lang="es-PE" sz="2400" dirty="0">
                    <a:latin typeface="Calibri" panose="020F0502020204030204" pitchFamily="34" charset="0"/>
                    <a:ea typeface="Calibri" panose="020F0502020204030204" pitchFamily="34" charset="0"/>
                    <a:cs typeface="Times New Roman" panose="02020603050405020304" pitchFamily="18" charset="0"/>
                  </a:rPr>
                  <a:t>) es mayor:</a:t>
                </a:r>
              </a:p>
              <a:p>
                <a:pPr marL="266700" indent="0" algn="ctr">
                  <a:lnSpc>
                    <a:spcPct val="125000"/>
                  </a:lnSpc>
                  <a:buNone/>
                  <a:tabLst>
                    <a:tab pos="4749800" algn="l"/>
                    <a:tab pos="4927600" algn="l"/>
                  </a:tabLst>
                </a:pPr>
                <a14:m>
                  <m:oMath xmlns:m="http://schemas.openxmlformats.org/officeDocument/2006/math">
                    <m:r>
                      <a:rPr lang="es-PE" sz="2400" b="0" i="1" smtClean="0">
                        <a:latin typeface="Cambria Math" panose="02040503050406030204" pitchFamily="18" charset="0"/>
                        <a:ea typeface="Calibri" panose="020F0502020204030204" pitchFamily="34" charset="0"/>
                        <a:cs typeface="Times New Roman" panose="02020603050405020304" pitchFamily="18" charset="0"/>
                      </a:rPr>
                      <m:t>1</m:t>
                    </m:r>
                    <m:r>
                      <a:rPr lang="es-PE" sz="2400" b="0" i="1" smtClean="0">
                        <a:latin typeface="Cambria Math" panose="02040503050406030204" pitchFamily="18" charset="0"/>
                        <a:ea typeface="Calibri" panose="020F0502020204030204" pitchFamily="34" charset="0"/>
                        <a:cs typeface="Times New Roman" panose="02020603050405020304" pitchFamily="18" charset="0"/>
                      </a:rPr>
                      <m:t>−</m:t>
                    </m:r>
                    <m:r>
                      <a:rPr lang="es-PE" sz="2400" b="0" i="1" smtClean="0">
                        <a:latin typeface="Cambria Math" panose="02040503050406030204" pitchFamily="18" charset="0"/>
                        <a:ea typeface="Cambria Math" panose="02040503050406030204" pitchFamily="18" charset="0"/>
                        <a:cs typeface="Times New Roman" panose="02020603050405020304" pitchFamily="18" charset="0"/>
                      </a:rPr>
                      <m:t>𝜆</m:t>
                    </m:r>
                    <m:r>
                      <a:rPr lang="es-PE" sz="2400" i="1" smtClean="0">
                        <a:latin typeface="Cambria Math" panose="02040503050406030204" pitchFamily="18" charset="0"/>
                        <a:ea typeface="Calibri" panose="020F0502020204030204" pitchFamily="34" charset="0"/>
                        <a:cs typeface="Times New Roman" panose="02020603050405020304" pitchFamily="18" charset="0"/>
                      </a:rPr>
                      <m:t>=</m:t>
                    </m:r>
                    <m:f>
                      <m:fPr>
                        <m:ctrlPr>
                          <a:rPr lang="es-PE" sz="2400" i="1" smtClean="0">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s-PE" sz="2400" i="1">
                                <a:latin typeface="Cambria Math" panose="02040503050406030204" pitchFamily="18" charset="0"/>
                                <a:ea typeface="Cambria Math" panose="02040503050406030204" pitchFamily="18" charset="0"/>
                                <a:cs typeface="Times New Roman" panose="02020603050405020304" pitchFamily="18" charset="0"/>
                              </a:rPr>
                            </m:ctrlPr>
                          </m:sSubPr>
                          <m:e>
                            <m:r>
                              <a:rPr lang="es-PE" sz="2400" i="1">
                                <a:latin typeface="Cambria Math" panose="02040503050406030204" pitchFamily="18" charset="0"/>
                                <a:ea typeface="Cambria Math" panose="02040503050406030204" pitchFamily="18" charset="0"/>
                                <a:cs typeface="Times New Roman" panose="02020603050405020304" pitchFamily="18" charset="0"/>
                              </a:rPr>
                              <m:t>𝛼</m:t>
                            </m:r>
                          </m:e>
                          <m:sub>
                            <m:r>
                              <a:rPr lang="es-PE" sz="2400" i="1">
                                <a:latin typeface="Cambria Math" panose="02040503050406030204" pitchFamily="18" charset="0"/>
                                <a:ea typeface="Cambria Math" panose="02040503050406030204" pitchFamily="18" charset="0"/>
                                <a:cs typeface="Times New Roman" panose="02020603050405020304" pitchFamily="18" charset="0"/>
                              </a:rPr>
                              <m:t>𝑖</m:t>
                            </m:r>
                          </m:sub>
                        </m:sSub>
                      </m:num>
                      <m:den>
                        <m:sSub>
                          <m:sSubPr>
                            <m:ctrlPr>
                              <a:rPr lang="es-PE" sz="2400" i="1">
                                <a:latin typeface="Cambria Math" panose="02040503050406030204" pitchFamily="18" charset="0"/>
                                <a:ea typeface="Cambria Math" panose="02040503050406030204" pitchFamily="18" charset="0"/>
                                <a:cs typeface="Times New Roman" panose="02020603050405020304" pitchFamily="18" charset="0"/>
                              </a:rPr>
                            </m:ctrlPr>
                          </m:sSubPr>
                          <m:e>
                            <m:r>
                              <a:rPr lang="es-PE" sz="2400" i="1">
                                <a:latin typeface="Cambria Math" panose="02040503050406030204" pitchFamily="18" charset="0"/>
                                <a:ea typeface="Cambria Math" panose="02040503050406030204" pitchFamily="18" charset="0"/>
                                <a:cs typeface="Times New Roman" panose="02020603050405020304" pitchFamily="18" charset="0"/>
                              </a:rPr>
                              <m:t>𝛼</m:t>
                            </m:r>
                          </m:e>
                          <m:sub>
                            <m:r>
                              <a:rPr lang="es-PE" sz="2400" i="1">
                                <a:latin typeface="Cambria Math" panose="02040503050406030204" pitchFamily="18" charset="0"/>
                                <a:ea typeface="Cambria Math" panose="02040503050406030204" pitchFamily="18" charset="0"/>
                                <a:cs typeface="Times New Roman" panose="02020603050405020304" pitchFamily="18" charset="0"/>
                              </a:rPr>
                              <m:t>𝑟</m:t>
                            </m:r>
                          </m:sub>
                        </m:sSub>
                        <m:r>
                          <a:rPr lang="es-PE" sz="2400"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s-PE" sz="2400" i="1">
                                <a:latin typeface="Cambria Math" panose="02040503050406030204" pitchFamily="18" charset="0"/>
                                <a:ea typeface="Cambria Math" panose="02040503050406030204" pitchFamily="18" charset="0"/>
                                <a:cs typeface="Times New Roman" panose="02020603050405020304" pitchFamily="18" charset="0"/>
                              </a:rPr>
                            </m:ctrlPr>
                          </m:sSubPr>
                          <m:e>
                            <m:r>
                              <a:rPr lang="es-PE" sz="2400" i="1">
                                <a:latin typeface="Cambria Math" panose="02040503050406030204" pitchFamily="18" charset="0"/>
                                <a:ea typeface="Cambria Math" panose="02040503050406030204" pitchFamily="18" charset="0"/>
                                <a:cs typeface="Times New Roman" panose="02020603050405020304" pitchFamily="18" charset="0"/>
                              </a:rPr>
                              <m:t>𝛼</m:t>
                            </m:r>
                          </m:e>
                          <m:sub>
                            <m:r>
                              <a:rPr lang="es-PE" sz="2400" i="1">
                                <a:latin typeface="Cambria Math" panose="02040503050406030204" pitchFamily="18" charset="0"/>
                                <a:ea typeface="Cambria Math" panose="02040503050406030204" pitchFamily="18" charset="0"/>
                                <a:cs typeface="Times New Roman" panose="02020603050405020304" pitchFamily="18" charset="0"/>
                              </a:rPr>
                              <m:t>𝑖</m:t>
                            </m:r>
                          </m:sub>
                        </m:sSub>
                      </m:den>
                    </m:f>
                  </m:oMath>
                </a14:m>
                <a:r>
                  <a:rPr lang="es-PE" sz="2400" dirty="0">
                    <a:latin typeface="Calibri" panose="020F0502020204030204" pitchFamily="34" charset="0"/>
                    <a:ea typeface="Calibri" panose="020F0502020204030204" pitchFamily="34" charset="0"/>
                    <a:cs typeface="Times New Roman" panose="02020603050405020304" pitchFamily="18" charset="0"/>
                  </a:rPr>
                  <a:t>    [</a:t>
                </a:r>
                <a14:m>
                  <m:oMath xmlns:m="http://schemas.openxmlformats.org/officeDocument/2006/math">
                    <m:f>
                      <m:fPr>
                        <m:ctrlPr>
                          <a:rPr lang="es-PE" sz="2400" i="1" dirty="0" smtClean="0">
                            <a:latin typeface="Cambria Math" panose="02040503050406030204" pitchFamily="18" charset="0"/>
                            <a:ea typeface="Calibri" panose="020F0502020204030204" pitchFamily="34" charset="0"/>
                            <a:cs typeface="Times New Roman" panose="02020603050405020304" pitchFamily="18" charset="0"/>
                          </a:rPr>
                        </m:ctrlPr>
                      </m:fPr>
                      <m:num>
                        <m:r>
                          <a:rPr lang="es-PE" sz="2400" b="0" i="1" dirty="0" smtClean="0">
                            <a:latin typeface="Cambria Math" panose="02040503050406030204" pitchFamily="18" charset="0"/>
                            <a:ea typeface="Calibri" panose="020F0502020204030204" pitchFamily="34" charset="0"/>
                            <a:cs typeface="Times New Roman" panose="02020603050405020304" pitchFamily="18" charset="0"/>
                          </a:rPr>
                          <m:t>% </m:t>
                        </m:r>
                        <m:r>
                          <a:rPr lang="es-PE" sz="2400" b="0" i="1" dirty="0" smtClean="0">
                            <a:latin typeface="Cambria Math" panose="02040503050406030204" pitchFamily="18" charset="0"/>
                            <a:ea typeface="Calibri" panose="020F0502020204030204" pitchFamily="34" charset="0"/>
                            <a:cs typeface="Times New Roman" panose="02020603050405020304" pitchFamily="18" charset="0"/>
                          </a:rPr>
                          <m:t>𝑑𝑒</m:t>
                        </m:r>
                        <m:r>
                          <a:rPr lang="es-PE" sz="2400" b="0" i="1" dirty="0" smtClean="0">
                            <a:latin typeface="Cambria Math" panose="02040503050406030204" pitchFamily="18" charset="0"/>
                            <a:ea typeface="Calibri" panose="020F0502020204030204" pitchFamily="34" charset="0"/>
                            <a:cs typeface="Times New Roman" panose="02020603050405020304" pitchFamily="18" charset="0"/>
                          </a:rPr>
                          <m:t> </m:t>
                        </m:r>
                        <m:r>
                          <a:rPr lang="es-PE" sz="2400" b="0" i="1" dirty="0" smtClean="0">
                            <a:latin typeface="Cambria Math" panose="02040503050406030204" pitchFamily="18" charset="0"/>
                            <a:ea typeface="Calibri" panose="020F0502020204030204" pitchFamily="34" charset="0"/>
                            <a:cs typeface="Times New Roman" panose="02020603050405020304" pitchFamily="18" charset="0"/>
                          </a:rPr>
                          <m:t>𝑝𝑥</m:t>
                        </m:r>
                        <m:r>
                          <a:rPr lang="es-PE" sz="2400" b="0" i="1" dirty="0" smtClean="0">
                            <a:latin typeface="Cambria Math" panose="02040503050406030204" pitchFamily="18" charset="0"/>
                            <a:ea typeface="Calibri" panose="020F0502020204030204" pitchFamily="34" charset="0"/>
                            <a:cs typeface="Times New Roman" panose="02020603050405020304" pitchFamily="18" charset="0"/>
                          </a:rPr>
                          <m:t> </m:t>
                        </m:r>
                        <m:r>
                          <a:rPr lang="es-PE" sz="2400" b="0" i="1" dirty="0" smtClean="0">
                            <a:latin typeface="Cambria Math" panose="02040503050406030204" pitchFamily="18" charset="0"/>
                            <a:ea typeface="Calibri" panose="020F0502020204030204" pitchFamily="34" charset="0"/>
                            <a:cs typeface="Times New Roman" panose="02020603050405020304" pitchFamily="18" charset="0"/>
                          </a:rPr>
                          <m:t>𝑖𝑛𝑑𝑒𝑥𝑎𝑑𝑎𝑠</m:t>
                        </m:r>
                      </m:num>
                      <m:den>
                        <m:r>
                          <a:rPr lang="es-PE" sz="2400" b="0" i="1" dirty="0" smtClean="0">
                            <a:latin typeface="Cambria Math" panose="02040503050406030204" pitchFamily="18" charset="0"/>
                            <a:ea typeface="Calibri" panose="020F0502020204030204" pitchFamily="34" charset="0"/>
                            <a:cs typeface="Times New Roman" panose="02020603050405020304" pitchFamily="18" charset="0"/>
                          </a:rPr>
                          <m:t>% </m:t>
                        </m:r>
                        <m:r>
                          <a:rPr lang="es-PE" sz="2400" b="0" i="1" dirty="0" smtClean="0">
                            <a:latin typeface="Cambria Math" panose="02040503050406030204" pitchFamily="18" charset="0"/>
                            <a:ea typeface="Calibri" panose="020F0502020204030204" pitchFamily="34" charset="0"/>
                            <a:cs typeface="Times New Roman" panose="02020603050405020304" pitchFamily="18" charset="0"/>
                          </a:rPr>
                          <m:t>𝑑𝑒</m:t>
                        </m:r>
                        <m:r>
                          <a:rPr lang="es-PE" sz="2400" b="0" i="1" dirty="0" smtClean="0">
                            <a:latin typeface="Cambria Math" panose="02040503050406030204" pitchFamily="18" charset="0"/>
                            <a:ea typeface="Calibri" panose="020F0502020204030204" pitchFamily="34" charset="0"/>
                            <a:cs typeface="Times New Roman" panose="02020603050405020304" pitchFamily="18" charset="0"/>
                          </a:rPr>
                          <m:t> </m:t>
                        </m:r>
                        <m:r>
                          <a:rPr lang="es-PE" sz="2400" b="0" i="1" dirty="0" smtClean="0">
                            <a:latin typeface="Cambria Math" panose="02040503050406030204" pitchFamily="18" charset="0"/>
                            <a:ea typeface="Calibri" panose="020F0502020204030204" pitchFamily="34" charset="0"/>
                            <a:cs typeface="Times New Roman" panose="02020603050405020304" pitchFamily="18" charset="0"/>
                          </a:rPr>
                          <m:t>𝑝𝑥</m:t>
                        </m:r>
                        <m:r>
                          <a:rPr lang="es-PE" sz="2400" b="0" i="1" dirty="0" smtClean="0">
                            <a:latin typeface="Cambria Math" panose="02040503050406030204" pitchFamily="18" charset="0"/>
                            <a:ea typeface="Calibri" panose="020F0502020204030204" pitchFamily="34" charset="0"/>
                            <a:cs typeface="Times New Roman" panose="02020603050405020304" pitchFamily="18" charset="0"/>
                          </a:rPr>
                          <m:t> </m:t>
                        </m:r>
                        <m:r>
                          <a:rPr lang="es-PE" sz="2400" b="0" i="1" dirty="0" smtClean="0">
                            <a:latin typeface="Cambria Math" panose="02040503050406030204" pitchFamily="18" charset="0"/>
                            <a:ea typeface="Calibri" panose="020F0502020204030204" pitchFamily="34" charset="0"/>
                            <a:cs typeface="Times New Roman" panose="02020603050405020304" pitchFamily="18" charset="0"/>
                          </a:rPr>
                          <m:t>𝑛𝑜</m:t>
                        </m:r>
                        <m:r>
                          <a:rPr lang="es-PE" sz="2400" b="0" i="1" dirty="0" smtClean="0">
                            <a:latin typeface="Cambria Math" panose="02040503050406030204" pitchFamily="18" charset="0"/>
                            <a:ea typeface="Calibri" panose="020F0502020204030204" pitchFamily="34" charset="0"/>
                            <a:cs typeface="Times New Roman" panose="02020603050405020304" pitchFamily="18" charset="0"/>
                          </a:rPr>
                          <m:t> </m:t>
                        </m:r>
                        <m:r>
                          <a:rPr lang="es-PE" sz="2400" b="0" i="1" dirty="0" smtClean="0">
                            <a:latin typeface="Cambria Math" panose="02040503050406030204" pitchFamily="18" charset="0"/>
                            <a:ea typeface="Calibri" panose="020F0502020204030204" pitchFamily="34" charset="0"/>
                            <a:cs typeface="Times New Roman" panose="02020603050405020304" pitchFamily="18" charset="0"/>
                          </a:rPr>
                          <m:t>𝑓𝑙𝑒𝑥𝑖𝑏𝑙𝑒𝑠</m:t>
                        </m:r>
                      </m:den>
                    </m:f>
                  </m:oMath>
                </a14:m>
                <a:r>
                  <a:rPr lang="es-PE" sz="2400" dirty="0">
                    <a:latin typeface="Calibri" panose="020F0502020204030204" pitchFamily="34" charset="0"/>
                    <a:ea typeface="Calibri" panose="020F0502020204030204" pitchFamily="34" charset="0"/>
                    <a:cs typeface="Times New Roman" panose="02020603050405020304" pitchFamily="18" charset="0"/>
                  </a:rPr>
                  <a:t>]</a:t>
                </a:r>
              </a:p>
            </p:txBody>
          </p:sp>
        </mc:Choice>
        <mc:Fallback xmlns="">
          <p:sp>
            <p:nvSpPr>
              <p:cNvPr id="3" name="Marcador de contenido 2">
                <a:extLst>
                  <a:ext uri="{FF2B5EF4-FFF2-40B4-BE49-F238E27FC236}">
                    <a16:creationId xmlns:a16="http://schemas.microsoft.com/office/drawing/2014/main" id="{748C5F7D-C9A1-7645-CEA8-1DE408D7EE37}"/>
                  </a:ext>
                </a:extLst>
              </p:cNvPr>
              <p:cNvSpPr>
                <a:spLocks noGrp="1" noRot="1" noChangeAspect="1" noMove="1" noResize="1" noEditPoints="1" noAdjustHandles="1" noChangeArrowheads="1" noChangeShapeType="1" noTextEdit="1"/>
              </p:cNvSpPr>
              <p:nvPr>
                <p:ph idx="1"/>
              </p:nvPr>
            </p:nvSpPr>
            <p:spPr>
              <a:xfrm>
                <a:off x="929935" y="2019299"/>
                <a:ext cx="10663983" cy="4324203"/>
              </a:xfrm>
              <a:blipFill>
                <a:blip r:embed="rId2"/>
                <a:stretch>
                  <a:fillRect/>
                </a:stretch>
              </a:blipFill>
              <a:ln>
                <a:solidFill>
                  <a:schemeClr val="bg1">
                    <a:lumMod val="65000"/>
                  </a:schemeClr>
                </a:solidFill>
              </a:ln>
            </p:spPr>
            <p:txBody>
              <a:bodyPr/>
              <a:lstStyle/>
              <a:p>
                <a:r>
                  <a:rPr lang="es-PE">
                    <a:noFill/>
                  </a:rPr>
                  <a:t> </a:t>
                </a:r>
              </a:p>
            </p:txBody>
          </p:sp>
        </mc:Fallback>
      </mc:AlternateContent>
    </p:spTree>
    <p:extLst>
      <p:ext uri="{BB962C8B-B14F-4D97-AF65-F5344CB8AC3E}">
        <p14:creationId xmlns:p14="http://schemas.microsoft.com/office/powerpoint/2010/main" val="204936618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3EB0B4-3C6B-A9E7-B890-ADA0B4515F2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344DD21-B884-FE82-A7C9-470D155057E0}"/>
              </a:ext>
            </a:extLst>
          </p:cNvPr>
          <p:cNvSpPr>
            <a:spLocks noGrp="1"/>
          </p:cNvSpPr>
          <p:nvPr>
            <p:ph type="title"/>
          </p:nvPr>
        </p:nvSpPr>
        <p:spPr/>
        <p:txBody>
          <a:bodyPr/>
          <a:lstStyle/>
          <a:p>
            <a:endParaRPr lang="es-PE"/>
          </a:p>
        </p:txBody>
      </p:sp>
      <p:sp>
        <p:nvSpPr>
          <p:cNvPr id="3" name="Marcador de texto 2">
            <a:extLst>
              <a:ext uri="{FF2B5EF4-FFF2-40B4-BE49-F238E27FC236}">
                <a16:creationId xmlns:a16="http://schemas.microsoft.com/office/drawing/2014/main" id="{0AAB0C0E-E663-0885-77B8-852CF1E4F12E}"/>
              </a:ext>
            </a:extLst>
          </p:cNvPr>
          <p:cNvSpPr>
            <a:spLocks noGrp="1"/>
          </p:cNvSpPr>
          <p:nvPr>
            <p:ph type="body" idx="1"/>
          </p:nvPr>
        </p:nvSpPr>
        <p:spPr/>
        <p:txBody>
          <a:bodyPr>
            <a:normAutofit/>
          </a:bodyPr>
          <a:lstStyle/>
          <a:p>
            <a:pPr algn="r"/>
            <a:r>
              <a:rPr lang="es-PE" sz="3600" b="1" dirty="0"/>
              <a:t>	LA NUEVA CURVA DE PHILLIPS</a:t>
            </a:r>
          </a:p>
        </p:txBody>
      </p:sp>
    </p:spTree>
    <p:extLst>
      <p:ext uri="{BB962C8B-B14F-4D97-AF65-F5344CB8AC3E}">
        <p14:creationId xmlns:p14="http://schemas.microsoft.com/office/powerpoint/2010/main" val="371046789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3D9C3D-8236-EEE3-6810-CC049A896A7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AE32E8C-6E66-5C96-D769-ABF73AD060ED}"/>
              </a:ext>
            </a:extLst>
          </p:cNvPr>
          <p:cNvSpPr>
            <a:spLocks noGrp="1"/>
          </p:cNvSpPr>
          <p:nvPr>
            <p:ph type="title"/>
          </p:nvPr>
        </p:nvSpPr>
        <p:spPr>
          <a:xfrm>
            <a:off x="1066800" y="8046"/>
            <a:ext cx="10058400" cy="1450757"/>
          </a:xfrm>
        </p:spPr>
        <p:txBody>
          <a:bodyPr>
            <a:normAutofit/>
          </a:bodyPr>
          <a:lstStyle/>
          <a:p>
            <a:r>
              <a:rPr lang="es-PE" sz="3200" dirty="0"/>
              <a:t>La nueva curva de Phillips</a:t>
            </a:r>
          </a:p>
        </p:txBody>
      </p:sp>
      <p:sp>
        <p:nvSpPr>
          <p:cNvPr id="3" name="Marcador de contenido 2">
            <a:extLst>
              <a:ext uri="{FF2B5EF4-FFF2-40B4-BE49-F238E27FC236}">
                <a16:creationId xmlns:a16="http://schemas.microsoft.com/office/drawing/2014/main" id="{A58A9F56-93D4-AD81-28C3-5489651C9EE7}"/>
              </a:ext>
            </a:extLst>
          </p:cNvPr>
          <p:cNvSpPr>
            <a:spLocks noGrp="1"/>
          </p:cNvSpPr>
          <p:nvPr>
            <p:ph idx="1"/>
          </p:nvPr>
        </p:nvSpPr>
        <p:spPr>
          <a:xfrm>
            <a:off x="1244600" y="2019299"/>
            <a:ext cx="9880600" cy="4203701"/>
          </a:xfrm>
          <a:ln>
            <a:solidFill>
              <a:schemeClr val="bg1">
                <a:lumMod val="65000"/>
              </a:schemeClr>
            </a:solidFill>
          </a:ln>
        </p:spPr>
        <p:txBody>
          <a:bodyPr lIns="36000" rIns="180000">
            <a:noAutofit/>
          </a:bodyPr>
          <a:lstStyle/>
          <a:p>
            <a:pPr marL="525463" indent="-342900" algn="just">
              <a:lnSpc>
                <a:spcPct val="125000"/>
              </a:lnSpc>
              <a:buFont typeface="Arial" panose="020B0604020202020204" pitchFamily="34" charset="0"/>
              <a:buChar char="•"/>
              <a:tabLst>
                <a:tab pos="5202238" algn="l"/>
              </a:tabLst>
            </a:pPr>
            <a:r>
              <a:rPr lang="es-PE" sz="2400" dirty="0">
                <a:latin typeface="Calibri" panose="020F0502020204030204" pitchFamily="34" charset="0"/>
                <a:ea typeface="Calibri" panose="020F0502020204030204" pitchFamily="34" charset="0"/>
                <a:cs typeface="Times New Roman" panose="02020603050405020304" pitchFamily="18" charset="0"/>
              </a:rPr>
              <a:t>La nueva PC contiene fundamentos microeconómicos, es decir, el comportamiento optimizador o intertemporal de los agentes económicos.</a:t>
            </a:r>
          </a:p>
          <a:p>
            <a:pPr marL="525463" indent="-342900" algn="just">
              <a:lnSpc>
                <a:spcPct val="125000"/>
              </a:lnSpc>
              <a:buFont typeface="Arial" panose="020B0604020202020204" pitchFamily="34" charset="0"/>
              <a:buChar char="•"/>
              <a:tabLst>
                <a:tab pos="5202238" algn="l"/>
              </a:tabLst>
            </a:pPr>
            <a:r>
              <a:rPr lang="es-PE" sz="2400" dirty="0">
                <a:latin typeface="Calibri" panose="020F0502020204030204" pitchFamily="34" charset="0"/>
                <a:ea typeface="Calibri" panose="020F0502020204030204" pitchFamily="34" charset="0"/>
                <a:cs typeface="Times New Roman" panose="02020603050405020304" pitchFamily="18" charset="0"/>
              </a:rPr>
              <a:t>Asimismo, se incluye el supuesto que los precios de bienes y servicios son rígidos.</a:t>
            </a:r>
          </a:p>
        </p:txBody>
      </p:sp>
    </p:spTree>
    <p:extLst>
      <p:ext uri="{BB962C8B-B14F-4D97-AF65-F5344CB8AC3E}">
        <p14:creationId xmlns:p14="http://schemas.microsoft.com/office/powerpoint/2010/main" val="331204384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040E40-F50B-DE8E-2656-ABCFC603D11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13B5B77-2A57-B553-7C27-9D78572226B3}"/>
              </a:ext>
            </a:extLst>
          </p:cNvPr>
          <p:cNvSpPr>
            <a:spLocks noGrp="1"/>
          </p:cNvSpPr>
          <p:nvPr>
            <p:ph type="title"/>
          </p:nvPr>
        </p:nvSpPr>
        <p:spPr>
          <a:xfrm>
            <a:off x="1066800" y="8046"/>
            <a:ext cx="10058400" cy="1450757"/>
          </a:xfrm>
        </p:spPr>
        <p:txBody>
          <a:bodyPr>
            <a:normAutofit/>
          </a:bodyPr>
          <a:lstStyle/>
          <a:p>
            <a:r>
              <a:rPr lang="es-PE" sz="3200" dirty="0"/>
              <a:t>La nueva curva de Phillips</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677A8D5B-19E1-7FE5-94BC-BD09FCCCFBCC}"/>
                  </a:ext>
                </a:extLst>
              </p:cNvPr>
              <p:cNvSpPr>
                <a:spLocks noGrp="1"/>
              </p:cNvSpPr>
              <p:nvPr>
                <p:ph idx="1"/>
              </p:nvPr>
            </p:nvSpPr>
            <p:spPr>
              <a:xfrm>
                <a:off x="1244600" y="2019299"/>
                <a:ext cx="9880600" cy="4203701"/>
              </a:xfrm>
              <a:ln>
                <a:solidFill>
                  <a:schemeClr val="bg1">
                    <a:lumMod val="65000"/>
                  </a:schemeClr>
                </a:solidFill>
              </a:ln>
            </p:spPr>
            <p:txBody>
              <a:bodyPr lIns="36000" rIns="180000">
                <a:noAutofit/>
              </a:bodyPr>
              <a:lstStyle/>
              <a:p>
                <a:pPr marL="182563" indent="0" algn="just">
                  <a:lnSpc>
                    <a:spcPct val="125000"/>
                  </a:lnSpc>
                  <a:buNone/>
                  <a:tabLst>
                    <a:tab pos="5202238" algn="l"/>
                  </a:tabLst>
                </a:pPr>
                <a:r>
                  <a:rPr lang="es-PE" sz="2400" dirty="0">
                    <a:latin typeface="Calibri" panose="020F0502020204030204" pitchFamily="34" charset="0"/>
                    <a:ea typeface="Calibri" panose="020F0502020204030204" pitchFamily="34" charset="0"/>
                    <a:cs typeface="Times New Roman" panose="02020603050405020304" pitchFamily="18" charset="0"/>
                  </a:rPr>
                  <a:t>Minimización de costos de ajuste cuadrática</a:t>
                </a:r>
              </a:p>
              <a:p>
                <a:pPr marL="525463" indent="-342900" algn="just">
                  <a:lnSpc>
                    <a:spcPct val="125000"/>
                  </a:lnSpc>
                  <a:buFont typeface="Arial" panose="020B0604020202020204" pitchFamily="34" charset="0"/>
                  <a:buChar char="•"/>
                  <a:tabLst>
                    <a:tab pos="5202238" algn="l"/>
                  </a:tabLst>
                </a:pPr>
                <a:r>
                  <a:rPr lang="es-PE" sz="2400" dirty="0">
                    <a:latin typeface="Calibri" panose="020F0502020204030204" pitchFamily="34" charset="0"/>
                    <a:ea typeface="Calibri" panose="020F0502020204030204" pitchFamily="34" charset="0"/>
                    <a:cs typeface="Times New Roman" panose="02020603050405020304" pitchFamily="18" charset="0"/>
                  </a:rPr>
                  <a:t>Bajo el supuesto que las empresas ajustan sus precios lentamente hacia su precio deseado se tiene que todas empresas en el período ‘t’ elegirá el precio tal que minimiza el valor presente de los costos de ajuste esperados:</a:t>
                </a:r>
              </a:p>
              <a:p>
                <a:pPr marL="525463" indent="-342900" algn="just">
                  <a:lnSpc>
                    <a:spcPct val="125000"/>
                  </a:lnSpc>
                  <a:buFont typeface="Arial" panose="020B0604020202020204" pitchFamily="34" charset="0"/>
                  <a:buChar char="•"/>
                  <a:tabLst>
                    <a:tab pos="5202238" algn="l"/>
                  </a:tabLst>
                </a:pPr>
                <a14:m>
                  <m:oMath xmlns:m="http://schemas.openxmlformats.org/officeDocument/2006/math">
                    <m:func>
                      <m:funcPr>
                        <m:ctrlPr>
                          <a:rPr lang="es-PE" sz="2400" b="0" i="1" smtClean="0">
                            <a:latin typeface="Cambria Math" panose="02040503050406030204" pitchFamily="18" charset="0"/>
                            <a:ea typeface="Calibri" panose="020F0502020204030204" pitchFamily="34" charset="0"/>
                            <a:cs typeface="Times New Roman" panose="02020603050405020304" pitchFamily="18" charset="0"/>
                          </a:rPr>
                        </m:ctrlPr>
                      </m:funcPr>
                      <m:fName>
                        <m:r>
                          <m:rPr>
                            <m:sty m:val="p"/>
                          </m:rPr>
                          <a:rPr lang="es-PE" sz="2400" b="0" i="0" smtClean="0">
                            <a:latin typeface="Cambria Math" panose="02040503050406030204" pitchFamily="18" charset="0"/>
                            <a:ea typeface="Calibri" panose="020F0502020204030204" pitchFamily="34" charset="0"/>
                            <a:cs typeface="Times New Roman" panose="02020603050405020304" pitchFamily="18" charset="0"/>
                          </a:rPr>
                          <m:t>min</m:t>
                        </m:r>
                      </m:fName>
                      <m:e>
                        <m:sSub>
                          <m:sSubPr>
                            <m:ctrlPr>
                              <a:rPr lang="es-PE" sz="2400" b="0" i="1" smtClean="0">
                                <a:latin typeface="Cambria Math" panose="02040503050406030204" pitchFamily="18" charset="0"/>
                                <a:ea typeface="Calibri" panose="020F0502020204030204" pitchFamily="34" charset="0"/>
                                <a:cs typeface="Times New Roman" panose="02020603050405020304" pitchFamily="18" charset="0"/>
                              </a:rPr>
                            </m:ctrlPr>
                          </m:sSubPr>
                          <m:e>
                            <m:r>
                              <a:rPr lang="es-PE" sz="2400" b="0" i="1" smtClean="0">
                                <a:latin typeface="Cambria Math" panose="02040503050406030204" pitchFamily="18" charset="0"/>
                                <a:ea typeface="Calibri" panose="020F0502020204030204" pitchFamily="34" charset="0"/>
                                <a:cs typeface="Times New Roman" panose="02020603050405020304" pitchFamily="18" charset="0"/>
                              </a:rPr>
                              <m:t>𝐶𝑜𝑠𝑡𝑜𝑠</m:t>
                            </m:r>
                          </m:e>
                          <m:sub>
                            <m:r>
                              <a:rPr lang="es-PE" sz="2400" b="0" i="1" smtClean="0">
                                <a:latin typeface="Cambria Math" panose="02040503050406030204" pitchFamily="18" charset="0"/>
                                <a:ea typeface="Calibri" panose="020F0502020204030204" pitchFamily="34" charset="0"/>
                                <a:cs typeface="Times New Roman" panose="02020603050405020304" pitchFamily="18" charset="0"/>
                              </a:rPr>
                              <m:t>𝑡</m:t>
                            </m:r>
                          </m:sub>
                        </m:sSub>
                        <m:r>
                          <a:rPr lang="es-PE" sz="2400" b="0" i="1" smtClean="0">
                            <a:latin typeface="Cambria Math" panose="02040503050406030204" pitchFamily="18" charset="0"/>
                            <a:ea typeface="Calibri" panose="020F0502020204030204" pitchFamily="34" charset="0"/>
                            <a:cs typeface="Times New Roman" panose="02020603050405020304" pitchFamily="18" charset="0"/>
                          </a:rPr>
                          <m:t>=</m:t>
                        </m:r>
                        <m:r>
                          <a:rPr lang="es-PE" sz="2400" b="0" i="1" smtClean="0">
                            <a:latin typeface="Cambria Math" panose="02040503050406030204" pitchFamily="18" charset="0"/>
                            <a:ea typeface="Calibri" panose="020F0502020204030204" pitchFamily="34" charset="0"/>
                            <a:cs typeface="Times New Roman" panose="02020603050405020304" pitchFamily="18" charset="0"/>
                          </a:rPr>
                          <m:t>𝐸</m:t>
                        </m:r>
                        <m:nary>
                          <m:naryPr>
                            <m:chr m:val="∑"/>
                            <m:ctrlPr>
                              <a:rPr lang="es-PE" sz="2400" b="0" i="1" smtClean="0">
                                <a:latin typeface="Cambria Math" panose="02040503050406030204" pitchFamily="18" charset="0"/>
                                <a:ea typeface="Calibri" panose="020F0502020204030204" pitchFamily="34" charset="0"/>
                                <a:cs typeface="Times New Roman" panose="02020603050405020304" pitchFamily="18" charset="0"/>
                              </a:rPr>
                            </m:ctrlPr>
                          </m:naryPr>
                          <m:sub>
                            <m:r>
                              <m:rPr>
                                <m:brk m:alnAt="23"/>
                              </m:rPr>
                              <a:rPr lang="es-PE" sz="2400" b="0" i="1" smtClean="0">
                                <a:latin typeface="Cambria Math" panose="02040503050406030204" pitchFamily="18" charset="0"/>
                                <a:ea typeface="Cambria Math" panose="02040503050406030204" pitchFamily="18" charset="0"/>
                                <a:cs typeface="Times New Roman" panose="02020603050405020304" pitchFamily="18" charset="0"/>
                              </a:rPr>
                              <m:t>𝜏</m:t>
                            </m:r>
                            <m:r>
                              <a:rPr lang="es-PE" sz="2400" b="0" i="1" smtClean="0">
                                <a:latin typeface="Cambria Math" panose="02040503050406030204" pitchFamily="18" charset="0"/>
                                <a:ea typeface="Cambria Math" panose="02040503050406030204" pitchFamily="18" charset="0"/>
                                <a:cs typeface="Times New Roman" panose="02020603050405020304" pitchFamily="18" charset="0"/>
                              </a:rPr>
                              <m:t>=</m:t>
                            </m:r>
                            <m:r>
                              <a:rPr lang="es-PE" sz="2400" b="0" i="1" smtClean="0">
                                <a:latin typeface="Cambria Math" panose="02040503050406030204" pitchFamily="18" charset="0"/>
                                <a:ea typeface="Cambria Math" panose="02040503050406030204" pitchFamily="18" charset="0"/>
                                <a:cs typeface="Times New Roman" panose="02020603050405020304" pitchFamily="18" charset="0"/>
                              </a:rPr>
                              <m:t>𝑡</m:t>
                            </m:r>
                          </m:sub>
                          <m:sup>
                            <m:r>
                              <a:rPr lang="es-PE" sz="2400" b="0" i="1" smtClean="0">
                                <a:latin typeface="Cambria Math" panose="02040503050406030204" pitchFamily="18" charset="0"/>
                                <a:ea typeface="Cambria Math" panose="02040503050406030204" pitchFamily="18" charset="0"/>
                                <a:cs typeface="Times New Roman" panose="02020603050405020304" pitchFamily="18" charset="0"/>
                              </a:rPr>
                              <m:t>∞</m:t>
                            </m:r>
                          </m:sup>
                          <m:e>
                            <m:sSup>
                              <m:sSupPr>
                                <m:ctrlPr>
                                  <a:rPr lang="es-PE" sz="2400" b="0" i="1" smtClean="0">
                                    <a:latin typeface="Cambria Math" panose="02040503050406030204" pitchFamily="18" charset="0"/>
                                    <a:ea typeface="Calibri" panose="020F0502020204030204" pitchFamily="34" charset="0"/>
                                    <a:cs typeface="Times New Roman" panose="02020603050405020304" pitchFamily="18" charset="0"/>
                                  </a:rPr>
                                </m:ctrlPr>
                              </m:sSupPr>
                              <m:e>
                                <m:r>
                                  <a:rPr lang="es-PE" sz="2400" b="0" i="1" smtClean="0">
                                    <a:latin typeface="Cambria Math" panose="02040503050406030204" pitchFamily="18" charset="0"/>
                                    <a:ea typeface="Cambria Math" panose="02040503050406030204" pitchFamily="18" charset="0"/>
                                    <a:cs typeface="Times New Roman" panose="02020603050405020304" pitchFamily="18" charset="0"/>
                                  </a:rPr>
                                  <m:t>𝛽</m:t>
                                </m:r>
                              </m:e>
                              <m:sup>
                                <m:r>
                                  <a:rPr lang="es-PE" sz="2400" b="0" i="1" smtClean="0">
                                    <a:latin typeface="Cambria Math" panose="02040503050406030204" pitchFamily="18" charset="0"/>
                                    <a:ea typeface="Cambria Math" panose="02040503050406030204" pitchFamily="18" charset="0"/>
                                    <a:cs typeface="Times New Roman" panose="02020603050405020304" pitchFamily="18" charset="0"/>
                                  </a:rPr>
                                  <m:t>𝜏</m:t>
                                </m:r>
                                <m:r>
                                  <a:rPr lang="es-PE" sz="2400" b="0" i="1" smtClean="0">
                                    <a:latin typeface="Cambria Math" panose="02040503050406030204" pitchFamily="18" charset="0"/>
                                    <a:ea typeface="Calibri" panose="020F0502020204030204" pitchFamily="34" charset="0"/>
                                    <a:cs typeface="Times New Roman" panose="02020603050405020304" pitchFamily="18" charset="0"/>
                                  </a:rPr>
                                  <m:t>−</m:t>
                                </m:r>
                                <m:r>
                                  <a:rPr lang="es-PE" sz="2400" b="0" i="1" smtClean="0">
                                    <a:latin typeface="Cambria Math" panose="02040503050406030204" pitchFamily="18" charset="0"/>
                                    <a:ea typeface="Calibri" panose="020F0502020204030204" pitchFamily="34" charset="0"/>
                                    <a:cs typeface="Times New Roman" panose="02020603050405020304" pitchFamily="18" charset="0"/>
                                  </a:rPr>
                                  <m:t>𝑡</m:t>
                                </m:r>
                              </m:sup>
                            </m:sSup>
                            <m:r>
                              <a:rPr lang="es-PE" sz="2400" b="0" i="1" smtClean="0">
                                <a:latin typeface="Cambria Math" panose="02040503050406030204" pitchFamily="18" charset="0"/>
                                <a:ea typeface="Calibri" panose="020F0502020204030204" pitchFamily="34" charset="0"/>
                                <a:cs typeface="Times New Roman" panose="02020603050405020304" pitchFamily="18" charset="0"/>
                              </a:rPr>
                              <m:t>[</m:t>
                            </m:r>
                            <m:sSup>
                              <m:sSupPr>
                                <m:ctrlPr>
                                  <a:rPr lang="es-PE" sz="2400" b="0" i="1" smtClean="0">
                                    <a:latin typeface="Cambria Math" panose="02040503050406030204" pitchFamily="18" charset="0"/>
                                    <a:ea typeface="Calibri" panose="020F0502020204030204" pitchFamily="34" charset="0"/>
                                    <a:cs typeface="Times New Roman" panose="02020603050405020304" pitchFamily="18" charset="0"/>
                                  </a:rPr>
                                </m:ctrlPr>
                              </m:sSupPr>
                              <m:e>
                                <m:d>
                                  <m:dPr>
                                    <m:ctrlPr>
                                      <a:rPr lang="es-PE" sz="2400" b="0" i="1" smtClean="0">
                                        <a:latin typeface="Cambria Math" panose="02040503050406030204" pitchFamily="18" charset="0"/>
                                        <a:ea typeface="Calibri" panose="020F0502020204030204" pitchFamily="34" charset="0"/>
                                        <a:cs typeface="Times New Roman" panose="02020603050405020304" pitchFamily="18" charset="0"/>
                                      </a:rPr>
                                    </m:ctrlPr>
                                  </m:dPr>
                                  <m:e>
                                    <m:sSub>
                                      <m:sSubPr>
                                        <m:ctrlPr>
                                          <a:rPr lang="es-PE" sz="2400" b="0" i="1" smtClean="0">
                                            <a:latin typeface="Cambria Math" panose="02040503050406030204" pitchFamily="18" charset="0"/>
                                            <a:ea typeface="Calibri" panose="020F0502020204030204" pitchFamily="34" charset="0"/>
                                            <a:cs typeface="Times New Roman" panose="02020603050405020304" pitchFamily="18" charset="0"/>
                                          </a:rPr>
                                        </m:ctrlPr>
                                      </m:sSubPr>
                                      <m:e>
                                        <m:r>
                                          <a:rPr lang="es-PE" sz="2400" b="0" i="1" smtClean="0">
                                            <a:latin typeface="Cambria Math" panose="02040503050406030204" pitchFamily="18" charset="0"/>
                                            <a:ea typeface="Calibri" panose="020F0502020204030204" pitchFamily="34" charset="0"/>
                                            <a:cs typeface="Times New Roman" panose="02020603050405020304" pitchFamily="18" charset="0"/>
                                          </a:rPr>
                                          <m:t>𝑝</m:t>
                                        </m:r>
                                      </m:e>
                                      <m:sub>
                                        <m:r>
                                          <a:rPr lang="es-PE" sz="2400" b="0" i="1" smtClean="0">
                                            <a:latin typeface="Cambria Math" panose="02040503050406030204" pitchFamily="18" charset="0"/>
                                            <a:ea typeface="Cambria Math" panose="02040503050406030204" pitchFamily="18" charset="0"/>
                                            <a:cs typeface="Times New Roman" panose="02020603050405020304" pitchFamily="18" charset="0"/>
                                          </a:rPr>
                                          <m:t>𝜏</m:t>
                                        </m:r>
                                      </m:sub>
                                    </m:sSub>
                                    <m:r>
                                      <a:rPr lang="es-PE" sz="2400" b="0" i="1" smtClean="0">
                                        <a:latin typeface="Cambria Math" panose="02040503050406030204" pitchFamily="18" charset="0"/>
                                        <a:ea typeface="Calibri" panose="020F0502020204030204" pitchFamily="34" charset="0"/>
                                        <a:cs typeface="Times New Roman" panose="02020603050405020304" pitchFamily="18" charset="0"/>
                                      </a:rPr>
                                      <m:t>−</m:t>
                                    </m:r>
                                    <m:sSubSup>
                                      <m:sSubSupPr>
                                        <m:ctrlPr>
                                          <a:rPr lang="es-PE" sz="2400" b="0" i="1" smtClean="0">
                                            <a:latin typeface="Cambria Math" panose="02040503050406030204" pitchFamily="18" charset="0"/>
                                            <a:ea typeface="Calibri" panose="020F0502020204030204" pitchFamily="34" charset="0"/>
                                            <a:cs typeface="Times New Roman" panose="02020603050405020304" pitchFamily="18" charset="0"/>
                                          </a:rPr>
                                        </m:ctrlPr>
                                      </m:sSubSupPr>
                                      <m:e>
                                        <m:r>
                                          <a:rPr lang="es-PE" sz="2400" b="0" i="1" smtClean="0">
                                            <a:latin typeface="Cambria Math" panose="02040503050406030204" pitchFamily="18" charset="0"/>
                                            <a:ea typeface="Calibri" panose="020F0502020204030204" pitchFamily="34" charset="0"/>
                                            <a:cs typeface="Times New Roman" panose="02020603050405020304" pitchFamily="18" charset="0"/>
                                          </a:rPr>
                                          <m:t>𝑝</m:t>
                                        </m:r>
                                      </m:e>
                                      <m:sub>
                                        <m:r>
                                          <a:rPr lang="es-PE" sz="2400" b="0" i="1" smtClean="0">
                                            <a:latin typeface="Cambria Math" panose="02040503050406030204" pitchFamily="18" charset="0"/>
                                            <a:ea typeface="Cambria Math" panose="02040503050406030204" pitchFamily="18" charset="0"/>
                                            <a:cs typeface="Times New Roman" panose="02020603050405020304" pitchFamily="18" charset="0"/>
                                          </a:rPr>
                                          <m:t>𝜏</m:t>
                                        </m:r>
                                      </m:sub>
                                      <m:sup>
                                        <m:r>
                                          <a:rPr lang="es-PE" sz="2400" b="0" i="1" smtClean="0">
                                            <a:latin typeface="Cambria Math" panose="02040503050406030204" pitchFamily="18" charset="0"/>
                                            <a:ea typeface="Calibri" panose="020F0502020204030204" pitchFamily="34" charset="0"/>
                                            <a:cs typeface="Times New Roman" panose="02020603050405020304" pitchFamily="18" charset="0"/>
                                          </a:rPr>
                                          <m:t>∗</m:t>
                                        </m:r>
                                      </m:sup>
                                    </m:sSubSup>
                                  </m:e>
                                </m:d>
                              </m:e>
                              <m:sup>
                                <m:r>
                                  <a:rPr lang="es-PE" sz="2400" b="0" i="1" smtClean="0">
                                    <a:latin typeface="Cambria Math" panose="02040503050406030204" pitchFamily="18" charset="0"/>
                                    <a:ea typeface="Calibri" panose="020F0502020204030204" pitchFamily="34" charset="0"/>
                                    <a:cs typeface="Times New Roman" panose="02020603050405020304" pitchFamily="18" charset="0"/>
                                  </a:rPr>
                                  <m:t>2</m:t>
                                </m:r>
                              </m:sup>
                            </m:sSup>
                            <m:r>
                              <a:rPr lang="es-PE" sz="2400" b="0" i="1" smtClean="0">
                                <a:latin typeface="Cambria Math" panose="02040503050406030204" pitchFamily="18" charset="0"/>
                                <a:ea typeface="Calibri" panose="020F0502020204030204" pitchFamily="34" charset="0"/>
                                <a:cs typeface="Times New Roman" panose="02020603050405020304" pitchFamily="18" charset="0"/>
                              </a:rPr>
                              <m:t>+</m:t>
                            </m:r>
                            <m:sSup>
                              <m:sSupPr>
                                <m:ctrlPr>
                                  <a:rPr lang="es-PE" sz="2400" b="0" i="1" smtClean="0">
                                    <a:latin typeface="Cambria Math" panose="02040503050406030204" pitchFamily="18" charset="0"/>
                                    <a:ea typeface="Calibri" panose="020F0502020204030204" pitchFamily="34" charset="0"/>
                                    <a:cs typeface="Times New Roman" panose="02020603050405020304" pitchFamily="18" charset="0"/>
                                  </a:rPr>
                                </m:ctrlPr>
                              </m:sSupPr>
                              <m:e>
                                <m:r>
                                  <a:rPr lang="es-PE" sz="2400" b="0" i="1" smtClean="0">
                                    <a:latin typeface="Cambria Math" panose="02040503050406030204" pitchFamily="18" charset="0"/>
                                    <a:ea typeface="Cambria Math" panose="02040503050406030204" pitchFamily="18" charset="0"/>
                                    <a:cs typeface="Times New Roman" panose="02020603050405020304" pitchFamily="18" charset="0"/>
                                  </a:rPr>
                                  <m:t>𝜂</m:t>
                                </m:r>
                                <m:r>
                                  <a:rPr lang="es-PE" sz="2400" b="0" i="1" smtClean="0">
                                    <a:latin typeface="Cambria Math" panose="02040503050406030204" pitchFamily="18" charset="0"/>
                                    <a:ea typeface="Calibri" panose="020F0502020204030204" pitchFamily="34" charset="0"/>
                                    <a:cs typeface="Times New Roman" panose="02020603050405020304" pitchFamily="18" charset="0"/>
                                  </a:rPr>
                                  <m:t>(</m:t>
                                </m:r>
                                <m:sSub>
                                  <m:sSubPr>
                                    <m:ctrlPr>
                                      <a:rPr lang="es-PE" sz="2400" b="0" i="1" smtClean="0">
                                        <a:latin typeface="Cambria Math" panose="02040503050406030204" pitchFamily="18" charset="0"/>
                                        <a:ea typeface="Calibri" panose="020F0502020204030204" pitchFamily="34" charset="0"/>
                                        <a:cs typeface="Times New Roman" panose="02020603050405020304" pitchFamily="18" charset="0"/>
                                      </a:rPr>
                                    </m:ctrlPr>
                                  </m:sSubPr>
                                  <m:e>
                                    <m:r>
                                      <a:rPr lang="es-PE" sz="2400" b="0" i="1" smtClean="0">
                                        <a:latin typeface="Cambria Math" panose="02040503050406030204" pitchFamily="18" charset="0"/>
                                        <a:ea typeface="Calibri" panose="020F0502020204030204" pitchFamily="34" charset="0"/>
                                        <a:cs typeface="Times New Roman" panose="02020603050405020304" pitchFamily="18" charset="0"/>
                                      </a:rPr>
                                      <m:t>𝑝</m:t>
                                    </m:r>
                                  </m:e>
                                  <m:sub>
                                    <m:r>
                                      <a:rPr lang="es-PE" sz="2400" b="0" i="1" smtClean="0">
                                        <a:latin typeface="Cambria Math" panose="02040503050406030204" pitchFamily="18" charset="0"/>
                                        <a:ea typeface="Cambria Math" panose="02040503050406030204" pitchFamily="18" charset="0"/>
                                        <a:cs typeface="Times New Roman" panose="02020603050405020304" pitchFamily="18" charset="0"/>
                                      </a:rPr>
                                      <m:t>𝜏</m:t>
                                    </m:r>
                                  </m:sub>
                                </m:sSub>
                                <m:r>
                                  <a:rPr lang="es-PE" sz="2400" b="0" i="1" smtClean="0">
                                    <a:latin typeface="Cambria Math" panose="02040503050406030204" pitchFamily="18" charset="0"/>
                                    <a:ea typeface="Calibri" panose="020F0502020204030204" pitchFamily="34" charset="0"/>
                                    <a:cs typeface="Times New Roman" panose="02020603050405020304" pitchFamily="18" charset="0"/>
                                  </a:rPr>
                                  <m:t>−</m:t>
                                </m:r>
                                <m:sSub>
                                  <m:sSubPr>
                                    <m:ctrlPr>
                                      <a:rPr lang="es-PE" sz="2400" b="0" i="1" smtClean="0">
                                        <a:latin typeface="Cambria Math" panose="02040503050406030204" pitchFamily="18" charset="0"/>
                                        <a:ea typeface="Calibri" panose="020F0502020204030204" pitchFamily="34" charset="0"/>
                                        <a:cs typeface="Times New Roman" panose="02020603050405020304" pitchFamily="18" charset="0"/>
                                      </a:rPr>
                                    </m:ctrlPr>
                                  </m:sSubPr>
                                  <m:e>
                                    <m:r>
                                      <a:rPr lang="es-PE" sz="2400" b="0" i="1" smtClean="0">
                                        <a:latin typeface="Cambria Math" panose="02040503050406030204" pitchFamily="18" charset="0"/>
                                        <a:ea typeface="Calibri" panose="020F0502020204030204" pitchFamily="34" charset="0"/>
                                        <a:cs typeface="Times New Roman" panose="02020603050405020304" pitchFamily="18" charset="0"/>
                                      </a:rPr>
                                      <m:t>𝑝</m:t>
                                    </m:r>
                                  </m:e>
                                  <m:sub>
                                    <m:r>
                                      <a:rPr lang="es-PE" sz="2400" b="0" i="1" smtClean="0">
                                        <a:latin typeface="Cambria Math" panose="02040503050406030204" pitchFamily="18" charset="0"/>
                                        <a:ea typeface="Cambria Math" panose="02040503050406030204" pitchFamily="18" charset="0"/>
                                        <a:cs typeface="Times New Roman" panose="02020603050405020304" pitchFamily="18" charset="0"/>
                                      </a:rPr>
                                      <m:t>𝜏</m:t>
                                    </m:r>
                                    <m:r>
                                      <a:rPr lang="es-PE" sz="2400" b="0" i="1" smtClean="0">
                                        <a:latin typeface="Cambria Math" panose="02040503050406030204" pitchFamily="18" charset="0"/>
                                        <a:ea typeface="Cambria Math" panose="02040503050406030204" pitchFamily="18" charset="0"/>
                                        <a:cs typeface="Times New Roman" panose="02020603050405020304" pitchFamily="18" charset="0"/>
                                      </a:rPr>
                                      <m:t>−1</m:t>
                                    </m:r>
                                  </m:sub>
                                </m:sSub>
                                <m:r>
                                  <a:rPr lang="es-PE" sz="2400" b="0" i="1" smtClean="0">
                                    <a:latin typeface="Cambria Math" panose="02040503050406030204" pitchFamily="18" charset="0"/>
                                    <a:ea typeface="Calibri" panose="020F0502020204030204" pitchFamily="34" charset="0"/>
                                    <a:cs typeface="Times New Roman" panose="02020603050405020304" pitchFamily="18" charset="0"/>
                                  </a:rPr>
                                  <m:t> )</m:t>
                                </m:r>
                              </m:e>
                              <m:sup>
                                <m:r>
                                  <a:rPr lang="es-PE" sz="2400" b="0" i="1" smtClean="0">
                                    <a:latin typeface="Cambria Math" panose="02040503050406030204" pitchFamily="18" charset="0"/>
                                    <a:ea typeface="Calibri" panose="020F0502020204030204" pitchFamily="34" charset="0"/>
                                    <a:cs typeface="Times New Roman" panose="02020603050405020304" pitchFamily="18" charset="0"/>
                                  </a:rPr>
                                  <m:t>2</m:t>
                                </m:r>
                              </m:sup>
                            </m:sSup>
                            <m:r>
                              <a:rPr lang="es-PE" sz="2400" b="0" i="1" smtClean="0">
                                <a:latin typeface="Cambria Math" panose="02040503050406030204" pitchFamily="18" charset="0"/>
                                <a:ea typeface="Calibri" panose="020F0502020204030204" pitchFamily="34" charset="0"/>
                                <a:cs typeface="Times New Roman" panose="02020603050405020304" pitchFamily="18" charset="0"/>
                              </a:rPr>
                              <m:t>]</m:t>
                            </m:r>
                          </m:e>
                        </m:nary>
                      </m:e>
                    </m:func>
                  </m:oMath>
                </a14:m>
                <a:endParaRPr lang="es-PE" sz="2400" dirty="0">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3" name="Marcador de contenido 2">
                <a:extLst>
                  <a:ext uri="{FF2B5EF4-FFF2-40B4-BE49-F238E27FC236}">
                    <a16:creationId xmlns:a16="http://schemas.microsoft.com/office/drawing/2014/main" id="{677A8D5B-19E1-7FE5-94BC-BD09FCCCFBCC}"/>
                  </a:ext>
                </a:extLst>
              </p:cNvPr>
              <p:cNvSpPr>
                <a:spLocks noGrp="1" noRot="1" noChangeAspect="1" noMove="1" noResize="1" noEditPoints="1" noAdjustHandles="1" noChangeArrowheads="1" noChangeShapeType="1" noTextEdit="1"/>
              </p:cNvSpPr>
              <p:nvPr>
                <p:ph idx="1"/>
              </p:nvPr>
            </p:nvSpPr>
            <p:spPr>
              <a:xfrm>
                <a:off x="1244600" y="2019299"/>
                <a:ext cx="9880600" cy="4203701"/>
              </a:xfrm>
              <a:blipFill>
                <a:blip r:embed="rId2"/>
                <a:stretch>
                  <a:fillRect/>
                </a:stretch>
              </a:blipFill>
              <a:ln>
                <a:solidFill>
                  <a:schemeClr val="bg1">
                    <a:lumMod val="65000"/>
                  </a:schemeClr>
                </a:solidFill>
              </a:ln>
            </p:spPr>
            <p:txBody>
              <a:bodyPr/>
              <a:lstStyle/>
              <a:p>
                <a:r>
                  <a:rPr lang="es-PE">
                    <a:noFill/>
                  </a:rPr>
                  <a:t> </a:t>
                </a:r>
              </a:p>
            </p:txBody>
          </p:sp>
        </mc:Fallback>
      </mc:AlternateContent>
    </p:spTree>
    <p:extLst>
      <p:ext uri="{BB962C8B-B14F-4D97-AF65-F5344CB8AC3E}">
        <p14:creationId xmlns:p14="http://schemas.microsoft.com/office/powerpoint/2010/main" val="313397443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A65754-D54A-9BD7-56EF-B685D41B651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F866688-2E99-E17A-7289-F874F6441F57}"/>
              </a:ext>
            </a:extLst>
          </p:cNvPr>
          <p:cNvSpPr>
            <a:spLocks noGrp="1"/>
          </p:cNvSpPr>
          <p:nvPr>
            <p:ph type="title"/>
          </p:nvPr>
        </p:nvSpPr>
        <p:spPr>
          <a:xfrm>
            <a:off x="1066800" y="8046"/>
            <a:ext cx="10058400" cy="1450757"/>
          </a:xfrm>
        </p:spPr>
        <p:txBody>
          <a:bodyPr>
            <a:normAutofit/>
          </a:bodyPr>
          <a:lstStyle/>
          <a:p>
            <a:r>
              <a:rPr lang="es-PE" sz="3200" dirty="0"/>
              <a:t>La nueva curva de Phillips</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513E667B-D96C-CC78-7C4C-F64962AB13E5}"/>
                  </a:ext>
                </a:extLst>
              </p:cNvPr>
              <p:cNvSpPr>
                <a:spLocks noGrp="1"/>
              </p:cNvSpPr>
              <p:nvPr>
                <p:ph idx="1"/>
              </p:nvPr>
            </p:nvSpPr>
            <p:spPr>
              <a:xfrm>
                <a:off x="1244600" y="2019299"/>
                <a:ext cx="9880600" cy="4203701"/>
              </a:xfrm>
              <a:ln>
                <a:solidFill>
                  <a:schemeClr val="bg1">
                    <a:lumMod val="65000"/>
                  </a:schemeClr>
                </a:solidFill>
              </a:ln>
            </p:spPr>
            <p:txBody>
              <a:bodyPr lIns="36000" rIns="180000">
                <a:noAutofit/>
              </a:bodyPr>
              <a:lstStyle/>
              <a:p>
                <a:pPr marL="182563" indent="0" algn="just">
                  <a:lnSpc>
                    <a:spcPct val="125000"/>
                  </a:lnSpc>
                  <a:buNone/>
                  <a:tabLst>
                    <a:tab pos="5202238" algn="l"/>
                  </a:tabLst>
                </a:pPr>
                <a:r>
                  <a:rPr lang="es-PE" sz="2400" dirty="0">
                    <a:latin typeface="Calibri" panose="020F0502020204030204" pitchFamily="34" charset="0"/>
                    <a:ea typeface="Calibri" panose="020F0502020204030204" pitchFamily="34" charset="0"/>
                    <a:cs typeface="Times New Roman" panose="02020603050405020304" pitchFamily="18" charset="0"/>
                  </a:rPr>
                  <a:t>Minimización de costos de ajuste cuadrática</a:t>
                </a:r>
              </a:p>
              <a:p>
                <a:pPr marL="525463" indent="-342900" algn="just">
                  <a:lnSpc>
                    <a:spcPct val="125000"/>
                  </a:lnSpc>
                  <a:buFont typeface="Arial" panose="020B0604020202020204" pitchFamily="34" charset="0"/>
                  <a:buChar char="•"/>
                  <a:tabLst>
                    <a:tab pos="5202238" algn="l"/>
                  </a:tabLst>
                </a:pPr>
                <a:r>
                  <a:rPr lang="es-PE" sz="2400" dirty="0">
                    <a:latin typeface="Calibri" panose="020F0502020204030204" pitchFamily="34" charset="0"/>
                    <a:ea typeface="Calibri" panose="020F0502020204030204" pitchFamily="34" charset="0"/>
                    <a:cs typeface="Times New Roman" panose="02020603050405020304" pitchFamily="18" charset="0"/>
                  </a:rPr>
                  <a:t>La CPO para cualquier periodo t </a:t>
                </a:r>
              </a:p>
              <a:p>
                <a:pPr marL="182563" indent="0" algn="just">
                  <a:lnSpc>
                    <a:spcPct val="125000"/>
                  </a:lnSpc>
                  <a:buNone/>
                  <a:tabLst>
                    <a:tab pos="5202238" algn="l"/>
                  </a:tabLst>
                </a:pPr>
                <a14:m>
                  <m:oMathPara xmlns:m="http://schemas.openxmlformats.org/officeDocument/2006/math">
                    <m:oMathParaPr>
                      <m:jc m:val="centerGroup"/>
                    </m:oMathParaPr>
                    <m:oMath xmlns:m="http://schemas.openxmlformats.org/officeDocument/2006/math">
                      <m:r>
                        <a:rPr lang="es-PE" sz="2400" b="0" i="1" smtClean="0">
                          <a:latin typeface="Cambria Math" panose="02040503050406030204" pitchFamily="18" charset="0"/>
                          <a:ea typeface="Calibri" panose="020F0502020204030204" pitchFamily="34" charset="0"/>
                          <a:cs typeface="Times New Roman" panose="02020603050405020304" pitchFamily="18" charset="0"/>
                        </a:rPr>
                        <m:t>𝐸</m:t>
                      </m:r>
                      <m:d>
                        <m:dPr>
                          <m:begChr m:val="["/>
                          <m:ctrlPr>
                            <a:rPr lang="es-PE" sz="2400" b="0" i="1" smtClean="0">
                              <a:latin typeface="Cambria Math" panose="02040503050406030204" pitchFamily="18" charset="0"/>
                              <a:ea typeface="Calibri" panose="020F0502020204030204" pitchFamily="34" charset="0"/>
                              <a:cs typeface="Times New Roman" panose="02020603050405020304" pitchFamily="18" charset="0"/>
                            </a:rPr>
                          </m:ctrlPr>
                        </m:dPr>
                        <m:e>
                          <m:sSub>
                            <m:sSubPr>
                              <m:ctrlPr>
                                <a:rPr lang="es-PE" sz="2400" i="1">
                                  <a:latin typeface="Cambria Math" panose="02040503050406030204" pitchFamily="18" charset="0"/>
                                  <a:ea typeface="Calibri" panose="020F0502020204030204" pitchFamily="34" charset="0"/>
                                  <a:cs typeface="Times New Roman" panose="02020603050405020304" pitchFamily="18" charset="0"/>
                                </a:rPr>
                              </m:ctrlPr>
                            </m:sSubPr>
                            <m:e>
                              <m:r>
                                <a:rPr lang="es-PE" sz="2400" b="0" i="1" smtClean="0">
                                  <a:latin typeface="Cambria Math" panose="02040503050406030204" pitchFamily="18" charset="0"/>
                                  <a:ea typeface="Calibri" panose="020F0502020204030204" pitchFamily="34" charset="0"/>
                                  <a:cs typeface="Times New Roman" panose="02020603050405020304" pitchFamily="18" charset="0"/>
                                </a:rPr>
                                <m:t>(</m:t>
                              </m:r>
                              <m:r>
                                <a:rPr lang="es-PE" sz="2400" i="1">
                                  <a:latin typeface="Cambria Math" panose="02040503050406030204" pitchFamily="18" charset="0"/>
                                  <a:ea typeface="Calibri" panose="020F0502020204030204" pitchFamily="34" charset="0"/>
                                  <a:cs typeface="Times New Roman" panose="02020603050405020304" pitchFamily="18" charset="0"/>
                                </a:rPr>
                                <m:t>𝑝</m:t>
                              </m:r>
                            </m:e>
                            <m:sub>
                              <m:r>
                                <a:rPr lang="es-PE" sz="2400" i="1">
                                  <a:latin typeface="Cambria Math" panose="02040503050406030204" pitchFamily="18" charset="0"/>
                                  <a:ea typeface="Cambria Math" panose="02040503050406030204" pitchFamily="18" charset="0"/>
                                  <a:cs typeface="Times New Roman" panose="02020603050405020304" pitchFamily="18" charset="0"/>
                                </a:rPr>
                                <m:t>𝜏</m:t>
                              </m:r>
                            </m:sub>
                          </m:sSub>
                          <m:r>
                            <a:rPr lang="es-PE" sz="2400" i="1">
                              <a:latin typeface="Cambria Math" panose="02040503050406030204" pitchFamily="18" charset="0"/>
                              <a:ea typeface="Calibri" panose="020F0502020204030204" pitchFamily="34" charset="0"/>
                              <a:cs typeface="Times New Roman" panose="02020603050405020304" pitchFamily="18" charset="0"/>
                            </a:rPr>
                            <m:t>−</m:t>
                          </m:r>
                          <m:sSubSup>
                            <m:sSubSupPr>
                              <m:ctrlPr>
                                <a:rPr lang="es-PE" sz="2400" i="1">
                                  <a:latin typeface="Cambria Math" panose="02040503050406030204" pitchFamily="18" charset="0"/>
                                  <a:ea typeface="Calibri" panose="020F0502020204030204" pitchFamily="34" charset="0"/>
                                  <a:cs typeface="Times New Roman" panose="02020603050405020304" pitchFamily="18" charset="0"/>
                                </a:rPr>
                              </m:ctrlPr>
                            </m:sSubSupPr>
                            <m:e>
                              <m:r>
                                <a:rPr lang="es-PE" sz="2400" i="1">
                                  <a:latin typeface="Cambria Math" panose="02040503050406030204" pitchFamily="18" charset="0"/>
                                  <a:ea typeface="Calibri" panose="020F0502020204030204" pitchFamily="34" charset="0"/>
                                  <a:cs typeface="Times New Roman" panose="02020603050405020304" pitchFamily="18" charset="0"/>
                                </a:rPr>
                                <m:t>𝑝</m:t>
                              </m:r>
                            </m:e>
                            <m:sub>
                              <m:r>
                                <a:rPr lang="es-PE" sz="2400" i="1">
                                  <a:latin typeface="Cambria Math" panose="02040503050406030204" pitchFamily="18" charset="0"/>
                                  <a:ea typeface="Cambria Math" panose="02040503050406030204" pitchFamily="18" charset="0"/>
                                  <a:cs typeface="Times New Roman" panose="02020603050405020304" pitchFamily="18" charset="0"/>
                                </a:rPr>
                                <m:t>𝜏</m:t>
                              </m:r>
                            </m:sub>
                            <m:sup>
                              <m:r>
                                <a:rPr lang="es-PE" sz="2400" i="1">
                                  <a:latin typeface="Cambria Math" panose="02040503050406030204" pitchFamily="18" charset="0"/>
                                  <a:ea typeface="Calibri" panose="020F0502020204030204" pitchFamily="34" charset="0"/>
                                  <a:cs typeface="Times New Roman" panose="02020603050405020304" pitchFamily="18" charset="0"/>
                                </a:rPr>
                                <m:t>∗</m:t>
                              </m:r>
                            </m:sup>
                          </m:sSubSup>
                        </m:e>
                      </m:d>
                      <m:r>
                        <a:rPr lang="es-PE" sz="2400" b="0" i="1" smtClean="0">
                          <a:latin typeface="Cambria Math" panose="02040503050406030204" pitchFamily="18" charset="0"/>
                          <a:ea typeface="Calibri" panose="020F0502020204030204" pitchFamily="34" charset="0"/>
                          <a:cs typeface="Times New Roman" panose="02020603050405020304" pitchFamily="18" charset="0"/>
                        </a:rPr>
                        <m:t>+</m:t>
                      </m:r>
                      <m:r>
                        <a:rPr lang="es-PE" sz="2400" i="1">
                          <a:latin typeface="Cambria Math" panose="02040503050406030204" pitchFamily="18" charset="0"/>
                          <a:ea typeface="Cambria Math" panose="02040503050406030204" pitchFamily="18" charset="0"/>
                          <a:cs typeface="Times New Roman" panose="02020603050405020304" pitchFamily="18" charset="0"/>
                        </a:rPr>
                        <m:t>𝜂</m:t>
                      </m:r>
                      <m:d>
                        <m:dPr>
                          <m:ctrlPr>
                            <a:rPr lang="es-PE" sz="2400" i="1">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es-PE" sz="2400" i="1">
                                  <a:latin typeface="Cambria Math" panose="02040503050406030204" pitchFamily="18" charset="0"/>
                                  <a:ea typeface="Calibri" panose="020F0502020204030204" pitchFamily="34" charset="0"/>
                                  <a:cs typeface="Times New Roman" panose="02020603050405020304" pitchFamily="18" charset="0"/>
                                </a:rPr>
                              </m:ctrlPr>
                            </m:sSubPr>
                            <m:e>
                              <m:r>
                                <a:rPr lang="es-PE" sz="2400" i="1">
                                  <a:latin typeface="Cambria Math" panose="02040503050406030204" pitchFamily="18" charset="0"/>
                                  <a:ea typeface="Calibri" panose="020F0502020204030204" pitchFamily="34" charset="0"/>
                                  <a:cs typeface="Times New Roman" panose="02020603050405020304" pitchFamily="18" charset="0"/>
                                </a:rPr>
                                <m:t>𝑝</m:t>
                              </m:r>
                            </m:e>
                            <m:sub>
                              <m:r>
                                <a:rPr lang="es-PE" sz="2400" i="1">
                                  <a:latin typeface="Cambria Math" panose="02040503050406030204" pitchFamily="18" charset="0"/>
                                  <a:ea typeface="Cambria Math" panose="02040503050406030204" pitchFamily="18" charset="0"/>
                                  <a:cs typeface="Times New Roman" panose="02020603050405020304" pitchFamily="18" charset="0"/>
                                </a:rPr>
                                <m:t>𝜏</m:t>
                              </m:r>
                            </m:sub>
                          </m:sSub>
                          <m:r>
                            <a:rPr lang="es-PE" sz="2400" i="1">
                              <a:latin typeface="Cambria Math" panose="02040503050406030204" pitchFamily="18" charset="0"/>
                              <a:ea typeface="Calibri" panose="020F0502020204030204" pitchFamily="34" charset="0"/>
                              <a:cs typeface="Times New Roman" panose="02020603050405020304" pitchFamily="18" charset="0"/>
                            </a:rPr>
                            <m:t>−</m:t>
                          </m:r>
                          <m:sSub>
                            <m:sSubPr>
                              <m:ctrlPr>
                                <a:rPr lang="es-PE" sz="2400" i="1">
                                  <a:latin typeface="Cambria Math" panose="02040503050406030204" pitchFamily="18" charset="0"/>
                                  <a:ea typeface="Calibri" panose="020F0502020204030204" pitchFamily="34" charset="0"/>
                                  <a:cs typeface="Times New Roman" panose="02020603050405020304" pitchFamily="18" charset="0"/>
                                </a:rPr>
                              </m:ctrlPr>
                            </m:sSubPr>
                            <m:e>
                              <m:r>
                                <a:rPr lang="es-PE" sz="2400" i="1">
                                  <a:latin typeface="Cambria Math" panose="02040503050406030204" pitchFamily="18" charset="0"/>
                                  <a:ea typeface="Calibri" panose="020F0502020204030204" pitchFamily="34" charset="0"/>
                                  <a:cs typeface="Times New Roman" panose="02020603050405020304" pitchFamily="18" charset="0"/>
                                </a:rPr>
                                <m:t>𝑝</m:t>
                              </m:r>
                            </m:e>
                            <m:sub>
                              <m:r>
                                <a:rPr lang="es-PE" sz="2400" i="1">
                                  <a:latin typeface="Cambria Math" panose="02040503050406030204" pitchFamily="18" charset="0"/>
                                  <a:ea typeface="Cambria Math" panose="02040503050406030204" pitchFamily="18" charset="0"/>
                                  <a:cs typeface="Times New Roman" panose="02020603050405020304" pitchFamily="18" charset="0"/>
                                </a:rPr>
                                <m:t>𝜏</m:t>
                              </m:r>
                              <m:r>
                                <a:rPr lang="es-PE" sz="2400" i="1">
                                  <a:latin typeface="Cambria Math" panose="02040503050406030204" pitchFamily="18" charset="0"/>
                                  <a:ea typeface="Cambria Math" panose="02040503050406030204" pitchFamily="18" charset="0"/>
                                  <a:cs typeface="Times New Roman" panose="02020603050405020304" pitchFamily="18" charset="0"/>
                                </a:rPr>
                                <m:t>−</m:t>
                              </m:r>
                              <m:r>
                                <a:rPr lang="es-PE" sz="2400" i="1">
                                  <a:latin typeface="Cambria Math" panose="02040503050406030204" pitchFamily="18" charset="0"/>
                                  <a:ea typeface="Cambria Math" panose="02040503050406030204" pitchFamily="18" charset="0"/>
                                  <a:cs typeface="Times New Roman" panose="02020603050405020304" pitchFamily="18" charset="0"/>
                                </a:rPr>
                                <m:t>1</m:t>
                              </m:r>
                            </m:sub>
                          </m:sSub>
                        </m:e>
                      </m:d>
                      <m:r>
                        <a:rPr lang="es-PE" sz="2400" b="0" i="1" smtClean="0">
                          <a:latin typeface="Cambria Math" panose="02040503050406030204" pitchFamily="18" charset="0"/>
                          <a:ea typeface="Cambria Math" panose="02040503050406030204" pitchFamily="18" charset="0"/>
                          <a:cs typeface="Times New Roman" panose="02020603050405020304" pitchFamily="18" charset="0"/>
                        </a:rPr>
                        <m:t>−</m:t>
                      </m:r>
                      <m:r>
                        <a:rPr lang="es-PE" sz="2400" i="1">
                          <a:latin typeface="Cambria Math" panose="02040503050406030204" pitchFamily="18" charset="0"/>
                          <a:ea typeface="Cambria Math" panose="02040503050406030204" pitchFamily="18" charset="0"/>
                          <a:cs typeface="Times New Roman" panose="02020603050405020304" pitchFamily="18" charset="0"/>
                        </a:rPr>
                        <m:t>𝜂</m:t>
                      </m:r>
                      <m:r>
                        <a:rPr lang="es-PE" sz="2400" i="1">
                          <a:latin typeface="Cambria Math" panose="02040503050406030204" pitchFamily="18" charset="0"/>
                          <a:ea typeface="Calibri" panose="020F0502020204030204" pitchFamily="34" charset="0"/>
                          <a:cs typeface="Times New Roman" panose="02020603050405020304" pitchFamily="18" charset="0"/>
                        </a:rPr>
                        <m:t>(</m:t>
                      </m:r>
                      <m:sSub>
                        <m:sSubPr>
                          <m:ctrlPr>
                            <a:rPr lang="es-PE" sz="2400" i="1">
                              <a:latin typeface="Cambria Math" panose="02040503050406030204" pitchFamily="18" charset="0"/>
                              <a:ea typeface="Calibri" panose="020F0502020204030204" pitchFamily="34" charset="0"/>
                              <a:cs typeface="Times New Roman" panose="02020603050405020304" pitchFamily="18" charset="0"/>
                            </a:rPr>
                          </m:ctrlPr>
                        </m:sSubPr>
                        <m:e>
                          <m:r>
                            <a:rPr lang="es-PE" sz="2400" i="1">
                              <a:latin typeface="Cambria Math" panose="02040503050406030204" pitchFamily="18" charset="0"/>
                              <a:ea typeface="Calibri" panose="020F0502020204030204" pitchFamily="34" charset="0"/>
                              <a:cs typeface="Times New Roman" panose="02020603050405020304" pitchFamily="18" charset="0"/>
                            </a:rPr>
                            <m:t>𝑝</m:t>
                          </m:r>
                        </m:e>
                        <m:sub>
                          <m:r>
                            <a:rPr lang="es-PE" sz="2400" i="1">
                              <a:latin typeface="Cambria Math" panose="02040503050406030204" pitchFamily="18" charset="0"/>
                              <a:ea typeface="Cambria Math" panose="02040503050406030204" pitchFamily="18" charset="0"/>
                              <a:cs typeface="Times New Roman" panose="02020603050405020304" pitchFamily="18" charset="0"/>
                            </a:rPr>
                            <m:t>𝜏</m:t>
                          </m:r>
                          <m:r>
                            <a:rPr lang="es-PE" sz="2400" b="0" i="1" smtClean="0">
                              <a:latin typeface="Cambria Math" panose="02040503050406030204" pitchFamily="18" charset="0"/>
                              <a:ea typeface="Cambria Math" panose="02040503050406030204" pitchFamily="18" charset="0"/>
                              <a:cs typeface="Times New Roman" panose="02020603050405020304" pitchFamily="18" charset="0"/>
                            </a:rPr>
                            <m:t>+</m:t>
                          </m:r>
                          <m:r>
                            <a:rPr lang="es-PE" sz="2400" b="0" i="1" smtClean="0">
                              <a:latin typeface="Cambria Math" panose="02040503050406030204" pitchFamily="18" charset="0"/>
                              <a:ea typeface="Cambria Math" panose="02040503050406030204" pitchFamily="18" charset="0"/>
                              <a:cs typeface="Times New Roman" panose="02020603050405020304" pitchFamily="18" charset="0"/>
                            </a:rPr>
                            <m:t>1</m:t>
                          </m:r>
                        </m:sub>
                      </m:sSub>
                      <m:r>
                        <a:rPr lang="es-PE" sz="2400" i="1">
                          <a:latin typeface="Cambria Math" panose="02040503050406030204" pitchFamily="18" charset="0"/>
                          <a:ea typeface="Calibri" panose="020F0502020204030204" pitchFamily="34" charset="0"/>
                          <a:cs typeface="Times New Roman" panose="02020603050405020304" pitchFamily="18" charset="0"/>
                        </a:rPr>
                        <m:t>−</m:t>
                      </m:r>
                      <m:sSub>
                        <m:sSubPr>
                          <m:ctrlPr>
                            <a:rPr lang="es-PE" sz="2400" i="1">
                              <a:latin typeface="Cambria Math" panose="02040503050406030204" pitchFamily="18" charset="0"/>
                              <a:ea typeface="Calibri" panose="020F0502020204030204" pitchFamily="34" charset="0"/>
                              <a:cs typeface="Times New Roman" panose="02020603050405020304" pitchFamily="18" charset="0"/>
                            </a:rPr>
                          </m:ctrlPr>
                        </m:sSubPr>
                        <m:e>
                          <m:r>
                            <a:rPr lang="es-PE" sz="2400" i="1">
                              <a:latin typeface="Cambria Math" panose="02040503050406030204" pitchFamily="18" charset="0"/>
                              <a:ea typeface="Calibri" panose="020F0502020204030204" pitchFamily="34" charset="0"/>
                              <a:cs typeface="Times New Roman" panose="02020603050405020304" pitchFamily="18" charset="0"/>
                            </a:rPr>
                            <m:t>𝑝</m:t>
                          </m:r>
                        </m:e>
                        <m:sub>
                          <m:r>
                            <a:rPr lang="es-PE" sz="2400" i="1">
                              <a:latin typeface="Cambria Math" panose="02040503050406030204" pitchFamily="18" charset="0"/>
                              <a:ea typeface="Cambria Math" panose="02040503050406030204" pitchFamily="18" charset="0"/>
                              <a:cs typeface="Times New Roman" panose="02020603050405020304" pitchFamily="18" charset="0"/>
                            </a:rPr>
                            <m:t>𝜏</m:t>
                          </m:r>
                        </m:sub>
                      </m:sSub>
                      <m:r>
                        <a:rPr lang="es-PE" sz="2400" b="0" i="1" smtClean="0">
                          <a:latin typeface="Cambria Math" panose="02040503050406030204" pitchFamily="18" charset="0"/>
                          <a:ea typeface="Cambria Math" panose="02040503050406030204" pitchFamily="18" charset="0"/>
                          <a:cs typeface="Times New Roman" panose="02020603050405020304" pitchFamily="18" charset="0"/>
                        </a:rPr>
                        <m:t>)</m:t>
                      </m:r>
                      <m:r>
                        <a:rPr lang="es-PE" sz="2400" b="0" i="1" smtClean="0">
                          <a:latin typeface="Cambria Math" panose="02040503050406030204" pitchFamily="18" charset="0"/>
                          <a:ea typeface="Calibri" panose="020F0502020204030204" pitchFamily="34" charset="0"/>
                          <a:cs typeface="Times New Roman" panose="02020603050405020304" pitchFamily="18" charset="0"/>
                        </a:rPr>
                        <m:t>]</m:t>
                      </m:r>
                    </m:oMath>
                  </m:oMathPara>
                </a14:m>
                <a:endParaRPr lang="es-PE" sz="2400" dirty="0">
                  <a:latin typeface="Calibri" panose="020F0502020204030204" pitchFamily="34" charset="0"/>
                  <a:ea typeface="Calibri" panose="020F0502020204030204" pitchFamily="34" charset="0"/>
                  <a:cs typeface="Times New Roman" panose="02020603050405020304" pitchFamily="18" charset="0"/>
                </a:endParaRPr>
              </a:p>
              <a:p>
                <a:pPr marL="525463" indent="-342900" algn="just">
                  <a:lnSpc>
                    <a:spcPct val="125000"/>
                  </a:lnSpc>
                  <a:buFont typeface="Arial" panose="020B0604020202020204" pitchFamily="34" charset="0"/>
                  <a:buChar char="•"/>
                  <a:tabLst>
                    <a:tab pos="5202238" algn="l"/>
                  </a:tabLst>
                </a:pPr>
                <a:r>
                  <a:rPr lang="es-PE" sz="2400" dirty="0">
                    <a:latin typeface="Calibri" panose="020F0502020204030204" pitchFamily="34" charset="0"/>
                    <a:ea typeface="Calibri" panose="020F0502020204030204" pitchFamily="34" charset="0"/>
                    <a:cs typeface="Times New Roman" panose="02020603050405020304" pitchFamily="18" charset="0"/>
                  </a:rPr>
                  <a:t>(lo que no se conoce en t es p</a:t>
                </a:r>
                <a:r>
                  <a:rPr lang="es-PE" sz="2400" baseline="-25000" dirty="0">
                    <a:latin typeface="Calibri" panose="020F0502020204030204" pitchFamily="34" charset="0"/>
                    <a:ea typeface="Calibri" panose="020F0502020204030204" pitchFamily="34" charset="0"/>
                    <a:cs typeface="Times New Roman" panose="02020603050405020304" pitchFamily="18" charset="0"/>
                  </a:rPr>
                  <a:t>t+1</a:t>
                </a:r>
                <a:r>
                  <a:rPr lang="es-PE" sz="2400" dirty="0">
                    <a:latin typeface="Calibri" panose="020F0502020204030204" pitchFamily="34" charset="0"/>
                    <a:ea typeface="Calibri" panose="020F0502020204030204" pitchFamily="34" charset="0"/>
                    <a:cs typeface="Times New Roman" panose="02020603050405020304" pitchFamily="18" charset="0"/>
                  </a:rPr>
                  <a:t> )</a:t>
                </a:r>
              </a:p>
              <a:p>
                <a:pPr marL="525463" indent="-342900" algn="just">
                  <a:lnSpc>
                    <a:spcPct val="125000"/>
                  </a:lnSpc>
                  <a:buFont typeface="Arial" panose="020B0604020202020204" pitchFamily="34" charset="0"/>
                  <a:buChar char="•"/>
                  <a:tabLst>
                    <a:tab pos="5202238" algn="l"/>
                  </a:tabLst>
                </a:pPr>
                <a:r>
                  <a:rPr lang="es-PE" sz="2400" dirty="0">
                    <a:latin typeface="Calibri" panose="020F0502020204030204" pitchFamily="34" charset="0"/>
                    <a:ea typeface="Calibri" panose="020F0502020204030204" pitchFamily="34" charset="0"/>
                    <a:cs typeface="Times New Roman" panose="02020603050405020304" pitchFamily="18" charset="0"/>
                  </a:rPr>
                  <a:t>Asumiendo que el precio optimo es:</a:t>
                </a:r>
              </a:p>
              <a:p>
                <a:pPr marL="182563" indent="0" algn="just">
                  <a:lnSpc>
                    <a:spcPct val="125000"/>
                  </a:lnSpc>
                  <a:buNone/>
                  <a:tabLst>
                    <a:tab pos="5202238" algn="l"/>
                  </a:tabLst>
                </a:pPr>
                <a14:m>
                  <m:oMathPara xmlns:m="http://schemas.openxmlformats.org/officeDocument/2006/math">
                    <m:oMathParaPr>
                      <m:jc m:val="centerGroup"/>
                    </m:oMathParaPr>
                    <m:oMath xmlns:m="http://schemas.openxmlformats.org/officeDocument/2006/math">
                      <m:sSubSup>
                        <m:sSubSupPr>
                          <m:ctrlPr>
                            <a:rPr lang="es-PE" sz="2400" i="1" smtClean="0">
                              <a:latin typeface="Cambria Math" panose="02040503050406030204" pitchFamily="18" charset="0"/>
                              <a:ea typeface="Calibri" panose="020F0502020204030204" pitchFamily="34" charset="0"/>
                              <a:cs typeface="Times New Roman" panose="02020603050405020304" pitchFamily="18" charset="0"/>
                            </a:rPr>
                          </m:ctrlPr>
                        </m:sSubSupPr>
                        <m:e>
                          <m:r>
                            <a:rPr lang="es-PE" sz="2400" b="0" i="1" smtClean="0">
                              <a:latin typeface="Cambria Math" panose="02040503050406030204" pitchFamily="18" charset="0"/>
                              <a:ea typeface="Calibri" panose="020F0502020204030204" pitchFamily="34" charset="0"/>
                              <a:cs typeface="Times New Roman" panose="02020603050405020304" pitchFamily="18" charset="0"/>
                            </a:rPr>
                            <m:t>𝑝</m:t>
                          </m:r>
                        </m:e>
                        <m:sub>
                          <m:r>
                            <a:rPr lang="es-PE" sz="2400" b="0" i="1" smtClean="0">
                              <a:latin typeface="Cambria Math" panose="02040503050406030204" pitchFamily="18" charset="0"/>
                              <a:ea typeface="Calibri" panose="020F0502020204030204" pitchFamily="34" charset="0"/>
                              <a:cs typeface="Times New Roman" panose="02020603050405020304" pitchFamily="18" charset="0"/>
                            </a:rPr>
                            <m:t>𝑡</m:t>
                          </m:r>
                        </m:sub>
                        <m:sup>
                          <m:r>
                            <a:rPr lang="es-PE" sz="2400" b="0" i="1" smtClean="0">
                              <a:latin typeface="Cambria Math" panose="02040503050406030204" pitchFamily="18" charset="0"/>
                              <a:ea typeface="Calibri" panose="020F0502020204030204" pitchFamily="34" charset="0"/>
                              <a:cs typeface="Times New Roman" panose="02020603050405020304" pitchFamily="18" charset="0"/>
                            </a:rPr>
                            <m:t>∗</m:t>
                          </m:r>
                        </m:sup>
                      </m:sSubSup>
                      <m:r>
                        <a:rPr lang="es-PE" sz="2400" b="0" i="1" smtClean="0">
                          <a:latin typeface="Cambria Math" panose="02040503050406030204" pitchFamily="18" charset="0"/>
                          <a:ea typeface="Calibri" panose="020F0502020204030204" pitchFamily="34" charset="0"/>
                          <a:cs typeface="Times New Roman" panose="02020603050405020304" pitchFamily="18" charset="0"/>
                        </a:rPr>
                        <m:t>=</m:t>
                      </m:r>
                      <m:acc>
                        <m:accPr>
                          <m:chr m:val="̅"/>
                          <m:ctrlPr>
                            <a:rPr lang="es-PE" sz="2400" b="0" i="1" smtClean="0">
                              <a:latin typeface="Cambria Math" panose="02040503050406030204" pitchFamily="18" charset="0"/>
                              <a:ea typeface="Calibri" panose="020F0502020204030204" pitchFamily="34" charset="0"/>
                              <a:cs typeface="Times New Roman" panose="02020603050405020304" pitchFamily="18" charset="0"/>
                            </a:rPr>
                          </m:ctrlPr>
                        </m:accPr>
                        <m:e>
                          <m:sSub>
                            <m:sSubPr>
                              <m:ctrlPr>
                                <a:rPr lang="es-PE" sz="2400" b="0" i="1" smtClean="0">
                                  <a:latin typeface="Cambria Math" panose="02040503050406030204" pitchFamily="18" charset="0"/>
                                  <a:ea typeface="Calibri" panose="020F0502020204030204" pitchFamily="34" charset="0"/>
                                  <a:cs typeface="Times New Roman" panose="02020603050405020304" pitchFamily="18" charset="0"/>
                                </a:rPr>
                              </m:ctrlPr>
                            </m:sSubPr>
                            <m:e>
                              <m:r>
                                <a:rPr lang="es-PE" sz="2400" b="0" i="1" smtClean="0">
                                  <a:latin typeface="Cambria Math" panose="02040503050406030204" pitchFamily="18" charset="0"/>
                                  <a:ea typeface="Calibri" panose="020F0502020204030204" pitchFamily="34" charset="0"/>
                                  <a:cs typeface="Times New Roman" panose="02020603050405020304" pitchFamily="18" charset="0"/>
                                </a:rPr>
                                <m:t>𝑝</m:t>
                              </m:r>
                            </m:e>
                            <m:sub>
                              <m:r>
                                <a:rPr lang="es-PE" sz="2400" b="0" i="1" smtClean="0">
                                  <a:latin typeface="Cambria Math" panose="02040503050406030204" pitchFamily="18" charset="0"/>
                                  <a:ea typeface="Calibri" panose="020F0502020204030204" pitchFamily="34" charset="0"/>
                                  <a:cs typeface="Times New Roman" panose="02020603050405020304" pitchFamily="18" charset="0"/>
                                </a:rPr>
                                <m:t>𝑡</m:t>
                              </m:r>
                            </m:sub>
                          </m:sSub>
                        </m:e>
                      </m:acc>
                      <m:r>
                        <a:rPr lang="es-PE" sz="2400" b="0" i="1" smtClean="0">
                          <a:latin typeface="Cambria Math" panose="02040503050406030204" pitchFamily="18" charset="0"/>
                          <a:ea typeface="Calibri" panose="020F0502020204030204" pitchFamily="34" charset="0"/>
                          <a:cs typeface="Times New Roman" panose="02020603050405020304" pitchFamily="18" charset="0"/>
                        </a:rPr>
                        <m:t>+</m:t>
                      </m:r>
                      <m:r>
                        <a:rPr lang="es-PE" sz="2400" b="0" i="1" smtClean="0">
                          <a:latin typeface="Cambria Math" panose="02040503050406030204" pitchFamily="18" charset="0"/>
                          <a:ea typeface="Cambria Math" panose="02040503050406030204" pitchFamily="18" charset="0"/>
                          <a:cs typeface="Times New Roman" panose="02020603050405020304" pitchFamily="18" charset="0"/>
                        </a:rPr>
                        <m:t>𝜙</m:t>
                      </m:r>
                      <m:d>
                        <m:dPr>
                          <m:ctrlPr>
                            <a:rPr lang="es-PE" sz="2400" b="0" i="1" smtClean="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es-PE" sz="24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s-PE" sz="2400" b="0" i="1" smtClean="0">
                                  <a:latin typeface="Cambria Math" panose="02040503050406030204" pitchFamily="18" charset="0"/>
                                  <a:ea typeface="Cambria Math" panose="02040503050406030204" pitchFamily="18" charset="0"/>
                                  <a:cs typeface="Times New Roman" panose="02020603050405020304" pitchFamily="18" charset="0"/>
                                </a:rPr>
                                <m:t>𝑦</m:t>
                              </m:r>
                            </m:e>
                            <m:sub>
                              <m:r>
                                <a:rPr lang="es-PE" sz="2400" b="0" i="1" smtClean="0">
                                  <a:latin typeface="Cambria Math" panose="02040503050406030204" pitchFamily="18" charset="0"/>
                                  <a:ea typeface="Cambria Math" panose="02040503050406030204" pitchFamily="18" charset="0"/>
                                  <a:cs typeface="Times New Roman" panose="02020603050405020304" pitchFamily="18" charset="0"/>
                                </a:rPr>
                                <m:t>𝑡</m:t>
                              </m:r>
                            </m:sub>
                          </m:sSub>
                          <m:r>
                            <a:rPr lang="es-PE" sz="2400" b="0" i="1" smtClean="0">
                              <a:latin typeface="Cambria Math" panose="02040503050406030204" pitchFamily="18" charset="0"/>
                              <a:ea typeface="Cambria Math" panose="02040503050406030204" pitchFamily="18" charset="0"/>
                              <a:cs typeface="Times New Roman" panose="02020603050405020304" pitchFamily="18" charset="0"/>
                            </a:rPr>
                            <m:t>−</m:t>
                          </m:r>
                          <m:acc>
                            <m:accPr>
                              <m:chr m:val="̅"/>
                              <m:ctrlPr>
                                <a:rPr lang="es-PE" sz="2400" i="1">
                                  <a:latin typeface="Cambria Math" panose="02040503050406030204" pitchFamily="18" charset="0"/>
                                  <a:ea typeface="Calibri" panose="020F0502020204030204" pitchFamily="34" charset="0"/>
                                  <a:cs typeface="Times New Roman" panose="02020603050405020304" pitchFamily="18" charset="0"/>
                                </a:rPr>
                              </m:ctrlPr>
                            </m:accPr>
                            <m:e>
                              <m:sSub>
                                <m:sSubPr>
                                  <m:ctrlPr>
                                    <a:rPr lang="es-PE" sz="2400" i="1">
                                      <a:latin typeface="Cambria Math" panose="02040503050406030204" pitchFamily="18" charset="0"/>
                                      <a:ea typeface="Calibri" panose="020F0502020204030204" pitchFamily="34" charset="0"/>
                                      <a:cs typeface="Times New Roman" panose="02020603050405020304" pitchFamily="18" charset="0"/>
                                    </a:rPr>
                                  </m:ctrlPr>
                                </m:sSubPr>
                                <m:e>
                                  <m:r>
                                    <a:rPr lang="es-PE" sz="2400" b="0" i="1" smtClean="0">
                                      <a:latin typeface="Cambria Math" panose="02040503050406030204" pitchFamily="18" charset="0"/>
                                      <a:ea typeface="Calibri" panose="020F0502020204030204" pitchFamily="34" charset="0"/>
                                      <a:cs typeface="Times New Roman" panose="02020603050405020304" pitchFamily="18" charset="0"/>
                                    </a:rPr>
                                    <m:t>𝑦</m:t>
                                  </m:r>
                                </m:e>
                                <m:sub>
                                  <m:r>
                                    <a:rPr lang="es-PE" sz="2400" i="1">
                                      <a:latin typeface="Cambria Math" panose="02040503050406030204" pitchFamily="18" charset="0"/>
                                      <a:ea typeface="Calibri" panose="020F0502020204030204" pitchFamily="34" charset="0"/>
                                      <a:cs typeface="Times New Roman" panose="02020603050405020304" pitchFamily="18" charset="0"/>
                                    </a:rPr>
                                    <m:t>𝑡</m:t>
                                  </m:r>
                                </m:sub>
                              </m:sSub>
                            </m:e>
                          </m:acc>
                        </m:e>
                      </m:d>
                      <m:r>
                        <a:rPr lang="es-PE" sz="2400"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s-PE" sz="24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s-PE" sz="2400" b="0" i="1" smtClean="0">
                              <a:latin typeface="Cambria Math" panose="02040503050406030204" pitchFamily="18" charset="0"/>
                              <a:ea typeface="Cambria Math" panose="02040503050406030204" pitchFamily="18" charset="0"/>
                              <a:cs typeface="Times New Roman" panose="02020603050405020304" pitchFamily="18" charset="0"/>
                            </a:rPr>
                            <m:t>𝑣</m:t>
                          </m:r>
                        </m:e>
                        <m:sub>
                          <m:r>
                            <a:rPr lang="es-PE" sz="2400" b="0" i="1" smtClean="0">
                              <a:latin typeface="Cambria Math" panose="02040503050406030204" pitchFamily="18" charset="0"/>
                              <a:ea typeface="Cambria Math" panose="02040503050406030204" pitchFamily="18" charset="0"/>
                              <a:cs typeface="Times New Roman" panose="02020603050405020304" pitchFamily="18" charset="0"/>
                            </a:rPr>
                            <m:t>𝑡</m:t>
                          </m:r>
                        </m:sub>
                      </m:sSub>
                    </m:oMath>
                  </m:oMathPara>
                </a14:m>
                <a:endParaRPr lang="es-PE" sz="2400" dirty="0">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3" name="Marcador de contenido 2">
                <a:extLst>
                  <a:ext uri="{FF2B5EF4-FFF2-40B4-BE49-F238E27FC236}">
                    <a16:creationId xmlns:a16="http://schemas.microsoft.com/office/drawing/2014/main" id="{513E667B-D96C-CC78-7C4C-F64962AB13E5}"/>
                  </a:ext>
                </a:extLst>
              </p:cNvPr>
              <p:cNvSpPr>
                <a:spLocks noGrp="1" noRot="1" noChangeAspect="1" noMove="1" noResize="1" noEditPoints="1" noAdjustHandles="1" noChangeArrowheads="1" noChangeShapeType="1" noTextEdit="1"/>
              </p:cNvSpPr>
              <p:nvPr>
                <p:ph idx="1"/>
              </p:nvPr>
            </p:nvSpPr>
            <p:spPr>
              <a:xfrm>
                <a:off x="1244600" y="2019299"/>
                <a:ext cx="9880600" cy="4203701"/>
              </a:xfrm>
              <a:blipFill>
                <a:blip r:embed="rId2"/>
                <a:stretch>
                  <a:fillRect/>
                </a:stretch>
              </a:blipFill>
              <a:ln>
                <a:solidFill>
                  <a:schemeClr val="bg1">
                    <a:lumMod val="65000"/>
                  </a:schemeClr>
                </a:solidFill>
              </a:ln>
            </p:spPr>
            <p:txBody>
              <a:bodyPr/>
              <a:lstStyle/>
              <a:p>
                <a:r>
                  <a:rPr lang="es-PE">
                    <a:noFill/>
                  </a:rPr>
                  <a:t> </a:t>
                </a:r>
              </a:p>
            </p:txBody>
          </p:sp>
        </mc:Fallback>
      </mc:AlternateContent>
    </p:spTree>
    <p:extLst>
      <p:ext uri="{BB962C8B-B14F-4D97-AF65-F5344CB8AC3E}">
        <p14:creationId xmlns:p14="http://schemas.microsoft.com/office/powerpoint/2010/main" val="190844749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1EFA3B-137C-14BD-72B5-C85FEFC206E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5D743FD-414A-81D7-BA0F-D0C8D4CCBBF6}"/>
              </a:ext>
            </a:extLst>
          </p:cNvPr>
          <p:cNvSpPr>
            <a:spLocks noGrp="1"/>
          </p:cNvSpPr>
          <p:nvPr>
            <p:ph type="title"/>
          </p:nvPr>
        </p:nvSpPr>
        <p:spPr>
          <a:xfrm>
            <a:off x="1066800" y="8046"/>
            <a:ext cx="10058400" cy="1450757"/>
          </a:xfrm>
        </p:spPr>
        <p:txBody>
          <a:bodyPr>
            <a:normAutofit/>
          </a:bodyPr>
          <a:lstStyle/>
          <a:p>
            <a:r>
              <a:rPr lang="es-PE" sz="3200" dirty="0"/>
              <a:t>La nueva curva de Phillips</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6B3C8BD7-46AD-3233-FA6B-ED62A7252515}"/>
                  </a:ext>
                </a:extLst>
              </p:cNvPr>
              <p:cNvSpPr>
                <a:spLocks noGrp="1"/>
              </p:cNvSpPr>
              <p:nvPr>
                <p:ph idx="1"/>
              </p:nvPr>
            </p:nvSpPr>
            <p:spPr>
              <a:xfrm>
                <a:off x="1244600" y="2019299"/>
                <a:ext cx="9880600" cy="4203701"/>
              </a:xfrm>
              <a:ln>
                <a:solidFill>
                  <a:schemeClr val="bg1">
                    <a:lumMod val="65000"/>
                  </a:schemeClr>
                </a:solidFill>
              </a:ln>
            </p:spPr>
            <p:txBody>
              <a:bodyPr lIns="36000" rIns="180000">
                <a:noAutofit/>
              </a:bodyPr>
              <a:lstStyle/>
              <a:p>
                <a:pPr marL="182563" indent="0" algn="just">
                  <a:lnSpc>
                    <a:spcPct val="125000"/>
                  </a:lnSpc>
                  <a:buNone/>
                  <a:tabLst>
                    <a:tab pos="5202238" algn="l"/>
                  </a:tabLst>
                </a:pPr>
                <a:r>
                  <a:rPr lang="es-PE" sz="2400" dirty="0">
                    <a:latin typeface="Calibri" panose="020F0502020204030204" pitchFamily="34" charset="0"/>
                    <a:ea typeface="Calibri" panose="020F0502020204030204" pitchFamily="34" charset="0"/>
                    <a:cs typeface="Times New Roman" panose="02020603050405020304" pitchFamily="18" charset="0"/>
                  </a:rPr>
                  <a:t>Minimización de costos de ajuste cuadrática</a:t>
                </a:r>
              </a:p>
              <a:p>
                <a:pPr marL="525463" indent="-342900" algn="just">
                  <a:lnSpc>
                    <a:spcPct val="125000"/>
                  </a:lnSpc>
                  <a:buFont typeface="Arial" panose="020B0604020202020204" pitchFamily="34" charset="0"/>
                  <a:buChar char="•"/>
                  <a:tabLst>
                    <a:tab pos="5202238" algn="l"/>
                  </a:tabLst>
                </a:pPr>
                <a:r>
                  <a:rPr lang="es-PE" sz="2400" dirty="0">
                    <a:latin typeface="Calibri" panose="020F0502020204030204" pitchFamily="34" charset="0"/>
                    <a:ea typeface="Calibri" panose="020F0502020204030204" pitchFamily="34" charset="0"/>
                    <a:cs typeface="Times New Roman" panose="02020603050405020304" pitchFamily="18" charset="0"/>
                  </a:rPr>
                  <a:t>En equilibrio, todas las empresas cobran el mismo precio y dado que cada empresa es pequeña se reemplaza </a:t>
                </a:r>
                <a14:m>
                  <m:oMath xmlns:m="http://schemas.openxmlformats.org/officeDocument/2006/math">
                    <m:acc>
                      <m:accPr>
                        <m:chr m:val="̅"/>
                        <m:ctrlPr>
                          <a:rPr lang="es-PE" sz="2400" i="1">
                            <a:latin typeface="Cambria Math" panose="02040503050406030204" pitchFamily="18" charset="0"/>
                            <a:ea typeface="Calibri" panose="020F0502020204030204" pitchFamily="34" charset="0"/>
                            <a:cs typeface="Times New Roman" panose="02020603050405020304" pitchFamily="18" charset="0"/>
                          </a:rPr>
                        </m:ctrlPr>
                      </m:accPr>
                      <m:e>
                        <m:sSub>
                          <m:sSubPr>
                            <m:ctrlPr>
                              <a:rPr lang="es-PE" sz="2400" i="1">
                                <a:latin typeface="Cambria Math" panose="02040503050406030204" pitchFamily="18" charset="0"/>
                                <a:ea typeface="Calibri" panose="020F0502020204030204" pitchFamily="34" charset="0"/>
                                <a:cs typeface="Times New Roman" panose="02020603050405020304" pitchFamily="18" charset="0"/>
                              </a:rPr>
                            </m:ctrlPr>
                          </m:sSubPr>
                          <m:e>
                            <m:r>
                              <a:rPr lang="es-PE" sz="2400" i="1">
                                <a:latin typeface="Cambria Math" panose="02040503050406030204" pitchFamily="18" charset="0"/>
                                <a:ea typeface="Calibri" panose="020F0502020204030204" pitchFamily="34" charset="0"/>
                                <a:cs typeface="Times New Roman" panose="02020603050405020304" pitchFamily="18" charset="0"/>
                              </a:rPr>
                              <m:t>𝑝</m:t>
                            </m:r>
                          </m:e>
                          <m:sub>
                            <m:r>
                              <a:rPr lang="es-PE" sz="2400" i="1">
                                <a:latin typeface="Cambria Math" panose="02040503050406030204" pitchFamily="18" charset="0"/>
                                <a:ea typeface="Calibri" panose="020F0502020204030204" pitchFamily="34" charset="0"/>
                                <a:cs typeface="Times New Roman" panose="02020603050405020304" pitchFamily="18" charset="0"/>
                              </a:rPr>
                              <m:t>𝑡</m:t>
                            </m:r>
                          </m:sub>
                        </m:sSub>
                      </m:e>
                    </m:acc>
                  </m:oMath>
                </a14:m>
                <a:r>
                  <a:rPr lang="es-PE" sz="2400" dirty="0">
                    <a:latin typeface="Calibri" panose="020F0502020204030204" pitchFamily="34" charset="0"/>
                    <a:ea typeface="Calibri" panose="020F0502020204030204" pitchFamily="34" charset="0"/>
                    <a:cs typeface="Times New Roman" panose="02020603050405020304" pitchFamily="18" charset="0"/>
                  </a:rPr>
                  <a:t> por </a:t>
                </a:r>
                <a14:m>
                  <m:oMath xmlns:m="http://schemas.openxmlformats.org/officeDocument/2006/math">
                    <m:sSub>
                      <m:sSubPr>
                        <m:ctrlPr>
                          <a:rPr lang="es-PE" sz="2400" i="1">
                            <a:latin typeface="Cambria Math" panose="02040503050406030204" pitchFamily="18" charset="0"/>
                            <a:ea typeface="Calibri" panose="020F0502020204030204" pitchFamily="34" charset="0"/>
                            <a:cs typeface="Times New Roman" panose="02020603050405020304" pitchFamily="18" charset="0"/>
                          </a:rPr>
                        </m:ctrlPr>
                      </m:sSubPr>
                      <m:e>
                        <m:r>
                          <a:rPr lang="es-PE" sz="2400" i="1">
                            <a:latin typeface="Cambria Math" panose="02040503050406030204" pitchFamily="18" charset="0"/>
                            <a:ea typeface="Calibri" panose="020F0502020204030204" pitchFamily="34" charset="0"/>
                            <a:cs typeface="Times New Roman" panose="02020603050405020304" pitchFamily="18" charset="0"/>
                          </a:rPr>
                          <m:t>𝑝</m:t>
                        </m:r>
                      </m:e>
                      <m:sub>
                        <m:r>
                          <a:rPr lang="es-PE" sz="2400" b="0" i="1" smtClean="0">
                            <a:latin typeface="Cambria Math" panose="02040503050406030204" pitchFamily="18" charset="0"/>
                            <a:ea typeface="Calibri" panose="020F0502020204030204" pitchFamily="34" charset="0"/>
                            <a:cs typeface="Times New Roman" panose="02020603050405020304" pitchFamily="18" charset="0"/>
                          </a:rPr>
                          <m:t>𝑡</m:t>
                        </m:r>
                      </m:sub>
                    </m:sSub>
                  </m:oMath>
                </a14:m>
                <a:endParaRPr lang="es-PE" sz="2400" dirty="0">
                  <a:latin typeface="Calibri" panose="020F0502020204030204" pitchFamily="34" charset="0"/>
                  <a:ea typeface="Calibri" panose="020F0502020204030204" pitchFamily="34" charset="0"/>
                  <a:cs typeface="Times New Roman" panose="02020603050405020304" pitchFamily="18" charset="0"/>
                </a:endParaRPr>
              </a:p>
              <a:p>
                <a:pPr marL="525463" indent="-342900" algn="just">
                  <a:lnSpc>
                    <a:spcPct val="150000"/>
                  </a:lnSpc>
                  <a:buFont typeface="Arial" panose="020B0604020202020204" pitchFamily="34" charset="0"/>
                  <a:buChar char="•"/>
                  <a:tabLst>
                    <a:tab pos="5202238" algn="l"/>
                  </a:tabLst>
                </a:pPr>
                <a:r>
                  <a:rPr lang="es-PE" sz="2400" dirty="0">
                    <a:latin typeface="Calibri" panose="020F0502020204030204" pitchFamily="34" charset="0"/>
                    <a:ea typeface="Calibri" panose="020F0502020204030204" pitchFamily="34" charset="0"/>
                    <a:cs typeface="Times New Roman" panose="02020603050405020304" pitchFamily="18" charset="0"/>
                  </a:rPr>
                  <a:t>Así, de       </a:t>
                </a:r>
                <a14:m>
                  <m:oMath xmlns:m="http://schemas.openxmlformats.org/officeDocument/2006/math">
                    <m:sSubSup>
                      <m:sSubSupPr>
                        <m:ctrlPr>
                          <a:rPr lang="es-PE" sz="2400" i="1">
                            <a:latin typeface="Cambria Math" panose="02040503050406030204" pitchFamily="18" charset="0"/>
                            <a:ea typeface="Calibri" panose="020F0502020204030204" pitchFamily="34" charset="0"/>
                            <a:cs typeface="Times New Roman" panose="02020603050405020304" pitchFamily="18" charset="0"/>
                          </a:rPr>
                        </m:ctrlPr>
                      </m:sSubSupPr>
                      <m:e>
                        <m:r>
                          <a:rPr lang="es-PE" sz="2400" i="1">
                            <a:latin typeface="Cambria Math" panose="02040503050406030204" pitchFamily="18" charset="0"/>
                            <a:ea typeface="Calibri" panose="020F0502020204030204" pitchFamily="34" charset="0"/>
                            <a:cs typeface="Times New Roman" panose="02020603050405020304" pitchFamily="18" charset="0"/>
                          </a:rPr>
                          <m:t>𝑝</m:t>
                        </m:r>
                      </m:e>
                      <m:sub>
                        <m:r>
                          <a:rPr lang="es-PE" sz="2400" i="1">
                            <a:latin typeface="Cambria Math" panose="02040503050406030204" pitchFamily="18" charset="0"/>
                            <a:ea typeface="Calibri" panose="020F0502020204030204" pitchFamily="34" charset="0"/>
                            <a:cs typeface="Times New Roman" panose="02020603050405020304" pitchFamily="18" charset="0"/>
                          </a:rPr>
                          <m:t>𝑡</m:t>
                        </m:r>
                      </m:sub>
                      <m:sup>
                        <m:r>
                          <a:rPr lang="es-PE" sz="2400" i="1">
                            <a:latin typeface="Cambria Math" panose="02040503050406030204" pitchFamily="18" charset="0"/>
                            <a:ea typeface="Calibri" panose="020F0502020204030204" pitchFamily="34" charset="0"/>
                            <a:cs typeface="Times New Roman" panose="02020603050405020304" pitchFamily="18" charset="0"/>
                          </a:rPr>
                          <m:t>∗</m:t>
                        </m:r>
                      </m:sup>
                    </m:sSubSup>
                    <m:r>
                      <a:rPr lang="es-PE" sz="2400" i="1">
                        <a:latin typeface="Cambria Math" panose="02040503050406030204" pitchFamily="18" charset="0"/>
                        <a:ea typeface="Calibri" panose="020F0502020204030204" pitchFamily="34" charset="0"/>
                        <a:cs typeface="Times New Roman" panose="02020603050405020304" pitchFamily="18" charset="0"/>
                      </a:rPr>
                      <m:t>=</m:t>
                    </m:r>
                    <m:acc>
                      <m:accPr>
                        <m:chr m:val="̅"/>
                        <m:ctrlPr>
                          <a:rPr lang="es-PE" sz="2400" i="1">
                            <a:latin typeface="Cambria Math" panose="02040503050406030204" pitchFamily="18" charset="0"/>
                            <a:ea typeface="Calibri" panose="020F0502020204030204" pitchFamily="34" charset="0"/>
                            <a:cs typeface="Times New Roman" panose="02020603050405020304" pitchFamily="18" charset="0"/>
                          </a:rPr>
                        </m:ctrlPr>
                      </m:accPr>
                      <m:e>
                        <m:sSub>
                          <m:sSubPr>
                            <m:ctrlPr>
                              <a:rPr lang="es-PE" sz="2400" i="1">
                                <a:latin typeface="Cambria Math" panose="02040503050406030204" pitchFamily="18" charset="0"/>
                                <a:ea typeface="Calibri" panose="020F0502020204030204" pitchFamily="34" charset="0"/>
                                <a:cs typeface="Times New Roman" panose="02020603050405020304" pitchFamily="18" charset="0"/>
                              </a:rPr>
                            </m:ctrlPr>
                          </m:sSubPr>
                          <m:e>
                            <m:r>
                              <a:rPr lang="es-PE" sz="2400" i="1">
                                <a:latin typeface="Cambria Math" panose="02040503050406030204" pitchFamily="18" charset="0"/>
                                <a:ea typeface="Calibri" panose="020F0502020204030204" pitchFamily="34" charset="0"/>
                                <a:cs typeface="Times New Roman" panose="02020603050405020304" pitchFamily="18" charset="0"/>
                              </a:rPr>
                              <m:t>𝑝</m:t>
                            </m:r>
                          </m:e>
                          <m:sub>
                            <m:r>
                              <a:rPr lang="es-PE" sz="2400" i="1">
                                <a:latin typeface="Cambria Math" panose="02040503050406030204" pitchFamily="18" charset="0"/>
                                <a:ea typeface="Calibri" panose="020F0502020204030204" pitchFamily="34" charset="0"/>
                                <a:cs typeface="Times New Roman" panose="02020603050405020304" pitchFamily="18" charset="0"/>
                              </a:rPr>
                              <m:t>𝑡</m:t>
                            </m:r>
                          </m:sub>
                        </m:sSub>
                      </m:e>
                    </m:acc>
                    <m:r>
                      <a:rPr lang="es-PE" sz="2400" i="1">
                        <a:latin typeface="Cambria Math" panose="02040503050406030204" pitchFamily="18" charset="0"/>
                        <a:ea typeface="Calibri" panose="020F0502020204030204" pitchFamily="34" charset="0"/>
                        <a:cs typeface="Times New Roman" panose="02020603050405020304" pitchFamily="18" charset="0"/>
                      </a:rPr>
                      <m:t>+</m:t>
                    </m:r>
                    <m:r>
                      <a:rPr lang="es-PE" sz="2400" i="1">
                        <a:latin typeface="Cambria Math" panose="02040503050406030204" pitchFamily="18" charset="0"/>
                        <a:ea typeface="Cambria Math" panose="02040503050406030204" pitchFamily="18" charset="0"/>
                        <a:cs typeface="Times New Roman" panose="02020603050405020304" pitchFamily="18" charset="0"/>
                      </a:rPr>
                      <m:t>𝜙</m:t>
                    </m:r>
                    <m:d>
                      <m:dPr>
                        <m:ctrlPr>
                          <a:rPr lang="es-PE" sz="2400" i="1">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es-PE" sz="2400" i="1">
                                <a:latin typeface="Cambria Math" panose="02040503050406030204" pitchFamily="18" charset="0"/>
                                <a:ea typeface="Cambria Math" panose="02040503050406030204" pitchFamily="18" charset="0"/>
                                <a:cs typeface="Times New Roman" panose="02020603050405020304" pitchFamily="18" charset="0"/>
                              </a:rPr>
                            </m:ctrlPr>
                          </m:sSubPr>
                          <m:e>
                            <m:r>
                              <a:rPr lang="es-PE" sz="2400" i="1">
                                <a:latin typeface="Cambria Math" panose="02040503050406030204" pitchFamily="18" charset="0"/>
                                <a:ea typeface="Cambria Math" panose="02040503050406030204" pitchFamily="18" charset="0"/>
                                <a:cs typeface="Times New Roman" panose="02020603050405020304" pitchFamily="18" charset="0"/>
                              </a:rPr>
                              <m:t>𝑦</m:t>
                            </m:r>
                          </m:e>
                          <m:sub>
                            <m:r>
                              <a:rPr lang="es-PE" sz="2400" i="1">
                                <a:latin typeface="Cambria Math" panose="02040503050406030204" pitchFamily="18" charset="0"/>
                                <a:ea typeface="Cambria Math" panose="02040503050406030204" pitchFamily="18" charset="0"/>
                                <a:cs typeface="Times New Roman" panose="02020603050405020304" pitchFamily="18" charset="0"/>
                              </a:rPr>
                              <m:t>𝑡</m:t>
                            </m:r>
                          </m:sub>
                        </m:sSub>
                        <m:r>
                          <a:rPr lang="es-PE" sz="2400" i="1">
                            <a:latin typeface="Cambria Math" panose="02040503050406030204" pitchFamily="18" charset="0"/>
                            <a:ea typeface="Cambria Math" panose="02040503050406030204" pitchFamily="18" charset="0"/>
                            <a:cs typeface="Times New Roman" panose="02020603050405020304" pitchFamily="18" charset="0"/>
                          </a:rPr>
                          <m:t>−</m:t>
                        </m:r>
                        <m:acc>
                          <m:accPr>
                            <m:chr m:val="̅"/>
                            <m:ctrlPr>
                              <a:rPr lang="es-PE" sz="2400" i="1">
                                <a:latin typeface="Cambria Math" panose="02040503050406030204" pitchFamily="18" charset="0"/>
                                <a:ea typeface="Calibri" panose="020F0502020204030204" pitchFamily="34" charset="0"/>
                                <a:cs typeface="Times New Roman" panose="02020603050405020304" pitchFamily="18" charset="0"/>
                              </a:rPr>
                            </m:ctrlPr>
                          </m:accPr>
                          <m:e>
                            <m:sSub>
                              <m:sSubPr>
                                <m:ctrlPr>
                                  <a:rPr lang="es-PE" sz="2400" i="1">
                                    <a:latin typeface="Cambria Math" panose="02040503050406030204" pitchFamily="18" charset="0"/>
                                    <a:ea typeface="Calibri" panose="020F0502020204030204" pitchFamily="34" charset="0"/>
                                    <a:cs typeface="Times New Roman" panose="02020603050405020304" pitchFamily="18" charset="0"/>
                                  </a:rPr>
                                </m:ctrlPr>
                              </m:sSubPr>
                              <m:e>
                                <m:r>
                                  <a:rPr lang="es-PE" sz="2400" i="1">
                                    <a:latin typeface="Cambria Math" panose="02040503050406030204" pitchFamily="18" charset="0"/>
                                    <a:ea typeface="Calibri" panose="020F0502020204030204" pitchFamily="34" charset="0"/>
                                    <a:cs typeface="Times New Roman" panose="02020603050405020304" pitchFamily="18" charset="0"/>
                                  </a:rPr>
                                  <m:t>𝑦</m:t>
                                </m:r>
                              </m:e>
                              <m:sub>
                                <m:r>
                                  <a:rPr lang="es-PE" sz="2400" i="1">
                                    <a:latin typeface="Cambria Math" panose="02040503050406030204" pitchFamily="18" charset="0"/>
                                    <a:ea typeface="Calibri" panose="020F0502020204030204" pitchFamily="34" charset="0"/>
                                    <a:cs typeface="Times New Roman" panose="02020603050405020304" pitchFamily="18" charset="0"/>
                                  </a:rPr>
                                  <m:t>𝑡</m:t>
                                </m:r>
                              </m:sub>
                            </m:sSub>
                          </m:e>
                        </m:acc>
                      </m:e>
                    </m:d>
                    <m:r>
                      <a:rPr lang="es-PE" sz="2400"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s-PE" sz="2400" i="1">
                            <a:latin typeface="Cambria Math" panose="02040503050406030204" pitchFamily="18" charset="0"/>
                            <a:ea typeface="Cambria Math" panose="02040503050406030204" pitchFamily="18" charset="0"/>
                            <a:cs typeface="Times New Roman" panose="02020603050405020304" pitchFamily="18" charset="0"/>
                          </a:rPr>
                        </m:ctrlPr>
                      </m:sSubPr>
                      <m:e>
                        <m:r>
                          <a:rPr lang="es-PE" sz="2400" i="1">
                            <a:latin typeface="Cambria Math" panose="02040503050406030204" pitchFamily="18" charset="0"/>
                            <a:ea typeface="Cambria Math" panose="02040503050406030204" pitchFamily="18" charset="0"/>
                            <a:cs typeface="Times New Roman" panose="02020603050405020304" pitchFamily="18" charset="0"/>
                          </a:rPr>
                          <m:t>𝑣</m:t>
                        </m:r>
                      </m:e>
                      <m:sub>
                        <m:r>
                          <a:rPr lang="es-PE" sz="2400" i="1">
                            <a:latin typeface="Cambria Math" panose="02040503050406030204" pitchFamily="18" charset="0"/>
                            <a:ea typeface="Cambria Math" panose="02040503050406030204" pitchFamily="18" charset="0"/>
                            <a:cs typeface="Times New Roman" panose="02020603050405020304" pitchFamily="18" charset="0"/>
                          </a:rPr>
                          <m:t>𝑡</m:t>
                        </m:r>
                      </m:sub>
                    </m:sSub>
                  </m:oMath>
                </a14:m>
                <a:r>
                  <a:rPr lang="es-PE" sz="2400" dirty="0">
                    <a:latin typeface="Calibri" panose="020F0502020204030204" pitchFamily="34" charset="0"/>
                    <a:ea typeface="Calibri" panose="020F0502020204030204" pitchFamily="34" charset="0"/>
                    <a:cs typeface="Times New Roman" panose="02020603050405020304" pitchFamily="18" charset="0"/>
                  </a:rPr>
                  <a:t>   en</a:t>
                </a:r>
              </a:p>
              <a:p>
                <a:pPr marL="182563" indent="0" algn="ctr">
                  <a:lnSpc>
                    <a:spcPct val="130000"/>
                  </a:lnSpc>
                  <a:buNone/>
                  <a:tabLst>
                    <a:tab pos="5202238" algn="l"/>
                  </a:tabLst>
                </a:pPr>
                <a14:m>
                  <m:oMathPara xmlns:m="http://schemas.openxmlformats.org/officeDocument/2006/math">
                    <m:oMathParaPr>
                      <m:jc m:val="centerGroup"/>
                    </m:oMathParaPr>
                    <m:oMath xmlns:m="http://schemas.openxmlformats.org/officeDocument/2006/math">
                      <m:r>
                        <a:rPr lang="es-PE" sz="2400" b="0" i="1" smtClean="0">
                          <a:latin typeface="Cambria Math" panose="02040503050406030204" pitchFamily="18" charset="0"/>
                          <a:ea typeface="Calibri" panose="020F0502020204030204" pitchFamily="34" charset="0"/>
                          <a:cs typeface="Times New Roman" panose="02020603050405020304" pitchFamily="18" charset="0"/>
                        </a:rPr>
                        <m:t>𝐸</m:t>
                      </m:r>
                      <m:d>
                        <m:dPr>
                          <m:begChr m:val="["/>
                          <m:ctrlPr>
                            <a:rPr lang="es-PE" sz="2400" b="0" i="1" smtClean="0">
                              <a:latin typeface="Cambria Math" panose="02040503050406030204" pitchFamily="18" charset="0"/>
                              <a:ea typeface="Calibri" panose="020F0502020204030204" pitchFamily="34" charset="0"/>
                              <a:cs typeface="Times New Roman" panose="02020603050405020304" pitchFamily="18" charset="0"/>
                            </a:rPr>
                          </m:ctrlPr>
                        </m:dPr>
                        <m:e>
                          <m:sSub>
                            <m:sSubPr>
                              <m:ctrlPr>
                                <a:rPr lang="es-PE" sz="2400" i="1">
                                  <a:latin typeface="Cambria Math" panose="02040503050406030204" pitchFamily="18" charset="0"/>
                                  <a:ea typeface="Calibri" panose="020F0502020204030204" pitchFamily="34" charset="0"/>
                                  <a:cs typeface="Times New Roman" panose="02020603050405020304" pitchFamily="18" charset="0"/>
                                </a:rPr>
                              </m:ctrlPr>
                            </m:sSubPr>
                            <m:e>
                              <m:r>
                                <a:rPr lang="es-PE" sz="2400" b="0" i="1" smtClean="0">
                                  <a:latin typeface="Cambria Math" panose="02040503050406030204" pitchFamily="18" charset="0"/>
                                  <a:ea typeface="Calibri" panose="020F0502020204030204" pitchFamily="34" charset="0"/>
                                  <a:cs typeface="Times New Roman" panose="02020603050405020304" pitchFamily="18" charset="0"/>
                                </a:rPr>
                                <m:t>(</m:t>
                              </m:r>
                              <m:r>
                                <a:rPr lang="es-PE" sz="2400" i="1">
                                  <a:latin typeface="Cambria Math" panose="02040503050406030204" pitchFamily="18" charset="0"/>
                                  <a:ea typeface="Calibri" panose="020F0502020204030204" pitchFamily="34" charset="0"/>
                                  <a:cs typeface="Times New Roman" panose="02020603050405020304" pitchFamily="18" charset="0"/>
                                </a:rPr>
                                <m:t>𝑝</m:t>
                              </m:r>
                            </m:e>
                            <m:sub>
                              <m:r>
                                <a:rPr lang="es-PE" sz="2400" i="1">
                                  <a:latin typeface="Cambria Math" panose="02040503050406030204" pitchFamily="18" charset="0"/>
                                  <a:ea typeface="Cambria Math" panose="02040503050406030204" pitchFamily="18" charset="0"/>
                                  <a:cs typeface="Times New Roman" panose="02020603050405020304" pitchFamily="18" charset="0"/>
                                </a:rPr>
                                <m:t>𝜏</m:t>
                              </m:r>
                            </m:sub>
                          </m:sSub>
                          <m:r>
                            <a:rPr lang="es-PE" sz="2400" i="1">
                              <a:latin typeface="Cambria Math" panose="02040503050406030204" pitchFamily="18" charset="0"/>
                              <a:ea typeface="Calibri" panose="020F0502020204030204" pitchFamily="34" charset="0"/>
                              <a:cs typeface="Times New Roman" panose="02020603050405020304" pitchFamily="18" charset="0"/>
                            </a:rPr>
                            <m:t>−</m:t>
                          </m:r>
                          <m:sSubSup>
                            <m:sSubSupPr>
                              <m:ctrlPr>
                                <a:rPr lang="es-PE" sz="2400" i="1">
                                  <a:latin typeface="Cambria Math" panose="02040503050406030204" pitchFamily="18" charset="0"/>
                                  <a:ea typeface="Calibri" panose="020F0502020204030204" pitchFamily="34" charset="0"/>
                                  <a:cs typeface="Times New Roman" panose="02020603050405020304" pitchFamily="18" charset="0"/>
                                </a:rPr>
                              </m:ctrlPr>
                            </m:sSubSupPr>
                            <m:e>
                              <m:r>
                                <a:rPr lang="es-PE" sz="2400" i="1">
                                  <a:latin typeface="Cambria Math" panose="02040503050406030204" pitchFamily="18" charset="0"/>
                                  <a:ea typeface="Calibri" panose="020F0502020204030204" pitchFamily="34" charset="0"/>
                                  <a:cs typeface="Times New Roman" panose="02020603050405020304" pitchFamily="18" charset="0"/>
                                </a:rPr>
                                <m:t>𝑝</m:t>
                              </m:r>
                            </m:e>
                            <m:sub>
                              <m:r>
                                <a:rPr lang="es-PE" sz="2400" i="1">
                                  <a:latin typeface="Cambria Math" panose="02040503050406030204" pitchFamily="18" charset="0"/>
                                  <a:ea typeface="Cambria Math" panose="02040503050406030204" pitchFamily="18" charset="0"/>
                                  <a:cs typeface="Times New Roman" panose="02020603050405020304" pitchFamily="18" charset="0"/>
                                </a:rPr>
                                <m:t>𝜏</m:t>
                              </m:r>
                            </m:sub>
                            <m:sup>
                              <m:r>
                                <a:rPr lang="es-PE" sz="2400" i="1">
                                  <a:latin typeface="Cambria Math" panose="02040503050406030204" pitchFamily="18" charset="0"/>
                                  <a:ea typeface="Calibri" panose="020F0502020204030204" pitchFamily="34" charset="0"/>
                                  <a:cs typeface="Times New Roman" panose="02020603050405020304" pitchFamily="18" charset="0"/>
                                </a:rPr>
                                <m:t>∗</m:t>
                              </m:r>
                            </m:sup>
                          </m:sSubSup>
                        </m:e>
                      </m:d>
                      <m:r>
                        <a:rPr lang="es-PE" sz="2400" b="0" i="1" smtClean="0">
                          <a:latin typeface="Cambria Math" panose="02040503050406030204" pitchFamily="18" charset="0"/>
                          <a:ea typeface="Calibri" panose="020F0502020204030204" pitchFamily="34" charset="0"/>
                          <a:cs typeface="Times New Roman" panose="02020603050405020304" pitchFamily="18" charset="0"/>
                        </a:rPr>
                        <m:t>+</m:t>
                      </m:r>
                      <m:r>
                        <a:rPr lang="es-PE" sz="2400" i="1">
                          <a:latin typeface="Cambria Math" panose="02040503050406030204" pitchFamily="18" charset="0"/>
                          <a:ea typeface="Cambria Math" panose="02040503050406030204" pitchFamily="18" charset="0"/>
                          <a:cs typeface="Times New Roman" panose="02020603050405020304" pitchFamily="18" charset="0"/>
                        </a:rPr>
                        <m:t>𝜂</m:t>
                      </m:r>
                      <m:d>
                        <m:dPr>
                          <m:ctrlPr>
                            <a:rPr lang="es-PE" sz="2400" i="1">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es-PE" sz="2400" i="1">
                                  <a:latin typeface="Cambria Math" panose="02040503050406030204" pitchFamily="18" charset="0"/>
                                  <a:ea typeface="Calibri" panose="020F0502020204030204" pitchFamily="34" charset="0"/>
                                  <a:cs typeface="Times New Roman" panose="02020603050405020304" pitchFamily="18" charset="0"/>
                                </a:rPr>
                              </m:ctrlPr>
                            </m:sSubPr>
                            <m:e>
                              <m:r>
                                <a:rPr lang="es-PE" sz="2400" i="1">
                                  <a:latin typeface="Cambria Math" panose="02040503050406030204" pitchFamily="18" charset="0"/>
                                  <a:ea typeface="Calibri" panose="020F0502020204030204" pitchFamily="34" charset="0"/>
                                  <a:cs typeface="Times New Roman" panose="02020603050405020304" pitchFamily="18" charset="0"/>
                                </a:rPr>
                                <m:t>𝑝</m:t>
                              </m:r>
                            </m:e>
                            <m:sub>
                              <m:r>
                                <a:rPr lang="es-PE" sz="2400" i="1">
                                  <a:latin typeface="Cambria Math" panose="02040503050406030204" pitchFamily="18" charset="0"/>
                                  <a:ea typeface="Cambria Math" panose="02040503050406030204" pitchFamily="18" charset="0"/>
                                  <a:cs typeface="Times New Roman" panose="02020603050405020304" pitchFamily="18" charset="0"/>
                                </a:rPr>
                                <m:t>𝜏</m:t>
                              </m:r>
                            </m:sub>
                          </m:sSub>
                          <m:r>
                            <a:rPr lang="es-PE" sz="2400" i="1">
                              <a:latin typeface="Cambria Math" panose="02040503050406030204" pitchFamily="18" charset="0"/>
                              <a:ea typeface="Calibri" panose="020F0502020204030204" pitchFamily="34" charset="0"/>
                              <a:cs typeface="Times New Roman" panose="02020603050405020304" pitchFamily="18" charset="0"/>
                            </a:rPr>
                            <m:t>−</m:t>
                          </m:r>
                          <m:sSub>
                            <m:sSubPr>
                              <m:ctrlPr>
                                <a:rPr lang="es-PE" sz="2400" i="1">
                                  <a:latin typeface="Cambria Math" panose="02040503050406030204" pitchFamily="18" charset="0"/>
                                  <a:ea typeface="Calibri" panose="020F0502020204030204" pitchFamily="34" charset="0"/>
                                  <a:cs typeface="Times New Roman" panose="02020603050405020304" pitchFamily="18" charset="0"/>
                                </a:rPr>
                              </m:ctrlPr>
                            </m:sSubPr>
                            <m:e>
                              <m:r>
                                <a:rPr lang="es-PE" sz="2400" i="1">
                                  <a:latin typeface="Cambria Math" panose="02040503050406030204" pitchFamily="18" charset="0"/>
                                  <a:ea typeface="Calibri" panose="020F0502020204030204" pitchFamily="34" charset="0"/>
                                  <a:cs typeface="Times New Roman" panose="02020603050405020304" pitchFamily="18" charset="0"/>
                                </a:rPr>
                                <m:t>𝑝</m:t>
                              </m:r>
                            </m:e>
                            <m:sub>
                              <m:r>
                                <a:rPr lang="es-PE" sz="2400" i="1">
                                  <a:latin typeface="Cambria Math" panose="02040503050406030204" pitchFamily="18" charset="0"/>
                                  <a:ea typeface="Cambria Math" panose="02040503050406030204" pitchFamily="18" charset="0"/>
                                  <a:cs typeface="Times New Roman" panose="02020603050405020304" pitchFamily="18" charset="0"/>
                                </a:rPr>
                                <m:t>𝜏</m:t>
                              </m:r>
                              <m:r>
                                <a:rPr lang="es-PE" sz="2400" i="1">
                                  <a:latin typeface="Cambria Math" panose="02040503050406030204" pitchFamily="18" charset="0"/>
                                  <a:ea typeface="Cambria Math" panose="02040503050406030204" pitchFamily="18" charset="0"/>
                                  <a:cs typeface="Times New Roman" panose="02020603050405020304" pitchFamily="18" charset="0"/>
                                </a:rPr>
                                <m:t>−1</m:t>
                              </m:r>
                            </m:sub>
                          </m:sSub>
                        </m:e>
                      </m:d>
                      <m:r>
                        <a:rPr lang="es-PE" sz="2400" b="0" i="1" smtClean="0">
                          <a:latin typeface="Cambria Math" panose="02040503050406030204" pitchFamily="18" charset="0"/>
                          <a:ea typeface="Cambria Math" panose="02040503050406030204" pitchFamily="18" charset="0"/>
                          <a:cs typeface="Times New Roman" panose="02020603050405020304" pitchFamily="18" charset="0"/>
                        </a:rPr>
                        <m:t>−</m:t>
                      </m:r>
                      <m:r>
                        <a:rPr lang="es-PE" sz="2400" i="1">
                          <a:latin typeface="Cambria Math" panose="02040503050406030204" pitchFamily="18" charset="0"/>
                          <a:ea typeface="Cambria Math" panose="02040503050406030204" pitchFamily="18" charset="0"/>
                          <a:cs typeface="Times New Roman" panose="02020603050405020304" pitchFamily="18" charset="0"/>
                        </a:rPr>
                        <m:t>𝜂</m:t>
                      </m:r>
                      <m:r>
                        <a:rPr lang="es-PE" sz="2400" i="1">
                          <a:latin typeface="Cambria Math" panose="02040503050406030204" pitchFamily="18" charset="0"/>
                          <a:ea typeface="Calibri" panose="020F0502020204030204" pitchFamily="34" charset="0"/>
                          <a:cs typeface="Times New Roman" panose="02020603050405020304" pitchFamily="18" charset="0"/>
                        </a:rPr>
                        <m:t>(</m:t>
                      </m:r>
                      <m:sSub>
                        <m:sSubPr>
                          <m:ctrlPr>
                            <a:rPr lang="es-PE" sz="2400" i="1">
                              <a:latin typeface="Cambria Math" panose="02040503050406030204" pitchFamily="18" charset="0"/>
                              <a:ea typeface="Calibri" panose="020F0502020204030204" pitchFamily="34" charset="0"/>
                              <a:cs typeface="Times New Roman" panose="02020603050405020304" pitchFamily="18" charset="0"/>
                            </a:rPr>
                          </m:ctrlPr>
                        </m:sSubPr>
                        <m:e>
                          <m:r>
                            <a:rPr lang="es-PE" sz="2400" i="1">
                              <a:latin typeface="Cambria Math" panose="02040503050406030204" pitchFamily="18" charset="0"/>
                              <a:ea typeface="Calibri" panose="020F0502020204030204" pitchFamily="34" charset="0"/>
                              <a:cs typeface="Times New Roman" panose="02020603050405020304" pitchFamily="18" charset="0"/>
                            </a:rPr>
                            <m:t>𝑝</m:t>
                          </m:r>
                        </m:e>
                        <m:sub>
                          <m:r>
                            <a:rPr lang="es-PE" sz="2400" i="1">
                              <a:latin typeface="Cambria Math" panose="02040503050406030204" pitchFamily="18" charset="0"/>
                              <a:ea typeface="Cambria Math" panose="02040503050406030204" pitchFamily="18" charset="0"/>
                              <a:cs typeface="Times New Roman" panose="02020603050405020304" pitchFamily="18" charset="0"/>
                            </a:rPr>
                            <m:t>𝜏</m:t>
                          </m:r>
                          <m:r>
                            <a:rPr lang="es-PE" sz="2400" b="0" i="1" smtClean="0">
                              <a:latin typeface="Cambria Math" panose="02040503050406030204" pitchFamily="18" charset="0"/>
                              <a:ea typeface="Cambria Math" panose="02040503050406030204" pitchFamily="18" charset="0"/>
                              <a:cs typeface="Times New Roman" panose="02020603050405020304" pitchFamily="18" charset="0"/>
                            </a:rPr>
                            <m:t>+1</m:t>
                          </m:r>
                        </m:sub>
                      </m:sSub>
                      <m:r>
                        <a:rPr lang="es-PE" sz="2400" i="1">
                          <a:latin typeface="Cambria Math" panose="02040503050406030204" pitchFamily="18" charset="0"/>
                          <a:ea typeface="Calibri" panose="020F0502020204030204" pitchFamily="34" charset="0"/>
                          <a:cs typeface="Times New Roman" panose="02020603050405020304" pitchFamily="18" charset="0"/>
                        </a:rPr>
                        <m:t>−</m:t>
                      </m:r>
                      <m:sSub>
                        <m:sSubPr>
                          <m:ctrlPr>
                            <a:rPr lang="es-PE" sz="2400" i="1">
                              <a:latin typeface="Cambria Math" panose="02040503050406030204" pitchFamily="18" charset="0"/>
                              <a:ea typeface="Calibri" panose="020F0502020204030204" pitchFamily="34" charset="0"/>
                              <a:cs typeface="Times New Roman" panose="02020603050405020304" pitchFamily="18" charset="0"/>
                            </a:rPr>
                          </m:ctrlPr>
                        </m:sSubPr>
                        <m:e>
                          <m:r>
                            <a:rPr lang="es-PE" sz="2400" i="1">
                              <a:latin typeface="Cambria Math" panose="02040503050406030204" pitchFamily="18" charset="0"/>
                              <a:ea typeface="Calibri" panose="020F0502020204030204" pitchFamily="34" charset="0"/>
                              <a:cs typeface="Times New Roman" panose="02020603050405020304" pitchFamily="18" charset="0"/>
                            </a:rPr>
                            <m:t>𝑝</m:t>
                          </m:r>
                        </m:e>
                        <m:sub>
                          <m:r>
                            <a:rPr lang="es-PE" sz="2400" i="1">
                              <a:latin typeface="Cambria Math" panose="02040503050406030204" pitchFamily="18" charset="0"/>
                              <a:ea typeface="Cambria Math" panose="02040503050406030204" pitchFamily="18" charset="0"/>
                              <a:cs typeface="Times New Roman" panose="02020603050405020304" pitchFamily="18" charset="0"/>
                            </a:rPr>
                            <m:t>𝜏</m:t>
                          </m:r>
                        </m:sub>
                      </m:sSub>
                      <m:r>
                        <a:rPr lang="es-PE" sz="2400" b="0" i="1" smtClean="0">
                          <a:latin typeface="Cambria Math" panose="02040503050406030204" pitchFamily="18" charset="0"/>
                          <a:ea typeface="Cambria Math" panose="02040503050406030204" pitchFamily="18" charset="0"/>
                          <a:cs typeface="Times New Roman" panose="02020603050405020304" pitchFamily="18" charset="0"/>
                        </a:rPr>
                        <m:t>)</m:t>
                      </m:r>
                      <m:r>
                        <a:rPr lang="es-PE" sz="2400" b="0" i="1" smtClean="0">
                          <a:latin typeface="Cambria Math" panose="02040503050406030204" pitchFamily="18" charset="0"/>
                          <a:ea typeface="Calibri" panose="020F0502020204030204" pitchFamily="34" charset="0"/>
                          <a:cs typeface="Times New Roman" panose="02020603050405020304" pitchFamily="18" charset="0"/>
                        </a:rPr>
                        <m:t>]=0</m:t>
                      </m:r>
                    </m:oMath>
                  </m:oMathPara>
                </a14:m>
                <a:endParaRPr lang="es-PE" sz="2400" dirty="0">
                  <a:latin typeface="Calibri" panose="020F0502020204030204" pitchFamily="34" charset="0"/>
                  <a:ea typeface="Calibri" panose="020F0502020204030204" pitchFamily="34" charset="0"/>
                  <a:cs typeface="Times New Roman" panose="02020603050405020304" pitchFamily="18" charset="0"/>
                </a:endParaRPr>
              </a:p>
              <a:p>
                <a:pPr marL="182563" indent="0" algn="just">
                  <a:lnSpc>
                    <a:spcPct val="130000"/>
                  </a:lnSpc>
                  <a:buNone/>
                  <a:tabLst>
                    <a:tab pos="5202238" algn="l"/>
                  </a:tabLst>
                </a:pPr>
                <a:r>
                  <a:rPr lang="es-PE" sz="2400" dirty="0">
                    <a:latin typeface="Calibri" panose="020F0502020204030204" pitchFamily="34" charset="0"/>
                    <a:ea typeface="Calibri" panose="020F0502020204030204" pitchFamily="34" charset="0"/>
                    <a:cs typeface="Times New Roman" panose="02020603050405020304" pitchFamily="18" charset="0"/>
                    <a:sym typeface="Wingdings" panose="05000000000000000000" pitchFamily="2" charset="2"/>
                  </a:rPr>
                  <a:t>                          </a:t>
                </a:r>
                <a14:m>
                  <m:oMath xmlns:m="http://schemas.openxmlformats.org/officeDocument/2006/math">
                    <m:sSub>
                      <m:sSubPr>
                        <m:ctrlPr>
                          <a:rPr lang="es-PE" sz="240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s-PE" sz="2400" i="1" smtClean="0">
                            <a:latin typeface="Cambria Math" panose="02040503050406030204" pitchFamily="18" charset="0"/>
                            <a:ea typeface="Cambria Math" panose="02040503050406030204" pitchFamily="18" charset="0"/>
                            <a:cs typeface="Times New Roman" panose="02020603050405020304" pitchFamily="18" charset="0"/>
                          </a:rPr>
                          <m:t>𝜋</m:t>
                        </m:r>
                      </m:e>
                      <m:sub>
                        <m:r>
                          <a:rPr lang="es-PE" sz="2400" b="0" i="1" smtClean="0">
                            <a:latin typeface="Cambria Math" panose="02040503050406030204" pitchFamily="18" charset="0"/>
                            <a:ea typeface="Cambria Math" panose="02040503050406030204" pitchFamily="18" charset="0"/>
                            <a:cs typeface="Times New Roman" panose="02020603050405020304" pitchFamily="18" charset="0"/>
                          </a:rPr>
                          <m:t>𝑡</m:t>
                        </m:r>
                      </m:sub>
                    </m:sSub>
                    <m:r>
                      <a:rPr lang="es-PE" sz="2400" b="0" i="1" smtClean="0">
                        <a:latin typeface="Cambria Math" panose="02040503050406030204" pitchFamily="18" charset="0"/>
                        <a:ea typeface="Cambria Math" panose="02040503050406030204" pitchFamily="18" charset="0"/>
                        <a:cs typeface="Times New Roman" panose="02020603050405020304" pitchFamily="18" charset="0"/>
                      </a:rPr>
                      <m:t>=</m:t>
                    </m:r>
                    <m:limLow>
                      <m:limLowPr>
                        <m:ctrlPr>
                          <a:rPr lang="es-PE" sz="2400" b="0" i="1" smtClean="0">
                            <a:latin typeface="Cambria Math" panose="02040503050406030204" pitchFamily="18" charset="0"/>
                            <a:ea typeface="Cambria Math" panose="02040503050406030204" pitchFamily="18" charset="0"/>
                            <a:cs typeface="Times New Roman" panose="02020603050405020304" pitchFamily="18" charset="0"/>
                          </a:rPr>
                        </m:ctrlPr>
                      </m:limLowPr>
                      <m:e>
                        <m:groupChr>
                          <m:groupChrPr>
                            <m:chr m:val="⏟"/>
                            <m:ctrlPr>
                              <a:rPr lang="es-PE" sz="2400" b="0" i="1" smtClean="0">
                                <a:latin typeface="Cambria Math" panose="02040503050406030204" pitchFamily="18" charset="0"/>
                                <a:ea typeface="Cambria Math" panose="02040503050406030204" pitchFamily="18" charset="0"/>
                                <a:cs typeface="Times New Roman" panose="02020603050405020304" pitchFamily="18" charset="0"/>
                              </a:rPr>
                            </m:ctrlPr>
                          </m:groupChrPr>
                          <m:e>
                            <m:r>
                              <a:rPr lang="es-PE" sz="2400" b="0" i="1" smtClean="0">
                                <a:latin typeface="Cambria Math" panose="02040503050406030204" pitchFamily="18" charset="0"/>
                                <a:ea typeface="Cambria Math" panose="02040503050406030204" pitchFamily="18" charset="0"/>
                                <a:cs typeface="Times New Roman" panose="02020603050405020304" pitchFamily="18" charset="0"/>
                              </a:rPr>
                              <m:t>𝜃</m:t>
                            </m:r>
                          </m:e>
                        </m:groupChr>
                      </m:e>
                      <m:lim>
                        <m:f>
                          <m:fPr>
                            <m:type m:val="skw"/>
                            <m:ctrlPr>
                              <a:rPr lang="es-PE" sz="2400" b="0" i="1" smtClean="0">
                                <a:latin typeface="Cambria Math" panose="02040503050406030204" pitchFamily="18" charset="0"/>
                                <a:ea typeface="Cambria Math" panose="02040503050406030204" pitchFamily="18" charset="0"/>
                                <a:cs typeface="Times New Roman" panose="02020603050405020304" pitchFamily="18" charset="0"/>
                              </a:rPr>
                            </m:ctrlPr>
                          </m:fPr>
                          <m:num>
                            <m:r>
                              <a:rPr lang="es-PE" sz="2400" b="0" i="1" smtClean="0">
                                <a:latin typeface="Cambria Math" panose="02040503050406030204" pitchFamily="18" charset="0"/>
                                <a:ea typeface="Cambria Math" panose="02040503050406030204" pitchFamily="18" charset="0"/>
                                <a:cs typeface="Times New Roman" panose="02020603050405020304" pitchFamily="18" charset="0"/>
                              </a:rPr>
                              <m:t>𝜙</m:t>
                            </m:r>
                          </m:num>
                          <m:den>
                            <m:r>
                              <a:rPr lang="es-PE" sz="2400" b="0" i="1" smtClean="0">
                                <a:latin typeface="Cambria Math" panose="02040503050406030204" pitchFamily="18" charset="0"/>
                                <a:ea typeface="Cambria Math" panose="02040503050406030204" pitchFamily="18" charset="0"/>
                                <a:cs typeface="Times New Roman" panose="02020603050405020304" pitchFamily="18" charset="0"/>
                              </a:rPr>
                              <m:t>𝑛</m:t>
                            </m:r>
                          </m:den>
                        </m:f>
                      </m:lim>
                    </m:limLow>
                    <m:d>
                      <m:dPr>
                        <m:ctrlPr>
                          <a:rPr lang="es-PE" sz="2400" i="1">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es-PE" sz="2400" i="1">
                                <a:latin typeface="Cambria Math" panose="02040503050406030204" pitchFamily="18" charset="0"/>
                                <a:ea typeface="Cambria Math" panose="02040503050406030204" pitchFamily="18" charset="0"/>
                                <a:cs typeface="Times New Roman" panose="02020603050405020304" pitchFamily="18" charset="0"/>
                              </a:rPr>
                            </m:ctrlPr>
                          </m:sSubPr>
                          <m:e>
                            <m:r>
                              <a:rPr lang="es-PE" sz="2400" i="1">
                                <a:latin typeface="Cambria Math" panose="02040503050406030204" pitchFamily="18" charset="0"/>
                                <a:ea typeface="Cambria Math" panose="02040503050406030204" pitchFamily="18" charset="0"/>
                                <a:cs typeface="Times New Roman" panose="02020603050405020304" pitchFamily="18" charset="0"/>
                              </a:rPr>
                              <m:t>𝑦</m:t>
                            </m:r>
                          </m:e>
                          <m:sub>
                            <m:r>
                              <a:rPr lang="es-PE" sz="2400" i="1">
                                <a:latin typeface="Cambria Math" panose="02040503050406030204" pitchFamily="18" charset="0"/>
                                <a:ea typeface="Cambria Math" panose="02040503050406030204" pitchFamily="18" charset="0"/>
                                <a:cs typeface="Times New Roman" panose="02020603050405020304" pitchFamily="18" charset="0"/>
                              </a:rPr>
                              <m:t>𝑡</m:t>
                            </m:r>
                          </m:sub>
                        </m:sSub>
                        <m:r>
                          <a:rPr lang="es-PE" sz="2400" i="1">
                            <a:latin typeface="Cambria Math" panose="02040503050406030204" pitchFamily="18" charset="0"/>
                            <a:ea typeface="Cambria Math" panose="02040503050406030204" pitchFamily="18" charset="0"/>
                            <a:cs typeface="Times New Roman" panose="02020603050405020304" pitchFamily="18" charset="0"/>
                          </a:rPr>
                          <m:t>−</m:t>
                        </m:r>
                        <m:acc>
                          <m:accPr>
                            <m:chr m:val="̅"/>
                            <m:ctrlPr>
                              <a:rPr lang="es-PE" sz="2400" i="1">
                                <a:latin typeface="Cambria Math" panose="02040503050406030204" pitchFamily="18" charset="0"/>
                                <a:ea typeface="Calibri" panose="020F0502020204030204" pitchFamily="34" charset="0"/>
                                <a:cs typeface="Times New Roman" panose="02020603050405020304" pitchFamily="18" charset="0"/>
                              </a:rPr>
                            </m:ctrlPr>
                          </m:accPr>
                          <m:e>
                            <m:sSub>
                              <m:sSubPr>
                                <m:ctrlPr>
                                  <a:rPr lang="es-PE" sz="2400" i="1">
                                    <a:latin typeface="Cambria Math" panose="02040503050406030204" pitchFamily="18" charset="0"/>
                                    <a:ea typeface="Calibri" panose="020F0502020204030204" pitchFamily="34" charset="0"/>
                                    <a:cs typeface="Times New Roman" panose="02020603050405020304" pitchFamily="18" charset="0"/>
                                  </a:rPr>
                                </m:ctrlPr>
                              </m:sSubPr>
                              <m:e>
                                <m:r>
                                  <a:rPr lang="es-PE" sz="2400" i="1">
                                    <a:latin typeface="Cambria Math" panose="02040503050406030204" pitchFamily="18" charset="0"/>
                                    <a:ea typeface="Calibri" panose="020F0502020204030204" pitchFamily="34" charset="0"/>
                                    <a:cs typeface="Times New Roman" panose="02020603050405020304" pitchFamily="18" charset="0"/>
                                  </a:rPr>
                                  <m:t>𝑦</m:t>
                                </m:r>
                              </m:e>
                              <m:sub>
                                <m:r>
                                  <a:rPr lang="es-PE" sz="2400" i="1">
                                    <a:latin typeface="Cambria Math" panose="02040503050406030204" pitchFamily="18" charset="0"/>
                                    <a:ea typeface="Calibri" panose="020F0502020204030204" pitchFamily="34" charset="0"/>
                                    <a:cs typeface="Times New Roman" panose="02020603050405020304" pitchFamily="18" charset="0"/>
                                  </a:rPr>
                                  <m:t>𝑡</m:t>
                                </m:r>
                              </m:sub>
                            </m:sSub>
                          </m:e>
                        </m:acc>
                      </m:e>
                    </m:d>
                    <m:r>
                      <a:rPr lang="es-PE" sz="2400" b="0" i="1" smtClean="0">
                        <a:latin typeface="Cambria Math" panose="02040503050406030204" pitchFamily="18" charset="0"/>
                        <a:ea typeface="Calibri" panose="020F0502020204030204" pitchFamily="34" charset="0"/>
                        <a:cs typeface="Times New Roman" panose="02020603050405020304" pitchFamily="18" charset="0"/>
                      </a:rPr>
                      <m:t>+</m:t>
                    </m:r>
                    <m:r>
                      <a:rPr lang="es-PE" sz="2400" b="0" i="1" smtClean="0">
                        <a:latin typeface="Cambria Math" panose="02040503050406030204" pitchFamily="18" charset="0"/>
                        <a:ea typeface="Cambria Math" panose="02040503050406030204" pitchFamily="18" charset="0"/>
                        <a:cs typeface="Times New Roman" panose="02020603050405020304" pitchFamily="18" charset="0"/>
                      </a:rPr>
                      <m:t>𝛽</m:t>
                    </m:r>
                    <m:sSub>
                      <m:sSubPr>
                        <m:ctrlPr>
                          <a:rPr lang="es-PE" sz="24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s-PE" sz="2400" b="0" i="1" smtClean="0">
                            <a:latin typeface="Cambria Math" panose="02040503050406030204" pitchFamily="18" charset="0"/>
                            <a:ea typeface="Cambria Math" panose="02040503050406030204" pitchFamily="18" charset="0"/>
                            <a:cs typeface="Times New Roman" panose="02020603050405020304" pitchFamily="18" charset="0"/>
                          </a:rPr>
                          <m:t>𝐸</m:t>
                        </m:r>
                      </m:e>
                      <m:sub>
                        <m:r>
                          <a:rPr lang="es-PE" sz="2400" b="0" i="1" smtClean="0">
                            <a:latin typeface="Cambria Math" panose="02040503050406030204" pitchFamily="18" charset="0"/>
                            <a:ea typeface="Cambria Math" panose="02040503050406030204" pitchFamily="18" charset="0"/>
                            <a:cs typeface="Times New Roman" panose="02020603050405020304" pitchFamily="18" charset="0"/>
                          </a:rPr>
                          <m:t>𝑡</m:t>
                        </m:r>
                      </m:sub>
                    </m:sSub>
                    <m:r>
                      <a:rPr lang="es-PE" sz="2400"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s-PE" sz="24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s-PE" sz="2400" b="0" i="1" smtClean="0">
                            <a:latin typeface="Cambria Math" panose="02040503050406030204" pitchFamily="18" charset="0"/>
                            <a:ea typeface="Cambria Math" panose="02040503050406030204" pitchFamily="18" charset="0"/>
                            <a:cs typeface="Times New Roman" panose="02020603050405020304" pitchFamily="18" charset="0"/>
                          </a:rPr>
                          <m:t>𝜋</m:t>
                        </m:r>
                      </m:e>
                      <m:sub>
                        <m:r>
                          <a:rPr lang="es-PE" sz="2400" b="0" i="1" smtClean="0">
                            <a:latin typeface="Cambria Math" panose="02040503050406030204" pitchFamily="18" charset="0"/>
                            <a:ea typeface="Cambria Math" panose="02040503050406030204" pitchFamily="18" charset="0"/>
                            <a:cs typeface="Times New Roman" panose="02020603050405020304" pitchFamily="18" charset="0"/>
                          </a:rPr>
                          <m:t>𝑡</m:t>
                        </m:r>
                        <m:r>
                          <a:rPr lang="es-PE" sz="2400" b="0" i="1" smtClean="0">
                            <a:latin typeface="Cambria Math" panose="02040503050406030204" pitchFamily="18" charset="0"/>
                            <a:ea typeface="Cambria Math" panose="02040503050406030204" pitchFamily="18" charset="0"/>
                            <a:cs typeface="Times New Roman" panose="02020603050405020304" pitchFamily="18" charset="0"/>
                          </a:rPr>
                          <m:t>+1</m:t>
                        </m:r>
                      </m:sub>
                    </m:sSub>
                    <m:r>
                      <a:rPr lang="es-PE" sz="2400" b="0" i="1" smtClean="0">
                        <a:latin typeface="Cambria Math" panose="02040503050406030204" pitchFamily="18" charset="0"/>
                        <a:ea typeface="Cambria Math" panose="02040503050406030204" pitchFamily="18" charset="0"/>
                        <a:cs typeface="Times New Roman" panose="02020603050405020304" pitchFamily="18" charset="0"/>
                      </a:rPr>
                      <m:t>)+</m:t>
                    </m:r>
                    <m:limLow>
                      <m:limLowPr>
                        <m:ctrlPr>
                          <a:rPr lang="es-PE" sz="2400" b="0" i="1" smtClean="0">
                            <a:latin typeface="Cambria Math" panose="02040503050406030204" pitchFamily="18" charset="0"/>
                            <a:ea typeface="Cambria Math" panose="02040503050406030204" pitchFamily="18" charset="0"/>
                            <a:cs typeface="Times New Roman" panose="02020603050405020304" pitchFamily="18" charset="0"/>
                          </a:rPr>
                        </m:ctrlPr>
                      </m:limLowPr>
                      <m:e>
                        <m:groupChr>
                          <m:groupChrPr>
                            <m:chr m:val="⏟"/>
                            <m:ctrlPr>
                              <a:rPr lang="es-PE" sz="2400" b="0" i="1" smtClean="0">
                                <a:latin typeface="Cambria Math" panose="02040503050406030204" pitchFamily="18" charset="0"/>
                                <a:ea typeface="Cambria Math" panose="02040503050406030204" pitchFamily="18" charset="0"/>
                                <a:cs typeface="Times New Roman" panose="02020603050405020304" pitchFamily="18" charset="0"/>
                              </a:rPr>
                            </m:ctrlPr>
                          </m:groupChrPr>
                          <m:e>
                            <m:sSub>
                              <m:sSubPr>
                                <m:ctrlPr>
                                  <a:rPr lang="es-PE" sz="24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s-PE" sz="2400" b="0" i="1" smtClean="0">
                                    <a:latin typeface="Cambria Math" panose="02040503050406030204" pitchFamily="18" charset="0"/>
                                    <a:ea typeface="Cambria Math" panose="02040503050406030204" pitchFamily="18" charset="0"/>
                                    <a:cs typeface="Times New Roman" panose="02020603050405020304" pitchFamily="18" charset="0"/>
                                  </a:rPr>
                                  <m:t>𝜀</m:t>
                                </m:r>
                              </m:e>
                              <m:sub>
                                <m:r>
                                  <a:rPr lang="es-PE" sz="2400" b="0" i="1" smtClean="0">
                                    <a:latin typeface="Cambria Math" panose="02040503050406030204" pitchFamily="18" charset="0"/>
                                    <a:ea typeface="Cambria Math" panose="02040503050406030204" pitchFamily="18" charset="0"/>
                                    <a:cs typeface="Times New Roman" panose="02020603050405020304" pitchFamily="18" charset="0"/>
                                  </a:rPr>
                                  <m:t>𝑡</m:t>
                                </m:r>
                              </m:sub>
                            </m:sSub>
                          </m:e>
                        </m:groupChr>
                      </m:e>
                      <m:lim>
                        <m:f>
                          <m:fPr>
                            <m:type m:val="skw"/>
                            <m:ctrlPr>
                              <a:rPr lang="es-PE" sz="2400" b="0" i="1" smtClean="0">
                                <a:latin typeface="Cambria Math" panose="02040503050406030204" pitchFamily="18" charset="0"/>
                                <a:ea typeface="Cambria Math" panose="02040503050406030204" pitchFamily="18" charset="0"/>
                                <a:cs typeface="Times New Roman" panose="02020603050405020304" pitchFamily="18" charset="0"/>
                              </a:rPr>
                            </m:ctrlPr>
                          </m:fPr>
                          <m:num>
                            <m:r>
                              <a:rPr lang="es-PE" sz="2400" b="0" i="1" smtClean="0">
                                <a:latin typeface="Cambria Math" panose="02040503050406030204" pitchFamily="18" charset="0"/>
                                <a:ea typeface="Cambria Math" panose="02040503050406030204" pitchFamily="18" charset="0"/>
                                <a:cs typeface="Times New Roman" panose="02020603050405020304" pitchFamily="18" charset="0"/>
                              </a:rPr>
                              <m:t>𝑣</m:t>
                            </m:r>
                          </m:num>
                          <m:den>
                            <m:r>
                              <a:rPr lang="es-PE" sz="2400" b="0" i="1" smtClean="0">
                                <a:latin typeface="Cambria Math" panose="02040503050406030204" pitchFamily="18" charset="0"/>
                                <a:ea typeface="Cambria Math" panose="02040503050406030204" pitchFamily="18" charset="0"/>
                                <a:cs typeface="Times New Roman" panose="02020603050405020304" pitchFamily="18" charset="0"/>
                              </a:rPr>
                              <m:t>𝑛</m:t>
                            </m:r>
                          </m:den>
                        </m:f>
                      </m:lim>
                    </m:limLow>
                  </m:oMath>
                </a14:m>
                <a:r>
                  <a:rPr lang="es-PE" sz="2400" dirty="0">
                    <a:latin typeface="Calibri" panose="020F0502020204030204" pitchFamily="34" charset="0"/>
                    <a:ea typeface="Calibri" panose="020F0502020204030204" pitchFamily="34" charset="0"/>
                    <a:cs typeface="Times New Roman" panose="02020603050405020304" pitchFamily="18" charset="0"/>
                  </a:rPr>
                  <a:t> … (*)</a:t>
                </a:r>
              </a:p>
            </p:txBody>
          </p:sp>
        </mc:Choice>
        <mc:Fallback xmlns="">
          <p:sp>
            <p:nvSpPr>
              <p:cNvPr id="3" name="Marcador de contenido 2">
                <a:extLst>
                  <a:ext uri="{FF2B5EF4-FFF2-40B4-BE49-F238E27FC236}">
                    <a16:creationId xmlns:a16="http://schemas.microsoft.com/office/drawing/2014/main" id="{6B3C8BD7-46AD-3233-FA6B-ED62A7252515}"/>
                  </a:ext>
                </a:extLst>
              </p:cNvPr>
              <p:cNvSpPr>
                <a:spLocks noGrp="1" noRot="1" noChangeAspect="1" noMove="1" noResize="1" noEditPoints="1" noAdjustHandles="1" noChangeArrowheads="1" noChangeShapeType="1" noTextEdit="1"/>
              </p:cNvSpPr>
              <p:nvPr>
                <p:ph idx="1"/>
              </p:nvPr>
            </p:nvSpPr>
            <p:spPr>
              <a:xfrm>
                <a:off x="1244600" y="2019299"/>
                <a:ext cx="9880600" cy="4203701"/>
              </a:xfrm>
              <a:blipFill>
                <a:blip r:embed="rId2"/>
                <a:stretch>
                  <a:fillRect b="-14595"/>
                </a:stretch>
              </a:blipFill>
              <a:ln>
                <a:solidFill>
                  <a:schemeClr val="bg1">
                    <a:lumMod val="65000"/>
                  </a:schemeClr>
                </a:solidFill>
              </a:ln>
            </p:spPr>
            <p:txBody>
              <a:bodyPr/>
              <a:lstStyle/>
              <a:p>
                <a:r>
                  <a:rPr lang="es-PE">
                    <a:noFill/>
                  </a:rPr>
                  <a:t> </a:t>
                </a:r>
              </a:p>
            </p:txBody>
          </p:sp>
        </mc:Fallback>
      </mc:AlternateContent>
    </p:spTree>
    <p:extLst>
      <p:ext uri="{BB962C8B-B14F-4D97-AF65-F5344CB8AC3E}">
        <p14:creationId xmlns:p14="http://schemas.microsoft.com/office/powerpoint/2010/main" val="194305137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44D6D-D166-0B4F-9DC4-D413C4BE898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B910315-B276-F2C2-7638-757FD9570B8D}"/>
              </a:ext>
            </a:extLst>
          </p:cNvPr>
          <p:cNvSpPr>
            <a:spLocks noGrp="1"/>
          </p:cNvSpPr>
          <p:nvPr>
            <p:ph type="title"/>
          </p:nvPr>
        </p:nvSpPr>
        <p:spPr>
          <a:xfrm>
            <a:off x="1066800" y="8046"/>
            <a:ext cx="10058400" cy="1450757"/>
          </a:xfrm>
        </p:spPr>
        <p:txBody>
          <a:bodyPr>
            <a:normAutofit/>
          </a:bodyPr>
          <a:lstStyle/>
          <a:p>
            <a:r>
              <a:rPr lang="es-PE" sz="3200" dirty="0"/>
              <a:t>La nueva curva de Phillips</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CC1EA752-5742-FDA1-84F1-D3B123FADC8C}"/>
                  </a:ext>
                </a:extLst>
              </p:cNvPr>
              <p:cNvSpPr>
                <a:spLocks noGrp="1"/>
              </p:cNvSpPr>
              <p:nvPr>
                <p:ph idx="1"/>
              </p:nvPr>
            </p:nvSpPr>
            <p:spPr>
              <a:xfrm>
                <a:off x="1244600" y="1854199"/>
                <a:ext cx="9880600" cy="4533901"/>
              </a:xfrm>
              <a:ln>
                <a:solidFill>
                  <a:schemeClr val="bg1">
                    <a:lumMod val="65000"/>
                  </a:schemeClr>
                </a:solidFill>
              </a:ln>
            </p:spPr>
            <p:txBody>
              <a:bodyPr lIns="36000" rIns="180000">
                <a:noAutofit/>
              </a:bodyPr>
              <a:lstStyle/>
              <a:p>
                <a:pPr marL="182563" indent="0" algn="just">
                  <a:lnSpc>
                    <a:spcPct val="125000"/>
                  </a:lnSpc>
                  <a:buNone/>
                  <a:tabLst>
                    <a:tab pos="5202238" algn="l"/>
                  </a:tabLst>
                </a:pPr>
                <a:r>
                  <a:rPr lang="es-PE" sz="2000" dirty="0">
                    <a:latin typeface="Calibri" panose="020F0502020204030204" pitchFamily="34" charset="0"/>
                    <a:ea typeface="Calibri" panose="020F0502020204030204" pitchFamily="34" charset="0"/>
                    <a:cs typeface="Times New Roman" panose="02020603050405020304" pitchFamily="18" charset="0"/>
                  </a:rPr>
                  <a:t>Minimización de costos de ajuste cuadrática</a:t>
                </a:r>
              </a:p>
              <a:p>
                <a:pPr marL="525463" indent="-342900" algn="just">
                  <a:lnSpc>
                    <a:spcPct val="125000"/>
                  </a:lnSpc>
                  <a:buFont typeface="Arial" panose="020B0604020202020204" pitchFamily="34" charset="0"/>
                  <a:buChar char="•"/>
                  <a:tabLst>
                    <a:tab pos="5202238" algn="l"/>
                  </a:tabLst>
                </a:pPr>
                <a:r>
                  <a:rPr lang="es-PE" sz="2000" dirty="0">
                    <a:latin typeface="Calibri" panose="020F0502020204030204" pitchFamily="34" charset="0"/>
                    <a:ea typeface="Calibri" panose="020F0502020204030204" pitchFamily="34" charset="0"/>
                    <a:cs typeface="Times New Roman" panose="02020603050405020304" pitchFamily="18" charset="0"/>
                  </a:rPr>
                  <a:t>Si n=0, la PC es inelástica. Las empresas estarían siempre sobre su precio ya que no habría costos de ajustarse.</a:t>
                </a:r>
              </a:p>
              <a:p>
                <a:pPr marL="525463" indent="-342900" algn="just">
                  <a:lnSpc>
                    <a:spcPct val="125000"/>
                  </a:lnSpc>
                  <a:buFont typeface="Arial" panose="020B0604020202020204" pitchFamily="34" charset="0"/>
                  <a:buChar char="•"/>
                  <a:tabLst>
                    <a:tab pos="5202238" algn="l"/>
                  </a:tabLst>
                </a:pPr>
                <a:r>
                  <a:rPr lang="es-PE" sz="2000" dirty="0">
                    <a:latin typeface="Calibri" panose="020F0502020204030204" pitchFamily="34" charset="0"/>
                    <a:ea typeface="Calibri" panose="020F0502020204030204" pitchFamily="34" charset="0"/>
                    <a:cs typeface="Times New Roman" panose="02020603050405020304" pitchFamily="18" charset="0"/>
                  </a:rPr>
                  <a:t>Si </a:t>
                </a:r>
                <a14:m>
                  <m:oMath xmlns:m="http://schemas.openxmlformats.org/officeDocument/2006/math">
                    <m:r>
                      <a:rPr lang="es-PE" sz="2000" i="1" smtClean="0">
                        <a:latin typeface="Cambria Math" panose="02040503050406030204" pitchFamily="18" charset="0"/>
                        <a:ea typeface="Cambria Math" panose="02040503050406030204" pitchFamily="18" charset="0"/>
                        <a:cs typeface="Times New Roman" panose="02020603050405020304" pitchFamily="18" charset="0"/>
                      </a:rPr>
                      <m:t>𝜙</m:t>
                    </m:r>
                  </m:oMath>
                </a14:m>
                <a:r>
                  <a:rPr lang="es-PE" sz="2000" dirty="0">
                    <a:latin typeface="Calibri" panose="020F0502020204030204" pitchFamily="34" charset="0"/>
                    <a:ea typeface="Calibri" panose="020F0502020204030204" pitchFamily="34" charset="0"/>
                    <a:cs typeface="Times New Roman" panose="02020603050405020304" pitchFamily="18" charset="0"/>
                  </a:rPr>
                  <a:t> es elevado, la PC es inelástica ya que un cambio pequeño en la brecha producto genera fuertes cambios en los precios.</a:t>
                </a:r>
              </a:p>
              <a:p>
                <a:pPr marL="525463" indent="-342900" algn="just">
                  <a:lnSpc>
                    <a:spcPct val="125000"/>
                  </a:lnSpc>
                  <a:buFont typeface="Arial" panose="020B0604020202020204" pitchFamily="34" charset="0"/>
                  <a:buChar char="•"/>
                  <a:tabLst>
                    <a:tab pos="5202238" algn="l"/>
                  </a:tabLst>
                </a:pPr>
                <a:r>
                  <a:rPr lang="es-PE" sz="2000" dirty="0">
                    <a:latin typeface="Calibri" panose="020F0502020204030204" pitchFamily="34" charset="0"/>
                    <a:ea typeface="Calibri" panose="020F0502020204030204" pitchFamily="34" charset="0"/>
                    <a:cs typeface="Times New Roman" panose="02020603050405020304" pitchFamily="18" charset="0"/>
                  </a:rPr>
                  <a:t>La </a:t>
                </a:r>
                <a:r>
                  <a:rPr lang="es-PE" sz="2000" dirty="0" err="1">
                    <a:latin typeface="Calibri" panose="020F0502020204030204" pitchFamily="34" charset="0"/>
                    <a:ea typeface="Calibri" panose="020F0502020204030204" pitchFamily="34" charset="0"/>
                    <a:cs typeface="Times New Roman" panose="02020603050405020304" pitchFamily="18" charset="0"/>
                  </a:rPr>
                  <a:t>Ec</a:t>
                </a:r>
                <a:r>
                  <a:rPr lang="es-PE" sz="2000" dirty="0">
                    <a:latin typeface="Calibri" panose="020F0502020204030204" pitchFamily="34" charset="0"/>
                    <a:ea typeface="Calibri" panose="020F0502020204030204" pitchFamily="34" charset="0"/>
                    <a:cs typeface="Times New Roman" panose="02020603050405020304" pitchFamily="18" charset="0"/>
                  </a:rPr>
                  <a:t>. * se llama la nueva PC, donde destaca:</a:t>
                </a:r>
              </a:p>
              <a:p>
                <a:pPr marL="818071" lvl="1" indent="-342900" algn="just">
                  <a:lnSpc>
                    <a:spcPct val="125000"/>
                  </a:lnSpc>
                  <a:buFont typeface="Arial" panose="020B0604020202020204" pitchFamily="34" charset="0"/>
                  <a:buChar char="•"/>
                  <a:tabLst>
                    <a:tab pos="5202238" algn="l"/>
                  </a:tabLst>
                </a:pPr>
                <a:r>
                  <a:rPr lang="es-PE" sz="2100" dirty="0">
                    <a:latin typeface="Calibri" panose="020F0502020204030204" pitchFamily="34" charset="0"/>
                    <a:ea typeface="Calibri" panose="020F0502020204030204" pitchFamily="34" charset="0"/>
                    <a:cs typeface="Times New Roman" panose="02020603050405020304" pitchFamily="18" charset="0"/>
                  </a:rPr>
                  <a:t>La PC está expresada para </a:t>
                </a:r>
                <a14:m>
                  <m:oMath xmlns:m="http://schemas.openxmlformats.org/officeDocument/2006/math">
                    <m:r>
                      <m:rPr>
                        <m:sty m:val="p"/>
                      </m:rPr>
                      <a:rPr lang="el-GR" sz="2100" i="1" smtClean="0">
                        <a:latin typeface="Cambria Math" panose="02040503050406030204" pitchFamily="18" charset="0"/>
                        <a:ea typeface="Cambria Math" panose="02040503050406030204" pitchFamily="18" charset="0"/>
                        <a:cs typeface="Times New Roman" panose="02020603050405020304" pitchFamily="18" charset="0"/>
                      </a:rPr>
                      <m:t>π</m:t>
                    </m:r>
                    <m:r>
                      <a:rPr lang="es-PE" sz="2100" b="0" i="0" smtClean="0">
                        <a:latin typeface="Cambria Math" panose="02040503050406030204" pitchFamily="18" charset="0"/>
                        <a:ea typeface="Cambria Math" panose="02040503050406030204" pitchFamily="18" charset="0"/>
                        <a:cs typeface="Times New Roman" panose="02020603050405020304" pitchFamily="18" charset="0"/>
                      </a:rPr>
                      <m:t>, </m:t>
                    </m:r>
                  </m:oMath>
                </a14:m>
                <a:r>
                  <a:rPr lang="es-PE" sz="2100" dirty="0">
                    <a:latin typeface="Calibri" panose="020F0502020204030204" pitchFamily="34" charset="0"/>
                    <a:ea typeface="Calibri" panose="020F0502020204030204" pitchFamily="34" charset="0"/>
                    <a:cs typeface="Times New Roman" panose="02020603050405020304" pitchFamily="18" charset="0"/>
                  </a:rPr>
                  <a:t>no para producción </a:t>
                </a:r>
                <a14:m>
                  <m:oMath xmlns:m="http://schemas.openxmlformats.org/officeDocument/2006/math">
                    <m:r>
                      <a:rPr lang="es-PE" sz="2100" b="0" i="1" smtClean="0">
                        <a:latin typeface="Cambria Math" panose="02040503050406030204" pitchFamily="18" charset="0"/>
                        <a:ea typeface="Cambria Math" panose="02040503050406030204" pitchFamily="18" charset="0"/>
                        <a:cs typeface="Times New Roman" panose="02020603050405020304" pitchFamily="18" charset="0"/>
                      </a:rPr>
                      <m:t>𝑦</m:t>
                    </m:r>
                  </m:oMath>
                </a14:m>
                <a:r>
                  <a:rPr lang="es-PE" sz="2100" dirty="0">
                    <a:latin typeface="Calibri" panose="020F0502020204030204" pitchFamily="34" charset="0"/>
                    <a:ea typeface="Calibri" panose="020F0502020204030204" pitchFamily="34" charset="0"/>
                    <a:cs typeface="Times New Roman" panose="02020603050405020304" pitchFamily="18" charset="0"/>
                  </a:rPr>
                  <a:t>.</a:t>
                </a:r>
              </a:p>
              <a:p>
                <a:pPr marL="818071" lvl="1" indent="-342900" algn="just">
                  <a:lnSpc>
                    <a:spcPct val="125000"/>
                  </a:lnSpc>
                  <a:buFont typeface="Arial" panose="020B0604020202020204" pitchFamily="34" charset="0"/>
                  <a:buChar char="•"/>
                  <a:tabLst>
                    <a:tab pos="5202238" algn="l"/>
                  </a:tabLst>
                </a:pPr>
                <a:r>
                  <a:rPr lang="es-PE" sz="2100" dirty="0">
                    <a:latin typeface="Calibri" panose="020F0502020204030204" pitchFamily="34" charset="0"/>
                    <a:ea typeface="Calibri" panose="020F0502020204030204" pitchFamily="34" charset="0"/>
                    <a:cs typeface="Times New Roman" panose="02020603050405020304" pitchFamily="18" charset="0"/>
                  </a:rPr>
                  <a:t>La PC  no tiene inercia.</a:t>
                </a:r>
              </a:p>
              <a:p>
                <a:pPr marL="818071" lvl="1" indent="-342900" algn="just">
                  <a:lnSpc>
                    <a:spcPct val="125000"/>
                  </a:lnSpc>
                  <a:buFont typeface="Arial" panose="020B0604020202020204" pitchFamily="34" charset="0"/>
                  <a:buChar char="•"/>
                  <a:tabLst>
                    <a:tab pos="5202238" algn="l"/>
                  </a:tabLst>
                </a:pPr>
                <a:r>
                  <a:rPr lang="es-PE" sz="2100" dirty="0">
                    <a:latin typeface="Calibri" panose="020F0502020204030204" pitchFamily="34" charset="0"/>
                    <a:ea typeface="Calibri" panose="020F0502020204030204" pitchFamily="34" charset="0"/>
                    <a:cs typeface="Times New Roman" panose="02020603050405020304" pitchFamily="18" charset="0"/>
                  </a:rPr>
                  <a:t>La mira hacia adelanta, es forward </a:t>
                </a:r>
                <a:r>
                  <a:rPr lang="es-PE" sz="2100" dirty="0" err="1">
                    <a:latin typeface="Calibri" panose="020F0502020204030204" pitchFamily="34" charset="0"/>
                    <a:ea typeface="Calibri" panose="020F0502020204030204" pitchFamily="34" charset="0"/>
                    <a:cs typeface="Times New Roman" panose="02020603050405020304" pitchFamily="18" charset="0"/>
                  </a:rPr>
                  <a:t>looking</a:t>
                </a:r>
                <a:r>
                  <a:rPr lang="es-PE" sz="2100" dirty="0">
                    <a:latin typeface="Calibri" panose="020F0502020204030204" pitchFamily="34" charset="0"/>
                    <a:ea typeface="Calibri" panose="020F0502020204030204" pitchFamily="34" charset="0"/>
                    <a:cs typeface="Times New Roman" panose="02020603050405020304" pitchFamily="18" charset="0"/>
                  </a:rPr>
                  <a:t>.</a:t>
                </a:r>
              </a:p>
            </p:txBody>
          </p:sp>
        </mc:Choice>
        <mc:Fallback xmlns="">
          <p:sp>
            <p:nvSpPr>
              <p:cNvPr id="3" name="Marcador de contenido 2">
                <a:extLst>
                  <a:ext uri="{FF2B5EF4-FFF2-40B4-BE49-F238E27FC236}">
                    <a16:creationId xmlns:a16="http://schemas.microsoft.com/office/drawing/2014/main" id="{CC1EA752-5742-FDA1-84F1-D3B123FADC8C}"/>
                  </a:ext>
                </a:extLst>
              </p:cNvPr>
              <p:cNvSpPr>
                <a:spLocks noGrp="1" noRot="1" noChangeAspect="1" noMove="1" noResize="1" noEditPoints="1" noAdjustHandles="1" noChangeArrowheads="1" noChangeShapeType="1" noTextEdit="1"/>
              </p:cNvSpPr>
              <p:nvPr>
                <p:ph idx="1"/>
              </p:nvPr>
            </p:nvSpPr>
            <p:spPr>
              <a:xfrm>
                <a:off x="1244600" y="1854199"/>
                <a:ext cx="9880600" cy="4533901"/>
              </a:xfrm>
              <a:blipFill>
                <a:blip r:embed="rId2"/>
                <a:stretch>
                  <a:fillRect/>
                </a:stretch>
              </a:blipFill>
              <a:ln>
                <a:solidFill>
                  <a:schemeClr val="bg1">
                    <a:lumMod val="65000"/>
                  </a:schemeClr>
                </a:solidFill>
              </a:ln>
            </p:spPr>
            <p:txBody>
              <a:bodyPr/>
              <a:lstStyle/>
              <a:p>
                <a:r>
                  <a:rPr lang="es-PE">
                    <a:noFill/>
                  </a:rPr>
                  <a:t> </a:t>
                </a:r>
              </a:p>
            </p:txBody>
          </p:sp>
        </mc:Fallback>
      </mc:AlternateContent>
    </p:spTree>
    <p:extLst>
      <p:ext uri="{BB962C8B-B14F-4D97-AF65-F5344CB8AC3E}">
        <p14:creationId xmlns:p14="http://schemas.microsoft.com/office/powerpoint/2010/main" val="227738105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Título 1">
            <a:extLst>
              <a:ext uri="{FF2B5EF4-FFF2-40B4-BE49-F238E27FC236}">
                <a16:creationId xmlns:a16="http://schemas.microsoft.com/office/drawing/2014/main" id="{234FCB6C-8996-8853-2073-2D71134341EE}"/>
              </a:ext>
            </a:extLst>
          </p:cNvPr>
          <p:cNvSpPr txBox="1">
            <a:spLocks/>
          </p:cNvSpPr>
          <p:nvPr/>
        </p:nvSpPr>
        <p:spPr bwMode="auto">
          <a:xfrm>
            <a:off x="1214438" y="2540000"/>
            <a:ext cx="9872662" cy="1827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lnSpc>
                <a:spcPct val="90000"/>
              </a:lnSpc>
              <a:spcBef>
                <a:spcPct val="0"/>
              </a:spcBef>
              <a:buFontTx/>
              <a:buNone/>
            </a:pPr>
            <a:r>
              <a:rPr lang="es-PE" altLang="es-PE" sz="4000" b="1">
                <a:solidFill>
                  <a:srgbClr val="FFFFFF"/>
                </a:solidFill>
                <a:latin typeface="Verdana" panose="020B0604030504040204" pitchFamily="34" charset="0"/>
                <a:ea typeface="Verdana" panose="020B0604030504040204" pitchFamily="34" charset="0"/>
                <a:cs typeface="Verdana" panose="020B0604030504040204" pitchFamily="34" charset="0"/>
              </a:rPr>
              <a:t>TRANSFERENCIA</a:t>
            </a:r>
            <a:endParaRPr lang="es-ES_tradnl" altLang="es-PE" sz="4000" b="1">
              <a:solidFill>
                <a:srgbClr val="FFFFFF"/>
              </a:solidFill>
              <a:latin typeface="Verdana" panose="020B0604030504040204" pitchFamily="34" charset="0"/>
              <a:ea typeface="Verdana" panose="020B0604030504040204" pitchFamily="34" charset="0"/>
              <a:cs typeface="Verdana" panose="020B0604030504040204" pitchFamily="34" charset="0"/>
            </a:endParaRPr>
          </a:p>
        </p:txBody>
      </p:sp>
      <p:sp>
        <p:nvSpPr>
          <p:cNvPr id="153603" name="TextBox 1">
            <a:extLst>
              <a:ext uri="{FF2B5EF4-FFF2-40B4-BE49-F238E27FC236}">
                <a16:creationId xmlns:a16="http://schemas.microsoft.com/office/drawing/2014/main" id="{29E857D3-19B3-EF3A-3FCF-646889D6F808}"/>
              </a:ext>
            </a:extLst>
          </p:cNvPr>
          <p:cNvSpPr txBox="1">
            <a:spLocks noChangeArrowheads="1"/>
          </p:cNvSpPr>
          <p:nvPr/>
        </p:nvSpPr>
        <p:spPr bwMode="auto">
          <a:xfrm>
            <a:off x="381000" y="487363"/>
            <a:ext cx="50307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s-ES_tradnl" altLang="es-PE" sz="1200">
                <a:solidFill>
                  <a:srgbClr val="FFFFFF"/>
                </a:solidFill>
                <a:latin typeface="Verdana" panose="020B0604030504040204" pitchFamily="34" charset="0"/>
                <a:ea typeface="Verdana" panose="020B0604030504040204" pitchFamily="34" charset="0"/>
                <a:cs typeface="Verdana" panose="020B0604030504040204" pitchFamily="34" charset="0"/>
              </a:rPr>
              <a:t>FACULTAD DE CIENCIAS EMPRESARIALES Y ECONÓMICAS</a:t>
            </a:r>
          </a:p>
          <a:p>
            <a:pPr eaLnBrk="1" hangingPunct="1">
              <a:spcBef>
                <a:spcPct val="0"/>
              </a:spcBef>
              <a:buFontTx/>
              <a:buNone/>
            </a:pPr>
            <a:r>
              <a:rPr lang="es-ES_tradnl" altLang="es-PE" sz="1200">
                <a:solidFill>
                  <a:srgbClr val="FFFFFF"/>
                </a:solidFill>
                <a:latin typeface="Verdana" panose="020B0604030504040204" pitchFamily="34" charset="0"/>
                <a:ea typeface="Verdana" panose="020B0604030504040204" pitchFamily="34" charset="0"/>
                <a:cs typeface="Verdana" panose="020B0604030504040204" pitchFamily="34" charset="0"/>
              </a:rPr>
              <a:t>CARRERA DE ECONOMÍA</a:t>
            </a:r>
            <a:endParaRPr lang="en-US" altLang="es-PE" sz="1200">
              <a:solidFill>
                <a:srgbClr val="000000"/>
              </a:solidFill>
              <a:latin typeface="Verdana" panose="020B0604030504040204" pitchFamily="34" charset="0"/>
              <a:ea typeface="Verdana" panose="020B0604030504040204" pitchFamily="34" charset="0"/>
              <a:cs typeface="Verdana" panose="020B0604030504040204" pitchFamily="34"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8996429-DDA4-4F4C-E9D0-CD844EF6F3A3}"/>
              </a:ext>
            </a:extLst>
          </p:cNvPr>
          <p:cNvSpPr>
            <a:spLocks noGrp="1"/>
          </p:cNvSpPr>
          <p:nvPr>
            <p:ph type="title"/>
          </p:nvPr>
        </p:nvSpPr>
        <p:spPr>
          <a:xfrm>
            <a:off x="903288" y="333375"/>
            <a:ext cx="10515600" cy="617538"/>
          </a:xfrm>
        </p:spPr>
        <p:txBody>
          <a:bodyPr>
            <a:normAutofit fontScale="90000"/>
          </a:bodyPr>
          <a:lstStyle/>
          <a:p>
            <a:pPr>
              <a:defRPr/>
            </a:pPr>
            <a:r>
              <a:rPr lang="es-ES" dirty="0"/>
              <a:t>SET DE EJERCICIOS 1</a:t>
            </a:r>
            <a:endParaRPr lang="es-PE" dirty="0"/>
          </a:p>
        </p:txBody>
      </p:sp>
      <p:sp>
        <p:nvSpPr>
          <p:cNvPr id="154627" name="Rectangle 1">
            <a:extLst>
              <a:ext uri="{FF2B5EF4-FFF2-40B4-BE49-F238E27FC236}">
                <a16:creationId xmlns:a16="http://schemas.microsoft.com/office/drawing/2014/main" id="{14DCF218-DF34-98A6-C3D7-F773E0308861}"/>
              </a:ext>
            </a:extLst>
          </p:cNvPr>
          <p:cNvSpPr>
            <a:spLocks noChangeArrowheads="1"/>
          </p:cNvSpPr>
          <p:nvPr/>
        </p:nvSpPr>
        <p:spPr bwMode="auto">
          <a:xfrm>
            <a:off x="903288" y="1857375"/>
            <a:ext cx="9891712" cy="2308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tabLst>
                <a:tab pos="457200" algn="l"/>
              </a:tabLst>
              <a:defRPr sz="3200">
                <a:solidFill>
                  <a:schemeClr val="tx1"/>
                </a:solidFill>
                <a:latin typeface="Times New Roman" panose="02020603050405020304" pitchFamily="18" charset="0"/>
              </a:defRPr>
            </a:lvl1pPr>
            <a:lvl2pPr marL="742950" indent="-285750">
              <a:spcBef>
                <a:spcPct val="20000"/>
              </a:spcBef>
              <a:buChar char="–"/>
              <a:tabLst>
                <a:tab pos="457200" algn="l"/>
              </a:tabLst>
              <a:defRPr sz="2800">
                <a:solidFill>
                  <a:schemeClr val="tx1"/>
                </a:solidFill>
                <a:latin typeface="Times New Roman" panose="02020603050405020304" pitchFamily="18" charset="0"/>
              </a:defRPr>
            </a:lvl2pPr>
            <a:lvl3pPr marL="1143000" indent="-228600">
              <a:spcBef>
                <a:spcPct val="20000"/>
              </a:spcBef>
              <a:buChar char="•"/>
              <a:tabLst>
                <a:tab pos="457200" algn="l"/>
              </a:tabLst>
              <a:defRPr sz="2400">
                <a:solidFill>
                  <a:schemeClr val="tx1"/>
                </a:solidFill>
                <a:latin typeface="Times New Roman" panose="02020603050405020304" pitchFamily="18" charset="0"/>
              </a:defRPr>
            </a:lvl3pPr>
            <a:lvl4pPr marL="1600200" indent="-228600">
              <a:spcBef>
                <a:spcPct val="20000"/>
              </a:spcBef>
              <a:buChar char="–"/>
              <a:tabLst>
                <a:tab pos="457200" algn="l"/>
              </a:tabLst>
              <a:defRPr sz="2000">
                <a:solidFill>
                  <a:schemeClr val="tx1"/>
                </a:solidFill>
                <a:latin typeface="Times New Roman" panose="02020603050405020304" pitchFamily="18" charset="0"/>
              </a:defRPr>
            </a:lvl4pPr>
            <a:lvl5pPr marL="2057400" indent="-228600">
              <a:spcBef>
                <a:spcPct val="20000"/>
              </a:spcBef>
              <a:buChar char="»"/>
              <a:tabLst>
                <a:tab pos="4572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tabLst>
                <a:tab pos="4572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tabLst>
                <a:tab pos="4572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tabLst>
                <a:tab pos="4572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tabLst>
                <a:tab pos="457200" algn="l"/>
              </a:tabLst>
              <a:defRPr sz="2000">
                <a:solidFill>
                  <a:schemeClr val="tx1"/>
                </a:solidFill>
                <a:latin typeface="Times New Roman" panose="02020603050405020304" pitchFamily="18" charset="0"/>
              </a:defRPr>
            </a:lvl9pPr>
          </a:lstStyle>
          <a:p>
            <a:pPr algn="just">
              <a:spcBef>
                <a:spcPct val="0"/>
              </a:spcBef>
              <a:buFontTx/>
              <a:buNone/>
            </a:pPr>
            <a:endParaRPr lang="es-ES" altLang="es-PE" sz="2400">
              <a:latin typeface="Arial" panose="020B0604020202020204" pitchFamily="34" charset="0"/>
              <a:ea typeface="Times New Roman" panose="02020603050405020304" pitchFamily="18" charset="0"/>
              <a:cs typeface="Arial" panose="020B0604020202020204" pitchFamily="34" charset="0"/>
            </a:endParaRPr>
          </a:p>
          <a:p>
            <a:pPr algn="just">
              <a:spcBef>
                <a:spcPct val="0"/>
              </a:spcBef>
            </a:pPr>
            <a:endParaRPr lang="es-ES" altLang="es-PE" sz="2400">
              <a:latin typeface="Arial" panose="020B0604020202020204" pitchFamily="34" charset="0"/>
              <a:ea typeface="Times New Roman" panose="02020603050405020304" pitchFamily="18" charset="0"/>
              <a:cs typeface="Arial" panose="020B0604020202020204" pitchFamily="34" charset="0"/>
            </a:endParaRPr>
          </a:p>
          <a:p>
            <a:pPr algn="just">
              <a:spcBef>
                <a:spcPct val="0"/>
              </a:spcBef>
            </a:pPr>
            <a:endParaRPr lang="es-ES" altLang="es-PE" sz="2400">
              <a:latin typeface="Arial" panose="020B0604020202020204" pitchFamily="34" charset="0"/>
              <a:ea typeface="Times New Roman" panose="02020603050405020304" pitchFamily="18" charset="0"/>
              <a:cs typeface="Arial" panose="020B0604020202020204" pitchFamily="34" charset="0"/>
            </a:endParaRPr>
          </a:p>
          <a:p>
            <a:pPr algn="just">
              <a:spcBef>
                <a:spcPct val="0"/>
              </a:spcBef>
            </a:pPr>
            <a:endParaRPr lang="es-ES" altLang="es-PE" sz="2400">
              <a:latin typeface="Arial" panose="020B0604020202020204" pitchFamily="34" charset="0"/>
              <a:ea typeface="Times New Roman" panose="02020603050405020304" pitchFamily="18" charset="0"/>
              <a:cs typeface="Arial" panose="020B0604020202020204" pitchFamily="34" charset="0"/>
            </a:endParaRPr>
          </a:p>
          <a:p>
            <a:pPr algn="just">
              <a:spcBef>
                <a:spcPct val="0"/>
              </a:spcBef>
              <a:buFontTx/>
              <a:buNone/>
            </a:pPr>
            <a:r>
              <a:rPr lang="es-ES" altLang="es-PE" sz="2400">
                <a:latin typeface="Arial" panose="020B0604020202020204" pitchFamily="34" charset="0"/>
                <a:ea typeface="Times New Roman" panose="02020603050405020304" pitchFamily="18" charset="0"/>
                <a:cs typeface="Arial" panose="020B0604020202020204" pitchFamily="34" charset="0"/>
              </a:rPr>
              <a:t> </a:t>
            </a:r>
            <a:endParaRPr lang="es-PE" altLang="es-PE" sz="2400">
              <a:latin typeface="Arial" panose="020B0604020202020204" pitchFamily="34" charset="0"/>
              <a:ea typeface="Times New Roman" panose="02020603050405020304" pitchFamily="18" charset="0"/>
              <a:cs typeface="Arial" panose="020B0604020202020204" pitchFamily="34" charset="0"/>
            </a:endParaRPr>
          </a:p>
          <a:p>
            <a:pPr algn="just">
              <a:spcBef>
                <a:spcPct val="0"/>
              </a:spcBef>
              <a:buFontTx/>
              <a:buNone/>
            </a:pPr>
            <a:endParaRPr lang="es-ES" altLang="es-PE" sz="2400">
              <a:latin typeface="Arial" panose="020B0604020202020204" pitchFamily="34" charset="0"/>
              <a:ea typeface="Times New Roman" panose="02020603050405020304" pitchFamily="18" charset="0"/>
              <a:cs typeface="Arial" panose="020B0604020202020204" pitchFamily="34"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Título 1">
            <a:extLst>
              <a:ext uri="{FF2B5EF4-FFF2-40B4-BE49-F238E27FC236}">
                <a16:creationId xmlns:a16="http://schemas.microsoft.com/office/drawing/2014/main" id="{00C6D90B-268A-981E-8B73-0280DBCFB6BE}"/>
              </a:ext>
            </a:extLst>
          </p:cNvPr>
          <p:cNvSpPr txBox="1">
            <a:spLocks/>
          </p:cNvSpPr>
          <p:nvPr/>
        </p:nvSpPr>
        <p:spPr bwMode="auto">
          <a:xfrm>
            <a:off x="1214438" y="2540000"/>
            <a:ext cx="9872662" cy="1827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lnSpc>
                <a:spcPct val="90000"/>
              </a:lnSpc>
              <a:spcBef>
                <a:spcPct val="0"/>
              </a:spcBef>
              <a:buFontTx/>
              <a:buNone/>
            </a:pPr>
            <a:r>
              <a:rPr lang="es-PE" altLang="es-PE" sz="4000" b="1">
                <a:solidFill>
                  <a:srgbClr val="FFFFFF"/>
                </a:solidFill>
                <a:latin typeface="Verdana" panose="020B0604030504040204" pitchFamily="34" charset="0"/>
                <a:ea typeface="Verdana" panose="020B0604030504040204" pitchFamily="34" charset="0"/>
                <a:cs typeface="Verdana" panose="020B0604030504040204" pitchFamily="34" charset="0"/>
              </a:rPr>
              <a:t>CIERRE</a:t>
            </a:r>
            <a:endParaRPr lang="es-ES_tradnl" altLang="es-PE" sz="4000" b="1">
              <a:solidFill>
                <a:srgbClr val="FFFFFF"/>
              </a:solidFill>
              <a:latin typeface="Verdana" panose="020B0604030504040204" pitchFamily="34" charset="0"/>
              <a:ea typeface="Verdana" panose="020B0604030504040204" pitchFamily="34" charset="0"/>
              <a:cs typeface="Verdana" panose="020B0604030504040204" pitchFamily="34" charset="0"/>
            </a:endParaRPr>
          </a:p>
        </p:txBody>
      </p:sp>
      <p:sp>
        <p:nvSpPr>
          <p:cNvPr id="155651" name="TextBox 1">
            <a:extLst>
              <a:ext uri="{FF2B5EF4-FFF2-40B4-BE49-F238E27FC236}">
                <a16:creationId xmlns:a16="http://schemas.microsoft.com/office/drawing/2014/main" id="{E357FB48-3FD1-F9E8-A3B3-AE8DBD8321E2}"/>
              </a:ext>
            </a:extLst>
          </p:cNvPr>
          <p:cNvSpPr txBox="1">
            <a:spLocks noChangeArrowheads="1"/>
          </p:cNvSpPr>
          <p:nvPr/>
        </p:nvSpPr>
        <p:spPr bwMode="auto">
          <a:xfrm>
            <a:off x="381000" y="487363"/>
            <a:ext cx="50307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s-ES_tradnl" altLang="es-PE" sz="1200">
                <a:solidFill>
                  <a:srgbClr val="FFFFFF"/>
                </a:solidFill>
                <a:latin typeface="Verdana" panose="020B0604030504040204" pitchFamily="34" charset="0"/>
                <a:ea typeface="Verdana" panose="020B0604030504040204" pitchFamily="34" charset="0"/>
                <a:cs typeface="Verdana" panose="020B0604030504040204" pitchFamily="34" charset="0"/>
              </a:rPr>
              <a:t>FACULTAD DE CIENCIAS EMPRESARIALES Y ECONÓMICAS</a:t>
            </a:r>
          </a:p>
          <a:p>
            <a:pPr eaLnBrk="1" hangingPunct="1">
              <a:spcBef>
                <a:spcPct val="0"/>
              </a:spcBef>
              <a:buFontTx/>
              <a:buNone/>
            </a:pPr>
            <a:r>
              <a:rPr lang="es-ES_tradnl" altLang="es-PE" sz="1200">
                <a:solidFill>
                  <a:srgbClr val="FFFFFF"/>
                </a:solidFill>
                <a:latin typeface="Verdana" panose="020B0604030504040204" pitchFamily="34" charset="0"/>
                <a:ea typeface="Verdana" panose="020B0604030504040204" pitchFamily="34" charset="0"/>
                <a:cs typeface="Verdana" panose="020B0604030504040204" pitchFamily="34" charset="0"/>
              </a:rPr>
              <a:t>CARRERA DE ECONOMÍA</a:t>
            </a:r>
            <a:endParaRPr lang="en-US" altLang="es-PE" sz="1200">
              <a:solidFill>
                <a:srgbClr val="000000"/>
              </a:solidFill>
              <a:latin typeface="Verdana" panose="020B0604030504040204" pitchFamily="34" charset="0"/>
              <a:ea typeface="Verdana" panose="020B0604030504040204" pitchFamily="34" charset="0"/>
              <a:cs typeface="Verdana" panose="020B0604030504040204" pitchFamily="34" charset="0"/>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51;p17">
            <a:extLst>
              <a:ext uri="{FF2B5EF4-FFF2-40B4-BE49-F238E27FC236}">
                <a16:creationId xmlns:a16="http://schemas.microsoft.com/office/drawing/2014/main" id="{FDC65F5B-5BF3-7F41-4036-5CCB195D699C}"/>
              </a:ext>
            </a:extLst>
          </p:cNvPr>
          <p:cNvSpPr txBox="1">
            <a:spLocks noGrp="1"/>
          </p:cNvSpPr>
          <p:nvPr>
            <p:ph type="title"/>
          </p:nvPr>
        </p:nvSpPr>
        <p:spPr>
          <a:xfrm>
            <a:off x="2640013" y="449263"/>
            <a:ext cx="6477000" cy="889000"/>
          </a:xfrm>
        </p:spPr>
        <p:txBody>
          <a:bodyPr lIns="121900" tIns="121900" rIns="121900" bIns="121900" rtlCol="0" anchor="t"/>
          <a:lstStyle/>
          <a:p>
            <a:pPr>
              <a:defRPr/>
            </a:pPr>
            <a:r>
              <a:rPr lang="es-ES" sz="3733" dirty="0">
                <a:solidFill>
                  <a:srgbClr val="FE9B03"/>
                </a:solidFill>
                <a:latin typeface="Tahoma"/>
                <a:ea typeface="Tahoma"/>
                <a:cs typeface="Tahoma"/>
                <a:sym typeface="Tahoma"/>
              </a:rPr>
              <a:t>Actividad de cierre</a:t>
            </a:r>
            <a:endParaRPr sz="3733" dirty="0"/>
          </a:p>
        </p:txBody>
      </p:sp>
      <p:sp>
        <p:nvSpPr>
          <p:cNvPr id="4" name="TextBox 5">
            <a:extLst>
              <a:ext uri="{FF2B5EF4-FFF2-40B4-BE49-F238E27FC236}">
                <a16:creationId xmlns:a16="http://schemas.microsoft.com/office/drawing/2014/main" id="{96B4B630-6B0D-C322-A0B6-7CC9DA6B94B5}"/>
              </a:ext>
            </a:extLst>
          </p:cNvPr>
          <p:cNvSpPr txBox="1"/>
          <p:nvPr/>
        </p:nvSpPr>
        <p:spPr>
          <a:xfrm>
            <a:off x="649288" y="1908175"/>
            <a:ext cx="5807075" cy="3108543"/>
          </a:xfrm>
          <a:prstGeom prst="rect">
            <a:avLst/>
          </a:prstGeom>
          <a:noFill/>
        </p:spPr>
        <p:txBody>
          <a:bodyPr>
            <a:spAutoFit/>
          </a:bodyPr>
          <a:lstStyle/>
          <a:p>
            <a:pPr>
              <a:lnSpc>
                <a:spcPct val="150000"/>
              </a:lnSpc>
              <a:defRPr/>
            </a:pPr>
            <a:r>
              <a:rPr lang="en-US" sz="2800" dirty="0"/>
              <a:t>Se </a:t>
            </a:r>
            <a:r>
              <a:rPr lang="en-US" sz="2800" dirty="0" err="1"/>
              <a:t>evalúa</a:t>
            </a:r>
            <a:r>
              <a:rPr lang="en-US" sz="2800" dirty="0"/>
              <a:t> lo  </a:t>
            </a:r>
            <a:r>
              <a:rPr lang="en-US" sz="2800" dirty="0" err="1"/>
              <a:t>aprendido</a:t>
            </a:r>
            <a:r>
              <a:rPr lang="en-US" sz="2800" dirty="0"/>
              <a:t> </a:t>
            </a:r>
            <a:r>
              <a:rPr lang="en-US" sz="2800" dirty="0" err="1"/>
              <a:t>por</a:t>
            </a:r>
            <a:r>
              <a:rPr lang="en-US" sz="2800" dirty="0"/>
              <a:t> medio:</a:t>
            </a:r>
          </a:p>
          <a:p>
            <a:pPr marL="342900" indent="-342900">
              <a:lnSpc>
                <a:spcPct val="150000"/>
              </a:lnSpc>
              <a:buFont typeface="Arial" panose="020B0604020202020204" pitchFamily="34" charset="0"/>
              <a:buChar char="•"/>
              <a:defRPr/>
            </a:pPr>
            <a:r>
              <a:rPr lang="en-US" sz="2800" dirty="0"/>
              <a:t>De </a:t>
            </a:r>
            <a:r>
              <a:rPr lang="en-US" sz="2800" dirty="0" err="1"/>
              <a:t>comentarios</a:t>
            </a:r>
            <a:r>
              <a:rPr lang="en-US" sz="2800" dirty="0"/>
              <a:t> de </a:t>
            </a:r>
            <a:r>
              <a:rPr lang="en-US" sz="2800" dirty="0" err="1"/>
              <a:t>noticias</a:t>
            </a:r>
            <a:r>
              <a:rPr lang="en-US" sz="2800" dirty="0"/>
              <a:t> de la </a:t>
            </a:r>
            <a:r>
              <a:rPr lang="en-US" sz="2800" dirty="0" err="1"/>
              <a:t>actualidad</a:t>
            </a:r>
            <a:r>
              <a:rPr lang="en-US" sz="2800" dirty="0"/>
              <a:t> </a:t>
            </a:r>
            <a:r>
              <a:rPr lang="en-US" sz="2800" dirty="0" err="1"/>
              <a:t>relacionados</a:t>
            </a:r>
            <a:r>
              <a:rPr lang="en-US" sz="2800" dirty="0"/>
              <a:t> a la </a:t>
            </a:r>
            <a:r>
              <a:rPr lang="en-US" sz="2800" dirty="0" err="1"/>
              <a:t>economía</a:t>
            </a:r>
            <a:r>
              <a:rPr lang="en-US" sz="2800" dirty="0"/>
              <a:t> </a:t>
            </a:r>
            <a:r>
              <a:rPr lang="en-US" sz="2800" dirty="0" err="1"/>
              <a:t>abierta</a:t>
            </a:r>
            <a:endParaRPr lang="en-US" sz="2800" dirty="0"/>
          </a:p>
          <a:p>
            <a:pPr marL="342900" indent="-342900">
              <a:buFont typeface="Arial" panose="020B0604020202020204" pitchFamily="34" charset="0"/>
              <a:buChar char="•"/>
              <a:defRPr/>
            </a:pPr>
            <a:endParaRPr lang="en-US" sz="2800" dirty="0"/>
          </a:p>
        </p:txBody>
      </p:sp>
      <p:pic>
        <p:nvPicPr>
          <p:cNvPr id="156676" name="Imagen 4">
            <a:extLst>
              <a:ext uri="{FF2B5EF4-FFF2-40B4-BE49-F238E27FC236}">
                <a16:creationId xmlns:a16="http://schemas.microsoft.com/office/drawing/2014/main" id="{1874DCA3-177E-8DB3-2373-3623A49A1B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77125" y="1143000"/>
            <a:ext cx="3749675" cy="5094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1_RetrospectVTI">
  <a:themeElements>
    <a:clrScheme name="Custom 34">
      <a:dk1>
        <a:sysClr val="windowText" lastClr="000000"/>
      </a:dk1>
      <a:lt1>
        <a:sysClr val="window" lastClr="FFFFFF"/>
      </a:lt1>
      <a:dk2>
        <a:srgbClr val="39302A"/>
      </a:dk2>
      <a:lt2>
        <a:srgbClr val="E5DEDB"/>
      </a:lt2>
      <a:accent1>
        <a:srgbClr val="EC7016"/>
      </a:accent1>
      <a:accent2>
        <a:srgbClr val="F8931D"/>
      </a:accent2>
      <a:accent3>
        <a:srgbClr val="CE8D3E"/>
      </a:accent3>
      <a:accent4>
        <a:srgbClr val="E64823"/>
      </a:accent4>
      <a:accent5>
        <a:srgbClr val="FFCA08"/>
      </a:accent5>
      <a:accent6>
        <a:srgbClr val="9C6A6A"/>
      </a:accent6>
      <a:hlink>
        <a:srgbClr val="2998E3"/>
      </a:hlink>
      <a:folHlink>
        <a:srgbClr val="7F723D"/>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Office_44286108_TF22712842.potx" id="{4708C323-9511-41F2-A34B-4D9FB1CD758F}" vid="{2A25D6EF-FD31-443E-8F41-09AF3298DEF8}"/>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A3F7EDC-E5B4-4BBC-9D2A-CBE6D46C37AD}">
  <ds:schemaRefs>
    <ds:schemaRef ds:uri="http://schemas.microsoft.com/sharepoint/v3/contenttype/forms"/>
  </ds:schemaRefs>
</ds:datastoreItem>
</file>

<file path=customXml/itemProps2.xml><?xml version="1.0" encoding="utf-8"?>
<ds:datastoreItem xmlns:ds="http://schemas.openxmlformats.org/officeDocument/2006/customXml" ds:itemID="{A03EEFF0-FB57-4CB4-8BFC-DF397689E2ED}">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93932EF5-314F-409E-8020-FEE5FA0795B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{F58E01CF-16E3-4AEF-83D0-C3B7FDEC0428}tf22712842_win32</Template>
  <TotalTime>904</TotalTime>
  <Words>2903</Words>
  <Application>Microsoft Office PowerPoint</Application>
  <PresentationFormat>Panorámica</PresentationFormat>
  <Paragraphs>261</Paragraphs>
  <Slides>57</Slides>
  <Notes>3</Notes>
  <HiddenSlides>0</HiddenSlides>
  <MMClips>0</MMClips>
  <ScaleCrop>false</ScaleCrop>
  <HeadingPairs>
    <vt:vector size="6" baseType="variant">
      <vt:variant>
        <vt:lpstr>Fuentes usadas</vt:lpstr>
      </vt:variant>
      <vt:variant>
        <vt:i4>12</vt:i4>
      </vt:variant>
      <vt:variant>
        <vt:lpstr>Tema</vt:lpstr>
      </vt:variant>
      <vt:variant>
        <vt:i4>1</vt:i4>
      </vt:variant>
      <vt:variant>
        <vt:lpstr>Títulos de diapositiva</vt:lpstr>
      </vt:variant>
      <vt:variant>
        <vt:i4>57</vt:i4>
      </vt:variant>
    </vt:vector>
  </HeadingPairs>
  <TitlesOfParts>
    <vt:vector size="70" baseType="lpstr">
      <vt:lpstr>Abril Fatface</vt:lpstr>
      <vt:lpstr>Arial</vt:lpstr>
      <vt:lpstr>Bookman Old Style</vt:lpstr>
      <vt:lpstr>Calibri</vt:lpstr>
      <vt:lpstr>Cambria Math</vt:lpstr>
      <vt:lpstr>Franklin Gothic Book</vt:lpstr>
      <vt:lpstr>Palatino Linotype</vt:lpstr>
      <vt:lpstr>Symbol</vt:lpstr>
      <vt:lpstr>Tahoma</vt:lpstr>
      <vt:lpstr>Times New Roman</vt:lpstr>
      <vt:lpstr>Verdana</vt:lpstr>
      <vt:lpstr>Wingdings</vt:lpstr>
      <vt:lpstr>1_RetrospectVTI</vt:lpstr>
      <vt:lpstr>LA OFERTA AGREGADA, LA CURVA DE PHILLIPS Y EL MODELO DE LUCAS (Sesión 8 Parte 2)</vt:lpstr>
      <vt:lpstr>Presentación de PowerPoint</vt:lpstr>
      <vt:lpstr>Logro de aprendizaje: </vt:lpstr>
      <vt:lpstr>CONTENIDO DETALLADO</vt:lpstr>
      <vt:lpstr>Presentación de PowerPoint</vt:lpstr>
      <vt:lpstr>Presentación de PowerPoint</vt:lpstr>
      <vt:lpstr>Presentación de PowerPoint</vt:lpstr>
      <vt:lpstr>Presentación de PowerPoint</vt:lpstr>
      <vt:lpstr>Presentación de PowerPoint</vt:lpstr>
      <vt:lpstr>Crítica de Lucas: Información imperfecta y expectativas racionales</vt:lpstr>
      <vt:lpstr>Crítica de Lucas: Información imperfecta y expectativas racionales</vt:lpstr>
      <vt:lpstr>Crítica de Lucas: Información imperfecta y expectativas racionales</vt:lpstr>
      <vt:lpstr>Crítica de Lucas: Información imperfecta y expectativas racionales</vt:lpstr>
      <vt:lpstr>Crítica de Lucas: Información imperfecta y expectativas racionales</vt:lpstr>
      <vt:lpstr>Crítica de Lucas: Información imperfecta y expectativas racionales</vt:lpstr>
      <vt:lpstr>Crítica de Lucas: Información imperfecta y expectativas racionales</vt:lpstr>
      <vt:lpstr>Crítica de Lucas: Información imperfecta y expectativas racionales</vt:lpstr>
      <vt:lpstr>Crítica de Lucas: Información imperfecta y expectativas racionales</vt:lpstr>
      <vt:lpstr>Crítica de Lucas: Información imperfecta y expectativas racionales</vt:lpstr>
      <vt:lpstr>Crítica de Lucas: Información imperfecta y expectativas racionales</vt:lpstr>
      <vt:lpstr>Crítica de Lucas: Información imperfecta y expectativas racionales</vt:lpstr>
      <vt:lpstr>Crítica de Lucas: Información imperfecta y expectativas racionales</vt:lpstr>
      <vt:lpstr>Crítica de Lucas: Información imperfecta y expectativas racionales</vt:lpstr>
      <vt:lpstr>Crítica de Lucas: Información imperfecta y expectativas racionales</vt:lpstr>
      <vt:lpstr>Crítica de Lucas: Información imperfecta y expectativas racionales</vt:lpstr>
      <vt:lpstr>Crítica de Lucas: Información imperfecta y expectativas racionales</vt:lpstr>
      <vt:lpstr>Crítica de Lucas: Información imperfecta y expectativas racionales</vt:lpstr>
      <vt:lpstr>Crítica de Lucas: Información imperfecta y expectativas racionales</vt:lpstr>
      <vt:lpstr>Crítica de Lucas: Información imperfecta y expectativas racionales</vt:lpstr>
      <vt:lpstr>Crítica de Lucas: Información imperfecta y expectativas racionales</vt:lpstr>
      <vt:lpstr>Crítica de Lucas: Información imperfecta y expectativas racionales</vt:lpstr>
      <vt:lpstr>Presentación de PowerPoint</vt:lpstr>
      <vt:lpstr>Rigideces de salarios nominales y expectativas</vt:lpstr>
      <vt:lpstr>Rigideces de salarios nominales y expectativas</vt:lpstr>
      <vt:lpstr>Rigideces de salarios nominales y expectativas</vt:lpstr>
      <vt:lpstr>Rigideces de salarios nominales y expectativas</vt:lpstr>
      <vt:lpstr>Rigideces de salarios nominales y expectativas</vt:lpstr>
      <vt:lpstr>Rigideces de salarios nominales y expectativas</vt:lpstr>
      <vt:lpstr>Rigideces de salarios nominales y expectativas</vt:lpstr>
      <vt:lpstr>Presentación de PowerPoint</vt:lpstr>
      <vt:lpstr>Rigideces de precios e indexación</vt:lpstr>
      <vt:lpstr>Rigideces de precios e indexación</vt:lpstr>
      <vt:lpstr>Rigideces de precios e indexación</vt:lpstr>
      <vt:lpstr>Rigideces de precios e indexación</vt:lpstr>
      <vt:lpstr>Rigideces de precios e indexación</vt:lpstr>
      <vt:lpstr>Rigideces de precios e indexación</vt:lpstr>
      <vt:lpstr>Rigideces de precios e indexación</vt:lpstr>
      <vt:lpstr>Presentación de PowerPoint</vt:lpstr>
      <vt:lpstr>La nueva curva de Phillips</vt:lpstr>
      <vt:lpstr>La nueva curva de Phillips</vt:lpstr>
      <vt:lpstr>La nueva curva de Phillips</vt:lpstr>
      <vt:lpstr>La nueva curva de Phillips</vt:lpstr>
      <vt:lpstr>La nueva curva de Phillips</vt:lpstr>
      <vt:lpstr>Presentación de PowerPoint</vt:lpstr>
      <vt:lpstr>SET DE EJERCICIOS 1</vt:lpstr>
      <vt:lpstr>Presentación de PowerPoint</vt:lpstr>
      <vt:lpstr>Actividad de cierre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Título Lorem Ipsum</dc:title>
  <dc:creator>Azanero Saona, Jose  Manuel</dc:creator>
  <cp:lastModifiedBy>Azanero Saona, Jose  Manuel</cp:lastModifiedBy>
  <cp:revision>13</cp:revision>
  <dcterms:created xsi:type="dcterms:W3CDTF">2023-07-06T20:28:31Z</dcterms:created>
  <dcterms:modified xsi:type="dcterms:W3CDTF">2025-10-28T02:18:44Z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