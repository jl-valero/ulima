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38" r:id="rId1"/>
  </p:sldMasterIdLst>
  <p:notesMasterIdLst>
    <p:notesMasterId r:id="rId30"/>
  </p:notesMasterIdLst>
  <p:handoutMasterIdLst>
    <p:handoutMasterId r:id="rId31"/>
  </p:handoutMasterIdLst>
  <p:sldIdLst>
    <p:sldId id="256" r:id="rId2"/>
    <p:sldId id="569" r:id="rId3"/>
    <p:sldId id="399" r:id="rId4"/>
    <p:sldId id="307" r:id="rId5"/>
    <p:sldId id="544" r:id="rId6"/>
    <p:sldId id="591" r:id="rId7"/>
    <p:sldId id="601" r:id="rId8"/>
    <p:sldId id="602" r:id="rId9"/>
    <p:sldId id="603" r:id="rId10"/>
    <p:sldId id="604" r:id="rId11"/>
    <p:sldId id="605" r:id="rId12"/>
    <p:sldId id="606" r:id="rId13"/>
    <p:sldId id="607" r:id="rId14"/>
    <p:sldId id="608" r:id="rId15"/>
    <p:sldId id="609" r:id="rId16"/>
    <p:sldId id="610" r:id="rId17"/>
    <p:sldId id="611" r:id="rId18"/>
    <p:sldId id="612" r:id="rId19"/>
    <p:sldId id="614" r:id="rId20"/>
    <p:sldId id="616" r:id="rId21"/>
    <p:sldId id="615" r:id="rId22"/>
    <p:sldId id="618" r:id="rId23"/>
    <p:sldId id="619" r:id="rId24"/>
    <p:sldId id="620" r:id="rId25"/>
    <p:sldId id="570" r:id="rId26"/>
    <p:sldId id="264" r:id="rId27"/>
    <p:sldId id="571" r:id="rId28"/>
    <p:sldId id="401" r:id="rId29"/>
  </p:sldIdLst>
  <p:sldSz cx="12192000" cy="6858000"/>
  <p:notesSz cx="6889750" cy="10021888"/>
  <p:defaultTextStyle>
    <a:defPPr>
      <a:defRPr lang="es-E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F2BC76EB-3AE8-4CB1-8E09-1D17B2ACCE16}">
          <p14:sldIdLst>
            <p14:sldId id="256"/>
          </p14:sldIdLst>
        </p14:section>
        <p14:section name="IMPACTO" id="{02D12366-C454-4177-9040-64585DE89E1E}">
          <p14:sldIdLst>
            <p14:sldId id="569"/>
          </p14:sldIdLst>
        </p14:section>
        <p14:section name="Sección sin título" id="{9A729E97-1C0F-43C3-B603-58CBB1D3198E}">
          <p14:sldIdLst/>
        </p14:section>
        <p14:section name="Logro del Aprendizaje" id="{C05FA2BF-8577-4C57-A2AE-357A0843E586}">
          <p14:sldIdLst>
            <p14:sldId id="399"/>
          </p14:sldIdLst>
        </p14:section>
        <p14:section name="Contenido Detallado" id="{9D2CF210-996B-4269-8B0B-777849BBED89}">
          <p14:sldIdLst>
            <p14:sldId id="307"/>
          </p14:sldIdLst>
        </p14:section>
        <p14:section name="Bases Teóricas" id="{799450E8-B4B3-4BCC-A1DF-8998175AB7ED}">
          <p14:sldIdLst>
            <p14:sldId id="544"/>
          </p14:sldIdLst>
        </p14:section>
        <p14:section name="Inflac y Señoreaje" id="{2638D823-EFD0-4D2D-B529-158982A0E192}">
          <p14:sldIdLst>
            <p14:sldId id="591"/>
            <p14:sldId id="601"/>
            <p14:sldId id="602"/>
            <p14:sldId id="603"/>
            <p14:sldId id="604"/>
            <p14:sldId id="605"/>
            <p14:sldId id="606"/>
            <p14:sldId id="607"/>
            <p14:sldId id="608"/>
            <p14:sldId id="609"/>
            <p14:sldId id="610"/>
          </p14:sldIdLst>
        </p14:section>
        <p14:section name="El sreñoreaje y la inflación" id="{4DA533A6-7BD5-4B98-81B4-1544B4D6C3E2}">
          <p14:sldIdLst>
            <p14:sldId id="611"/>
            <p14:sldId id="612"/>
          </p14:sldIdLst>
        </p14:section>
        <p14:section name="Sección sin título" id="{D07EE157-F42E-4DE3-B887-68EFBBA253ED}">
          <p14:sldIdLst>
            <p14:sldId id="614"/>
            <p14:sldId id="616"/>
            <p14:sldId id="615"/>
            <p14:sldId id="618"/>
            <p14:sldId id="619"/>
            <p14:sldId id="620"/>
          </p14:sldIdLst>
        </p14:section>
        <p14:section name="Aplicaciones" id="{98D950DD-60EC-4E19-8632-EDFA52E55613}">
          <p14:sldIdLst>
            <p14:sldId id="570"/>
            <p14:sldId id="264"/>
          </p14:sldIdLst>
        </p14:section>
        <p14:section name="Actividades de Cierre" id="{F8B690E5-A2A7-40B5-B696-50B7305016F2}">
          <p14:sldIdLst>
            <p14:sldId id="571"/>
            <p14:sldId id="40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57">
          <p15:clr>
            <a:srgbClr val="A4A3A4"/>
          </p15:clr>
        </p15:guide>
        <p15:guide id="2" pos="217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E84706"/>
    <a:srgbClr val="FFFFFF"/>
    <a:srgbClr val="F8F8F8"/>
    <a:srgbClr val="CCFFCC"/>
    <a:srgbClr val="33CC33"/>
    <a:srgbClr val="CCFFFF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40" autoAdjust="0"/>
    <p:restoredTop sz="95059" autoAdjust="0"/>
  </p:normalViewPr>
  <p:slideViewPr>
    <p:cSldViewPr>
      <p:cViewPr varScale="1">
        <p:scale>
          <a:sx n="75" d="100"/>
          <a:sy n="75" d="100"/>
        </p:scale>
        <p:origin x="667" y="5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14218"/>
    </p:cViewPr>
  </p:sorterViewPr>
  <p:notesViewPr>
    <p:cSldViewPr>
      <p:cViewPr varScale="1">
        <p:scale>
          <a:sx n="59" d="100"/>
          <a:sy n="59" d="100"/>
        </p:scale>
        <p:origin x="2323" y="72"/>
      </p:cViewPr>
      <p:guideLst>
        <p:guide orient="horz" pos="3157"/>
        <p:guide pos="217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0" name="Rectangle 4">
            <a:extLst>
              <a:ext uri="{FF2B5EF4-FFF2-40B4-BE49-F238E27FC236}">
                <a16:creationId xmlns:a16="http://schemas.microsoft.com/office/drawing/2014/main" id="{24F082F9-59C7-AB60-D213-A451814EBD30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518650"/>
            <a:ext cx="2984500" cy="50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8" tIns="46584" rIns="93168" bIns="46584" numCol="1" anchor="b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0"/>
              </a:spcBef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0421" name="Rectangle 5">
            <a:extLst>
              <a:ext uri="{FF2B5EF4-FFF2-40B4-BE49-F238E27FC236}">
                <a16:creationId xmlns:a16="http://schemas.microsoft.com/office/drawing/2014/main" id="{7F7D5EC9-3C05-AAB2-E798-5873C1210824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03663" y="9518650"/>
            <a:ext cx="2984500" cy="50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8" tIns="46584" rIns="93168" bIns="4658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5933F690-987B-48DE-A18B-471B5D26D24A}" type="slidenum">
              <a:rPr lang="es-ES" altLang="es-PE"/>
              <a:pPr>
                <a:defRPr/>
              </a:pPr>
              <a:t>‹Nº›</a:t>
            </a:fld>
            <a:endParaRPr lang="es-ES" altLang="es-PE"/>
          </a:p>
        </p:txBody>
      </p:sp>
      <p:sp>
        <p:nvSpPr>
          <p:cNvPr id="60423" name="Rectangle 7">
            <a:extLst>
              <a:ext uri="{FF2B5EF4-FFF2-40B4-BE49-F238E27FC236}">
                <a16:creationId xmlns:a16="http://schemas.microsoft.com/office/drawing/2014/main" id="{1B6542B1-F7AE-9289-691F-5AF0E43C049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06400" y="327025"/>
            <a:ext cx="3835400" cy="50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8" tIns="46584" rIns="93168" bIns="46584" numCol="1" anchor="t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0"/>
              </a:spcBef>
              <a:defRPr sz="900" i="1">
                <a:latin typeface="Arial" charset="0"/>
              </a:defRPr>
            </a:lvl1pPr>
          </a:lstStyle>
          <a:p>
            <a:pPr>
              <a:defRPr/>
            </a:pPr>
            <a:r>
              <a:rPr lang="es-PE"/>
              <a:t>MEDICIÓN DE ALGUNOS AGREGADOS MACROECNÓMICOS</a:t>
            </a:r>
          </a:p>
        </p:txBody>
      </p:sp>
      <p:sp>
        <p:nvSpPr>
          <p:cNvPr id="31749" name="Line 8">
            <a:extLst>
              <a:ext uri="{FF2B5EF4-FFF2-40B4-BE49-F238E27FC236}">
                <a16:creationId xmlns:a16="http://schemas.microsoft.com/office/drawing/2014/main" id="{8657A121-39FC-C926-152D-18831E9527CD}"/>
              </a:ext>
            </a:extLst>
          </p:cNvPr>
          <p:cNvSpPr>
            <a:spLocks noChangeShapeType="1"/>
          </p:cNvSpPr>
          <p:nvPr/>
        </p:nvSpPr>
        <p:spPr bwMode="auto">
          <a:xfrm>
            <a:off x="498475" y="550863"/>
            <a:ext cx="6073775" cy="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3168" tIns="46584" rIns="93168" bIns="46584" anchor="ctr">
            <a:spAutoFit/>
          </a:bodyPr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5" name="Rectangle 3">
            <a:extLst>
              <a:ext uri="{FF2B5EF4-FFF2-40B4-BE49-F238E27FC236}">
                <a16:creationId xmlns:a16="http://schemas.microsoft.com/office/drawing/2014/main" id="{D761BE1C-B045-6F0B-AEA4-584E2236529B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03663" y="0"/>
            <a:ext cx="2984500" cy="50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8" tIns="46584" rIns="93168" bIns="46584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0723" name="Rectangle 4">
            <a:extLst>
              <a:ext uri="{FF2B5EF4-FFF2-40B4-BE49-F238E27FC236}">
                <a16:creationId xmlns:a16="http://schemas.microsoft.com/office/drawing/2014/main" id="{18E8F9F7-0FE0-607B-D9A0-93F4B326472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3188" y="750888"/>
            <a:ext cx="6683375" cy="3759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7" name="Rectangle 5">
            <a:extLst>
              <a:ext uri="{FF2B5EF4-FFF2-40B4-BE49-F238E27FC236}">
                <a16:creationId xmlns:a16="http://schemas.microsoft.com/office/drawing/2014/main" id="{6F58775B-834D-8ABF-D20F-BD7BB4487C1E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975" y="4760913"/>
            <a:ext cx="5511800" cy="4510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8" tIns="46584" rIns="93168" bIns="4658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</a:p>
        </p:txBody>
      </p:sp>
      <p:sp>
        <p:nvSpPr>
          <p:cNvPr id="64518" name="Rectangle 6">
            <a:extLst>
              <a:ext uri="{FF2B5EF4-FFF2-40B4-BE49-F238E27FC236}">
                <a16:creationId xmlns:a16="http://schemas.microsoft.com/office/drawing/2014/main" id="{FC2488DD-B7E7-707B-60A4-5FCA6C9E758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518650"/>
            <a:ext cx="2984500" cy="50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8" tIns="46584" rIns="93168" bIns="46584" numCol="1" anchor="b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0"/>
              </a:spcBef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4519" name="Rectangle 7">
            <a:extLst>
              <a:ext uri="{FF2B5EF4-FFF2-40B4-BE49-F238E27FC236}">
                <a16:creationId xmlns:a16="http://schemas.microsoft.com/office/drawing/2014/main" id="{4D91AA3C-6C5C-0B71-CB7A-86C00AAEDD6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03663" y="9518650"/>
            <a:ext cx="2984500" cy="50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8" tIns="46584" rIns="93168" bIns="4658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A6B56DB8-13C8-47F4-AAD3-8A215483D5E4}" type="slidenum">
              <a:rPr lang="es-ES" altLang="es-PE"/>
              <a:pPr>
                <a:defRPr/>
              </a:pPr>
              <a:t>‹Nº›</a:t>
            </a:fld>
            <a:endParaRPr lang="es-ES" altLang="es-PE"/>
          </a:p>
        </p:txBody>
      </p:sp>
      <p:sp>
        <p:nvSpPr>
          <p:cNvPr id="3" name="Marcador de encabezado 2">
            <a:extLst>
              <a:ext uri="{FF2B5EF4-FFF2-40B4-BE49-F238E27FC236}">
                <a16:creationId xmlns:a16="http://schemas.microsoft.com/office/drawing/2014/main" id="{747D111B-10EF-7C8A-1DC6-3B18114088B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500" cy="503238"/>
          </a:xfrm>
          <a:prstGeom prst="rect">
            <a:avLst/>
          </a:prstGeom>
        </p:spPr>
        <p:txBody>
          <a:bodyPr vert="horz" lIns="93168" tIns="46584" rIns="93168" bIns="46584" rtlCol="0"/>
          <a:lstStyle>
            <a:lvl1pPr algn="l">
              <a:defRPr sz="1200"/>
            </a:lvl1pPr>
          </a:lstStyle>
          <a:p>
            <a:pPr>
              <a:defRPr/>
            </a:pPr>
            <a:endParaRPr lang="es-P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Google Shape;196;p1:notes">
            <a:extLst>
              <a:ext uri="{FF2B5EF4-FFF2-40B4-BE49-F238E27FC236}">
                <a16:creationId xmlns:a16="http://schemas.microsoft.com/office/drawing/2014/main" id="{21B8F38F-0A8D-DE8C-F71C-19BF8F53CF7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466725" y="692150"/>
            <a:ext cx="6151563" cy="3460750"/>
          </a:xfrm>
          <a:custGeom>
            <a:avLst/>
            <a:gdLst>
              <a:gd name="T0" fmla="*/ 0 w 120000"/>
              <a:gd name="T1" fmla="*/ 0 h 120000"/>
              <a:gd name="T2" fmla="*/ 2147483646 w 120000"/>
              <a:gd name="T3" fmla="*/ 0 h 120000"/>
              <a:gd name="T4" fmla="*/ 2147483646 w 120000"/>
              <a:gd name="T5" fmla="*/ 2147483646 h 120000"/>
              <a:gd name="T6" fmla="*/ 0 w 120000"/>
              <a:gd name="T7" fmla="*/ 2147483646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cap="flat">
            <a:round/>
            <a:headEnd type="none" w="sm" len="sm"/>
            <a:tailEnd type="none" w="sm" len="sm"/>
          </a:ln>
        </p:spPr>
      </p:sp>
      <p:sp>
        <p:nvSpPr>
          <p:cNvPr id="33795" name="Google Shape;197;p1:notes">
            <a:extLst>
              <a:ext uri="{FF2B5EF4-FFF2-40B4-BE49-F238E27FC236}">
                <a16:creationId xmlns:a16="http://schemas.microsoft.com/office/drawing/2014/main" id="{8BF3E4B7-7CE0-7AE1-3E94-A0885064C9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8025" y="4384675"/>
            <a:ext cx="5668963" cy="41529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53" tIns="93153" rIns="93153" bIns="93153"/>
          <a:lstStyle/>
          <a:p>
            <a:pPr>
              <a:spcBef>
                <a:spcPct val="0"/>
              </a:spcBef>
              <a:buSzPts val="1100"/>
            </a:pPr>
            <a:endParaRPr lang="es-PE" altLang="es-P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6B56DB8-13C8-47F4-AAD3-8A215483D5E4}" type="slidenum">
              <a:rPr lang="es-ES" altLang="es-PE" smtClean="0"/>
              <a:pPr>
                <a:defRPr/>
              </a:pPr>
              <a:t>4</a:t>
            </a:fld>
            <a:endParaRPr lang="es-ES" altLang="es-PE"/>
          </a:p>
        </p:txBody>
      </p:sp>
      <p:sp>
        <p:nvSpPr>
          <p:cNvPr id="5" name="Marcador de encabezado 4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108892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797915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834421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25111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Google Shape;226;p5:notes">
            <a:extLst>
              <a:ext uri="{FF2B5EF4-FFF2-40B4-BE49-F238E27FC236}">
                <a16:creationId xmlns:a16="http://schemas.microsoft.com/office/drawing/2014/main" id="{820BDFAA-EEE0-2326-BF07-C3EAAE63306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466725" y="692150"/>
            <a:ext cx="6151563" cy="3460750"/>
          </a:xfrm>
          <a:custGeom>
            <a:avLst/>
            <a:gdLst>
              <a:gd name="T0" fmla="*/ 0 w 120000"/>
              <a:gd name="T1" fmla="*/ 0 h 120000"/>
              <a:gd name="T2" fmla="*/ 2147483646 w 120000"/>
              <a:gd name="T3" fmla="*/ 0 h 120000"/>
              <a:gd name="T4" fmla="*/ 2147483646 w 120000"/>
              <a:gd name="T5" fmla="*/ 2147483646 h 120000"/>
              <a:gd name="T6" fmla="*/ 0 w 120000"/>
              <a:gd name="T7" fmla="*/ 2147483646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cap="flat">
            <a:round/>
            <a:headEnd type="none" w="sm" len="sm"/>
            <a:tailEnd type="none" w="sm" len="sm"/>
          </a:ln>
        </p:spPr>
      </p:sp>
      <p:sp>
        <p:nvSpPr>
          <p:cNvPr id="114691" name="Google Shape;227;p5:notes">
            <a:extLst>
              <a:ext uri="{FF2B5EF4-FFF2-40B4-BE49-F238E27FC236}">
                <a16:creationId xmlns:a16="http://schemas.microsoft.com/office/drawing/2014/main" id="{23B55297-81B1-349F-B3CB-5A328D017E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8025" y="4384675"/>
            <a:ext cx="5668963" cy="41529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53" tIns="93153" rIns="93153" bIns="93153"/>
          <a:lstStyle/>
          <a:p>
            <a:pPr>
              <a:spcBef>
                <a:spcPct val="0"/>
              </a:spcBef>
              <a:buSzPts val="1100"/>
            </a:pPr>
            <a:endParaRPr lang="es-PE" altLang="es-PE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6">
            <a:extLst>
              <a:ext uri="{FF2B5EF4-FFF2-40B4-BE49-F238E27FC236}">
                <a16:creationId xmlns:a16="http://schemas.microsoft.com/office/drawing/2014/main" id="{53A2DA5C-D437-027B-DCF4-917B017583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4550" y="150813"/>
            <a:ext cx="2174875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2253C85-4E9D-347A-5035-F1D6C50B9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9477D3C-5E98-5A3C-C5FD-2A30C78D1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959A324-6E69-DDB8-A342-D2CB96E7E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8925" y="6356350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F26608-AF33-4FFA-90AC-390B5519ABAC}" type="slidenum">
              <a:rPr lang="es-ES" altLang="es-PE"/>
              <a:pPr>
                <a:defRPr/>
              </a:pPr>
              <a:t>‹Nº›</a:t>
            </a:fld>
            <a:endParaRPr lang="es-ES" altLang="es-PE"/>
          </a:p>
        </p:txBody>
      </p:sp>
    </p:spTree>
    <p:extLst>
      <p:ext uri="{BB962C8B-B14F-4D97-AF65-F5344CB8AC3E}">
        <p14:creationId xmlns:p14="http://schemas.microsoft.com/office/powerpoint/2010/main" val="3497208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6">
            <a:extLst>
              <a:ext uri="{FF2B5EF4-FFF2-40B4-BE49-F238E27FC236}">
                <a16:creationId xmlns:a16="http://schemas.microsoft.com/office/drawing/2014/main" id="{8263CB5D-6E6E-7DB9-985F-45DFA4FDE1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4550" y="150813"/>
            <a:ext cx="2174875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2B6D90E-FB7E-AE80-1DA8-63F5280A4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ACFE7F5-3F69-28AB-AFDD-79F600E9D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5DDD806-9E56-8FA4-284F-3D87296EA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639104-18EF-4017-8EC8-89CC3800080B}" type="slidenum">
              <a:rPr lang="es-PE" altLang="es-PE"/>
              <a:pPr>
                <a:defRPr/>
              </a:pPr>
              <a:t>‹Nº›</a:t>
            </a:fld>
            <a:endParaRPr lang="es-PE" altLang="es-PE"/>
          </a:p>
        </p:txBody>
      </p:sp>
    </p:spTree>
    <p:extLst>
      <p:ext uri="{BB962C8B-B14F-4D97-AF65-F5344CB8AC3E}">
        <p14:creationId xmlns:p14="http://schemas.microsoft.com/office/powerpoint/2010/main" val="12328051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6">
            <a:extLst>
              <a:ext uri="{FF2B5EF4-FFF2-40B4-BE49-F238E27FC236}">
                <a16:creationId xmlns:a16="http://schemas.microsoft.com/office/drawing/2014/main" id="{9F5FD84B-455E-D860-880D-1ADCBAC5D1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4550" y="150813"/>
            <a:ext cx="2174875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F2B4AB6-74E0-DC02-A256-64B47F4E3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A1FA4CA-06A2-A6AB-98C0-4F5120AD1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9FA2803-C4A2-3D3D-2AAF-3F0C7C1ED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E9A4C8-39F6-41EB-8684-F978523BC4BF}" type="slidenum">
              <a:rPr lang="es-PE" altLang="es-PE"/>
              <a:pPr>
                <a:defRPr/>
              </a:pPr>
              <a:t>‹Nº›</a:t>
            </a:fld>
            <a:endParaRPr lang="es-PE" altLang="es-PE"/>
          </a:p>
        </p:txBody>
      </p:sp>
    </p:spTree>
    <p:extLst>
      <p:ext uri="{BB962C8B-B14F-4D97-AF65-F5344CB8AC3E}">
        <p14:creationId xmlns:p14="http://schemas.microsoft.com/office/powerpoint/2010/main" val="200578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6">
            <a:extLst>
              <a:ext uri="{FF2B5EF4-FFF2-40B4-BE49-F238E27FC236}">
                <a16:creationId xmlns:a16="http://schemas.microsoft.com/office/drawing/2014/main" id="{F08AD305-3131-938C-A82C-25FAB8C873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4550" y="150813"/>
            <a:ext cx="2174875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BC70A5C-5195-312F-0D11-2A36080A0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E72E41FC-A43B-CB12-10BD-37D05353E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2E72A5A-7077-1149-6395-6D1B5FCD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69ADA8-AA6B-441D-9CC4-385D61BC9163}" type="slidenum">
              <a:rPr lang="es-PE" altLang="es-PE"/>
              <a:pPr>
                <a:defRPr/>
              </a:pPr>
              <a:t>‹Nº›</a:t>
            </a:fld>
            <a:endParaRPr lang="es-PE" altLang="es-PE"/>
          </a:p>
        </p:txBody>
      </p:sp>
    </p:spTree>
    <p:extLst>
      <p:ext uri="{BB962C8B-B14F-4D97-AF65-F5344CB8AC3E}">
        <p14:creationId xmlns:p14="http://schemas.microsoft.com/office/powerpoint/2010/main" val="446009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1">
            <a:extLst>
              <a:ext uri="{FF2B5EF4-FFF2-40B4-BE49-F238E27FC236}">
                <a16:creationId xmlns:a16="http://schemas.microsoft.com/office/drawing/2014/main" id="{C2F6939F-4E48-EE83-AAD3-0475A11566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4550" y="150813"/>
            <a:ext cx="2174875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940D1B83-405F-62B2-4F3F-93E7E8B7C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EECE5D62-1F29-D6A4-0B26-1A4234382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8D71913-C923-154F-0A82-BD7E5B878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C22ACB-C149-4B74-B84A-204A7D7D2869}" type="slidenum">
              <a:rPr lang="es-PE" altLang="es-PE"/>
              <a:pPr>
                <a:defRPr/>
              </a:pPr>
              <a:t>‹Nº›</a:t>
            </a:fld>
            <a:endParaRPr lang="es-PE" altLang="es-PE"/>
          </a:p>
        </p:txBody>
      </p:sp>
    </p:spTree>
    <p:extLst>
      <p:ext uri="{BB962C8B-B14F-4D97-AF65-F5344CB8AC3E}">
        <p14:creationId xmlns:p14="http://schemas.microsoft.com/office/powerpoint/2010/main" val="171709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6">
            <a:extLst>
              <a:ext uri="{FF2B5EF4-FFF2-40B4-BE49-F238E27FC236}">
                <a16:creationId xmlns:a16="http://schemas.microsoft.com/office/drawing/2014/main" id="{F72149B0-BAE8-798F-78F3-900087058B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4550" y="150813"/>
            <a:ext cx="2174875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848FE-560C-0168-7161-FF3426A3E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D4D77D-6691-A738-AC1C-026F2E77B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32E71B-9EB4-335B-756D-E3F3FC5FA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1542AE-E0E7-4EA6-984B-B2F2ADF99AA5}" type="slidenum">
              <a:rPr lang="es-PE" altLang="es-PE"/>
              <a:pPr>
                <a:defRPr/>
              </a:pPr>
              <a:t>‹Nº›</a:t>
            </a:fld>
            <a:endParaRPr lang="es-PE" altLang="es-PE"/>
          </a:p>
        </p:txBody>
      </p:sp>
    </p:spTree>
    <p:extLst>
      <p:ext uri="{BB962C8B-B14F-4D97-AF65-F5344CB8AC3E}">
        <p14:creationId xmlns:p14="http://schemas.microsoft.com/office/powerpoint/2010/main" val="2345068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6">
            <a:extLst>
              <a:ext uri="{FF2B5EF4-FFF2-40B4-BE49-F238E27FC236}">
                <a16:creationId xmlns:a16="http://schemas.microsoft.com/office/drawing/2014/main" id="{9881EA49-1F6D-2371-5D64-B9EF0C2CC9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4550" y="150813"/>
            <a:ext cx="2174875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64492D8-6820-A8DE-AEDB-2F4749307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0F638DA-02D7-72D4-71F9-D54241C1F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28B9456-B87D-71C2-D51B-2D934AA43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D61048-3D9D-45EC-AB63-0A18BF5540D8}" type="slidenum">
              <a:rPr lang="es-PE" altLang="es-PE"/>
              <a:pPr>
                <a:defRPr/>
              </a:pPr>
              <a:t>‹Nº›</a:t>
            </a:fld>
            <a:endParaRPr lang="es-PE" altLang="es-PE"/>
          </a:p>
        </p:txBody>
      </p:sp>
    </p:spTree>
    <p:extLst>
      <p:ext uri="{BB962C8B-B14F-4D97-AF65-F5344CB8AC3E}">
        <p14:creationId xmlns:p14="http://schemas.microsoft.com/office/powerpoint/2010/main" val="3671054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6">
            <a:extLst>
              <a:ext uri="{FF2B5EF4-FFF2-40B4-BE49-F238E27FC236}">
                <a16:creationId xmlns:a16="http://schemas.microsoft.com/office/drawing/2014/main" id="{95D835EC-F8E8-A6E8-A625-AD556F0849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4550" y="150813"/>
            <a:ext cx="2174875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808720AE-C245-9DB6-079D-144EE37BE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D30D8F3-AF85-EF9B-A720-077F1FCD3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1C22E62-5506-9191-8E76-981DF521E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7B3B45-3365-4277-9E04-1D00011744D0}" type="slidenum">
              <a:rPr lang="es-PE" altLang="es-PE"/>
              <a:pPr>
                <a:defRPr/>
              </a:pPr>
              <a:t>‹Nº›</a:t>
            </a:fld>
            <a:endParaRPr lang="es-PE" altLang="es-PE"/>
          </a:p>
        </p:txBody>
      </p:sp>
    </p:spTree>
    <p:extLst>
      <p:ext uri="{BB962C8B-B14F-4D97-AF65-F5344CB8AC3E}">
        <p14:creationId xmlns:p14="http://schemas.microsoft.com/office/powerpoint/2010/main" val="1011499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6">
            <a:extLst>
              <a:ext uri="{FF2B5EF4-FFF2-40B4-BE49-F238E27FC236}">
                <a16:creationId xmlns:a16="http://schemas.microsoft.com/office/drawing/2014/main" id="{9A243640-7DEB-76D1-0370-9F3E2F1454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4550" y="150813"/>
            <a:ext cx="2174875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s-ES" noProof="0"/>
              <a:t>Haga clic en el icono para agregar una imagen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0814BE7F-7F5C-BD65-4CB1-2C616A188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661234C-EF78-8381-6B16-784245DB3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08DB979-886E-DEEB-474C-2824E9D2A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0A27C8-72B9-4FDB-B5D7-3C8C07C4B812}" type="slidenum">
              <a:rPr lang="es-PE" altLang="es-PE"/>
              <a:pPr>
                <a:defRPr/>
              </a:pPr>
              <a:t>‹Nº›</a:t>
            </a:fld>
            <a:endParaRPr lang="es-PE" altLang="es-PE"/>
          </a:p>
        </p:txBody>
      </p:sp>
    </p:spTree>
    <p:extLst>
      <p:ext uri="{BB962C8B-B14F-4D97-AF65-F5344CB8AC3E}">
        <p14:creationId xmlns:p14="http://schemas.microsoft.com/office/powerpoint/2010/main" val="350158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6">
            <a:extLst>
              <a:ext uri="{FF2B5EF4-FFF2-40B4-BE49-F238E27FC236}">
                <a16:creationId xmlns:a16="http://schemas.microsoft.com/office/drawing/2014/main" id="{3500F91A-607C-4309-1585-C00F8DE0E7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4550" y="150813"/>
            <a:ext cx="2174875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9D005B2-E2F0-366E-A541-12E9AA147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1A85EDA-3176-0DC7-7336-052AA4E96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790BC8D-A7C2-506C-6E27-E1E5545C0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CD69CA-E9EA-4C17-B1EC-0A5B2523D554}" type="slidenum">
              <a:rPr lang="es-PE" altLang="es-PE"/>
              <a:pPr>
                <a:defRPr/>
              </a:pPr>
              <a:t>‹Nº›</a:t>
            </a:fld>
            <a:endParaRPr lang="es-PE" altLang="es-PE"/>
          </a:p>
        </p:txBody>
      </p:sp>
    </p:spTree>
    <p:extLst>
      <p:ext uri="{BB962C8B-B14F-4D97-AF65-F5344CB8AC3E}">
        <p14:creationId xmlns:p14="http://schemas.microsoft.com/office/powerpoint/2010/main" val="3109001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6">
            <a:extLst>
              <a:ext uri="{FF2B5EF4-FFF2-40B4-BE49-F238E27FC236}">
                <a16:creationId xmlns:a16="http://schemas.microsoft.com/office/drawing/2014/main" id="{166377C5-A7D1-E087-776B-A57A68D959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4550" y="150813"/>
            <a:ext cx="2174875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B6C197A-886C-8778-3729-487CB71B5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02C9B3A-5E2E-A6A5-501F-C8A107BD7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E730B77-D557-D46E-ED81-14035ECAC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8E8C5D-CB98-4F98-96E1-A46CA8A5D2FC}" type="slidenum">
              <a:rPr lang="es-PE" altLang="es-PE"/>
              <a:pPr>
                <a:defRPr/>
              </a:pPr>
              <a:t>‹Nº›</a:t>
            </a:fld>
            <a:endParaRPr lang="es-PE" altLang="es-PE"/>
          </a:p>
        </p:txBody>
      </p:sp>
    </p:spTree>
    <p:extLst>
      <p:ext uri="{BB962C8B-B14F-4D97-AF65-F5344CB8AC3E}">
        <p14:creationId xmlns:p14="http://schemas.microsoft.com/office/powerpoint/2010/main" val="21955294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slide">
  <p:cSld name="Main slide">
    <p:bg>
      <p:bgPr>
        <a:solidFill>
          <a:srgbClr val="FFFFFF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4FB7E514-D667-6A94-41FE-7EF68186A76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088" y="188913"/>
            <a:ext cx="186690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633200" y="2304591"/>
            <a:ext cx="8925600" cy="1419600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4267" b="1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9pPr>
          </a:lstStyle>
          <a:p>
            <a:endParaRPr dirty="0"/>
          </a:p>
        </p:txBody>
      </p:sp>
      <p:sp>
        <p:nvSpPr>
          <p:cNvPr id="13" name="Google Shape;13;p2"/>
          <p:cNvSpPr txBox="1">
            <a:spLocks noGrp="1"/>
          </p:cNvSpPr>
          <p:nvPr>
            <p:ph type="ctrTitle" idx="2"/>
          </p:nvPr>
        </p:nvSpPr>
        <p:spPr>
          <a:xfrm>
            <a:off x="1633200" y="3934776"/>
            <a:ext cx="8925600" cy="965200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 anchor="t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133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2400">
                <a:solidFill>
                  <a:srgbClr val="7F8D9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2400">
                <a:solidFill>
                  <a:srgbClr val="7F8D9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2400">
                <a:solidFill>
                  <a:srgbClr val="7F8D9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2400">
                <a:solidFill>
                  <a:srgbClr val="7F8D9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2400">
                <a:solidFill>
                  <a:srgbClr val="7F8D9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2400">
                <a:solidFill>
                  <a:srgbClr val="7F8D9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2400">
                <a:solidFill>
                  <a:srgbClr val="7F8D9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2400">
                <a:solidFill>
                  <a:srgbClr val="7F8D99"/>
                </a:solidFill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711081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 with title 1">
  <p:cSld name="Text slide with title 1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8">
            <a:extLst>
              <a:ext uri="{FF2B5EF4-FFF2-40B4-BE49-F238E27FC236}">
                <a16:creationId xmlns:a16="http://schemas.microsoft.com/office/drawing/2014/main" id="{F4E89367-4D92-04F6-F5E4-FE9401B330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11741150" y="149225"/>
            <a:ext cx="300038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529767" y="1392400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 anchor="b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b="1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529779" y="2170933"/>
            <a:ext cx="8196800" cy="2504000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>
            <a:noAutofit/>
          </a:bodyPr>
          <a:lstStyle>
            <a:lvl1pPr marL="609585" lvl="0" indent="-4233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A00"/>
              </a:buClr>
              <a:buSzPts val="1400"/>
              <a:buChar char="●"/>
              <a:defRPr sz="1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219170" lvl="1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○"/>
              <a:defRPr sz="1600">
                <a:solidFill>
                  <a:srgbClr val="999999"/>
                </a:solidFill>
              </a:defRPr>
            </a:lvl2pPr>
            <a:lvl3pPr marL="1828754" lvl="2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■"/>
              <a:defRPr sz="1600">
                <a:solidFill>
                  <a:srgbClr val="999999"/>
                </a:solidFill>
              </a:defRPr>
            </a:lvl3pPr>
            <a:lvl4pPr marL="2438339" lvl="3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●"/>
              <a:defRPr sz="1600">
                <a:solidFill>
                  <a:srgbClr val="999999"/>
                </a:solidFill>
              </a:defRPr>
            </a:lvl4pPr>
            <a:lvl5pPr marL="3047924" lvl="4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○"/>
              <a:defRPr sz="1600">
                <a:solidFill>
                  <a:srgbClr val="999999"/>
                </a:solidFill>
              </a:defRPr>
            </a:lvl5pPr>
            <a:lvl6pPr marL="3657509" lvl="5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■"/>
              <a:defRPr sz="1600">
                <a:solidFill>
                  <a:srgbClr val="999999"/>
                </a:solidFill>
              </a:defRPr>
            </a:lvl6pPr>
            <a:lvl7pPr marL="4267093" lvl="6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●"/>
              <a:defRPr sz="1600">
                <a:solidFill>
                  <a:srgbClr val="999999"/>
                </a:solidFill>
              </a:defRPr>
            </a:lvl7pPr>
            <a:lvl8pPr marL="4876678" lvl="7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○"/>
              <a:defRPr sz="1600">
                <a:solidFill>
                  <a:srgbClr val="999999"/>
                </a:solidFill>
              </a:defRPr>
            </a:lvl8pPr>
            <a:lvl9pPr marL="5486263" lvl="8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■"/>
              <a:defRPr sz="1600">
                <a:solidFill>
                  <a:srgbClr val="999999"/>
                </a:solidFill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05066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E47EA2F6-4754-A008-6A7D-6473C368287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PE"/>
              <a:t>Haga clic para modificar el estilo de título del patrón</a:t>
            </a:r>
            <a:endParaRPr lang="en-US" altLang="es-PE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ECC9E05C-8257-236B-C839-BED11D43C2E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PE"/>
              <a:t>Editar el estilo de texto del patrón</a:t>
            </a:r>
          </a:p>
          <a:p>
            <a:pPr lvl="1"/>
            <a:r>
              <a:rPr lang="es-ES" altLang="es-PE"/>
              <a:t>Segundo nivel</a:t>
            </a:r>
          </a:p>
          <a:p>
            <a:pPr lvl="2"/>
            <a:r>
              <a:rPr lang="es-ES" altLang="es-PE"/>
              <a:t>Tercer nivel</a:t>
            </a:r>
          </a:p>
          <a:p>
            <a:pPr lvl="3"/>
            <a:r>
              <a:rPr lang="es-ES" altLang="es-PE"/>
              <a:t>Cuarto nivel</a:t>
            </a:r>
          </a:p>
          <a:p>
            <a:pPr lvl="4"/>
            <a:r>
              <a:rPr lang="es-ES" altLang="es-PE"/>
              <a:t>Quinto nivel</a:t>
            </a:r>
            <a:endParaRPr lang="en-US" alt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A7707-60E2-63CE-DB23-172F116343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F368E5-F402-0206-198A-4F601AD68F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5277BD-E0E3-278A-885F-48575420DE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64650" y="6373813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6D1C8E5D-FE42-4EAE-89CC-4282ED39BFF2}" type="slidenum">
              <a:rPr lang="es-PE" altLang="es-PE"/>
              <a:pPr>
                <a:defRPr/>
              </a:pPr>
              <a:t>‹Nº›</a:t>
            </a:fld>
            <a:endParaRPr lang="es-PE" altLang="es-P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406" r:id="rId1"/>
    <p:sldLayoutId id="2147485407" r:id="rId2"/>
    <p:sldLayoutId id="2147485408" r:id="rId3"/>
    <p:sldLayoutId id="2147485409" r:id="rId4"/>
    <p:sldLayoutId id="2147485410" r:id="rId5"/>
    <p:sldLayoutId id="2147485411" r:id="rId6"/>
    <p:sldLayoutId id="2147485412" r:id="rId7"/>
    <p:sldLayoutId id="2147485413" r:id="rId8"/>
    <p:sldLayoutId id="2147485414" r:id="rId9"/>
    <p:sldLayoutId id="2147485415" r:id="rId10"/>
    <p:sldLayoutId id="2147485416" r:id="rId11"/>
    <p:sldLayoutId id="2147485419" r:id="rId12"/>
    <p:sldLayoutId id="2147485420" r:id="rId13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ítulo 8">
            <a:extLst>
              <a:ext uri="{FF2B5EF4-FFF2-40B4-BE49-F238E27FC236}">
                <a16:creationId xmlns:a16="http://schemas.microsoft.com/office/drawing/2014/main" id="{E39994CF-768F-5D00-CB30-95FFE3A571E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565275" y="3933056"/>
            <a:ext cx="9499600" cy="1872433"/>
          </a:xfrm>
        </p:spPr>
        <p:txBody>
          <a:bodyPr/>
          <a:lstStyle/>
          <a:p>
            <a:pPr marL="112395" marR="798830">
              <a:spcBef>
                <a:spcPts val="470"/>
              </a:spcBef>
              <a:tabLst>
                <a:tab pos="4814570" algn="l"/>
              </a:tabLst>
            </a:pPr>
            <a:r>
              <a:rPr lang="es-PE" sz="2800" cap="all" dirty="0"/>
              <a:t>OFERTA DE DINERO, POLITICA MONETARIA E INFLACIÓN</a:t>
            </a:r>
            <a:br>
              <a:rPr lang="es-PE" sz="2800" cap="all" dirty="0"/>
            </a:br>
            <a:r>
              <a:rPr lang="es-ES" altLang="es-PE" sz="2800" dirty="0">
                <a:solidFill>
                  <a:srgbClr val="FF3A00"/>
                </a:solidFill>
                <a:sym typeface="Verdana" panose="020B0604030504040204" pitchFamily="34" charset="0"/>
              </a:rPr>
              <a:t>Parte 3</a:t>
            </a:r>
            <a:br>
              <a:rPr lang="es-ES" altLang="es-PE" sz="2800" dirty="0">
                <a:solidFill>
                  <a:srgbClr val="FF3A00"/>
                </a:solidFill>
                <a:sym typeface="Verdana" panose="020B0604030504040204" pitchFamily="34" charset="0"/>
              </a:rPr>
            </a:br>
            <a:endParaRPr lang="es-ES_tradnl" altLang="es-PE" sz="2800" cap="all" dirty="0"/>
          </a:p>
        </p:txBody>
      </p:sp>
      <p:sp>
        <p:nvSpPr>
          <p:cNvPr id="32771" name="CuadroTexto 11">
            <a:extLst>
              <a:ext uri="{FF2B5EF4-FFF2-40B4-BE49-F238E27FC236}">
                <a16:creationId xmlns:a16="http://schemas.microsoft.com/office/drawing/2014/main" id="{5857CE26-C16D-4CA0-A412-0B0DBE736F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85200" y="6026150"/>
            <a:ext cx="1841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s-PE" altLang="es-PE" sz="3200">
              <a:latin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7C2278-2B26-A772-E588-9477437355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8763" y="322263"/>
            <a:ext cx="6707187" cy="5445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  <a:defRPr/>
            </a:pPr>
            <a:r>
              <a:rPr lang="es-ES_tradnl" altLang="es-PE" sz="1467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FACULTAD DE CIENCIAS EMPRESARIALES Y ECONÓMICAS</a:t>
            </a:r>
          </a:p>
          <a:p>
            <a:pPr algn="r" eaLnBrk="1" hangingPunct="1">
              <a:spcBef>
                <a:spcPct val="0"/>
              </a:spcBef>
              <a:buFontTx/>
              <a:buNone/>
              <a:defRPr/>
            </a:pPr>
            <a:r>
              <a:rPr lang="es-ES_tradnl" altLang="es-PE" sz="1467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CARRERA DE ECONOMÍA</a:t>
            </a:r>
            <a:endParaRPr lang="en-US" altLang="es-PE" sz="1467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2773" name="Google Shape;102;p1">
            <a:extLst>
              <a:ext uri="{FF2B5EF4-FFF2-40B4-BE49-F238E27FC236}">
                <a16:creationId xmlns:a16="http://schemas.microsoft.com/office/drawing/2014/main" id="{6E328A6A-5D8A-1B80-EFE4-A4091FADF8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5275" y="2133600"/>
            <a:ext cx="9334500" cy="148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62533" tIns="162533" rIns="162533" bIns="162533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>
                <a:srgbClr val="434343"/>
              </a:buClr>
              <a:buSzPts val="1800"/>
              <a:buFont typeface="Abril Fatface" panose="02000503000000020003" pitchFamily="2" charset="0"/>
              <a:buNone/>
            </a:pPr>
            <a:r>
              <a:rPr lang="es-ES" altLang="es-PE" sz="3600" b="1" dirty="0">
                <a:solidFill>
                  <a:srgbClr val="FF3A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TEORIA Y POLÍTICA MONETARIA</a:t>
            </a:r>
          </a:p>
        </p:txBody>
      </p:sp>
      <p:sp>
        <p:nvSpPr>
          <p:cNvPr id="32774" name="CuadroTexto 7">
            <a:extLst>
              <a:ext uri="{FF2B5EF4-FFF2-40B4-BE49-F238E27FC236}">
                <a16:creationId xmlns:a16="http://schemas.microsoft.com/office/drawing/2014/main" id="{F38040BD-5CA7-F14D-C009-AA9B13ADA7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2400" y="6240463"/>
            <a:ext cx="2311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s-PE" sz="1800">
                <a:solidFill>
                  <a:srgbClr val="FF3A00"/>
                </a:solidFill>
                <a:latin typeface="Arial" panose="020B0604020202020204" pitchFamily="34" charset="0"/>
              </a:rPr>
              <a:t>Metodología IATC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 txBox="1">
            <a:spLocks noGrp="1"/>
          </p:cNvSpPr>
          <p:nvPr>
            <p:ph type="ctrTitle"/>
          </p:nvPr>
        </p:nvSpPr>
        <p:spPr>
          <a:xfrm>
            <a:off x="2698111" y="3070084"/>
            <a:ext cx="6795778" cy="71783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s-ES" sz="6000" dirty="0"/>
              <a:t>IMPACTO</a:t>
            </a:r>
            <a:br>
              <a:rPr lang="es-ES" sz="6000" dirty="0"/>
            </a:br>
            <a:r>
              <a:rPr lang="es-ES" sz="6000" dirty="0"/>
              <a:t>(IATC)</a:t>
            </a:r>
            <a:endParaRPr sz="6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Google Shape;109;p2">
            <a:extLst>
              <a:ext uri="{FF2B5EF4-FFF2-40B4-BE49-F238E27FC236}">
                <a16:creationId xmlns:a16="http://schemas.microsoft.com/office/drawing/2014/main" id="{49D1396B-967A-7DB0-B16B-BC61CEA051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2088" y="917575"/>
            <a:ext cx="11369675" cy="1039813"/>
          </a:xfrm>
        </p:spPr>
        <p:txBody>
          <a:bodyPr lIns="162533" tIns="162533" rIns="162533" bIns="162533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s-ES" altLang="es-PE" sz="4400">
                <a:solidFill>
                  <a:srgbClr val="FFC000"/>
                </a:solidFill>
              </a:rPr>
              <a:t>Logro de aprendizaje: </a:t>
            </a:r>
            <a:endParaRPr lang="es-PE" altLang="es-PE" sz="4400"/>
          </a:p>
        </p:txBody>
      </p:sp>
      <p:sp>
        <p:nvSpPr>
          <p:cNvPr id="35843" name="CuadroTexto 9">
            <a:extLst>
              <a:ext uri="{FF2B5EF4-FFF2-40B4-BE49-F238E27FC236}">
                <a16:creationId xmlns:a16="http://schemas.microsoft.com/office/drawing/2014/main" id="{881B3B00-675C-C87D-3FBA-5E53226B79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4263" y="2276475"/>
            <a:ext cx="1047750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es-PE" altLang="es-PE" dirty="0">
                <a:latin typeface="Arial" panose="020B0604020202020204" pitchFamily="34" charset="0"/>
              </a:rPr>
              <a:t>Comprender la creación primaria y secundaria de dinero; así como la relación de la política monetaria y la inflación.</a:t>
            </a:r>
            <a:endParaRPr lang="es-PE" altLang="es-PE" dirty="0"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Google Shape;114;p3">
            <a:extLst>
              <a:ext uri="{FF2B5EF4-FFF2-40B4-BE49-F238E27FC236}">
                <a16:creationId xmlns:a16="http://schemas.microsoft.com/office/drawing/2014/main" id="{195605CC-16B3-E283-5E6B-70BBCDB8DB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13" y="908050"/>
            <a:ext cx="11941175" cy="1008063"/>
          </a:xfrm>
        </p:spPr>
        <p:txBody>
          <a:bodyPr lIns="162533" tIns="162533" rIns="162533" bIns="162533"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s-ES" altLang="es-PE" sz="5600">
                <a:solidFill>
                  <a:srgbClr val="000000"/>
                </a:solidFill>
              </a:rPr>
              <a:t>CONTENIDO DETALLADO</a:t>
            </a:r>
            <a:endParaRPr lang="es-PE" altLang="es-PE" sz="5600">
              <a:solidFill>
                <a:srgbClr val="000000"/>
              </a:solidFill>
            </a:endParaRPr>
          </a:p>
        </p:txBody>
      </p:sp>
      <p:sp>
        <p:nvSpPr>
          <p:cNvPr id="36867" name="CuadroTexto 7">
            <a:extLst>
              <a:ext uri="{FF2B5EF4-FFF2-40B4-BE49-F238E27FC236}">
                <a16:creationId xmlns:a16="http://schemas.microsoft.com/office/drawing/2014/main" id="{458BA948-35BA-2184-0A3A-11FDA3EE5A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9576" y="2132856"/>
            <a:ext cx="8202612" cy="1839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s-ES" altLang="es-PE" sz="2400" b="1" dirty="0">
                <a:latin typeface="Arial" panose="020B0604020202020204" pitchFamily="34" charset="0"/>
                <a:cs typeface="Arial" panose="020B0604020202020204" pitchFamily="34" charset="0"/>
              </a:rPr>
              <a:t>Oferta de dinero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s-ES" altLang="es-PE" sz="2400" b="1" dirty="0">
                <a:latin typeface="Arial" panose="020B0604020202020204" pitchFamily="34" charset="0"/>
                <a:cs typeface="Arial" panose="020B0604020202020204" pitchFamily="34" charset="0"/>
              </a:rPr>
              <a:t>Política monetaria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s-ES" altLang="es-PE" sz="2400" b="1" dirty="0">
                <a:latin typeface="Arial" panose="020B0604020202020204" pitchFamily="34" charset="0"/>
                <a:cs typeface="Arial" panose="020B0604020202020204" pitchFamily="34" charset="0"/>
              </a:rPr>
              <a:t>El impuesto inflación y el señoreaje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 txBox="1">
            <a:spLocks noGrp="1"/>
          </p:cNvSpPr>
          <p:nvPr>
            <p:ph type="ctrTitle"/>
          </p:nvPr>
        </p:nvSpPr>
        <p:spPr>
          <a:xfrm>
            <a:off x="2698111" y="3070084"/>
            <a:ext cx="6795778" cy="71783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s-ES" sz="6000" dirty="0"/>
              <a:t>ADQUISICIÓN</a:t>
            </a:r>
            <a:br>
              <a:rPr lang="es-ES" sz="6000" dirty="0"/>
            </a:br>
            <a:r>
              <a:rPr lang="es-ES" sz="6000" dirty="0"/>
              <a:t>(IATC)</a:t>
            </a:r>
            <a:endParaRPr sz="6000" dirty="0"/>
          </a:p>
        </p:txBody>
      </p:sp>
    </p:spTree>
    <p:extLst>
      <p:ext uri="{BB962C8B-B14F-4D97-AF65-F5344CB8AC3E}">
        <p14:creationId xmlns:p14="http://schemas.microsoft.com/office/powerpoint/2010/main" val="4608097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1AB30-DF1B-91B4-938A-7EDF978CB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B9B868-AD35-D6AC-38BE-DC4091E18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s-PE" dirty="0"/>
              <a:t>EL IMPUESTO INFLACION Y SEÑOREAJE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76B0591-786E-38BD-F0F7-4D964FD8C7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90804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1DC37-D06F-03F0-A4CB-C1DB20AD2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040B46-F30F-8630-34C3-D23058F83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dirty="0"/>
              <a:t>Impuesto inflación y Señoreaje</a:t>
            </a:r>
            <a:endParaRPr lang="es-P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CFDDC604-B013-CE24-EDF9-EAFD66BAD0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32572"/>
                <a:ext cx="10658400" cy="3880773"/>
              </a:xfrm>
            </p:spPr>
            <p:txBody>
              <a:bodyPr>
                <a:normAutofit fontScale="925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" sz="2400" b="1" i="0" u="none" strike="noStrike" baseline="0" dirty="0">
                    <a:solidFill>
                      <a:schemeClr val="accent1">
                        <a:lumMod val="75000"/>
                      </a:schemeClr>
                    </a:solidFill>
                    <a:latin typeface="Tahoma" panose="020B0604030504040204" pitchFamily="34" charset="0"/>
                  </a:rPr>
                  <a:t>Señoreaje</a:t>
                </a:r>
                <a:r>
                  <a:rPr lang="es-ES" sz="2400" b="0" i="0" u="none" strike="noStrike" baseline="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 es el ingreso del señor feudal.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" sz="2400" b="0" i="0" u="none" strike="noStrike" baseline="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Hoy el señoreaje ‘</a:t>
                </a:r>
                <a:r>
                  <a:rPr lang="es-ES" sz="240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S’ es el ingreso real </a:t>
                </a:r>
                <a:r>
                  <a:rPr lang="es-ES" sz="2400" b="0" i="0" u="none" strike="noStrike" baseline="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que se permite y quiere tener quien tiene el monopolio de la creación de dinero.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" sz="2400" b="0" i="0" u="none" strike="noStrike" baseline="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Quien emite </a:t>
                </a:r>
                <a:r>
                  <a:rPr lang="es-ES" sz="240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el dinero puede efectuar compras con la emisión, lo que significa un ingreso nominal </a:t>
                </a:r>
                <a:r>
                  <a:rPr lang="es-ES" sz="2400" dirty="0">
                    <a:solidFill>
                      <a:srgbClr val="000000"/>
                    </a:solidFill>
                    <a:latin typeface="Aptos Narrow" panose="020B0004020202020204" pitchFamily="34" charset="0"/>
                  </a:rPr>
                  <a:t>∆</a:t>
                </a:r>
                <a:r>
                  <a:rPr lang="es-ES" sz="240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H lo que genera el señoreaje en términos reales: 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2400" b="1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es-ES" sz="2400" b="1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400" b="1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400" b="1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s-PE" sz="2400" b="1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𝑴</m:t>
                          </m:r>
                        </m:num>
                        <m:den>
                          <m:r>
                            <a:rPr lang="es-PE" sz="2400" b="1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</m:den>
                      </m:f>
                    </m:oMath>
                  </m:oMathPara>
                </a14:m>
                <a:endParaRPr lang="es-ES" sz="2400" b="1" dirty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s-PE" sz="2000" b="0" i="0" u="none" strike="noStrike" baseline="0" dirty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CFDDC604-B013-CE24-EDF9-EAFD66BAD0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32572"/>
                <a:ext cx="10658400" cy="3880773"/>
              </a:xfrm>
              <a:blipFill>
                <a:blip r:embed="rId2"/>
                <a:stretch>
                  <a:fillRect l="-686" r="-343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26375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6DFDE-CD81-384B-8784-50EDFA082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6385D4-927C-118C-34B9-B7A9E28EC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dirty="0"/>
              <a:t>Impuesto inflación y Señoreaje</a:t>
            </a:r>
            <a:endParaRPr lang="es-P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0AC59D1C-83A4-8DF1-FE59-628E2FCFA2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7334" y="1732572"/>
                <a:ext cx="10819266" cy="3880773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s-ES" sz="2400" b="0" i="0" u="none" strike="noStrike" baseline="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Supuestos: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" sz="240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La </a:t>
                </a:r>
                <a:r>
                  <a:rPr lang="es-ES" sz="2400" dirty="0">
                    <a:solidFill>
                      <a:srgbClr val="FF0000"/>
                    </a:solidFill>
                    <a:latin typeface="Tahoma" panose="020B0604030504040204" pitchFamily="34" charset="0"/>
                  </a:rPr>
                  <a:t>economía no crece </a:t>
                </a:r>
                <a:r>
                  <a:rPr lang="es-ES" sz="240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(estado estacionario):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E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s-MX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r>
                          <a:rPr lang="es-MX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den>
                    </m:f>
                    <m:r>
                      <a:rPr lang="es-MX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s-ES" sz="2400" dirty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  <a:p>
                <a:pPr marL="263525" indent="0">
                  <a:lnSpc>
                    <a:spcPct val="150000"/>
                  </a:lnSpc>
                  <a:buNone/>
                </a:pPr>
                <a:r>
                  <a:rPr lang="es-ES" sz="240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Por lo tanto, la inflación es igual al crecimiento de la cantidad de dinero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" sz="240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Plena flexibilización de precios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" sz="240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No existe depósitos a la vista</a:t>
                </a:r>
              </a:p>
              <a:p>
                <a:pPr marL="263525" indent="0">
                  <a:lnSpc>
                    <a:spcPct val="150000"/>
                  </a:lnSpc>
                  <a:buNone/>
                </a:pPr>
                <a:r>
                  <a:rPr lang="es-ES" sz="240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Por lo tanto, M1 es el circulante (emisión de dinero).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0AC59D1C-83A4-8DF1-FE59-628E2FCFA2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1732572"/>
                <a:ext cx="10819266" cy="3880773"/>
              </a:xfrm>
              <a:blipFill>
                <a:blip r:embed="rId2"/>
                <a:stretch>
                  <a:fillRect l="-732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7929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DB456-83AE-64CD-ECE0-4EF44234B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A20958-9E42-E5DB-E8B2-DD118331C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614" y="60325"/>
            <a:ext cx="10515600" cy="1325563"/>
          </a:xfrm>
        </p:spPr>
        <p:txBody>
          <a:bodyPr/>
          <a:lstStyle/>
          <a:p>
            <a:r>
              <a:rPr lang="es-PE" b="1" dirty="0"/>
              <a:t>Impuesto inflación y Señoreaje</a:t>
            </a:r>
            <a:endParaRPr lang="es-P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FA459D58-C50D-3350-BC53-B5C8F7A34C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7334" y="1268760"/>
                <a:ext cx="10819266" cy="5224115"/>
              </a:xfrm>
            </p:spPr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" sz="2400" b="0" i="0" u="none" strike="noStrike" baseline="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De la definición de señoreaje: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2400" b="0" i="1" u="none" strike="noStrike" baseline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s-ES" sz="2400" b="0" i="1" u="none" strike="noStrike" baseline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400" b="0" i="1" u="none" strike="noStrike" baseline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400" b="0" i="1" u="none" strike="noStrike" baseline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s-PE" sz="2400" b="0" i="1" u="none" strike="noStrike" baseline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num>
                        <m:den>
                          <m:r>
                            <a:rPr lang="es-PE" sz="2400" b="0" i="1" u="none" strike="noStrike" baseline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den>
                      </m:f>
                    </m:oMath>
                  </m:oMathPara>
                </a14:m>
                <a:endParaRPr lang="es-ES" sz="2400" b="0" i="0" u="none" strike="noStrike" baseline="0" dirty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  <a:p>
                <a:pPr marL="182563" indent="0">
                  <a:lnSpc>
                    <a:spcPct val="150000"/>
                  </a:lnSpc>
                  <a:buNone/>
                </a:pPr>
                <a:r>
                  <a:rPr lang="es-ES" sz="2400" b="0" i="0" u="none" strike="noStrike" baseline="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Se obtiene, el impuesto inflación (</a:t>
                </a:r>
                <a:r>
                  <a:rPr lang="es-ES" sz="2400" b="1" i="0" u="none" strike="noStrike" baseline="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IT </a:t>
                </a:r>
                <a:r>
                  <a:rPr lang="es-ES" sz="2400" b="1" i="1" u="none" strike="noStrike" baseline="0" dirty="0" err="1">
                    <a:solidFill>
                      <a:srgbClr val="000000"/>
                    </a:solidFill>
                    <a:latin typeface="Tahoma" panose="020B0604030504040204" pitchFamily="34" charset="0"/>
                  </a:rPr>
                  <a:t>inflation</a:t>
                </a:r>
                <a:r>
                  <a:rPr lang="es-ES" sz="2400" b="1" i="1" u="none" strike="noStrike" baseline="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 </a:t>
                </a:r>
                <a:r>
                  <a:rPr lang="es-ES" sz="2400" b="1" i="1" u="none" strike="noStrike" baseline="0" dirty="0" err="1">
                    <a:solidFill>
                      <a:srgbClr val="000000"/>
                    </a:solidFill>
                    <a:latin typeface="Tahoma" panose="020B0604030504040204" pitchFamily="34" charset="0"/>
                  </a:rPr>
                  <a:t>tax</a:t>
                </a:r>
                <a:r>
                  <a:rPr lang="es-ES" sz="2400" b="0" i="0" u="none" strike="noStrike" baseline="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):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2400" b="0" i="1" u="none" strike="noStrike" baseline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s-ES" sz="2400" b="0" i="1" u="none" strike="noStrike" baseline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400" b="0" i="1" u="none" strike="noStrike" baseline="0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400" b="0" i="1" u="none" strike="noStrike" baseline="0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s-PE" sz="2400" b="0" i="1" u="none" strike="noStrike" baseline="0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num>
                        <m:den>
                          <m:r>
                            <a:rPr lang="es-PE" sz="2400" b="0" i="1" u="none" strike="noStrike" baseline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den>
                      </m:f>
                      <m:r>
                        <a:rPr lang="es-PE" sz="2400" b="0" i="1" u="none" strike="noStrike" baseline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s-PE" sz="2400" b="0" i="1" u="none" strike="noStrike" baseline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sz="2400" b="0" i="1" u="none" strike="noStrike" baseline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num>
                        <m:den>
                          <m:r>
                            <a:rPr lang="es-PE" sz="2400" b="0" i="1" u="none" strike="noStrike" baseline="0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den>
                      </m:f>
                    </m:oMath>
                  </m:oMathPara>
                </a14:m>
                <a:endParaRPr lang="es-PE" sz="2400" b="0" i="0" u="none" strike="noStrike" baseline="0" dirty="0">
                  <a:solidFill>
                    <a:srgbClr val="000000"/>
                  </a:solidFill>
                  <a:latin typeface="Tahoma" panose="020B0604030504040204" pitchFamily="34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ES" sz="2400" b="0" i="0" u="none" strike="noStrike" baseline="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Si </a:t>
                </a:r>
                <a14:m>
                  <m:oMath xmlns:m="http://schemas.openxmlformats.org/officeDocument/2006/math">
                    <m:r>
                      <a:rPr lang="es-PE" sz="2600" b="0" i="1" u="none" strike="noStrike" baseline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s-ES" sz="2600" b="0" i="1" u="none" strike="noStrike" baseline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sz="2600" b="0" i="1" u="none" strike="noStrike" baseline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2600" b="0" i="1" u="none" strike="noStrike" baseline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s-PE" sz="2600" b="0" i="1" u="none" strike="noStrike" baseline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num>
                      <m:den>
                        <m:r>
                          <a:rPr lang="es-PE" sz="2600" b="0" i="1" u="none" strike="noStrike" baseline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den>
                    </m:f>
                  </m:oMath>
                </a14:m>
                <a:r>
                  <a:rPr lang="es-ES" sz="2400" b="0" i="0" u="none" strike="noStrike" baseline="0" dirty="0">
                    <a:solidFill>
                      <a:schemeClr val="accent1">
                        <a:lumMod val="75000"/>
                      </a:schemeClr>
                    </a:solidFill>
                    <a:latin typeface="Tahoma" panose="020B0604030504040204" pitchFamily="34" charset="0"/>
                  </a:rPr>
                  <a:t> </a:t>
                </a:r>
                <a:r>
                  <a:rPr lang="es-ES" sz="2400" b="0" i="0" u="none" strike="noStrike" baseline="0" dirty="0">
                    <a:latin typeface="Tahoma" panose="020B0604030504040204" pitchFamily="34" charset="0"/>
                  </a:rPr>
                  <a:t>(supuestos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E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s-MX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r>
                          <a:rPr lang="es-MX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den>
                    </m:f>
                    <m:r>
                      <a:rPr lang="es-MX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 </m:t>
                    </m:r>
                    <m:r>
                      <a:rPr lang="es-MX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ES" sz="2400" b="0" i="0" u="none" strike="noStrike" baseline="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	y 	</a:t>
                </a:r>
                <a14:m>
                  <m:oMath xmlns:m="http://schemas.openxmlformats.org/officeDocument/2006/math">
                    <m:r>
                      <a:rPr lang="es-PE" sz="26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s-ES" sz="26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sz="26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PE" sz="26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num>
                      <m:den>
                        <m:r>
                          <a:rPr lang="es-PE" sz="26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</m:oMath>
                </a14:m>
                <a:r>
                  <a:rPr lang="es-ES" sz="2600" b="0" i="0" u="none" strike="noStrike" baseline="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	</a:t>
                </a:r>
                <a:r>
                  <a:rPr lang="es-ES" sz="2400" b="0" i="0" u="none" strike="noStrike" baseline="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	</a:t>
                </a:r>
                <a:r>
                  <a:rPr lang="es-ES" sz="2400" b="0" i="0" u="none" strike="noStrike" baseline="0" dirty="0">
                    <a:solidFill>
                      <a:srgbClr val="000000"/>
                    </a:solidFill>
                    <a:latin typeface="Tahoma" panose="020B0604030504040204" pitchFamily="34" charset="0"/>
                    <a:sym typeface="Wingdings" panose="05000000000000000000" pitchFamily="2" charset="2"/>
                  </a:rPr>
                  <a:t> 	</a:t>
                </a:r>
                <a14:m>
                  <m:oMath xmlns:m="http://schemas.openxmlformats.org/officeDocument/2006/math">
                    <m:borderBox>
                      <m:borderBoxPr>
                        <m:ctrlPr>
                          <a:rPr lang="es-PE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borderBoxPr>
                      <m:e>
                        <m:r>
                          <a:rPr lang="es-PE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𝐼𝑇</m:t>
                        </m:r>
                        <m:r>
                          <a:rPr lang="es-E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PE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s-PE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</m:borderBox>
                  </m:oMath>
                </a14:m>
                <a:endParaRPr lang="es-ES" sz="2400" b="0" i="0" u="none" strike="noStrike" baseline="0" dirty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ES" sz="240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Ambas definiciones señoreaje e impuesto inflación son iguales; pero en una economía que crece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E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s-MX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r>
                          <a:rPr lang="es-MX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den>
                    </m:f>
                    <m:r>
                      <a:rPr lang="es-MX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s-MX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s-ES" sz="240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, puede haber señoreaje y no impuesto inflación.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FA459D58-C50D-3350-BC53-B5C8F7A34C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1268760"/>
                <a:ext cx="10819266" cy="5224115"/>
              </a:xfrm>
              <a:blipFill>
                <a:blip r:embed="rId2"/>
                <a:stretch>
                  <a:fillRect l="-620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2271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2087C-5676-4A54-11C5-F9E2F8197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F4DCA6-47B1-1D3A-DDF6-3F2AA5FC7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614" y="60325"/>
            <a:ext cx="10515600" cy="1325563"/>
          </a:xfrm>
        </p:spPr>
        <p:txBody>
          <a:bodyPr/>
          <a:lstStyle/>
          <a:p>
            <a:r>
              <a:rPr lang="es-PE" b="1" dirty="0"/>
              <a:t>Impuesto inflación y Señoreaje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1BF73CD-B37C-7D6C-97EE-430C7A7EA1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68760"/>
            <a:ext cx="10819266" cy="5224115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s-ES" sz="2400" dirty="0">
                <a:solidFill>
                  <a:srgbClr val="000000"/>
                </a:solidFill>
                <a:latin typeface="Tahoma" panose="020B0604030504040204" pitchFamily="34" charset="0"/>
              </a:rPr>
              <a:t>¿Por qué la inflación es un impuesto?</a:t>
            </a:r>
          </a:p>
          <a:p>
            <a:pPr>
              <a:lnSpc>
                <a:spcPct val="150000"/>
              </a:lnSpc>
            </a:pPr>
            <a:r>
              <a:rPr lang="es-ES" sz="2400" dirty="0">
                <a:solidFill>
                  <a:srgbClr val="000000"/>
                </a:solidFill>
                <a:latin typeface="Tahoma" panose="020B0604030504040204" pitchFamily="34" charset="0"/>
              </a:rPr>
              <a:t>La inflación deprecia el dinero.</a:t>
            </a:r>
          </a:p>
          <a:p>
            <a:pPr>
              <a:lnSpc>
                <a:spcPct val="150000"/>
              </a:lnSpc>
            </a:pPr>
            <a:r>
              <a:rPr lang="es-ES" sz="2400" dirty="0">
                <a:solidFill>
                  <a:srgbClr val="000000"/>
                </a:solidFill>
                <a:latin typeface="Tahoma" panose="020B0604030504040204" pitchFamily="34" charset="0"/>
              </a:rPr>
              <a:t>Si el público quiere mantener sus saldos monetarios reales deberá acumular dinero.</a:t>
            </a:r>
          </a:p>
          <a:p>
            <a:pPr>
              <a:lnSpc>
                <a:spcPct val="150000"/>
              </a:lnSpc>
            </a:pPr>
            <a:r>
              <a:rPr lang="es-ES" sz="2400" dirty="0">
                <a:solidFill>
                  <a:srgbClr val="000000"/>
                </a:solidFill>
                <a:latin typeface="Tahoma" panose="020B0604030504040204" pitchFamily="34" charset="0"/>
              </a:rPr>
              <a:t>Es decir, si hay inflación, las adiciones de dinero para mantener el saldo de dinero real constante corresponde al impuesto inflación.</a:t>
            </a:r>
          </a:p>
        </p:txBody>
      </p:sp>
    </p:spTree>
    <p:extLst>
      <p:ext uri="{BB962C8B-B14F-4D97-AF65-F5344CB8AC3E}">
        <p14:creationId xmlns:p14="http://schemas.microsoft.com/office/powerpoint/2010/main" val="12489019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49EEA-A3FA-88A1-F2B1-2146A0832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C46AF7-A89D-A86D-4E21-301B3600B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614" y="60325"/>
            <a:ext cx="10515600" cy="1325563"/>
          </a:xfrm>
        </p:spPr>
        <p:txBody>
          <a:bodyPr/>
          <a:lstStyle/>
          <a:p>
            <a:r>
              <a:rPr lang="es-PE" b="1" dirty="0"/>
              <a:t>Impuesto inflación y Señoreaje</a:t>
            </a:r>
            <a:endParaRPr lang="es-P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2D71EE4B-3505-C2F2-1A92-15E19847E0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7334" y="1268760"/>
                <a:ext cx="10819266" cy="5224115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s-ES" sz="240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Analíticamente: 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" sz="240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De </a:t>
                </a:r>
                <a14:m>
                  <m:oMath xmlns:m="http://schemas.openxmlformats.org/officeDocument/2006/math">
                    <m:r>
                      <a:rPr lang="es-PE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s-E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PE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num>
                      <m:den>
                        <m:r>
                          <a:rPr lang="es-PE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</m:oMath>
                </a14:m>
                <a:r>
                  <a:rPr lang="es-ES" sz="240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 se tiene: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s-PE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es-PE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es-PE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PE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s-PE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  <m:r>
                            <a:rPr lang="es-PE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s-PE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r>
                            <a:rPr lang="es-PE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s-PE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  <m:r>
                            <a:rPr lang="es-PE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∙∆</m:t>
                          </m:r>
                          <m:r>
                            <a:rPr lang="es-PE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num>
                        <m:den>
                          <m:sSup>
                            <m:sSupPr>
                              <m:ctrlPr>
                                <a:rPr lang="es-PE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PE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es-PE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s-PE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MX" sz="2400" b="0" dirty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PE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s-PE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  <m:r>
                            <a:rPr lang="es-PE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s-PE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num>
                        <m:den>
                          <m:sSup>
                            <m:sSupPr>
                              <m:ctrlPr>
                                <a:rPr lang="es-PE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PE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es-PE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s-MX" sz="24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f>
                        <m:fPr>
                          <m:ctrlPr>
                            <a:rPr lang="es-MX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sz="240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  <m:r>
                            <a:rPr lang="es-PE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s-PE" sz="24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s-PE" sz="24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num>
                        <m:den>
                          <m:sSup>
                            <m:sSupPr>
                              <m:ctrlPr>
                                <a:rPr lang="es-MX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MX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es-MX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s-ES" sz="2400" dirty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s-PE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es-PE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es-PE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PE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s-PE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num>
                        <m:den>
                          <m:r>
                            <a:rPr lang="es-PE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den>
                      </m:f>
                      <m:r>
                        <a:rPr lang="es-PE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PE" sz="2400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s-PE" sz="24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</m:oMath>
                  </m:oMathPara>
                </a14:m>
                <a:endParaRPr lang="es-PE" sz="2400" b="1" dirty="0">
                  <a:solidFill>
                    <a:srgbClr val="000000"/>
                  </a:solidFill>
                  <a:latin typeface="Tahoma" panose="020B0604030504040204" pitchFamily="34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ES" sz="240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Si		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ES" sz="30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30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s-PE" sz="3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s-PE" sz="3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a:rPr lang="es-PE" sz="3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 </m:t>
                    </m:r>
                  </m:oMath>
                </a14:m>
                <a:r>
                  <a:rPr lang="es-ES" sz="2600" dirty="0">
                    <a:solidFill>
                      <a:srgbClr val="000000"/>
                    </a:solidFill>
                    <a:latin typeface="Tahoma" panose="020B0604030504040204" pitchFamily="34" charset="0"/>
                    <a:sym typeface="Wingdings" panose="05000000000000000000" pitchFamily="2" charset="2"/>
                  </a:rPr>
                  <a:t>	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PE" sz="3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PE" sz="3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s-PE" sz="3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num>
                      <m:den>
                        <m:r>
                          <a:rPr lang="es-PE" sz="3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den>
                    </m:f>
                    <m:r>
                      <a:rPr lang="es-PE" sz="3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s-PE" sz="3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s-PE" sz="3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s-ES" sz="240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  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:r>
                  <a:rPr lang="es-ES" sz="240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es decir: </a:t>
                </a:r>
                <a14:m>
                  <m:oMath xmlns:m="http://schemas.openxmlformats.org/officeDocument/2006/math">
                    <m:r>
                      <a:rPr lang="es-MX" sz="24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s-ES" sz="24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s-MX" sz="24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𝑰𝑻</m:t>
                    </m:r>
                  </m:oMath>
                </a14:m>
                <a:endParaRPr lang="es-ES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2D71EE4B-3505-C2F2-1A92-15E19847E0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1268760"/>
                <a:ext cx="10819266" cy="5224115"/>
              </a:xfrm>
              <a:blipFill>
                <a:blip r:embed="rId2"/>
                <a:stretch>
                  <a:fillRect l="-563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22148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7AFD8-6DCD-0E19-0462-7FF7E1B6F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EB5C2A-A07F-F9C6-FE99-146046201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dirty="0"/>
              <a:t>Impuesto inflación y Señoreaje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25C4887-4369-5EBD-4435-42C32DEAB7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32572"/>
            <a:ext cx="10819266" cy="3880773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s-ES" sz="24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El señoreaje es el ingreso en términos reales que recibe el Estado por la emisión de dinero.</a:t>
            </a:r>
          </a:p>
          <a:p>
            <a:pPr>
              <a:lnSpc>
                <a:spcPct val="150000"/>
              </a:lnSpc>
            </a:pPr>
            <a:r>
              <a:rPr lang="es-ES" sz="2400" dirty="0">
                <a:solidFill>
                  <a:srgbClr val="000000"/>
                </a:solidFill>
                <a:latin typeface="Tahoma" panose="020B0604030504040204" pitchFamily="34" charset="0"/>
              </a:rPr>
              <a:t>El impuesto inflación es la perdida de patrimonio (capital) de quienes tienen dinero como resultado de la inflación.</a:t>
            </a:r>
          </a:p>
          <a:p>
            <a:pPr>
              <a:lnSpc>
                <a:spcPct val="150000"/>
              </a:lnSpc>
            </a:pPr>
            <a:r>
              <a:rPr lang="es-ES" sz="2400" dirty="0">
                <a:solidFill>
                  <a:srgbClr val="000000"/>
                </a:solidFill>
                <a:latin typeface="Tahoma" panose="020B0604030504040204" pitchFamily="34" charset="0"/>
              </a:rPr>
              <a:t>Por lo tanto, es posible que la demanda por dinero aumente y el banco central acomode esta mayor demanda de dinero con mayor oferta de dinero (emisión) sin que ello sea inflacionario, pero se recauda señoreaje.</a:t>
            </a:r>
          </a:p>
        </p:txBody>
      </p:sp>
    </p:spTree>
    <p:extLst>
      <p:ext uri="{BB962C8B-B14F-4D97-AF65-F5344CB8AC3E}">
        <p14:creationId xmlns:p14="http://schemas.microsoft.com/office/powerpoint/2010/main" val="40775313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08296-EC0C-BADC-5E12-10743DF7D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2B9114-4A4D-E9B5-CC73-28BFF9B89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782" y="116632"/>
            <a:ext cx="10515600" cy="1325563"/>
          </a:xfrm>
        </p:spPr>
        <p:txBody>
          <a:bodyPr/>
          <a:lstStyle/>
          <a:p>
            <a:r>
              <a:rPr lang="es-PE" b="1" dirty="0"/>
              <a:t>Impuesto inflación y Señoreaje</a:t>
            </a:r>
            <a:endParaRPr lang="es-P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AE92AE14-0000-4089-685F-24FB9E15F3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8302" y="1268760"/>
                <a:ext cx="10825916" cy="5184576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" sz="2400" b="0" i="0" u="none" strike="noStrike" baseline="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En una </a:t>
                </a:r>
                <a:r>
                  <a:rPr lang="es-ES" sz="2400" b="0" i="0" u="none" strike="noStrike" baseline="0" dirty="0">
                    <a:solidFill>
                      <a:srgbClr val="FF0000"/>
                    </a:solidFill>
                    <a:latin typeface="Tahoma" panose="020B0604030504040204" pitchFamily="34" charset="0"/>
                  </a:rPr>
                  <a:t>economía con crecimiento del PBI</a:t>
                </a:r>
                <a:r>
                  <a:rPr lang="es-ES" sz="2400" b="0" i="0" u="none" strike="noStrike" baseline="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 se ve que el señoreaje es distinto del impuesto inflación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" sz="240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Del equilibrio del mercado monetario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s-E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s-ES" sz="24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s-PE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s-PE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≡</m:t>
                              </m:r>
                              <m:f>
                                <m:fPr>
                                  <m:ctrlPr>
                                    <a:rPr lang="es-PE" sz="2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PE" sz="2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num>
                                <m:den>
                                  <m:r>
                                    <a:rPr lang="es-PE" sz="2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den>
                              </m:f>
                            </m:e>
                          </m:groupChr>
                        </m:e>
                        <m:lim>
                          <m:eqArr>
                            <m:eqArrPr>
                              <m:ctrlPr>
                                <a:rPr lang="es-PE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s-PE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𝑂𝑓𝑒𝑟𝑡𝑎</m:t>
                              </m:r>
                              <m:r>
                                <a:rPr lang="es-PE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s-PE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𝑑𝑒</m:t>
                              </m:r>
                              <m:r>
                                <a:rPr lang="es-PE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s-PE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𝑑𝑖𝑛𝑒𝑟𝑜</m:t>
                              </m:r>
                            </m:e>
                          </m:eqArr>
                        </m:lim>
                      </m:limLow>
                      <m:r>
                        <a:rPr lang="es-E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s-E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s-ES" sz="24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s-PE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s-PE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s-PE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PE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s-PE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s-PE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groupChr>
                        </m:e>
                        <m:lim>
                          <m:eqArr>
                            <m:eqArrPr>
                              <m:ctrlPr>
                                <a:rPr lang="es-PE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s-PE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𝐷𝑒𝑚𝑎𝑛𝑑𝑎</m:t>
                              </m:r>
                              <m:r>
                                <a:rPr lang="es-PE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s-PE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𝑑𝑒</m:t>
                              </m:r>
                              <m:r>
                                <a:rPr lang="es-PE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s-PE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𝑑𝑖𝑛𝑒𝑟𝑜</m:t>
                              </m:r>
                            </m:e>
                          </m:eqArr>
                        </m:lim>
                      </m:limLow>
                    </m:oMath>
                  </m:oMathPara>
                </a14:m>
                <a:endParaRPr lang="es-ES" sz="2400" dirty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ES" sz="800" dirty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s-E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PE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s-PE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PE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es-PE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s-PE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s-PE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s-PE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𝑌</m:t>
                      </m:r>
                      <m:r>
                        <a:rPr lang="es-PE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ES" sz="2400" dirty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AE92AE14-0000-4089-685F-24FB9E15F3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8302" y="1268760"/>
                <a:ext cx="10825916" cy="5184576"/>
              </a:xfrm>
              <a:blipFill>
                <a:blip r:embed="rId2"/>
                <a:stretch>
                  <a:fillRect l="-732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12096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CF6EC-A474-429C-4A66-8F6C25EF2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C12F79-0A4D-FFCA-8702-2877B36E0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782" y="116632"/>
            <a:ext cx="10515600" cy="1325563"/>
          </a:xfrm>
        </p:spPr>
        <p:txBody>
          <a:bodyPr/>
          <a:lstStyle/>
          <a:p>
            <a:r>
              <a:rPr lang="es-PE" b="1" dirty="0"/>
              <a:t>Impuesto inflación y Señoreaje</a:t>
            </a:r>
            <a:endParaRPr lang="es-P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4AE87035-A4AD-2289-DCEC-2872E56482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35360" y="1268760"/>
                <a:ext cx="11168858" cy="5184576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PE" sz="240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Además, </a:t>
                </a:r>
                <a:r>
                  <a:rPr lang="es-PE" sz="2400" b="0" i="0" u="none" strike="noStrike" baseline="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se define la respuesta de la demanda </a:t>
                </a:r>
                <a:r>
                  <a:rPr lang="es-PE" sz="240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de dinero </a:t>
                </a:r>
                <a:r>
                  <a:rPr lang="es-PE" sz="2400" b="0" i="0" u="none" strike="noStrike" baseline="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ante cambios en el PBI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PE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PE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𝝃</m:t>
                        </m:r>
                      </m:e>
                      <m:sub>
                        <m:r>
                          <a:rPr lang="es-PE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sub>
                    </m:sSub>
                    <m:r>
                      <a:rPr lang="es-PE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PE" sz="2400" b="0" i="0" u="none" strike="noStrike" baseline="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como: </a:t>
                </a:r>
                <a:endParaRPr lang="es-ES" sz="2400" dirty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ES" sz="800" dirty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𝝃</m:t>
                          </m:r>
                        </m:e>
                        <m:sub>
                          <m:r>
                            <a:rPr lang="es-PE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sub>
                      </m:sSub>
                      <m:r>
                        <a:rPr lang="es-E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s-PE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r>
                        <a:rPr lang="es-PE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PE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s-PE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s-PE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s-PE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</m:den>
                      </m:f>
                      <m:r>
                        <a:rPr lang="es-PE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s-PE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</m:num>
                        <m:den>
                          <m:r>
                            <a:rPr lang="es-PE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</m:oMath>
                  </m:oMathPara>
                </a14:m>
                <a:endParaRPr lang="es-ES" sz="2400" dirty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ES" sz="2400" dirty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4AE87035-A4AD-2289-DCEC-2872E56482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5360" y="1268760"/>
                <a:ext cx="11168858" cy="5184576"/>
              </a:xfrm>
              <a:blipFill>
                <a:blip r:embed="rId2"/>
                <a:stretch>
                  <a:fillRect l="-710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3831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0CF27-0AC4-B95D-1998-68AB62D5F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FE2A61-6007-0318-2EC3-4550F21CD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782" y="116632"/>
            <a:ext cx="10515600" cy="1325563"/>
          </a:xfrm>
        </p:spPr>
        <p:txBody>
          <a:bodyPr/>
          <a:lstStyle/>
          <a:p>
            <a:r>
              <a:rPr lang="es-PE" b="1" dirty="0"/>
              <a:t>Impuesto inflación y Señoreaje</a:t>
            </a:r>
            <a:endParaRPr lang="es-P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336227E-3B6A-91A1-3C45-38F16597D3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8302" y="1268760"/>
                <a:ext cx="10825916" cy="5184576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s-PE" sz="240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Del equilibrio en mercado de dinero: </a:t>
                </a:r>
                <a14:m>
                  <m:oMath xmlns:m="http://schemas.openxmlformats.org/officeDocument/2006/math">
                    <m:r>
                      <a:rPr lang="es-PE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s-E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s-PE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s-PE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PE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r>
                      <a:rPr lang="es-PE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s-PE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s-PE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s-PE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s-PE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s-ES" sz="2400" dirty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s-PE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s-E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s-PE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s-PE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PE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es-PE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+∆</m:t>
                      </m:r>
                      <m:r>
                        <a:rPr lang="es-PE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es-PE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PE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s-ES" sz="2400" dirty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s-PE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num>
                        <m:den>
                          <m:r>
                            <a:rPr lang="es-PE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den>
                      </m:f>
                      <m:r>
                        <a:rPr lang="es-PE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PE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s-PE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s-PE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s-PE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  <m:r>
                            <a:rPr lang="es-PE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+∆</m:t>
                          </m:r>
                          <m:r>
                            <a:rPr lang="es-PE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  <m:r>
                            <a:rPr lang="es-PE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s-PE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num>
                        <m:den>
                          <m:r>
                            <a:rPr lang="es-PE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den>
                      </m:f>
                    </m:oMath>
                  </m:oMathPara>
                </a14:m>
                <a:endParaRPr lang="es-ES" sz="2400" dirty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s-PE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num>
                        <m:den>
                          <m:r>
                            <a:rPr lang="es-PE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den>
                      </m:f>
                      <m:r>
                        <a:rPr lang="es-PE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PE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40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s-PE" sz="2400" i="1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s-PE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s-PE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s-PE" sz="240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den>
                      </m:f>
                      <m:r>
                        <a:rPr lang="es-MX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MX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s-PE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  <m:r>
                            <a:rPr lang="es-PE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s-PE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num>
                        <m:den>
                          <m:r>
                            <a:rPr lang="es-MX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den>
                      </m:f>
                    </m:oMath>
                  </m:oMathPara>
                </a14:m>
                <a:endParaRPr lang="es-ES" sz="2400" dirty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:r>
                  <a:rPr lang="es-ES" sz="2400" dirty="0">
                    <a:solidFill>
                      <a:srgbClr val="000000"/>
                    </a:solidFill>
                  </a:rPr>
                  <a:t>	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E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s-PE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num>
                      <m:den>
                        <m:r>
                          <a:rPr lang="es-PE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den>
                    </m:f>
                    <m:r>
                      <a:rPr lang="es-PE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PE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r>
                      <a:rPr lang="es-PE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s-PE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s-PE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s-PE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s-PE" sz="2400" b="0" dirty="0">
                    <a:solidFill>
                      <a:srgbClr val="000000"/>
                    </a:solidFill>
                    <a:latin typeface="Tahoma" panose="020B0604030504040204" pitchFamily="34" charset="0"/>
                    <a:ea typeface="Cambria Math" panose="02040503050406030204" pitchFamily="18" charset="0"/>
                  </a:rPr>
                  <a:t>	</a:t>
                </a:r>
                <a:r>
                  <a:rPr lang="es-PE" sz="24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PE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PE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s-PE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es-PE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PE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PE" sz="2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s-PE" sz="2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𝑳</m:t>
                        </m:r>
                      </m:num>
                      <m:den>
                        <m:r>
                          <a:rPr lang="es-PE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s-PE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den>
                    </m:f>
                    <m:r>
                      <a:rPr lang="es-PE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es-PE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PE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r>
                          <a:rPr lang="es-PE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a:rPr lang="es-PE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PE" sz="2400" b="0" dirty="0">
                    <a:solidFill>
                      <a:srgbClr val="000000"/>
                    </a:solidFill>
                    <a:latin typeface="Tahoma" panose="020B0604030504040204" pitchFamily="34" charset="0"/>
                    <a:ea typeface="Cambria Math" panose="02040503050406030204" pitchFamily="18" charset="0"/>
                  </a:rPr>
                  <a:t>		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borderBox>
                      <m:borderBoxPr>
                        <m:ctrlPr>
                          <a:rPr lang="es-E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borderBoxPr>
                      <m:e>
                        <m:f>
                          <m:fPr>
                            <m:ctrlPr>
                              <a:rPr lang="es-E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E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s-PE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𝑀</m:t>
                            </m:r>
                          </m:num>
                          <m:den>
                            <m:r>
                              <a:rPr lang="es-PE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den>
                        </m:f>
                        <m:r>
                          <a:rPr lang="es-PE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s-PE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  <m:r>
                          <a:rPr lang="es-PE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s-PE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es-PE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s-PE" sz="24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PE" sz="24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𝝃</m:t>
                            </m:r>
                          </m:e>
                          <m:sub>
                            <m:r>
                              <a:rPr lang="es-PE" sz="24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𝒀</m:t>
                            </m:r>
                          </m:sub>
                        </m:sSub>
                        <m:f>
                          <m:fPr>
                            <m:ctrlPr>
                              <a:rPr lang="es-PE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PE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s-PE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</m:num>
                          <m:den>
                            <m:r>
                              <a:rPr lang="es-PE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</m:den>
                        </m:f>
                        <m:r>
                          <a:rPr lang="es-PE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borderBox>
                  </m:oMath>
                </a14:m>
                <a:r>
                  <a:rPr lang="es-ES" sz="240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		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ES" sz="2400" dirty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336227E-3B6A-91A1-3C45-38F16597D3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8302" y="1268760"/>
                <a:ext cx="10825916" cy="5184576"/>
              </a:xfrm>
              <a:blipFill>
                <a:blip r:embed="rId2"/>
                <a:stretch>
                  <a:fillRect l="-845" b="-2115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3431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9624D-931B-4946-1D66-D78FD1374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FE728C-CA5E-0DDF-EABE-A05D10C6E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782" y="116632"/>
            <a:ext cx="10515600" cy="1325563"/>
          </a:xfrm>
        </p:spPr>
        <p:txBody>
          <a:bodyPr/>
          <a:lstStyle/>
          <a:p>
            <a:r>
              <a:rPr lang="es-PE" b="1" dirty="0"/>
              <a:t>Impuesto inflación y Señoreaje</a:t>
            </a:r>
            <a:endParaRPr lang="es-P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1CD9BAAC-D9F1-0177-8292-730BFD0E3D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8302" y="1268760"/>
                <a:ext cx="10825916" cy="5184576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PE" sz="240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Si: 		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E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s-PE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num>
                      <m:den>
                        <m:r>
                          <a:rPr lang="es-PE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den>
                    </m:f>
                    <m:r>
                      <a:rPr lang="es-PE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PE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r>
                      <a:rPr lang="es-PE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s-PE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s-PE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s-PE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PE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s-PE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f>
                      <m:fPr>
                        <m:ctrlPr>
                          <a:rPr lang="es-PE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PE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s-PE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r>
                          <a:rPr lang="es-PE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den>
                    </m:f>
                    <m:r>
                      <a:rPr lang="es-PE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s-ES" sz="2400" dirty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ES" sz="240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Pero el mercado monetario en equilibrio </a:t>
                </a:r>
                <a:r>
                  <a:rPr lang="es-ES" sz="24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L= m</a:t>
                </a:r>
                <a:r>
                  <a:rPr lang="es-ES" sz="240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s-PE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num>
                        <m:den>
                          <m:r>
                            <a:rPr lang="es-PE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den>
                      </m:f>
                      <m:r>
                        <a:rPr lang="es-PE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PE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s-PE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s-PE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s-PE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PE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s-PE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f>
                        <m:fPr>
                          <m:ctrlPr>
                            <a:rPr lang="es-PE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s-PE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</m:num>
                        <m:den>
                          <m:r>
                            <a:rPr lang="es-PE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</m:den>
                      </m:f>
                      <m:r>
                        <a:rPr lang="es-PE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ES" sz="2400" dirty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s-PE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num>
                        <m:den>
                          <m:r>
                            <a:rPr lang="es-PE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den>
                      </m:f>
                      <m:r>
                        <a:rPr lang="es-PE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PE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s-PE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s-PE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PE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s-PE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f>
                        <m:fPr>
                          <m:ctrlPr>
                            <a:rPr lang="es-PE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s-PE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</m:num>
                        <m:den>
                          <m:r>
                            <a:rPr lang="es-PE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</m:den>
                      </m:f>
                      <m:r>
                        <a:rPr lang="es-PE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s-ES" sz="2400" dirty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ES" sz="240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Esto implica que incluso si la </a:t>
                </a:r>
                <a:r>
                  <a:rPr lang="es-ES" sz="2400" dirty="0">
                    <a:solidFill>
                      <a:srgbClr val="FF0000"/>
                    </a:solidFill>
                    <a:latin typeface="Tahoma" panose="020B0604030504040204" pitchFamily="34" charset="0"/>
                  </a:rPr>
                  <a:t>inflación </a:t>
                </a:r>
                <a14:m>
                  <m:oMath xmlns:m="http://schemas.openxmlformats.org/officeDocument/2006/math">
                    <m:r>
                      <a:rPr lang="es-PE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s-ES" sz="240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 es 0, es posible recaudar señoreaje como resultado del aumento de la demanda por dinero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ES" sz="2400" dirty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1CD9BAAC-D9F1-0177-8292-730BFD0E3D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8302" y="1268760"/>
                <a:ext cx="10825916" cy="5184576"/>
              </a:xfrm>
              <a:blipFill>
                <a:blip r:embed="rId2"/>
                <a:stretch>
                  <a:fillRect l="-732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02800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FAB51-AB8E-4C70-F25F-33CFC84E0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D9354A-DCE7-F353-40CD-7E1996E3B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584"/>
            <a:ext cx="10515600" cy="1325563"/>
          </a:xfrm>
        </p:spPr>
        <p:txBody>
          <a:bodyPr/>
          <a:lstStyle/>
          <a:p>
            <a:r>
              <a:rPr lang="es-PE" b="1" dirty="0"/>
              <a:t>Señoreaje e inflación</a:t>
            </a:r>
            <a:endParaRPr lang="es-P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A31C6933-F674-CCF5-6FBD-C5E1387A57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96752"/>
                <a:ext cx="11018440" cy="5400600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" sz="2200" b="0" i="0" u="none" strike="noStrike" baseline="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Supuesto de la </a:t>
                </a:r>
                <a:r>
                  <a:rPr lang="es-ES" sz="2200" b="0" i="0" u="none" strike="noStrike" baseline="0" dirty="0" err="1">
                    <a:solidFill>
                      <a:srgbClr val="000000"/>
                    </a:solidFill>
                    <a:latin typeface="Tahoma" panose="020B0604030504040204" pitchFamily="34" charset="0"/>
                  </a:rPr>
                  <a:t>Ec</a:t>
                </a:r>
                <a:r>
                  <a:rPr lang="es-ES" sz="2200" b="0" i="0" u="none" strike="noStrike" baseline="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. </a:t>
                </a:r>
                <a:r>
                  <a:rPr lang="es-ES" sz="220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d</a:t>
                </a:r>
                <a:r>
                  <a:rPr lang="es-ES" sz="2200" b="0" i="0" u="none" strike="noStrike" baseline="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e Fisher </a:t>
                </a:r>
                <a14:m>
                  <m:oMath xmlns:m="http://schemas.openxmlformats.org/officeDocument/2006/math">
                    <m:r>
                      <a:rPr lang="es-MX" sz="22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sz="2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s-MX" sz="2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s-MX" sz="2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s-PE" sz="2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s-PE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PE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s-PE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p>
                    <m:r>
                      <a:rPr lang="es-MX" sz="2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s-PE" sz="2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" sz="2200" b="0" i="0" u="none" strike="noStrike" baseline="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sobre la demanda de dinero L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2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s-PE" sz="2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PE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s-PE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s-PE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PE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p>
                          <m:r>
                            <a:rPr lang="es-PE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p>
                      </m:sSup>
                      <m:r>
                        <a:rPr lang="es-PE" sz="2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s-PE" sz="2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s-PE" sz="2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ES" sz="2200" dirty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ES" sz="220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Asumiendo que </a:t>
                </a:r>
                <a:r>
                  <a:rPr lang="es-ES" sz="2200" dirty="0">
                    <a:solidFill>
                      <a:srgbClr val="FF0000"/>
                    </a:solidFill>
                    <a:latin typeface="Tahoma" panose="020B0604030504040204" pitchFamily="34" charset="0"/>
                  </a:rPr>
                  <a:t>r= 0 </a:t>
                </a:r>
                <a:r>
                  <a:rPr lang="es-ES" sz="220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y la </a:t>
                </a:r>
                <a:r>
                  <a:rPr lang="el-GR" sz="2200" dirty="0">
                    <a:solidFill>
                      <a:srgbClr val="FF0000"/>
                    </a:solidFill>
                    <a:latin typeface="Sylfaen" panose="010A0502050306030303" pitchFamily="18" charset="0"/>
                  </a:rPr>
                  <a:t>π</a:t>
                </a:r>
                <a:r>
                  <a:rPr lang="es-PE" sz="2200" baseline="30000" dirty="0">
                    <a:solidFill>
                      <a:srgbClr val="FF0000"/>
                    </a:solidFill>
                    <a:latin typeface="Sylfaen" panose="010A0502050306030303" pitchFamily="18" charset="0"/>
                  </a:rPr>
                  <a:t>e</a:t>
                </a:r>
                <a:r>
                  <a:rPr lang="es-PE" sz="2200" dirty="0">
                    <a:solidFill>
                      <a:srgbClr val="FF0000"/>
                    </a:solidFill>
                    <a:latin typeface="Sylfaen" panose="010A0502050306030303" pitchFamily="18" charset="0"/>
                  </a:rPr>
                  <a:t> =</a:t>
                </a:r>
                <a:r>
                  <a:rPr lang="es-ES" sz="2200" dirty="0">
                    <a:solidFill>
                      <a:srgbClr val="FF0000"/>
                    </a:solidFill>
                    <a:latin typeface="Tahoma" panose="020B0604030504040204" pitchFamily="34" charset="0"/>
                  </a:rPr>
                  <a:t> </a:t>
                </a:r>
                <a:r>
                  <a:rPr lang="el-GR" sz="2200" dirty="0">
                    <a:solidFill>
                      <a:srgbClr val="FF0000"/>
                    </a:solidFill>
                    <a:latin typeface="Sylfaen" panose="010A0502050306030303" pitchFamily="18" charset="0"/>
                  </a:rPr>
                  <a:t>π</a:t>
                </a:r>
                <a:r>
                  <a:rPr lang="es-PE" sz="2200" dirty="0">
                    <a:solidFill>
                      <a:srgbClr val="FF0000"/>
                    </a:solidFill>
                    <a:latin typeface="Sylfaen" panose="010A0502050306030303" pitchFamily="18" charset="0"/>
                  </a:rPr>
                  <a:t> </a:t>
                </a:r>
                <a:r>
                  <a:rPr lang="es-ES" sz="2200" dirty="0">
                    <a:solidFill>
                      <a:srgbClr val="000000"/>
                    </a:solidFill>
                    <a:latin typeface="Tahoma" panose="020B0604030504040204" pitchFamily="34" charset="0"/>
                    <a:sym typeface="Wingdings" panose="05000000000000000000" pitchFamily="2" charset="2"/>
                  </a:rPr>
                  <a:t></a:t>
                </a:r>
                <a:r>
                  <a:rPr lang="es-ES" sz="220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 la demanda de dinero depende de la inflación L(</a:t>
                </a:r>
                <a:r>
                  <a:rPr lang="el-GR" sz="2200" i="1" dirty="0">
                    <a:solidFill>
                      <a:srgbClr val="000000"/>
                    </a:solidFill>
                    <a:latin typeface="Sylfaen" panose="010A0502050306030303" pitchFamily="18" charset="0"/>
                  </a:rPr>
                  <a:t>π</a:t>
                </a:r>
                <a:r>
                  <a:rPr lang="es-PE" sz="2200" i="1" dirty="0">
                    <a:solidFill>
                      <a:srgbClr val="000000"/>
                    </a:solidFill>
                    <a:latin typeface="Sylfaen" panose="010A0502050306030303" pitchFamily="18" charset="0"/>
                  </a:rPr>
                  <a:t>,Y</a:t>
                </a:r>
                <a:r>
                  <a:rPr lang="es-ES" sz="220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).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" sz="220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Si la elasticidad de la demanda de dinero a la tasa de interés es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200" b="1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200" b="1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𝝃</m:t>
                        </m:r>
                      </m:e>
                      <m:sub>
                        <m:r>
                          <a:rPr lang="es-PE" sz="2200" b="1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s-ES" sz="2200" b="1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sz="2200" b="1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l-GR" sz="2200" b="1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𝜹</m:t>
                        </m:r>
                        <m:r>
                          <a:rPr lang="es-PE" sz="2200" b="1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𝑳</m:t>
                        </m:r>
                      </m:num>
                      <m:den>
                        <m:r>
                          <a:rPr lang="el-GR" sz="2200" b="1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𝜹</m:t>
                        </m:r>
                        <m:r>
                          <a:rPr lang="es-PE" sz="2200" b="1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den>
                    </m:f>
                    <m:f>
                      <m:fPr>
                        <m:ctrlPr>
                          <a:rPr lang="es-ES" sz="2200" b="1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PE" sz="2200" b="1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num>
                      <m:den>
                        <m:r>
                          <a:rPr lang="es-PE" sz="2200" b="1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𝑳</m:t>
                        </m:r>
                      </m:den>
                    </m:f>
                    <m:r>
                      <a:rPr lang="es-PE" sz="2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endParaRPr lang="es-ES" sz="2200" dirty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  <a:p>
                <a:pPr marL="263525" indent="0">
                  <a:lnSpc>
                    <a:spcPct val="150000"/>
                  </a:lnSpc>
                  <a:buNone/>
                </a:pPr>
                <a:r>
                  <a:rPr lang="es-ES" sz="2200" dirty="0">
                    <a:solidFill>
                      <a:srgbClr val="000000"/>
                    </a:solidFill>
                    <a:latin typeface="Tahoma" panose="020B0604030504040204" pitchFamily="34" charset="0"/>
                    <a:sym typeface="Wingdings" panose="05000000000000000000" pitchFamily="2" charset="2"/>
                  </a:rPr>
                  <a:t> </a:t>
                </a:r>
                <a:r>
                  <a:rPr lang="es-ES" sz="220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la relación entre la cantidad demandada de dinero y la inflación es negativa mediante la elasticidad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PE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PE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𝝃</m:t>
                        </m:r>
                      </m:e>
                      <m:sub>
                        <m:r>
                          <a:rPr lang="es-PE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𝝅</m:t>
                        </m:r>
                      </m:sub>
                    </m:sSub>
                  </m:oMath>
                </a14:m>
                <a:r>
                  <a:rPr lang="es-ES" sz="220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 (=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E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l-GR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s-PE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l-GR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l-GR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den>
                    </m:f>
                    <m:f>
                      <m:fPr>
                        <m:ctrlPr>
                          <a:rPr lang="el-GR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l-GR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s-MX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den>
                    </m:f>
                  </m:oMath>
                </a14:m>
                <a:r>
                  <a:rPr lang="es-ES" sz="220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).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" sz="220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Así el señoreaje será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MX" sz="2400" b="0" i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  <m:r>
                      <a:rPr lang="es-MX" sz="2400" b="0" i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PE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s-MX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r>
                      <a:rPr lang="es-MX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s-MX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s-MX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s-ES" sz="2200" dirty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A31C6933-F674-CCF5-6FBD-C5E1387A57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96752"/>
                <a:ext cx="11018440" cy="5400600"/>
              </a:xfrm>
              <a:blipFill>
                <a:blip r:embed="rId2"/>
                <a:stretch>
                  <a:fillRect l="-664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17027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1236E-3CA4-57A8-AE29-047FA6089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EB4F3F-86E5-47CE-C11D-3DAE6C325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36"/>
            <a:ext cx="10515600" cy="1325563"/>
          </a:xfrm>
        </p:spPr>
        <p:txBody>
          <a:bodyPr/>
          <a:lstStyle/>
          <a:p>
            <a:r>
              <a:rPr lang="es-PE" b="1" dirty="0"/>
              <a:t>Señoreaje e inflación</a:t>
            </a:r>
            <a:endParaRPr lang="es-P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948A23B2-4326-A0DF-B9A9-CFA4236B26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7368" y="1196752"/>
                <a:ext cx="11377264" cy="5400600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" sz="2200" b="0" i="0" u="none" strike="noStrike" baseline="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¿Cuál es la respuesta del señoreaj</a:t>
                </a:r>
                <a:r>
                  <a:rPr lang="es-ES" sz="220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e a la inflación?.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MX" sz="2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</m:t>
                      </m:r>
                      <m:r>
                        <a:rPr lang="es-MX" sz="2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PE" sz="2200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s-MX" sz="2200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es-MX" sz="2200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s-MX" sz="2200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s-MX" sz="2200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ES" sz="2200" dirty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s-ES" sz="22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l-GR" sz="22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s-PE" sz="2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num>
                      <m:den>
                        <m:r>
                          <a:rPr lang="el-GR" sz="22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l-GR" sz="22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den>
                    </m:f>
                    <m:r>
                      <a:rPr lang="es-ES" sz="22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s-PE" sz="2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s-MX" sz="2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l-GR" sz="22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s-ES" sz="22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E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l-GR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s-PE" sz="2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l-GR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l-GR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den>
                    </m:f>
                    <m:f>
                      <m:fPr>
                        <m:ctrlPr>
                          <a:rPr lang="el-GR" sz="22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l-GR" sz="22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s-MX" sz="2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den>
                    </m:f>
                    <m:f>
                      <m:fPr>
                        <m:ctrlPr>
                          <a:rPr lang="el-GR" sz="22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MX" sz="2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l-GR" sz="22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den>
                    </m:f>
                  </m:oMath>
                </a14:m>
                <a:endParaRPr lang="es-PE" sz="2200" dirty="0">
                  <a:solidFill>
                    <a:srgbClr val="000000"/>
                  </a:solidFill>
                  <a:ea typeface="Cambria Math" panose="02040503050406030204" pitchFamily="18" charset="0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s-E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l-GR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s-PE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num>
                      <m:den>
                        <m:r>
                          <a:rPr lang="el-GR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l-GR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den>
                    </m:f>
                    <m:r>
                      <a:rPr lang="es-E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s-PE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s-MX" sz="2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l-GR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s-PE" sz="2200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PE" sz="2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PE" sz="2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𝝃</m:t>
                        </m:r>
                      </m:e>
                      <m:sub>
                        <m:r>
                          <a:rPr lang="es-PE" sz="2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𝝅</m:t>
                        </m:r>
                      </m:sub>
                    </m:sSub>
                    <m:r>
                      <a:rPr lang="es-PE" sz="22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l-GR" sz="2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MX" sz="2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l-GR" sz="2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den>
                    </m:f>
                  </m:oMath>
                </a14:m>
                <a:endParaRPr lang="es-PE" sz="2200" dirty="0">
                  <a:solidFill>
                    <a:srgbClr val="000000"/>
                  </a:solidFill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l-GR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s-PE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num>
                        <m:den>
                          <m:r>
                            <a:rPr lang="el-GR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l-GR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r>
                        <a:rPr lang="es-E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PE" sz="2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s-PE" sz="2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(1−</m:t>
                      </m:r>
                      <m:sSub>
                        <m:sSubPr>
                          <m:ctrlPr>
                            <a:rPr lang="es-PE" sz="2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sz="2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𝝃</m:t>
                          </m:r>
                        </m:e>
                        <m:sub>
                          <m:r>
                            <a:rPr lang="es-PE" sz="2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𝝅</m:t>
                          </m:r>
                        </m:sub>
                      </m:sSub>
                      <m:r>
                        <a:rPr lang="es-PE" sz="2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ES" sz="2200" dirty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MX" sz="220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Cuando la demanda de dinero respecto a la inflación es muy elástica (inelástica), un aumento de la inflación llevará a una reducción (aumento) en la recaudación de señoreaje.</a:t>
                </a:r>
                <a:endParaRPr lang="es-ES" sz="2200" dirty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948A23B2-4326-A0DF-B9A9-CFA4236B26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7368" y="1196752"/>
                <a:ext cx="11377264" cy="5400600"/>
              </a:xfrm>
              <a:blipFill>
                <a:blip r:embed="rId2"/>
                <a:stretch>
                  <a:fillRect l="-643" b="-1580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8116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4D26C-DF2C-00C5-5ADD-4A6441D7F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BF755C-2FC2-613A-7CF2-013A1B1A4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575" y="116632"/>
            <a:ext cx="10515600" cy="720080"/>
          </a:xfrm>
        </p:spPr>
        <p:txBody>
          <a:bodyPr/>
          <a:lstStyle/>
          <a:p>
            <a:r>
              <a:rPr lang="es-PE" b="1" dirty="0"/>
              <a:t>Señoreaje e inflación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9C9781C-F1B1-CDAF-7995-14500CEBD0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376" y="821760"/>
            <a:ext cx="10819266" cy="1629887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s-ES" sz="22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La curva de </a:t>
            </a:r>
            <a:r>
              <a:rPr lang="es-ES" sz="2200" b="0" i="0" u="none" strike="noStrike" baseline="0" dirty="0" err="1">
                <a:solidFill>
                  <a:srgbClr val="000000"/>
                </a:solidFill>
                <a:latin typeface="Tahoma" panose="020B0604030504040204" pitchFamily="34" charset="0"/>
              </a:rPr>
              <a:t>Laffer</a:t>
            </a:r>
            <a:endParaRPr lang="es-ES" sz="2200" b="0" i="0" u="none" strike="noStrike" baseline="0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pPr>
              <a:lnSpc>
                <a:spcPct val="150000"/>
              </a:lnSpc>
            </a:pPr>
            <a:r>
              <a:rPr lang="es-ES" sz="2200" dirty="0">
                <a:solidFill>
                  <a:srgbClr val="000000"/>
                </a:solidFill>
                <a:latin typeface="Tahoma" panose="020B0604030504040204" pitchFamily="34" charset="0"/>
              </a:rPr>
              <a:t>Permite entender la relación no lineal entre la inflación y los ingresos reales que obtiene el gobierno a través de la emisión de dinero.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DFEAE16-59FA-52EB-E496-2051A44808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5445" y="2708920"/>
            <a:ext cx="6759526" cy="4032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369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616A9-01D5-DE99-1D41-9D6750AFB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E7C16C-E4FC-B0B7-DC2B-7A9222FB8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19659"/>
          </a:xfrm>
        </p:spPr>
        <p:txBody>
          <a:bodyPr/>
          <a:lstStyle/>
          <a:p>
            <a:r>
              <a:rPr lang="es-PE" b="1" dirty="0"/>
              <a:t>Señoreaje e inflación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6C6BE59-E4A5-8786-EDED-66844741F7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32572"/>
            <a:ext cx="10819266" cy="457674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s-ES" sz="2400" dirty="0">
                <a:solidFill>
                  <a:srgbClr val="000000"/>
                </a:solidFill>
                <a:latin typeface="Tahoma" panose="020B0604030504040204" pitchFamily="34" charset="0"/>
              </a:rPr>
              <a:t>La curva de Laffer ilustra que:</a:t>
            </a:r>
          </a:p>
          <a:p>
            <a:pPr lvl="1">
              <a:lnSpc>
                <a:spcPct val="150000"/>
              </a:lnSpc>
              <a:buFont typeface="Sylfaen" panose="010A0502050306030303" pitchFamily="18" charset="0"/>
              <a:buChar char="−"/>
            </a:pPr>
            <a:r>
              <a:rPr lang="es-ES" dirty="0">
                <a:solidFill>
                  <a:srgbClr val="000000"/>
                </a:solidFill>
                <a:latin typeface="Tahoma" panose="020B0604030504040204" pitchFamily="34" charset="0"/>
              </a:rPr>
              <a:t>Existe un nivel óptimo de inflación que maximiza los ingresos por señoreaje.</a:t>
            </a:r>
          </a:p>
          <a:p>
            <a:pPr lvl="1">
              <a:lnSpc>
                <a:spcPct val="150000"/>
              </a:lnSpc>
              <a:buFont typeface="Sylfaen" panose="010A0502050306030303" pitchFamily="18" charset="0"/>
              <a:buChar char="−"/>
            </a:pPr>
            <a:r>
              <a:rPr lang="es-ES" dirty="0">
                <a:solidFill>
                  <a:srgbClr val="000000"/>
                </a:solidFill>
                <a:latin typeface="Tahoma" panose="020B0604030504040204" pitchFamily="34" charset="0"/>
              </a:rPr>
              <a:t>Un aumento de la inflación más allá de la inflación óptima reduce el señoreaje, por que la base monetaria real (demanda de dinero real) se contrae más que proporcionalmente.</a:t>
            </a:r>
          </a:p>
        </p:txBody>
      </p:sp>
    </p:spTree>
    <p:extLst>
      <p:ext uri="{BB962C8B-B14F-4D97-AF65-F5344CB8AC3E}">
        <p14:creationId xmlns:p14="http://schemas.microsoft.com/office/powerpoint/2010/main" val="3550307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C358A-1F1F-7F6E-1B7C-5592EF1D0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542C98-93DF-18E9-9F95-1F5C8018D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167" y="116632"/>
            <a:ext cx="10515600" cy="1325563"/>
          </a:xfrm>
        </p:spPr>
        <p:txBody>
          <a:bodyPr/>
          <a:lstStyle/>
          <a:p>
            <a:r>
              <a:rPr lang="es-PE" b="1" dirty="0"/>
              <a:t>Señoreaje e inflación</a:t>
            </a:r>
            <a:endParaRPr lang="es-P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D12C87F-8590-2DBA-341A-3504BB0092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7368" y="1340768"/>
                <a:ext cx="11449272" cy="5256584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s-ES" sz="2400" b="0" i="0" u="none" strike="noStrike" baseline="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La función de Cagan</a:t>
                </a:r>
              </a:p>
              <a:p>
                <a:pPr marL="263525" indent="-263525">
                  <a:lnSpc>
                    <a:spcPct val="150000"/>
                  </a:lnSpc>
                </a:pPr>
                <a:r>
                  <a:rPr lang="es-ES" sz="240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Asumiendo una demanda por dinero del tipo: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E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MX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num>
                      <m:den>
                        <m:r>
                          <a:rPr lang="es-MX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  <m:r>
                      <a:rPr lang="es-MX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s-MX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s-E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s-MX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𝐴𝑦</m:t>
                    </m:r>
                    <m:sSup>
                      <m:sSupPr>
                        <m:ctrlPr>
                          <a:rPr lang="es-E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s-MX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MX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𝑎𝑖</m:t>
                        </m:r>
                      </m:sup>
                    </m:sSup>
                  </m:oMath>
                </a14:m>
                <a:endParaRPr lang="es-PE" sz="2400" dirty="0">
                  <a:solidFill>
                    <a:srgbClr val="000000"/>
                  </a:solidFill>
                  <a:latin typeface="Sylfaen" panose="010A0502050306030303" pitchFamily="18" charset="0"/>
                </a:endParaRPr>
              </a:p>
              <a:p>
                <a:pPr marL="263525" indent="0">
                  <a:lnSpc>
                    <a:spcPct val="150000"/>
                  </a:lnSpc>
                  <a:buNone/>
                </a:pPr>
                <a:r>
                  <a:rPr lang="es-MX" sz="240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Y que se considera la tasa de interés real es igual a la nominal y el producto constante. Se define </a:t>
                </a:r>
                <a14:m>
                  <m:oMath xmlns:m="http://schemas.openxmlformats.org/officeDocument/2006/math">
                    <m:r>
                      <a:rPr lang="es-MX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s-MX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s-MX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𝐴𝑦</m:t>
                    </m:r>
                  </m:oMath>
                </a14:m>
                <a:r>
                  <a:rPr lang="es-ES" sz="24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s-MX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MX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s-MX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endParaRPr lang="es-PE" sz="2400" dirty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  <a:p>
                <a:pPr marL="263525" indent="-263525">
                  <a:lnSpc>
                    <a:spcPct val="150000"/>
                  </a:lnSpc>
                </a:pPr>
                <a:r>
                  <a:rPr lang="es-PE" sz="240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Y asumiendo expectativas de inflación igual a la inflación efectiva, la demanda de dinero es: </a:t>
                </a:r>
                <a14:m>
                  <m:oMath xmlns:m="http://schemas.openxmlformats.org/officeDocument/2006/math">
                    <m:r>
                      <a:rPr lang="es-MX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s-MX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s-MX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sSup>
                      <m:sSupPr>
                        <m:ctrlPr>
                          <a:rPr lang="es-E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p>
                        <m:r>
                          <a:rPr lang="es-MX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MX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𝒂</m:t>
                        </m:r>
                        <m:r>
                          <a:rPr lang="es-MX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𝝅</m:t>
                        </m:r>
                      </m:sup>
                    </m:sSup>
                  </m:oMath>
                </a14:m>
                <a:endParaRPr lang="es-PE" sz="2400" b="1" dirty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  <a:p>
                <a:pPr marL="263525" indent="-263525">
                  <a:lnSpc>
                    <a:spcPct val="150000"/>
                  </a:lnSpc>
                </a:pPr>
                <a:r>
                  <a:rPr lang="es-PE" sz="240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Así, el señoreaje es: </a:t>
                </a:r>
                <a14:m>
                  <m:oMath xmlns:m="http://schemas.openxmlformats.org/officeDocument/2006/math">
                    <m:r>
                      <a:rPr lang="es-MX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s-MX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s-MX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s-MX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sSup>
                      <m:sSupPr>
                        <m:ctrlPr>
                          <a:rPr lang="es-E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p>
                        <m:r>
                          <a:rPr lang="es-MX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MX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𝒂</m:t>
                        </m:r>
                        <m:r>
                          <a:rPr lang="es-MX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𝝅</m:t>
                        </m:r>
                      </m:sup>
                    </m:sSup>
                  </m:oMath>
                </a14:m>
                <a:endParaRPr lang="es-PE" sz="2400" b="1" dirty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D12C87F-8590-2DBA-341A-3504BB0092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7368" y="1340768"/>
                <a:ext cx="11449272" cy="5256584"/>
              </a:xfrm>
              <a:blipFill>
                <a:blip r:embed="rId2"/>
                <a:stretch>
                  <a:fillRect l="-852" r="-111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28843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790F6-9555-E92E-2307-EAE87C358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2DE931-8790-DE6E-508C-5B1F030E9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167" y="116632"/>
            <a:ext cx="10515600" cy="1325563"/>
          </a:xfrm>
        </p:spPr>
        <p:txBody>
          <a:bodyPr/>
          <a:lstStyle/>
          <a:p>
            <a:r>
              <a:rPr lang="es-PE" b="1" dirty="0"/>
              <a:t>Señoreaje e inflación</a:t>
            </a:r>
            <a:endParaRPr lang="es-P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67BECD3-C480-8FA7-9D23-AA9B4EFC8F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7368" y="1340768"/>
                <a:ext cx="10819266" cy="3880773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s-ES" sz="2400" b="0" i="0" u="none" strike="noStrike" baseline="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La función de Cagan</a:t>
                </a:r>
              </a:p>
              <a:p>
                <a:pPr marL="263525" indent="-263525">
                  <a:lnSpc>
                    <a:spcPct val="150000"/>
                  </a:lnSpc>
                </a:pPr>
                <a:r>
                  <a:rPr lang="es-MX" sz="240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La inflación óptima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MX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s-MX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s-PE" sz="2400" b="1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 </a:t>
                </a:r>
                <a:r>
                  <a:rPr lang="es-PE" sz="240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que máxima el señoreaje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:r>
                  <a:rPr lang="es-MX" sz="2400" b="0" dirty="0">
                    <a:solidFill>
                      <a:srgbClr val="000000"/>
                    </a:solidFill>
                  </a:rPr>
                  <a:t>CPO: 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MX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MX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𝑑𝑆</m:t>
                        </m:r>
                      </m:num>
                      <m:den>
                        <m:r>
                          <a:rPr lang="es-MX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s-MX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den>
                    </m:f>
                    <m:r>
                      <a:rPr lang="es-MX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s-MX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sSupPr>
                        <m:ctrlPr>
                          <a:rPr lang="es-E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s-MX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MX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s-MX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sup>
                    </m:sSup>
                    <m:r>
                      <a:rPr lang="es-MX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s-MX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s-MX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s-MX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s-MX" sz="24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sSupPr>
                        <m:ctrlPr>
                          <a:rPr lang="es-E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s-MX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MX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s-MX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sup>
                    </m:sSup>
                    <m:r>
                      <a:rPr lang="es-MX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endParaRPr lang="es-PE" sz="2400" dirty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  <a:p>
                <a:pPr marL="182563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s-MX" sz="2400" i="1">
                        <a:latin typeface="Cambria Math" panose="02040503050406030204" pitchFamily="18" charset="0"/>
                      </a:rPr>
                      <m:t>𝐵</m:t>
                    </m:r>
                    <m:sSup>
                      <m:sSupPr>
                        <m:ctrlPr>
                          <a:rPr lang="es-E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s-MX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MX" sz="24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s-MX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sup>
                    </m:sSup>
                    <m:r>
                      <a:rPr lang="es-MX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MX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s-MX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s-MX" sz="2400" dirty="0"/>
                  <a:t> </a:t>
                </a:r>
                <a14:m>
                  <m:oMath xmlns:m="http://schemas.openxmlformats.org/officeDocument/2006/math">
                    <m:r>
                      <a:rPr lang="es-MX" sz="2400" i="1">
                        <a:latin typeface="Cambria Math" panose="02040503050406030204" pitchFamily="18" charset="0"/>
                      </a:rPr>
                      <m:t>𝐵</m:t>
                    </m:r>
                    <m:sSup>
                      <m:sSupPr>
                        <m:ctrlPr>
                          <a:rPr lang="es-E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s-MX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MX" sz="24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s-MX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sup>
                    </m:sSup>
                  </m:oMath>
                </a14:m>
                <a:endParaRPr lang="es-PE" sz="2400" b="1" dirty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  <a:p>
                <a:pPr marL="182563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MX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MX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>
                        <a:rPr lang="es-MX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p>
                          <m:r>
                            <a:rPr lang="es-MX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s-PE" sz="2400" b="1" dirty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67BECD3-C480-8FA7-9D23-AA9B4EFC8F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7368" y="1340768"/>
                <a:ext cx="10819266" cy="3880773"/>
              </a:xfrm>
              <a:blipFill>
                <a:blip r:embed="rId2"/>
                <a:stretch>
                  <a:fillRect l="-901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86733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58B62-1CA4-3130-6DC9-07488C566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75535C-BC22-A323-EBD3-F90018BD1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167" y="116632"/>
            <a:ext cx="10515600" cy="1325563"/>
          </a:xfrm>
        </p:spPr>
        <p:txBody>
          <a:bodyPr/>
          <a:lstStyle/>
          <a:p>
            <a:r>
              <a:rPr lang="es-PE" b="1" dirty="0"/>
              <a:t>Señoreaje e inflación</a:t>
            </a:r>
            <a:endParaRPr lang="es-P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534BA535-5F87-554A-C911-801089DA75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7368" y="1340768"/>
                <a:ext cx="10819266" cy="4752528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s-ES" sz="2400" b="0" i="0" u="none" strike="noStrike" baseline="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La función de Cagan</a:t>
                </a:r>
              </a:p>
              <a:p>
                <a:pPr marL="263525" indent="-263525">
                  <a:lnSpc>
                    <a:spcPct val="150000"/>
                  </a:lnSpc>
                </a:pPr>
                <a:r>
                  <a:rPr lang="es-MX" sz="240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Con la inflación máxima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MX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s-MX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s-PE" sz="2400" b="1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 </a:t>
                </a:r>
                <a:r>
                  <a:rPr lang="es-PE" sz="240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se obtiene el </a:t>
                </a:r>
                <a:r>
                  <a:rPr lang="es-PE" sz="2400" dirty="0">
                    <a:solidFill>
                      <a:srgbClr val="0033CC"/>
                    </a:solidFill>
                    <a:latin typeface="Tahoma" panose="020B0604030504040204" pitchFamily="34" charset="0"/>
                  </a:rPr>
                  <a:t>señoreaje máximo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MX" sz="2400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2400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s-MX" sz="2400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s-PE" sz="2400" dirty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  <a:p>
                <a:pPr marL="182563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s-E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s-MX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s-MX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MX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𝝅</m:t>
                        </m:r>
                      </m:e>
                      <m:sup>
                        <m:r>
                          <a:rPr lang="es-MX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s-MX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s-MX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sSupPr>
                        <m:ctrlPr>
                          <a:rPr lang="es-E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s-MX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MX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sSupPr>
                            <m:ctrlPr>
                              <a:rPr lang="es-MX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MX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𝝅</m:t>
                            </m:r>
                          </m:e>
                          <m:sup>
                            <m:r>
                              <a:rPr lang="es-MX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sup>
                    </m:sSup>
                  </m:oMath>
                </a14:m>
                <a:endParaRPr lang="es-PE" dirty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  <a:p>
                <a:pPr marL="182563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s-MX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𝐚</m:t>
                          </m:r>
                        </m:den>
                      </m:f>
                      <m:r>
                        <a:rPr lang="es-MX" i="1">
                          <a:latin typeface="Cambria Math" panose="02040503050406030204" pitchFamily="18" charset="0"/>
                        </a:rPr>
                        <m:t>𝐵</m:t>
                      </m:r>
                      <m:sSup>
                        <m:sSup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type m:val="skw"/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MX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s-MX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   </m:t>
                          </m:r>
                        </m:sup>
                      </m:sSup>
                    </m:oMath>
                  </m:oMathPara>
                </a14:m>
                <a:endParaRPr lang="es-PE" b="1" dirty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  <a:p>
                <a:pPr marL="182563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es-MX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sSup>
                            <m:sSupPr>
                              <m:ctrlPr>
                                <a:rPr lang="es-MX" i="1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MX" i="1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s-MX" i="1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es-MX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MX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MX" b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s-MX" b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𝐚</m:t>
                                  </m:r>
                                  <m:r>
                                    <a:rPr lang="es-MX" b="1" i="1">
                                      <a:latin typeface="Cambria Math" panose="02040503050406030204" pitchFamily="18" charset="0"/>
                                    </a:rPr>
                                    <m:t>𝒆</m:t>
                                  </m:r>
                                </m:den>
                              </m:f>
                            </m:e>
                          </m:d>
                          <m:r>
                            <a:rPr lang="es-MX" b="1" i="1"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</m:borderBox>
                    </m:oMath>
                  </m:oMathPara>
                </a14:m>
                <a:endParaRPr lang="es-PE" b="1" dirty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534BA535-5F87-554A-C911-801089DA75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7368" y="1340768"/>
                <a:ext cx="10819266" cy="4752528"/>
              </a:xfrm>
              <a:blipFill>
                <a:blip r:embed="rId2"/>
                <a:stretch>
                  <a:fillRect l="-732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62644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DA3E8-252D-3273-1700-3F635E770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137794-842A-EA1F-3036-8B08EB8AF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167" y="116632"/>
            <a:ext cx="10515600" cy="1325563"/>
          </a:xfrm>
        </p:spPr>
        <p:txBody>
          <a:bodyPr/>
          <a:lstStyle/>
          <a:p>
            <a:r>
              <a:rPr lang="es-PE" b="1" dirty="0"/>
              <a:t>Señoreaje e inflación</a:t>
            </a:r>
            <a:endParaRPr lang="es-P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95AF73D-95A9-D957-7EAE-D264F4F2F6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7368" y="1340768"/>
                <a:ext cx="10819266" cy="3880773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s-ES" sz="2400" b="0" i="0" u="none" strike="noStrike" baseline="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La función de Cagan</a:t>
                </a:r>
              </a:p>
              <a:p>
                <a:pPr marL="263525" indent="-263525">
                  <a:lnSpc>
                    <a:spcPct val="150000"/>
                  </a:lnSpc>
                </a:pPr>
                <a:r>
                  <a:rPr lang="es-MX" sz="240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Y la demanda óptima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MX" sz="2400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2400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s-MX" sz="2400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s-PE" sz="2400" dirty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  <a:p>
                <a:pPr marL="182563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MX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s-MX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s-MX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MX" sz="2400" i="1">
                          <a:latin typeface="Cambria Math" panose="02040503050406030204" pitchFamily="18" charset="0"/>
                        </a:rPr>
                        <m:t>𝐵</m:t>
                      </m:r>
                      <m:sSup>
                        <m:sSupPr>
                          <m:ctrlPr>
                            <a:rPr lang="es-E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s-MX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MX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s-MX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type m:val="skw"/>
                              <m:ctrlPr>
                                <a:rPr lang="es-MX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MX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s-MX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s-MX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  <m:r>
                            <a:rPr lang="es-MX" sz="2400" i="1">
                              <a:latin typeface="Cambria Math" panose="02040503050406030204" pitchFamily="18" charset="0"/>
                            </a:rPr>
                            <m:t>   </m:t>
                          </m:r>
                        </m:sup>
                      </m:sSup>
                    </m:oMath>
                  </m:oMathPara>
                </a14:m>
                <a:endParaRPr lang="es-PE" sz="2400" b="1" dirty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  <a:p>
                <a:pPr marL="182563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es-MX" sz="240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sSup>
                            <m:sSupPr>
                              <m:ctrlPr>
                                <a:rPr lang="es-MX" sz="2400" i="1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MX" sz="2400" i="1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s-MX" sz="2400" i="1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s-MX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es-MX" sz="2400" i="1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MX" sz="2400" b="1" i="1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MX" sz="2400" b="1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</a:rPr>
                                    <m:t>𝐁</m:t>
                                  </m:r>
                                </m:num>
                                <m:den>
                                  <m:r>
                                    <a:rPr lang="es-MX" sz="2400" b="1" i="1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</a:rPr>
                                    <m:t>𝒆</m:t>
                                  </m:r>
                                </m:den>
                              </m:f>
                            </m:e>
                          </m:d>
                        </m:e>
                      </m:borderBox>
                    </m:oMath>
                  </m:oMathPara>
                </a14:m>
                <a:endParaRPr lang="es-PE" sz="2400" b="1" dirty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95AF73D-95A9-D957-7EAE-D264F4F2F6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7368" y="1340768"/>
                <a:ext cx="10819266" cy="3880773"/>
              </a:xfrm>
              <a:blipFill>
                <a:blip r:embed="rId2"/>
                <a:stretch>
                  <a:fillRect l="-901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99411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 txBox="1">
            <a:spLocks noGrp="1"/>
          </p:cNvSpPr>
          <p:nvPr>
            <p:ph type="ctrTitle"/>
          </p:nvPr>
        </p:nvSpPr>
        <p:spPr>
          <a:xfrm>
            <a:off x="2698111" y="3070084"/>
            <a:ext cx="7588889" cy="71783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s-ES" sz="6000" dirty="0"/>
              <a:t>TRANSFERENCIA</a:t>
            </a:r>
            <a:br>
              <a:rPr lang="es-ES" sz="6000" dirty="0"/>
            </a:br>
            <a:r>
              <a:rPr lang="es-ES" sz="6000" dirty="0"/>
              <a:t>(IATC)</a:t>
            </a:r>
            <a:endParaRPr sz="6000" dirty="0"/>
          </a:p>
        </p:txBody>
      </p:sp>
    </p:spTree>
    <p:extLst>
      <p:ext uri="{BB962C8B-B14F-4D97-AF65-F5344CB8AC3E}">
        <p14:creationId xmlns:p14="http://schemas.microsoft.com/office/powerpoint/2010/main" val="15103505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22EF98-59B0-4CCC-9501-870121BDD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332656"/>
            <a:ext cx="10515600" cy="618101"/>
          </a:xfrm>
        </p:spPr>
        <p:txBody>
          <a:bodyPr>
            <a:normAutofit fontScale="90000"/>
          </a:bodyPr>
          <a:lstStyle/>
          <a:p>
            <a:r>
              <a:rPr lang="es-ES" sz="4400" dirty="0"/>
              <a:t>SET DE EJERCICIOS 1</a:t>
            </a:r>
            <a:endParaRPr lang="es-PE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6ED465D4-FB2B-F573-4C98-888CE9D25C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3514" y="1857618"/>
            <a:ext cx="989162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457200" algn="l"/>
              </a:tabLst>
            </a:pPr>
            <a:endParaRPr lang="es-ES" altLang="es-PE" sz="2400" dirty="0"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endParaRPr kumimoji="0" lang="es-ES" altLang="es-PE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endParaRPr lang="es-ES" altLang="es-PE" sz="2400" dirty="0"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endParaRPr kumimoji="0" lang="es-ES" altLang="es-PE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457200" algn="l"/>
              </a:tabLst>
            </a:pPr>
            <a:r>
              <a:rPr kumimoji="0" lang="es-ES" altLang="es-P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kumimoji="0" lang="es-PE" altLang="es-PE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es-ES" altLang="es-PE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8856206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 txBox="1">
            <a:spLocks noGrp="1"/>
          </p:cNvSpPr>
          <p:nvPr>
            <p:ph type="ctrTitle"/>
          </p:nvPr>
        </p:nvSpPr>
        <p:spPr>
          <a:xfrm>
            <a:off x="2698111" y="3070084"/>
            <a:ext cx="7588889" cy="211151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s-ES" sz="6000" dirty="0"/>
              <a:t>CIERRE</a:t>
            </a:r>
            <a:br>
              <a:rPr lang="es-ES" sz="6000" dirty="0"/>
            </a:br>
            <a:r>
              <a:rPr lang="es-ES" sz="6000" dirty="0"/>
              <a:t>(IATC)</a:t>
            </a:r>
            <a:endParaRPr sz="6000" dirty="0"/>
          </a:p>
        </p:txBody>
      </p:sp>
    </p:spTree>
    <p:extLst>
      <p:ext uri="{BB962C8B-B14F-4D97-AF65-F5344CB8AC3E}">
        <p14:creationId xmlns:p14="http://schemas.microsoft.com/office/powerpoint/2010/main" val="37803971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51;p17">
            <a:extLst>
              <a:ext uri="{FF2B5EF4-FFF2-40B4-BE49-F238E27FC236}">
                <a16:creationId xmlns:a16="http://schemas.microsoft.com/office/drawing/2014/main" id="{6496F065-121F-9968-CCBE-2033527543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40013" y="449263"/>
            <a:ext cx="6477000" cy="889000"/>
          </a:xfrm>
        </p:spPr>
        <p:txBody>
          <a:bodyPr lIns="121900" tIns="121900" rIns="121900" bIns="121900" rtlCol="0" anchor="t"/>
          <a:lstStyle/>
          <a:p>
            <a:pPr algn="ctr">
              <a:defRPr/>
            </a:pPr>
            <a:r>
              <a:rPr lang="es-ES" sz="3733" dirty="0">
                <a:solidFill>
                  <a:srgbClr val="FE9B03"/>
                </a:solidFill>
                <a:latin typeface="Tahoma"/>
                <a:ea typeface="Tahoma"/>
                <a:cs typeface="Tahoma"/>
                <a:sym typeface="Tahoma"/>
              </a:rPr>
              <a:t>Actividad de cierre</a:t>
            </a:r>
            <a:endParaRPr sz="3733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40690FCD-DD63-A502-439B-B7C52359A7B0}"/>
              </a:ext>
            </a:extLst>
          </p:cNvPr>
          <p:cNvSpPr txBox="1"/>
          <p:nvPr/>
        </p:nvSpPr>
        <p:spPr>
          <a:xfrm>
            <a:off x="649288" y="1908175"/>
            <a:ext cx="5807075" cy="375487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sz="2800" dirty="0"/>
              <a:t>Se </a:t>
            </a:r>
            <a:r>
              <a:rPr lang="en-US" sz="2800" dirty="0" err="1"/>
              <a:t>evalúa</a:t>
            </a:r>
            <a:r>
              <a:rPr lang="en-US" sz="2800" dirty="0"/>
              <a:t> lo  </a:t>
            </a:r>
            <a:r>
              <a:rPr lang="en-US" sz="2800" dirty="0" err="1"/>
              <a:t>aprendido</a:t>
            </a:r>
            <a:r>
              <a:rPr lang="en-US" sz="2800" dirty="0"/>
              <a:t> </a:t>
            </a:r>
            <a:r>
              <a:rPr lang="en-US" sz="2800" dirty="0" err="1"/>
              <a:t>por</a:t>
            </a:r>
            <a:r>
              <a:rPr lang="en-US" sz="2800" dirty="0"/>
              <a:t> medio: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800" dirty="0"/>
              <a:t>De </a:t>
            </a:r>
            <a:r>
              <a:rPr lang="en-US" sz="2800" dirty="0" err="1"/>
              <a:t>comentarios</a:t>
            </a:r>
            <a:r>
              <a:rPr lang="en-US" sz="2800" dirty="0"/>
              <a:t> de </a:t>
            </a:r>
            <a:r>
              <a:rPr lang="en-US" sz="2800" dirty="0" err="1"/>
              <a:t>noticias</a:t>
            </a:r>
            <a:r>
              <a:rPr lang="en-US" sz="2800" dirty="0"/>
              <a:t> de la </a:t>
            </a:r>
            <a:r>
              <a:rPr lang="en-US" sz="2800" dirty="0" err="1"/>
              <a:t>actualidad</a:t>
            </a:r>
            <a:r>
              <a:rPr lang="en-US" sz="2800" dirty="0"/>
              <a:t> </a:t>
            </a:r>
            <a:r>
              <a:rPr lang="en-US" sz="2800" dirty="0" err="1"/>
              <a:t>relacionados</a:t>
            </a:r>
            <a:r>
              <a:rPr lang="en-US" sz="2800" dirty="0"/>
              <a:t> al consume, inversion y </a:t>
            </a:r>
            <a:r>
              <a:rPr lang="en-US" sz="2800" dirty="0" err="1"/>
              <a:t>gasto</a:t>
            </a:r>
            <a:r>
              <a:rPr lang="en-US" sz="2800" dirty="0"/>
              <a:t> de </a:t>
            </a:r>
            <a:r>
              <a:rPr lang="en-US" sz="2800" dirty="0" err="1"/>
              <a:t>gobierno</a:t>
            </a: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endParaRPr lang="en-US" sz="28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8A70155-44DB-2A74-8D9B-7072862D35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532" y="1142434"/>
            <a:ext cx="3749171" cy="509487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10014</TotalTime>
  <Words>1143</Words>
  <Application>Microsoft Office PowerPoint</Application>
  <PresentationFormat>Panorámica</PresentationFormat>
  <Paragraphs>129</Paragraphs>
  <Slides>28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39" baseType="lpstr">
      <vt:lpstr>Abril Fatface</vt:lpstr>
      <vt:lpstr>Aptos Narrow</vt:lpstr>
      <vt:lpstr>Arial</vt:lpstr>
      <vt:lpstr>Calibri</vt:lpstr>
      <vt:lpstr>Calibri Light</vt:lpstr>
      <vt:lpstr>Cambria Math</vt:lpstr>
      <vt:lpstr>Sylfaen</vt:lpstr>
      <vt:lpstr>Tahoma</vt:lpstr>
      <vt:lpstr>Times New Roman</vt:lpstr>
      <vt:lpstr>Verdana</vt:lpstr>
      <vt:lpstr>Tema de Office</vt:lpstr>
      <vt:lpstr>OFERTA DE DINERO, POLITICA MONETARIA E INFLACIÓN Parte 3 </vt:lpstr>
      <vt:lpstr>IMPACTO (IATC)</vt:lpstr>
      <vt:lpstr>Logro de aprendizaje: </vt:lpstr>
      <vt:lpstr>CONTENIDO DETALLADO</vt:lpstr>
      <vt:lpstr>ADQUISICIÓN (IATC)</vt:lpstr>
      <vt:lpstr>EL IMPUESTO INFLACION Y SEÑOREAJE</vt:lpstr>
      <vt:lpstr>Impuesto inflación y Señoreaje</vt:lpstr>
      <vt:lpstr>Impuesto inflación y Señoreaje</vt:lpstr>
      <vt:lpstr>Impuesto inflación y Señoreaje</vt:lpstr>
      <vt:lpstr>Impuesto inflación y Señoreaje</vt:lpstr>
      <vt:lpstr>Impuesto inflación y Señoreaje</vt:lpstr>
      <vt:lpstr>Impuesto inflación y Señoreaje</vt:lpstr>
      <vt:lpstr>Impuesto inflación y Señoreaje</vt:lpstr>
      <vt:lpstr>Impuesto inflación y Señoreaje</vt:lpstr>
      <vt:lpstr>Impuesto inflación y Señoreaje</vt:lpstr>
      <vt:lpstr>Impuesto inflación y Señoreaje</vt:lpstr>
      <vt:lpstr>Señoreaje e inflación</vt:lpstr>
      <vt:lpstr>Señoreaje e inflación</vt:lpstr>
      <vt:lpstr>Señoreaje e inflación</vt:lpstr>
      <vt:lpstr>Señoreaje e inflación</vt:lpstr>
      <vt:lpstr>Señoreaje e inflación</vt:lpstr>
      <vt:lpstr>Señoreaje e inflación</vt:lpstr>
      <vt:lpstr>Señoreaje e inflación</vt:lpstr>
      <vt:lpstr>Señoreaje e inflación</vt:lpstr>
      <vt:lpstr>TRANSFERENCIA (IATC)</vt:lpstr>
      <vt:lpstr>SET DE EJERCICIOS 1</vt:lpstr>
      <vt:lpstr>CIERRE (IATC)</vt:lpstr>
      <vt:lpstr>Actividad de cierre</vt:lpstr>
    </vt:vector>
  </TitlesOfParts>
  <Company>Personal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Nora</dc:creator>
  <cp:lastModifiedBy>Azanero Saona, Jose  Manuel</cp:lastModifiedBy>
  <cp:revision>304</cp:revision>
  <cp:lastPrinted>2024-03-21T21:38:00Z</cp:lastPrinted>
  <dcterms:created xsi:type="dcterms:W3CDTF">2006-01-13T00:27:24Z</dcterms:created>
  <dcterms:modified xsi:type="dcterms:W3CDTF">2026-05-09T00:09:40Z</dcterms:modified>
</cp:coreProperties>
</file>