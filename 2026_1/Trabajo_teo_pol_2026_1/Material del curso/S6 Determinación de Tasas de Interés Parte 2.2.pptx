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8" r:id="rId1"/>
  </p:sldMasterIdLst>
  <p:notesMasterIdLst>
    <p:notesMasterId r:id="rId38"/>
  </p:notesMasterIdLst>
  <p:handoutMasterIdLst>
    <p:handoutMasterId r:id="rId39"/>
  </p:handoutMasterIdLst>
  <p:sldIdLst>
    <p:sldId id="256" r:id="rId2"/>
    <p:sldId id="569" r:id="rId3"/>
    <p:sldId id="399" r:id="rId4"/>
    <p:sldId id="307" r:id="rId5"/>
    <p:sldId id="607" r:id="rId6"/>
    <p:sldId id="690" r:id="rId7"/>
    <p:sldId id="686" r:id="rId8"/>
    <p:sldId id="667" r:id="rId9"/>
    <p:sldId id="666" r:id="rId10"/>
    <p:sldId id="680" r:id="rId11"/>
    <p:sldId id="668" r:id="rId12"/>
    <p:sldId id="670" r:id="rId13"/>
    <p:sldId id="669" r:id="rId14"/>
    <p:sldId id="673" r:id="rId15"/>
    <p:sldId id="672" r:id="rId16"/>
    <p:sldId id="674" r:id="rId17"/>
    <p:sldId id="675" r:id="rId18"/>
    <p:sldId id="676" r:id="rId19"/>
    <p:sldId id="677" r:id="rId20"/>
    <p:sldId id="678" r:id="rId21"/>
    <p:sldId id="679" r:id="rId22"/>
    <p:sldId id="613" r:id="rId23"/>
    <p:sldId id="681" r:id="rId24"/>
    <p:sldId id="683" r:id="rId25"/>
    <p:sldId id="684" r:id="rId26"/>
    <p:sldId id="688" r:id="rId27"/>
    <p:sldId id="691" r:id="rId28"/>
    <p:sldId id="689" r:id="rId29"/>
    <p:sldId id="626" r:id="rId30"/>
    <p:sldId id="544" r:id="rId31"/>
    <p:sldId id="334" r:id="rId32"/>
    <p:sldId id="551" r:id="rId33"/>
    <p:sldId id="570" r:id="rId34"/>
    <p:sldId id="264" r:id="rId35"/>
    <p:sldId id="571" r:id="rId36"/>
    <p:sldId id="401" r:id="rId37"/>
  </p:sldIdLst>
  <p:sldSz cx="12192000" cy="6858000"/>
  <p:notesSz cx="6889750" cy="1002188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2BC76EB-3AE8-4CB1-8E09-1D17B2ACCE16}">
          <p14:sldIdLst>
            <p14:sldId id="256"/>
          </p14:sldIdLst>
        </p14:section>
        <p14:section name="IMPACTO" id="{02D12366-C454-4177-9040-64585DE89E1E}">
          <p14:sldIdLst>
            <p14:sldId id="569"/>
          </p14:sldIdLst>
        </p14:section>
        <p14:section name="Logro del Aprendizaje" id="{C05FA2BF-8577-4C57-A2AE-357A0843E586}">
          <p14:sldIdLst>
            <p14:sldId id="399"/>
            <p14:sldId id="307"/>
            <p14:sldId id="607"/>
          </p14:sldIdLst>
        </p14:section>
        <p14:section name="Credito" id="{9D2CF210-996B-4269-8B0B-777849BBED89}">
          <p14:sldIdLst>
            <p14:sldId id="690"/>
            <p14:sldId id="686"/>
            <p14:sldId id="667"/>
            <p14:sldId id="666"/>
            <p14:sldId id="680"/>
            <p14:sldId id="668"/>
            <p14:sldId id="670"/>
            <p14:sldId id="669"/>
            <p14:sldId id="673"/>
            <p14:sldId id="672"/>
            <p14:sldId id="674"/>
            <p14:sldId id="675"/>
            <p14:sldId id="676"/>
            <p14:sldId id="677"/>
            <p14:sldId id="678"/>
            <p14:sldId id="679"/>
          </p14:sldIdLst>
        </p14:section>
        <p14:section name="Depósitos en USD" id="{732A0925-2210-4E3B-A8E7-73CAAFB92CEA}">
          <p14:sldIdLst>
            <p14:sldId id="613"/>
            <p14:sldId id="681"/>
            <p14:sldId id="683"/>
            <p14:sldId id="684"/>
            <p14:sldId id="688"/>
            <p14:sldId id="691"/>
            <p14:sldId id="689"/>
          </p14:sldIdLst>
        </p14:section>
        <p14:section name="Determinación Competencia Monopolistica" id="{395B5C59-6FAF-49B8-B384-6E47E88465F7}">
          <p14:sldIdLst>
            <p14:sldId id="626"/>
          </p14:sldIdLst>
        </p14:section>
        <p14:section name="Bases Teóricas" id="{799450E8-B4B3-4BCC-A1DF-8998175AB7ED}">
          <p14:sldIdLst>
            <p14:sldId id="544"/>
            <p14:sldId id="334"/>
            <p14:sldId id="551"/>
          </p14:sldIdLst>
        </p14:section>
        <p14:section name="Aplicaciones" id="{98D950DD-60EC-4E19-8632-EDFA52E55613}">
          <p14:sldIdLst>
            <p14:sldId id="570"/>
            <p14:sldId id="264"/>
          </p14:sldIdLst>
        </p14:section>
        <p14:section name="Actividades de Cierre" id="{F8B690E5-A2A7-40B5-B696-50B7305016F2}">
          <p14:sldIdLst>
            <p14:sldId id="571"/>
            <p14:sldId id="4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E84706"/>
    <a:srgbClr val="FFFFFF"/>
    <a:srgbClr val="F8F8F8"/>
    <a:srgbClr val="CCFFCC"/>
    <a:srgbClr val="33CC33"/>
    <a:srgbClr val="CC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3464" autoAdjust="0"/>
  </p:normalViewPr>
  <p:slideViewPr>
    <p:cSldViewPr>
      <p:cViewPr varScale="1">
        <p:scale>
          <a:sx n="74" d="100"/>
          <a:sy n="74" d="100"/>
        </p:scale>
        <p:origin x="110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97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157"/>
    </p:cViewPr>
  </p:sorterViewPr>
  <p:notesViewPr>
    <p:cSldViewPr>
      <p:cViewPr varScale="1">
        <p:scale>
          <a:sx n="59" d="100"/>
          <a:sy n="59" d="100"/>
        </p:scale>
        <p:origin x="2323" y="72"/>
      </p:cViewPr>
      <p:guideLst>
        <p:guide orient="horz" pos="3157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>
            <a:extLst>
              <a:ext uri="{FF2B5EF4-FFF2-40B4-BE49-F238E27FC236}">
                <a16:creationId xmlns:a16="http://schemas.microsoft.com/office/drawing/2014/main" id="{24F082F9-59C7-AB60-D213-A451814EBD3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F7D5EC9-3C05-AAB2-E798-5873C121082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933F690-987B-48DE-A18B-471B5D26D24A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1B6542B1-F7AE-9289-691F-5AF0E43C04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06400" y="327025"/>
            <a:ext cx="38354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900" i="1">
                <a:latin typeface="Arial" charset="0"/>
              </a:defRPr>
            </a:lvl1pPr>
          </a:lstStyle>
          <a:p>
            <a:pPr>
              <a:defRPr/>
            </a:pPr>
            <a:r>
              <a:rPr lang="es-PE"/>
              <a:t>MEDICIÓN DE ALGUNOS AGREGADOS MACROECNÓMICOS</a:t>
            </a:r>
          </a:p>
        </p:txBody>
      </p:sp>
      <p:sp>
        <p:nvSpPr>
          <p:cNvPr id="31749" name="Line 8">
            <a:extLst>
              <a:ext uri="{FF2B5EF4-FFF2-40B4-BE49-F238E27FC236}">
                <a16:creationId xmlns:a16="http://schemas.microsoft.com/office/drawing/2014/main" id="{8657A121-39FC-C926-152D-18831E952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" y="550863"/>
            <a:ext cx="6073775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3168" tIns="46584" rIns="93168" bIns="46584" anchor="ctr">
            <a:spAutoFit/>
          </a:bodyPr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>
            <a:extLst>
              <a:ext uri="{FF2B5EF4-FFF2-40B4-BE49-F238E27FC236}">
                <a16:creationId xmlns:a16="http://schemas.microsoft.com/office/drawing/2014/main" id="{D761BE1C-B045-6F0B-AEA4-584E2236529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3663" y="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18E8F9F7-0FE0-607B-D9A0-93F4B326472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188" y="750888"/>
            <a:ext cx="6683375" cy="375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6F58775B-834D-8ABF-D20F-BD7BB4487C1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760913"/>
            <a:ext cx="5511800" cy="451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FC2488DD-B7E7-707B-60A4-5FCA6C9E75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4D91AA3C-6C5C-0B71-CB7A-86C00AAEDD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3663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6B56DB8-13C8-47F4-AAD3-8A215483D5E4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  <p:sp>
        <p:nvSpPr>
          <p:cNvPr id="3" name="Marcador de encabezado 2">
            <a:extLst>
              <a:ext uri="{FF2B5EF4-FFF2-40B4-BE49-F238E27FC236}">
                <a16:creationId xmlns:a16="http://schemas.microsoft.com/office/drawing/2014/main" id="{747D111B-10EF-7C8A-1DC6-3B18114088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3238"/>
          </a:xfrm>
          <a:prstGeom prst="rect">
            <a:avLst/>
          </a:prstGeom>
        </p:spPr>
        <p:txBody>
          <a:bodyPr vert="horz" lIns="93168" tIns="46584" rIns="93168" bIns="46584" rtlCol="0"/>
          <a:lstStyle>
            <a:lvl1pPr algn="l">
              <a:defRPr sz="1200"/>
            </a:lvl1pPr>
          </a:lstStyle>
          <a:p>
            <a:pPr>
              <a:defRPr/>
            </a:pPr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96;p1:notes">
            <a:extLst>
              <a:ext uri="{FF2B5EF4-FFF2-40B4-BE49-F238E27FC236}">
                <a16:creationId xmlns:a16="http://schemas.microsoft.com/office/drawing/2014/main" id="{21B8F38F-0A8D-DE8C-F71C-19BF8F53CF7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66725" y="692150"/>
            <a:ext cx="6151563" cy="346075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33795" name="Google Shape;197;p1:notes">
            <a:extLst>
              <a:ext uri="{FF2B5EF4-FFF2-40B4-BE49-F238E27FC236}">
                <a16:creationId xmlns:a16="http://schemas.microsoft.com/office/drawing/2014/main" id="{8BF3E4B7-7CE0-7AE1-3E94-A0885064C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384675"/>
            <a:ext cx="566896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3" tIns="93153" rIns="93153" bIns="93153"/>
          <a:lstStyle/>
          <a:p>
            <a:pPr>
              <a:spcBef>
                <a:spcPct val="0"/>
              </a:spcBef>
              <a:buSzPts val="1100"/>
            </a:pPr>
            <a:endParaRPr lang="es-PE" altLang="es-P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B56DB8-13C8-47F4-AAD3-8A215483D5E4}" type="slidenum">
              <a:rPr lang="es-ES" altLang="es-PE" smtClean="0"/>
              <a:pPr>
                <a:defRPr/>
              </a:pPr>
              <a:t>4</a:t>
            </a:fld>
            <a:endParaRPr lang="es-ES" altLang="es-PE"/>
          </a:p>
        </p:txBody>
      </p:sp>
      <p:sp>
        <p:nvSpPr>
          <p:cNvPr id="5" name="Marcador de encabezado 4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0889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7494-6867-3374-8708-36A50BB97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D10FE4-65C7-CA78-FCDB-F2C0D31D7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9B6800-7729-E064-8FF5-0D779CFD9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FB3661-A27A-3E5A-B924-32B33629F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B56DB8-13C8-47F4-AAD3-8A215483D5E4}" type="slidenum">
              <a:rPr lang="es-ES" altLang="es-PE" smtClean="0"/>
              <a:pPr>
                <a:defRPr/>
              </a:pPr>
              <a:t>29</a:t>
            </a:fld>
            <a:endParaRPr lang="es-ES" altLang="es-PE"/>
          </a:p>
        </p:txBody>
      </p:sp>
      <p:sp>
        <p:nvSpPr>
          <p:cNvPr id="5" name="Marcador de encabezado 4">
            <a:extLst>
              <a:ext uri="{FF2B5EF4-FFF2-40B4-BE49-F238E27FC236}">
                <a16:creationId xmlns:a16="http://schemas.microsoft.com/office/drawing/2014/main" id="{AF115C62-714D-E4A4-D735-2DC15DE97B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0649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791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3442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511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Google Shape;226;p5:notes">
            <a:extLst>
              <a:ext uri="{FF2B5EF4-FFF2-40B4-BE49-F238E27FC236}">
                <a16:creationId xmlns:a16="http://schemas.microsoft.com/office/drawing/2014/main" id="{820BDFAA-EEE0-2326-BF07-C3EAAE63306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66725" y="692150"/>
            <a:ext cx="6151563" cy="346075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114691" name="Google Shape;227;p5:notes">
            <a:extLst>
              <a:ext uri="{FF2B5EF4-FFF2-40B4-BE49-F238E27FC236}">
                <a16:creationId xmlns:a16="http://schemas.microsoft.com/office/drawing/2014/main" id="{23B55297-81B1-349F-B3CB-5A328D017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384675"/>
            <a:ext cx="566896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3" tIns="93153" rIns="93153" bIns="93153"/>
          <a:lstStyle/>
          <a:p>
            <a:pPr>
              <a:spcBef>
                <a:spcPct val="0"/>
              </a:spcBef>
              <a:buSzPts val="1100"/>
            </a:pPr>
            <a:endParaRPr lang="es-PE" alt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53A2DA5C-D437-027B-DCF4-917B017583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2253C85-4E9D-347A-5035-F1D6C50B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477D3C-5E98-5A3C-C5FD-2A30C78D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59A324-6E69-DDB8-A342-D2CB96E7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925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26608-AF33-4FFA-90AC-390B5519ABAC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349720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8263CB5D-6E6E-7DB9-985F-45DFA4FDE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B6D90E-FB7E-AE80-1DA8-63F5280A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ACFE7F5-3F69-28AB-AFDD-79F600E9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DDD806-9E56-8FA4-284F-3D87296E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39104-18EF-4017-8EC8-89CC3800080B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23280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9F5FD84B-455E-D860-880D-1ADCBAC5D1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F2B4AB6-74E0-DC02-A256-64B47F4E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1FA4CA-06A2-A6AB-98C0-4F5120AD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FA2803-C4A2-3D3D-2AAF-3F0C7C1E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9A4C8-39F6-41EB-8684-F978523BC4BF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0057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F08AD305-3131-938C-A82C-25FAB8C873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BC70A5C-5195-312F-0D11-2A36080A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72E41FC-A43B-CB12-10BD-37D05353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2E72A5A-7077-1149-6395-6D1B5FCD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9ADA8-AA6B-441D-9CC4-385D61BC9163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44600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1">
            <a:extLst>
              <a:ext uri="{FF2B5EF4-FFF2-40B4-BE49-F238E27FC236}">
                <a16:creationId xmlns:a16="http://schemas.microsoft.com/office/drawing/2014/main" id="{C2F6939F-4E48-EE83-AAD3-0475A11566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40D1B83-405F-62B2-4F3F-93E7E8B7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CE5D62-1F29-D6A4-0B26-1A423438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8D71913-C923-154F-0A82-BD7E5B87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22ACB-C149-4B74-B84A-204A7D7D2869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71709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6">
            <a:extLst>
              <a:ext uri="{FF2B5EF4-FFF2-40B4-BE49-F238E27FC236}">
                <a16:creationId xmlns:a16="http://schemas.microsoft.com/office/drawing/2014/main" id="{F72149B0-BAE8-798F-78F3-900087058B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848FE-560C-0168-7161-FF3426A3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D77D-6691-A738-AC1C-026F2E77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E71B-9EB4-335B-756D-E3F3FC5F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542AE-E0E7-4EA6-984B-B2F2ADF99AA5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34506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9881EA49-1F6D-2371-5D64-B9EF0C2CC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64492D8-6820-A8DE-AEDB-2F474930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0F638DA-02D7-72D4-71F9-D54241C1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8B9456-B87D-71C2-D51B-2D934AA4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61048-3D9D-45EC-AB63-0A18BF5540D8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67105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95D835EC-F8E8-A6E8-A625-AD556F084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08720AE-C245-9DB6-079D-144EE37B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D30D8F3-AF85-EF9B-A720-077F1FCD3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1C22E62-5506-9191-8E76-981DF521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B3B45-3365-4277-9E04-1D00011744D0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01149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9A243640-7DEB-76D1-0370-9F3E2F1454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814BE7F-7F5C-BD65-4CB1-2C616A18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661234C-EF78-8381-6B16-784245DB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8DB979-886E-DEEB-474C-2824E9D2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A27C8-72B9-4FDB-B5D7-3C8C07C4B812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5015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3500F91A-607C-4309-1585-C00F8DE0E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D005B2-E2F0-366E-A541-12E9AA14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A85EDA-3176-0DC7-7336-052AA4E9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90BC8D-A7C2-506C-6E27-E1E5545C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D69CA-E9EA-4C17-B1EC-0A5B2523D554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10900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166377C5-A7D1-E087-776B-A57A68D95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B6C197A-886C-8778-3729-487CB71B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2C9B3A-5E2E-A6A5-501F-C8A107BD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730B77-D557-D46E-ED81-14035EC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E8C5D-CB98-4F98-96E1-A46CA8A5D2FC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195529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Main slid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FB7E514-D667-6A94-41FE-7EF68186A7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88913"/>
            <a:ext cx="18669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633200" y="2304591"/>
            <a:ext cx="89256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4267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633200" y="3934776"/>
            <a:ext cx="8925600" cy="9652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133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108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>
  <p:cSld name="Text slide with title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8">
            <a:extLst>
              <a:ext uri="{FF2B5EF4-FFF2-40B4-BE49-F238E27FC236}">
                <a16:creationId xmlns:a16="http://schemas.microsoft.com/office/drawing/2014/main" id="{F4E89367-4D92-04F6-F5E4-FE9401B330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1741150" y="149225"/>
            <a:ext cx="300038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29767" y="139240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b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29779" y="2170933"/>
            <a:ext cx="8196800" cy="2504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21917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2pPr>
            <a:lvl3pPr marL="1828754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3pPr>
            <a:lvl4pPr marL="2438339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600">
                <a:solidFill>
                  <a:srgbClr val="999999"/>
                </a:solidFill>
              </a:defRPr>
            </a:lvl4pPr>
            <a:lvl5pPr marL="3047924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5pPr>
            <a:lvl6pPr marL="3657509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6pPr>
            <a:lvl7pPr marL="4267093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600">
                <a:solidFill>
                  <a:srgbClr val="999999"/>
                </a:solidFill>
              </a:defRPr>
            </a:lvl7pPr>
            <a:lvl8pPr marL="4876678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8pPr>
            <a:lvl9pPr marL="5486263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06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47EA2F6-4754-A008-6A7D-6473C36828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  <a:endParaRPr lang="en-US" altLang="es-P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CC9E05C-8257-236B-C839-BED11D43C2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Editar el estilo de texto del patrón</a:t>
            </a:r>
          </a:p>
          <a:p>
            <a:pPr lvl="1"/>
            <a:r>
              <a:rPr lang="es-ES" altLang="es-PE"/>
              <a:t>Segundo nivel</a:t>
            </a:r>
          </a:p>
          <a:p>
            <a:pPr lvl="2"/>
            <a:r>
              <a:rPr lang="es-ES" altLang="es-PE"/>
              <a:t>Tercer nivel</a:t>
            </a:r>
          </a:p>
          <a:p>
            <a:pPr lvl="3"/>
            <a:r>
              <a:rPr lang="es-ES" altLang="es-PE"/>
              <a:t>Cuarto nivel</a:t>
            </a:r>
          </a:p>
          <a:p>
            <a:pPr lvl="4"/>
            <a:r>
              <a:rPr lang="es-ES" altLang="es-PE"/>
              <a:t>Quinto nivel</a:t>
            </a:r>
            <a:endParaRPr lang="en-US" alt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7707-60E2-63CE-DB23-172F11634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368E5-F402-0206-198A-4F601AD68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277BD-E0E3-278A-885F-48575420D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4650" y="6373813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1C8E5D-FE42-4EAE-89CC-4282ED39BFF2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06" r:id="rId1"/>
    <p:sldLayoutId id="2147485407" r:id="rId2"/>
    <p:sldLayoutId id="2147485408" r:id="rId3"/>
    <p:sldLayoutId id="2147485409" r:id="rId4"/>
    <p:sldLayoutId id="2147485410" r:id="rId5"/>
    <p:sldLayoutId id="2147485411" r:id="rId6"/>
    <p:sldLayoutId id="2147485412" r:id="rId7"/>
    <p:sldLayoutId id="2147485413" r:id="rId8"/>
    <p:sldLayoutId id="2147485414" r:id="rId9"/>
    <p:sldLayoutId id="2147485415" r:id="rId10"/>
    <p:sldLayoutId id="2147485416" r:id="rId11"/>
    <p:sldLayoutId id="2147485419" r:id="rId12"/>
    <p:sldLayoutId id="2147485420" r:id="rId1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8">
            <a:extLst>
              <a:ext uri="{FF2B5EF4-FFF2-40B4-BE49-F238E27FC236}">
                <a16:creationId xmlns:a16="http://schemas.microsoft.com/office/drawing/2014/main" id="{E39994CF-768F-5D00-CB30-95FFE3A571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65275" y="3933056"/>
            <a:ext cx="9499600" cy="1872433"/>
          </a:xfrm>
        </p:spPr>
        <p:txBody>
          <a:bodyPr/>
          <a:lstStyle/>
          <a:p>
            <a:pPr marL="112395" marR="798830">
              <a:spcBef>
                <a:spcPts val="470"/>
              </a:spcBef>
              <a:spcAft>
                <a:spcPts val="0"/>
              </a:spcAft>
              <a:tabLst>
                <a:tab pos="4814570" algn="l"/>
              </a:tabLst>
            </a:pPr>
            <a:r>
              <a:rPr lang="es-PE" sz="2800" cap="all" dirty="0"/>
              <a:t>DETERMINACION DE TASAS DE INTERES</a:t>
            </a:r>
            <a:br>
              <a:rPr lang="es-PE" sz="2800" cap="all" dirty="0"/>
            </a:br>
            <a:r>
              <a:rPr lang="es-PE" sz="2800" cap="all" dirty="0"/>
              <a:t>(2ª PARTE)</a:t>
            </a:r>
            <a:endParaRPr lang="es-ES_tradnl" altLang="es-PE" sz="2800" cap="all" dirty="0"/>
          </a:p>
        </p:txBody>
      </p:sp>
      <p:sp>
        <p:nvSpPr>
          <p:cNvPr id="32771" name="CuadroTexto 11">
            <a:extLst>
              <a:ext uri="{FF2B5EF4-FFF2-40B4-BE49-F238E27FC236}">
                <a16:creationId xmlns:a16="http://schemas.microsoft.com/office/drawing/2014/main" id="{5857CE26-C16D-4CA0-A412-0B0DBE736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5200" y="602615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sz="32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7C2278-2B26-A772-E588-947743735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763" y="322263"/>
            <a:ext cx="6707187" cy="544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es-ES_tradnl" altLang="es-PE" sz="1467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es-ES_tradnl" altLang="es-PE" sz="1467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altLang="es-PE" sz="1467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2773" name="Google Shape;102;p1">
            <a:extLst>
              <a:ext uri="{FF2B5EF4-FFF2-40B4-BE49-F238E27FC236}">
                <a16:creationId xmlns:a16="http://schemas.microsoft.com/office/drawing/2014/main" id="{6E328A6A-5D8A-1B80-EFE4-A4091FADF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2133600"/>
            <a:ext cx="9334500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3" tIns="162533" rIns="162533" bIns="162533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434343"/>
              </a:buClr>
              <a:buSzPts val="1800"/>
              <a:buFont typeface="Abril Fatface" panose="02000503000000020003" pitchFamily="2" charset="0"/>
              <a:buNone/>
            </a:pPr>
            <a:r>
              <a:rPr lang="es-ES" altLang="es-PE" sz="36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TEORIA Y POLITICA MONETARIA</a:t>
            </a:r>
          </a:p>
        </p:txBody>
      </p:sp>
      <p:sp>
        <p:nvSpPr>
          <p:cNvPr id="32774" name="CuadroTexto 7">
            <a:extLst>
              <a:ext uri="{FF2B5EF4-FFF2-40B4-BE49-F238E27FC236}">
                <a16:creationId xmlns:a16="http://schemas.microsoft.com/office/drawing/2014/main" id="{F38040BD-5CA7-F14D-C009-AA9B13ADA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6240463"/>
            <a:ext cx="2311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s-PE" sz="1800">
                <a:solidFill>
                  <a:srgbClr val="FF3A00"/>
                </a:solidFill>
                <a:latin typeface="Arial" panose="020B0604020202020204" pitchFamily="34" charset="0"/>
              </a:rPr>
              <a:t>Metodología IATC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6795778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IMPACTO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109;p2">
            <a:extLst>
              <a:ext uri="{FF2B5EF4-FFF2-40B4-BE49-F238E27FC236}">
                <a16:creationId xmlns:a16="http://schemas.microsoft.com/office/drawing/2014/main" id="{49D1396B-967A-7DB0-B16B-BC61CEA05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917575"/>
            <a:ext cx="11369675" cy="1039813"/>
          </a:xfrm>
        </p:spPr>
        <p:txBody>
          <a:bodyPr lIns="162533" tIns="162533" rIns="162533" bIns="162533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s-ES" altLang="es-PE" sz="4400">
                <a:solidFill>
                  <a:srgbClr val="FFC000"/>
                </a:solidFill>
              </a:rPr>
              <a:t>Logro de aprendizaje: </a:t>
            </a:r>
            <a:endParaRPr lang="es-PE" altLang="es-PE" sz="4400"/>
          </a:p>
        </p:txBody>
      </p:sp>
      <p:sp>
        <p:nvSpPr>
          <p:cNvPr id="35843" name="CuadroTexto 9">
            <a:extLst>
              <a:ext uri="{FF2B5EF4-FFF2-40B4-BE49-F238E27FC236}">
                <a16:creationId xmlns:a16="http://schemas.microsoft.com/office/drawing/2014/main" id="{881B3B00-675C-C87D-3FBA-5E53226B7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2276475"/>
            <a:ext cx="104775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s-PE" altLang="es-PE" dirty="0">
                <a:latin typeface="Arial" panose="020B0604020202020204" pitchFamily="34" charset="0"/>
                <a:cs typeface="Calibri" panose="020F0502020204030204" pitchFamily="34" charset="0"/>
              </a:rPr>
              <a:t>Determinación de las tasas de interes activas, pasivas e interbancarias</a:t>
            </a:r>
            <a:endParaRPr lang="es-PE" altLang="es-PE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114;p3">
            <a:extLst>
              <a:ext uri="{FF2B5EF4-FFF2-40B4-BE49-F238E27FC236}">
                <a16:creationId xmlns:a16="http://schemas.microsoft.com/office/drawing/2014/main" id="{195605CC-16B3-E283-5E6B-70BBCDB8D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13" y="908050"/>
            <a:ext cx="11941175" cy="1008063"/>
          </a:xfrm>
        </p:spPr>
        <p:txBody>
          <a:bodyPr lIns="162533" tIns="162533" rIns="162533" bIns="162533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ES" altLang="es-PE" sz="5600">
                <a:solidFill>
                  <a:srgbClr val="000000"/>
                </a:solidFill>
              </a:rPr>
              <a:t>CONTENIDO DETALLADO</a:t>
            </a:r>
            <a:endParaRPr lang="es-PE" altLang="es-PE" sz="5600">
              <a:solidFill>
                <a:srgbClr val="000000"/>
              </a:solidFill>
            </a:endParaRPr>
          </a:p>
        </p:txBody>
      </p:sp>
      <p:sp>
        <p:nvSpPr>
          <p:cNvPr id="36867" name="CuadroTexto 7">
            <a:extLst>
              <a:ext uri="{FF2B5EF4-FFF2-40B4-BE49-F238E27FC236}">
                <a16:creationId xmlns:a16="http://schemas.microsoft.com/office/drawing/2014/main" id="{458BA948-35BA-2184-0A3A-11FDA3EE5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576" y="2132856"/>
            <a:ext cx="8202612" cy="2393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COMPETENCIA PERFECTA EN SOLES Y DÓLARES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s-ES" alt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2D854-53F2-BE1E-D93A-50106C3E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09" y="29915"/>
            <a:ext cx="10515600" cy="132556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Introducción</a:t>
            </a:r>
            <a:endParaRPr lang="es-PE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E787BA-3193-399D-3A4C-A308622F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5</a:t>
            </a:fld>
            <a:endParaRPr lang="es-PE" altLang="es-PE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6E94419-CA49-BFCD-1893-52E632D3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332474"/>
            <a:ext cx="10515600" cy="48328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PE" sz="2400" dirty="0"/>
              <a:t>En el caso de un sistema bancario en el que se permite el uso, en préstamos y depósitos en dos monedas: soles y $ las condiciones deben incluir el efecto de movilización de los clientes: empresas en créditos y público en depósitos.</a:t>
            </a:r>
          </a:p>
          <a:p>
            <a:pPr>
              <a:lnSpc>
                <a:spcPct val="150000"/>
              </a:lnSpc>
            </a:pPr>
            <a:r>
              <a:rPr lang="es-PE" sz="2400" dirty="0"/>
              <a:t>En el caso de dos monedas, se debe considerar el riesgo cambiario (la posibilidad que el tipo de cambio varíe en sentido contrario a los beneficios esperados de los agentes económicos).</a:t>
            </a:r>
          </a:p>
        </p:txBody>
      </p:sp>
    </p:spTree>
    <p:extLst>
      <p:ext uri="{BB962C8B-B14F-4D97-AF65-F5344CB8AC3E}">
        <p14:creationId xmlns:p14="http://schemas.microsoft.com/office/powerpoint/2010/main" val="118520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65752-A8B7-1F82-829E-6345AD51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AE95A-A4D1-46F2-2B17-6F78EC1D9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09" y="29915"/>
            <a:ext cx="10515600" cy="132556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Créditos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93B7D5A-E34F-D6EC-65B9-BD7D2939E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3352" y="1112989"/>
                <a:ext cx="11233248" cy="5609109"/>
              </a:xfrm>
            </p:spPr>
            <p:txBody>
              <a:bodyPr/>
              <a:lstStyle/>
              <a:p>
                <a:pPr marL="457200" indent="-457200">
                  <a:lnSpc>
                    <a:spcPct val="125000"/>
                  </a:lnSpc>
                  <a:buAutoNum type="alphaUcPeriod"/>
                </a:pPr>
                <a:r>
                  <a:rPr lang="es-PE" sz="2000" dirty="0"/>
                  <a:t>Préstamos en Soles (MN)</a:t>
                </a:r>
              </a:p>
              <a:p>
                <a:pPr>
                  <a:lnSpc>
                    <a:spcPct val="125000"/>
                  </a:lnSpc>
                </a:pPr>
                <a:r>
                  <a:rPr lang="es-PE" sz="2000" dirty="0"/>
                  <a:t>Tasa pasiva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𝑀𝑁</m:t>
                        </m:r>
                      </m:sup>
                    </m:sSubSup>
                  </m:oMath>
                </a14:m>
                <a:r>
                  <a:rPr lang="es-PE" sz="2000" dirty="0"/>
                  <a:t> determinada por:</a:t>
                </a:r>
              </a:p>
              <a:p>
                <a:pPr lvl="1">
                  <a:lnSpc>
                    <a:spcPct val="125000"/>
                  </a:lnSpc>
                </a:pPr>
                <a:r>
                  <a:rPr lang="es-PE" sz="1600" dirty="0"/>
                  <a:t>La tasa de política monetaria</a:t>
                </a:r>
              </a:p>
              <a:p>
                <a:pPr lvl="1">
                  <a:lnSpc>
                    <a:spcPct val="125000"/>
                  </a:lnSpc>
                </a:pPr>
                <a:r>
                  <a:rPr lang="es-PE" sz="1600" dirty="0"/>
                  <a:t>La demanda y oferta de depósitos en soles</a:t>
                </a:r>
              </a:p>
              <a:p>
                <a:pPr>
                  <a:lnSpc>
                    <a:spcPct val="125000"/>
                  </a:lnSpc>
                </a:pPr>
                <a:r>
                  <a:rPr lang="es-PE" sz="2000" dirty="0"/>
                  <a:t>Tasa activa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s-PE" sz="2000" i="1">
                            <a:latin typeface="Cambria Math" panose="02040503050406030204" pitchFamily="18" charset="0"/>
                          </a:rPr>
                          <m:t>𝑀𝑁</m:t>
                        </m:r>
                      </m:sup>
                    </m:sSubSup>
                  </m:oMath>
                </a14:m>
                <a:endParaRPr lang="es-PE" sz="2000" dirty="0"/>
              </a:p>
              <a:p>
                <a:pPr lvl="1">
                  <a:lnSpc>
                    <a:spcPct val="12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s-PE" sz="1600" i="1">
                            <a:latin typeface="Cambria Math" panose="02040503050406030204" pitchFamily="18" charset="0"/>
                          </a:rPr>
                          <m:t>𝑀𝑁</m:t>
                        </m:r>
                      </m:sup>
                    </m:sSubSup>
                  </m:oMath>
                </a14:m>
                <a:r>
                  <a:rPr lang="es-PE" sz="16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s-PE" sz="1600" i="1">
                            <a:latin typeface="Cambria Math" panose="02040503050406030204" pitchFamily="18" charset="0"/>
                          </a:rPr>
                          <m:t>𝑀𝑁</m:t>
                        </m:r>
                      </m:sup>
                    </m:sSubSup>
                  </m:oMath>
                </a14:m>
                <a:r>
                  <a:rPr lang="es-PE" sz="1600" dirty="0"/>
                  <a:t> + Costo operativo + Prima por riesgo crediticio</a:t>
                </a:r>
              </a:p>
              <a:p>
                <a:pPr lvl="1">
                  <a:lnSpc>
                    <a:spcPct val="125000"/>
                  </a:lnSpc>
                </a:pPr>
                <a:r>
                  <a:rPr lang="es-PE" sz="1600" dirty="0"/>
                  <a:t>En competencia perfecta, el margen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s-PE" sz="1600" i="1">
                            <a:latin typeface="Cambria Math" panose="02040503050406030204" pitchFamily="18" charset="0"/>
                          </a:rPr>
                          <m:t>𝑀𝑁</m:t>
                        </m:r>
                      </m:sup>
                    </m:sSubSup>
                  </m:oMath>
                </a14:m>
                <a:r>
                  <a:rPr lang="es-PE" sz="1600" dirty="0"/>
                  <a:t>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s-PE" sz="1600" i="1">
                            <a:latin typeface="Cambria Math" panose="02040503050406030204" pitchFamily="18" charset="0"/>
                          </a:rPr>
                          <m:t>𝑀𝑁</m:t>
                        </m:r>
                      </m:sup>
                    </m:sSubSup>
                    <m:r>
                      <a:rPr lang="es-PE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sz="1600" dirty="0"/>
                  <a:t>sería mínimo, solo cubriendo costos y riesgos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s-PE" sz="2000" dirty="0"/>
                  <a:t>B. Préstamos en dólares</a:t>
                </a:r>
              </a:p>
              <a:p>
                <a:pPr>
                  <a:lnSpc>
                    <a:spcPct val="125000"/>
                  </a:lnSpc>
                </a:pPr>
                <a:r>
                  <a:rPr lang="es-PE" sz="2000" dirty="0"/>
                  <a:t>Tasa pasiva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𝑈𝑆𝐷</m:t>
                        </m:r>
                      </m:sup>
                    </m:sSubSup>
                  </m:oMath>
                </a14:m>
                <a:endParaRPr lang="es-PE" sz="1800" dirty="0"/>
              </a:p>
              <a:p>
                <a:pPr lvl="1">
                  <a:lnSpc>
                    <a:spcPct val="125000"/>
                  </a:lnSpc>
                  <a:tabLst>
                    <a:tab pos="360363" algn="l"/>
                    <a:tab pos="719138" algn="l"/>
                  </a:tabLst>
                </a:pPr>
                <a:r>
                  <a:rPr lang="es-PE" sz="1400" dirty="0"/>
                  <a:t>	</a:t>
                </a:r>
                <a:r>
                  <a:rPr lang="es-PE" sz="1600" dirty="0"/>
                  <a:t>La tasa de internacional (SORF) + prima por riesgo país (si los depósitos están en el país).</a:t>
                </a:r>
                <a:endParaRPr lang="es-PE" sz="1400" dirty="0"/>
              </a:p>
              <a:p>
                <a:pPr>
                  <a:lnSpc>
                    <a:spcPct val="125000"/>
                  </a:lnSpc>
                </a:pPr>
                <a:r>
                  <a:rPr lang="es-PE" sz="1800" dirty="0"/>
                  <a:t>Tasa activa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𝑈𝑆𝐷</m:t>
                        </m:r>
                      </m:sup>
                    </m:sSubSup>
                  </m:oMath>
                </a14:m>
                <a:r>
                  <a:rPr lang="es-PE" sz="1800" dirty="0"/>
                  <a:t>:</a:t>
                </a:r>
              </a:p>
              <a:p>
                <a:pPr marL="447675" indent="0">
                  <a:lnSpc>
                    <a:spcPct val="125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P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𝑈𝑆𝐷</m:t>
                        </m:r>
                      </m:sup>
                    </m:sSubSup>
                  </m:oMath>
                </a14:m>
                <a:r>
                  <a:rPr lang="es-PE" sz="18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s-PE" sz="1800" b="0" i="1" smtClean="0">
                            <a:latin typeface="Cambria Math" panose="02040503050406030204" pitchFamily="18" charset="0"/>
                          </a:rPr>
                          <m:t>𝑈𝑆𝐷</m:t>
                        </m:r>
                      </m:sup>
                    </m:sSubSup>
                  </m:oMath>
                </a14:m>
                <a:r>
                  <a:rPr lang="es-PE" sz="1800" dirty="0"/>
                  <a:t>+ Costo operativo + Prima por riesgo crediticio + Prima por riesgo cambiario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93B7D5A-E34F-D6EC-65B9-BD7D2939E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352" y="1112989"/>
                <a:ext cx="11233248" cy="5609109"/>
              </a:xfrm>
              <a:blipFill>
                <a:blip r:embed="rId2"/>
                <a:stretch>
                  <a:fillRect l="-59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0ABC19-9441-2A21-C488-92A784E0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6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79940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978C-D1F2-82C4-B8DA-16763360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82941-ABAE-C2E4-2CAA-7288CEB5B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09" y="29915"/>
            <a:ext cx="10515600" cy="132556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DB3088-2F61-1AC6-5002-D4CBE9086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101799"/>
            <a:ext cx="11233248" cy="527201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ES" sz="2200" dirty="0"/>
              <a:t>Si el banco decide otorgar un </a:t>
            </a:r>
            <a:r>
              <a:rPr lang="es-ES" sz="2200" b="1" dirty="0"/>
              <a:t>crédito en soles</a:t>
            </a:r>
            <a:r>
              <a:rPr lang="es-ES" sz="2200" dirty="0"/>
              <a:t> (prestar un sol), las variables que afectan su beneficio </a:t>
            </a:r>
            <a:r>
              <a:rPr lang="es-PE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L,D  </a:t>
            </a:r>
            <a:r>
              <a:rPr lang="es-ES" sz="2200" dirty="0"/>
              <a:t>son: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Una tasa de interés endógena porque hay sustitución de monedas.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El tipo de cambio (debido al cambio entre préstamos en soles y $ : elasticidad cruzada de la demanda de préstamos en soles).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El volumen de créditos en $ 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El costo operativo.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200" dirty="0"/>
              <a:t>En síntesis, el </a:t>
            </a:r>
            <a:r>
              <a:rPr lang="es-ES" sz="2200" b="1" u="sng" dirty="0"/>
              <a:t>beneficio</a:t>
            </a:r>
            <a:r>
              <a:rPr lang="es-ES" sz="2200" dirty="0"/>
              <a:t> del banco es: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L,D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R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(L,L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 + R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,L)L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PE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RM + R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PE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R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(D,D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)D – R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,D)D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PE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-C(L,D,L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PE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D26980-0565-CF01-EDA2-EC50940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7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995702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E573F-A7CE-3259-E9F9-3643C267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BD386-183D-60E9-2E5C-2E3023DFD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21109"/>
            <a:ext cx="10515600" cy="132556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031A61-B6D9-7F13-2BEE-8EFDC7AB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84" y="1554867"/>
            <a:ext cx="10871992" cy="14502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PE" sz="2400" dirty="0"/>
              <a:t>La presencia de dos monedas lleva a la presencia de dos posiciones interbancarias: en soles y en $: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802359-7E08-30C7-6715-A8BF3DD6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8</a:t>
            </a:fld>
            <a:endParaRPr lang="es-PE" altLang="es-P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7047B6A-E5FB-92EF-1D3B-1170FA0C910C}"/>
                  </a:ext>
                </a:extLst>
              </p:cNvPr>
              <p:cNvSpPr txBox="1"/>
              <p:nvPr/>
            </p:nvSpPr>
            <p:spPr>
              <a:xfrm>
                <a:off x="3503712" y="3192044"/>
                <a:ext cx="3364960" cy="1162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s-PE" b="0" i="1" dirty="0">
                  <a:latin typeface="Cambria Math" panose="02040503050406030204" pitchFamily="18" charset="0"/>
                </a:endParaRPr>
              </a:p>
              <a:p>
                <a:pPr/>
                <a:endParaRPr lang="es-P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</m:sup>
                      </m:sSup>
                    </m:oMath>
                  </m:oMathPara>
                </a14:m>
                <a:endParaRPr lang="es-PE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7047B6A-E5FB-92EF-1D3B-1170FA0C9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192044"/>
                <a:ext cx="3364960" cy="11621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163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9325-1048-8C87-7CFB-07ADE1CF8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522CC-4AB9-E607-6DDE-C4A27EEB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10515600" cy="132556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477BF3-79ED-78B9-9A1C-BE18B47D7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020" y="1268760"/>
            <a:ext cx="10903595" cy="50405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sz="2400" dirty="0"/>
              <a:t>Si el banco presta un sol, recibiría una tasa de interés R</a:t>
            </a:r>
            <a:r>
              <a:rPr lang="es-ES" sz="2400" baseline="-25000" dirty="0"/>
              <a:t>L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Sin embargo, si ocurre algo en el mercado, los clientes podrían cambiar entre soles y $, lo que alteraría el volumen de créditos en soles y $.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Ello afecta las utilidades totales del banco porque influye en todo el volumen de crédito en $ y en el tipo de cambio.</a:t>
            </a:r>
          </a:p>
          <a:p>
            <a:pPr>
              <a:lnSpc>
                <a:spcPct val="150000"/>
              </a:lnSpc>
            </a:pPr>
            <a:r>
              <a:rPr lang="es-PE" sz="2400" dirty="0"/>
              <a:t>Así el objetivo del banco es maximizar beneficios: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π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L,D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R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(L,L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 + R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,L)L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PE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RM + R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PE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R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(D,D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)D – R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,D)D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PE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-C(L,D,L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es-PE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9AAAA6-91AF-FE56-95B6-9F7EA39F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9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38541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81269-D6C3-86C1-0AA7-8F97829B1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43EEE-2CFD-25CA-BC7E-A4B3F553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20978"/>
            <a:ext cx="10515600" cy="132556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5C64E8-B70F-47FD-4B23-E1AB8D2F23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7020" y="1268760"/>
                <a:ext cx="11119619" cy="324036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sz="2400" dirty="0">
                    <a:cs typeface="Times New Roman" panose="02020603050405020304" pitchFamily="18" charset="0"/>
                  </a:rPr>
                  <a:t>De </a:t>
                </a:r>
                <a:r>
                  <a:rPr lang="es-PE" sz="1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π</a:t>
                </a:r>
                <a:r>
                  <a:rPr lang="es-PE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L,D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R</a:t>
                </a:r>
                <a:r>
                  <a:rPr lang="es-PE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s-PE" sz="1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,L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)L + R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s-PE" sz="1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)L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1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PE" sz="1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R</a:t>
                </a:r>
                <a:r>
                  <a:rPr lang="es-PE" sz="1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R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 </a:t>
                </a:r>
                <a:r>
                  <a:rPr lang="es-PE" sz="1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PE" sz="1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 R</a:t>
                </a:r>
                <a:r>
                  <a:rPr lang="es-PE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(D,D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)D – R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,D)D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1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PE" sz="1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-C(</a:t>
                </a:r>
                <a:r>
                  <a:rPr lang="es-PE" sz="1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,D,L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,D</a:t>
                </a:r>
                <a:r>
                  <a:rPr lang="es-PE" sz="1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s-PE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sz="2400" dirty="0">
                    <a:cs typeface="Times New Roman" panose="02020603050405020304" pitchFamily="18" charset="0"/>
                  </a:rPr>
                  <a:t>La CPO: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P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40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l-GR" sz="240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s-PE" sz="24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P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s-P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p>
                      </m:e>
                    </m:d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s-P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Sup>
                          <m:sSubSupPr>
                            <m:ctrlPr>
                              <a:rPr lang="el-GR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num>
                      <m:den>
                        <m:r>
                          <a:rPr lang="el-GR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p>
                      <m:sSupPr>
                        <m:ctrlPr>
                          <a:rPr lang="es-P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$</m:t>
                        </m:r>
                      </m:sup>
                    </m:sSup>
                    <m:sSub>
                      <m:sSubPr>
                        <m:ctrlPr>
                          <a:rPr lang="es-P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PE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l-GR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PE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PE" sz="2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5C64E8-B70F-47FD-4B23-E1AB8D2F23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7020" y="1268760"/>
                <a:ext cx="11119619" cy="3240360"/>
              </a:xfrm>
              <a:blipFill>
                <a:blip r:embed="rId2"/>
                <a:stretch>
                  <a:fillRect l="-87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5DF734-5849-F38F-E6A3-F5678E93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10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20872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A92AC-A54D-C48A-553A-F121D5E3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FAB84-5DAD-994A-7207-75C9EF3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60648"/>
            <a:ext cx="10515600" cy="132556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BBB50A8-B8DF-21D2-09F2-527F75CC8E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400" y="1586210"/>
                <a:ext cx="10442376" cy="3354957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" sz="2400" dirty="0"/>
                  <a:t>Los agentes económicos cambian los créditos de una moneda a otra al momento de evaluar en qué moneda elegir el crédito.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/>
                  <a:t>La demanda de créditos considera entonces la </a:t>
                </a:r>
                <a:r>
                  <a:rPr lang="es-ES" sz="2400" b="1" u="sng" dirty="0"/>
                  <a:t>elasticidad cruzada:</a:t>
                </a:r>
                <a:r>
                  <a:rPr lang="es-E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s-PE" sz="2400" b="1" i="1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s-ES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/>
                  <a:t>Dado que la tasa de interés varía entre las monedas, se necesita conocer el nivel de esa tasa de interés.</a:t>
                </a:r>
                <a:endParaRPr lang="es-PE" sz="2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BBB50A8-B8DF-21D2-09F2-527F75CC8E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00" y="1586210"/>
                <a:ext cx="10442376" cy="3354957"/>
              </a:xfrm>
              <a:blipFill>
                <a:blip r:embed="rId2"/>
                <a:stretch>
                  <a:fillRect l="-759" r="-81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B959AD-8309-5293-24DC-2660B70E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11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964098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32901-6FCD-202F-72C8-BB8DA25C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CC900-ACE4-24A5-6F19-542972B3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28" y="119062"/>
            <a:ext cx="10515600" cy="964856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A9E4B80-C399-D8CB-76AD-D05B535651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376" y="1052736"/>
                <a:ext cx="11089232" cy="5184576"/>
              </a:xfrm>
            </p:spPr>
            <p:txBody>
              <a:bodyPr/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dirty="0"/>
                  <a:t>Se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p>
                      </m:sub>
                    </m:sSub>
                    <m:r>
                      <a:rPr lang="es-P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400" dirty="0"/>
                  <a:t>como la elasticidad cruzada de L respecto a 𝑅</a:t>
                </a:r>
                <a:r>
                  <a:rPr lang="es-ES" sz="2400" baseline="-25000" dirty="0"/>
                  <a:t>𝐿</a:t>
                </a:r>
                <a:r>
                  <a:rPr lang="es-ES" sz="2400" baseline="30000" dirty="0"/>
                  <a:t>$ </a:t>
                </a:r>
                <a:r>
                  <a:rPr lang="es-ES" sz="2400" dirty="0"/>
                  <a:t> como la variación porcentual en volumen de los créditos en Soles (L) en relación con la variación porcentual en la tasa de interés de la otra (R</a:t>
                </a:r>
                <a:r>
                  <a:rPr lang="es-ES" sz="2400" baseline="30000" dirty="0"/>
                  <a:t>$</a:t>
                </a:r>
                <a:r>
                  <a:rPr lang="es-ES" sz="2400" dirty="0"/>
                  <a:t>).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p>
                      </m:sub>
                    </m:sSub>
                    <m:r>
                      <a:rPr lang="es-E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E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4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E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40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s-E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PE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s-PE" sz="24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  <m:sup>
                                <m:r>
                                  <a:rPr lang="es-PE" sz="2400" b="0" i="1" smtClean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s-E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PE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s-PE" sz="24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  <m:sup>
                                <m:r>
                                  <a:rPr lang="es-PE" sz="2400" b="0" i="1" smtClean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sup>
                            </m:sSubSup>
                          </m:den>
                        </m:f>
                      </m:den>
                    </m:f>
                  </m:oMath>
                </a14:m>
                <a:r>
                  <a:rPr lang="es-ES" sz="2400" dirty="0"/>
                  <a:t>	</a:t>
                </a:r>
                <a:r>
                  <a:rPr lang="es-ES" sz="2400" dirty="0">
                    <a:sym typeface="Wingdings" panose="05000000000000000000" pitchFamily="2" charset="2"/>
                  </a:rPr>
                  <a:t> 	</a:t>
                </a:r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p>
                      </m:sub>
                    </m:sSub>
                    <m:r>
                      <a:rPr lang="es-E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s-PE" sz="240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s-P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sz="2400" i="1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den>
                    </m:f>
                  </m:oMath>
                </a14:m>
                <a:endParaRPr lang="es-ES" sz="2400" dirty="0"/>
              </a:p>
              <a:p>
                <a:pPr algn="just">
                  <a:lnSpc>
                    <a:spcPct val="150000"/>
                  </a:lnSpc>
                </a:pPr>
                <a:r>
                  <a:rPr lang="es-ES" sz="2400" dirty="0"/>
                  <a:t>Si aumenta la tasa de interés del crédito en dólares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$</m:t>
                        </m:r>
                      </m:sup>
                    </m:sSubSup>
                  </m:oMath>
                </a14:m>
                <a:r>
                  <a:rPr lang="es-ES" sz="2400" dirty="0"/>
                  <a:t>, se prefiere tomar préstamos en soles </a:t>
                </a:r>
                <a14:m>
                  <m:oMath xmlns:m="http://schemas.openxmlformats.org/officeDocument/2006/math">
                    <m:r>
                      <a:rPr lang="es-PE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PE" sz="2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A9E4B80-C399-D8CB-76AD-D05B535651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052736"/>
                <a:ext cx="11089232" cy="5184576"/>
              </a:xfrm>
              <a:blipFill>
                <a:blip r:embed="rId2"/>
                <a:stretch>
                  <a:fillRect l="-770" r="-82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5D0760-6932-9A8A-C3F6-A79480F4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12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201275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7E1C6-34B0-E81F-3921-207503A45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D8FD9-674E-94B9-DBC1-790F891A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44" y="138417"/>
            <a:ext cx="10515600" cy="1036864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29B68-57FF-2133-2131-86267F32A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736"/>
            <a:ext cx="10442376" cy="237626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s-ES" sz="2400" dirty="0"/>
              <a:t>Adicionalmente, hay una dinámica de la tasa de interés en $ porque el ingreso del banco está cambiando debido al cambio en el </a:t>
            </a:r>
            <a:r>
              <a:rPr lang="es-ES" sz="2400" b="1" u="sng" dirty="0"/>
              <a:t>tipo de cambio</a:t>
            </a:r>
            <a:r>
              <a:rPr lang="es-ES" sz="2400" dirty="0"/>
              <a:t> (posible perdida cambiaria).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De la CPO: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5B1348-7361-72E5-86E1-1D3159A6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13</a:t>
            </a:fld>
            <a:endParaRPr lang="es-PE" altLang="es-P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FD0DD45-BD9B-5180-10D8-EFFB886D54D5}"/>
                  </a:ext>
                </a:extLst>
              </p:cNvPr>
              <p:cNvSpPr txBox="1"/>
              <p:nvPr/>
            </p:nvSpPr>
            <p:spPr>
              <a:xfrm>
                <a:off x="2711624" y="4725144"/>
                <a:ext cx="6096000" cy="815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P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p>
                      </m:e>
                    </m:d>
                    <m:r>
                      <a:rPr lang="es-PE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s-P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den>
                    </m:f>
                    <m:f>
                      <m:fPr>
                        <m:ctrlPr>
                          <a:rPr lang="es-P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s-P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f>
                      <m:f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Sup>
                          <m:sSubSup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b="0" i="1" smtClean="0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num>
                      <m:den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p>
                      <m:sSup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$</m:t>
                        </m:r>
                      </m:sup>
                    </m:sSup>
                    <m:sSub>
                      <m:sSub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f>
                      <m:fPr>
                        <m:ctrlPr>
                          <a:rPr lang="es-P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P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s-P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PE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l-GR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s-PE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FD0DD45-BD9B-5180-10D8-EFFB886D5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4725144"/>
                <a:ext cx="6096000" cy="8154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F0FC125C-7EAF-F598-6715-570FC28B7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25" y="3573016"/>
            <a:ext cx="5026436" cy="93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41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E372-72BC-2BB6-B8BE-C69724CD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57EB5-E0AC-C239-5EF2-18CFF4F66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87880"/>
            <a:ext cx="10515600" cy="100811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D34FD01-3684-4BC4-4136-CF3CC6E6B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376" y="1052736"/>
                <a:ext cx="10442376" cy="1008112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" sz="2400" dirty="0"/>
                  <a:t>La </a:t>
                </a:r>
                <a:r>
                  <a:rPr lang="es-ES" sz="2400" b="1" u="sng" dirty="0"/>
                  <a:t>depreciación</a:t>
                </a:r>
                <a:r>
                  <a:rPr lang="es-ES" sz="2400" dirty="0"/>
                  <a:t> </a:t>
                </a:r>
                <a:r>
                  <a:rPr lang="es-ES" sz="2400" b="1" u="sng" dirty="0"/>
                  <a:t>(apreciación)</a:t>
                </a:r>
                <a:r>
                  <a:rPr lang="es-ES" sz="2400" dirty="0"/>
                  <a:t> de la moneda (soles) respecto a la moneda extranjera ($) esperada entre el inicio y el fin de periodo: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s-PE" sz="2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D34FD01-3684-4BC4-4136-CF3CC6E6B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052736"/>
                <a:ext cx="10442376" cy="1008112"/>
              </a:xfrm>
              <a:blipFill>
                <a:blip r:embed="rId2"/>
                <a:stretch>
                  <a:fillRect l="-817" b="-11697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AF054F-CE56-0495-4432-5A4AF570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14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330842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08AA-48EC-F741-85D7-C3BE4D09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A5A5F-ECFC-C644-D14C-0F8E9744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88640"/>
            <a:ext cx="10515600" cy="964856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13958F-84C5-18DA-4A76-92C3D495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735"/>
            <a:ext cx="11017224" cy="20162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sz="2400" dirty="0"/>
              <a:t>Para los bancos es relevante el grado de utilización de una moneda ($) respecto al total de préstamos.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El </a:t>
            </a:r>
            <a:r>
              <a:rPr lang="es-ES" sz="2400" b="1" u="sng" dirty="0"/>
              <a:t>grado de dolarización</a:t>
            </a:r>
            <a:r>
              <a:rPr lang="es-ES" sz="2400" b="1" dirty="0"/>
              <a:t> </a:t>
            </a:r>
            <a:r>
              <a:rPr lang="es-ES" sz="2400" dirty="0"/>
              <a:t>de los créditos se observa mediante este parámetro </a:t>
            </a:r>
            <a:endParaRPr lang="es-PE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D6160E-517D-C745-14E3-763A5BDB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15</a:t>
            </a:fld>
            <a:endParaRPr lang="es-PE" altLang="es-P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36FB259-01F2-3156-AD11-CC15E3994D4B}"/>
                  </a:ext>
                </a:extLst>
              </p:cNvPr>
              <p:cNvSpPr txBox="1"/>
              <p:nvPr/>
            </p:nvSpPr>
            <p:spPr>
              <a:xfrm>
                <a:off x="3141644" y="3189671"/>
                <a:ext cx="6094378" cy="856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p>
                            <m:sSupPr>
                              <m:ctrlPr>
                                <a:rPr lang="es-PE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p>
                        </m:sub>
                      </m:sSub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PE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p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s-PE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36FB259-01F2-3156-AD11-CC15E3994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644" y="3189671"/>
                <a:ext cx="6094378" cy="8567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590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A92A-2A04-4AC5-072A-6B2037402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0485-E13F-1588-757F-CF7DB3DB6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06" y="121347"/>
            <a:ext cx="10515600" cy="964855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B98D8-5CC8-8963-D46F-6A4B92B85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834833"/>
            <a:ext cx="10442376" cy="5760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sz="2400" dirty="0"/>
              <a:t>La CPO queda: </a:t>
            </a:r>
            <a:endParaRPr lang="es-PE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89FD2A-CF91-1FA2-5A76-1DD65BFA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16</a:t>
            </a:fld>
            <a:endParaRPr lang="es-PE" altLang="es-P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2461BC5-7F70-3AF1-EF88-1EFA9DFFB80D}"/>
                  </a:ext>
                </a:extLst>
              </p:cNvPr>
              <p:cNvSpPr txBox="1"/>
              <p:nvPr/>
            </p:nvSpPr>
            <p:spPr>
              <a:xfrm>
                <a:off x="3168650" y="1690060"/>
                <a:ext cx="6096000" cy="9355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PE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PE" sz="2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s-PE" sz="2800" i="1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p>
                      </m:e>
                    </m:d>
                    <m:r>
                      <a:rPr lang="es-PE" sz="28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s-PE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den>
                    </m:f>
                    <m:f>
                      <m:fPr>
                        <m:ctrlPr>
                          <a:rPr lang="es-PE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s-PE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f>
                      <m:f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800" i="1">
                            <a:latin typeface="Cambria Math" panose="02040503050406030204" pitchFamily="18" charset="0"/>
                          </a:rPr>
                          <m:t>𝛿</m:t>
                        </m:r>
                        <m:sSubSup>
                          <m:sSubSupPr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PE" sz="2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s-PE" sz="2800" i="1">
                                <a:latin typeface="Cambria Math" panose="02040503050406030204" pitchFamily="18" charset="0"/>
                              </a:rPr>
                              <m:t>$</m:t>
                            </m:r>
                          </m:sup>
                        </m:sSubSup>
                      </m:num>
                      <m:den>
                        <m:r>
                          <a:rPr lang="el-GR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p>
                      <m:sSup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$</m:t>
                        </m:r>
                      </m:sup>
                    </m:sSup>
                    <m:sSub>
                      <m:sSub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f>
                      <m:fPr>
                        <m:ctrlPr>
                          <a:rPr lang="es-PE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PE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s-P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PE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PE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l-GR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s-PE" sz="28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2461BC5-7F70-3AF1-EF88-1EFA9DFFB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650" y="1690060"/>
                <a:ext cx="6096000" cy="9355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D38D7CC-7639-DAC1-E936-42A49FFDB09A}"/>
                  </a:ext>
                </a:extLst>
              </p:cNvPr>
              <p:cNvSpPr txBox="1"/>
              <p:nvPr/>
            </p:nvSpPr>
            <p:spPr>
              <a:xfrm>
                <a:off x="2135560" y="3260827"/>
                <a:ext cx="8400256" cy="1007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PE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s-P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PE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PE" sz="2800" i="1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28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PE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s-PE" sz="2800" dirty="0"/>
                        <m:t> </m:t>
                      </m:r>
                      <m:f>
                        <m:fPr>
                          <m:ctrlPr>
                            <a:rPr lang="es-P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s-PE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l-GR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s-PE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PE" sz="28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PE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P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s-P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8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s-PE" sz="28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</m:den>
                      </m:f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p>
                            <m:sSupPr>
                              <m:ctrlP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p>
                        </m:sub>
                      </m:sSub>
                      <m:sSubSup>
                        <m:sSub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</m:sup>
                      </m:sSub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PE" sz="2800" b="0" i="1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PE" sz="28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D38D7CC-7639-DAC1-E936-42A49FFD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3260827"/>
                <a:ext cx="8400256" cy="1007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002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A5FF-2904-797F-EBF9-74E2239D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DFEFF-900C-C365-DA0B-FDDB06A6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71684"/>
            <a:ext cx="10515600" cy="964856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881FF5-664D-15E4-1C08-8706FD904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736"/>
            <a:ext cx="11233248" cy="51845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sz="2400" dirty="0"/>
              <a:t>En competencia perfecta con una moneda, la tasa de interés de los créditos es la tasa de interés interbancaria más el costo marginal de analizar las operaciones con clientes:</a:t>
            </a:r>
          </a:p>
          <a:p>
            <a:pPr marL="0" indent="0">
              <a:lnSpc>
                <a:spcPct val="150000"/>
              </a:lnSpc>
              <a:buNone/>
            </a:pPr>
            <a:endParaRPr lang="es-ES" sz="2400" dirty="0"/>
          </a:p>
          <a:p>
            <a:pPr>
              <a:lnSpc>
                <a:spcPct val="150000"/>
              </a:lnSpc>
            </a:pPr>
            <a:r>
              <a:rPr lang="es-ES" sz="2400" dirty="0"/>
              <a:t>Al introducir dos monedas, la tasa de interés es menor que en el caso de una sola moneda. 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Por lo tanto, cuando la entidad financiera opera con dos monedas, cobrará menos por sus créditos en S/. en comparación con un escenario de competencia perfecta con una sola moneda.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047D26-ED5B-C61F-91C6-09ED3F84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17</a:t>
            </a:fld>
            <a:endParaRPr lang="es-PE" alt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BDCB8F3-E170-0E72-0F2F-0241B6487BFA}"/>
                  </a:ext>
                </a:extLst>
              </p:cNvPr>
              <p:cNvSpPr txBox="1"/>
              <p:nvPr/>
            </p:nvSpPr>
            <p:spPr>
              <a:xfrm>
                <a:off x="3168650" y="2322536"/>
                <a:ext cx="6096000" cy="725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s-P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PE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PE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l-GR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8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s-PE" sz="28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BDCB8F3-E170-0E72-0F2F-0241B6487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650" y="2322536"/>
                <a:ext cx="6096000" cy="7257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BD77-8F94-C8E1-5B13-7C475218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67563-E8F3-469B-7771-B9D582BC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79577"/>
            <a:ext cx="10515600" cy="964856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15ECFF-F50C-9CE5-9606-174EB8B34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736"/>
            <a:ext cx="11233248" cy="51845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sz="2400" dirty="0"/>
              <a:t>En un mercado de competencia perfecta, hay un enorme número de servicios y sustitutos, entonces hay un número grande de empresas y sustitución de monedas, lo cual hace más competitiva la situación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Además, como hay más competencia, no se va a cobrar mucha tasa de interés.</a:t>
            </a:r>
            <a:endParaRPr lang="es-PE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76CB8B-072A-C229-151A-89196BBA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18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821243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E722D-3BCF-00C2-A6FB-ED9FB336F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EF526-6CC0-B187-524A-1B71E52A7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60648"/>
            <a:ext cx="10515600" cy="884787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99952B-8C48-DE1E-29FB-6655208FA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736"/>
            <a:ext cx="11233248" cy="518457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dirty="0"/>
              <a:t>Primera conclusión: 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La situación se hace más competitiva, lo que implica que la tasa de interés de créditos bajaría.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Las tasas de interés se </a:t>
            </a:r>
            <a:r>
              <a:rPr lang="es-ES" sz="2400" dirty="0" err="1"/>
              <a:t>endogenizan</a:t>
            </a:r>
            <a:r>
              <a:rPr lang="es-ES" sz="2400" dirty="0"/>
              <a:t>: pues 𝑅</a:t>
            </a:r>
            <a:r>
              <a:rPr lang="es-ES" sz="2400" baseline="-25000" dirty="0"/>
              <a:t>𝐿</a:t>
            </a:r>
            <a:r>
              <a:rPr lang="es-ES" sz="2400" dirty="0"/>
              <a:t> ahora depende de 𝑅</a:t>
            </a:r>
            <a:r>
              <a:rPr lang="es-ES" sz="2400" baseline="-25000" dirty="0"/>
              <a:t>𝐿</a:t>
            </a:r>
            <a:r>
              <a:rPr lang="es-ES" sz="2400" baseline="30000" dirty="0"/>
              <a:t>$</a:t>
            </a:r>
            <a:r>
              <a:rPr lang="es-ES" sz="2400" dirty="0"/>
              <a:t>.</a:t>
            </a:r>
            <a:endParaRPr lang="es-PE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7AEA71-6D97-1EDE-3571-E7CF9488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19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769603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E541-B8E7-4F9F-6B2E-3709E6AC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E6D7F-4E2D-EDC3-6EA3-3F37F6C19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87880"/>
            <a:ext cx="10515600" cy="1325563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1A8B0B-D830-6A0B-6AB1-498D70F54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376" y="1052736"/>
                <a:ext cx="11233248" cy="504056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400" b="1" dirty="0"/>
                  <a:t>Segunda conclusión: </a:t>
                </a:r>
              </a:p>
              <a:p>
                <a:pPr marL="360363">
                  <a:lnSpc>
                    <a:spcPct val="150000"/>
                  </a:lnSpc>
                </a:pPr>
                <a:r>
                  <a:rPr lang="es-ES" sz="2400" dirty="0"/>
                  <a:t>La movilidad de los agentes económicos entre una y otra moneda implica que las tasas de interés sean interdependientes y se determinen simultáneamente. </a:t>
                </a:r>
              </a:p>
              <a:p>
                <a:pPr marL="360363" algn="just">
                  <a:lnSpc>
                    <a:spcPct val="150000"/>
                  </a:lnSpc>
                </a:pPr>
                <a:r>
                  <a:rPr lang="es-ES" sz="2400" dirty="0"/>
                  <a:t>La elasticidad cruzada de créditos en $ frente a los soles 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ε</a:t>
                </a:r>
                <a:r>
                  <a:rPr lang="es-PE" sz="2400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L$,L</a:t>
                </a:r>
                <a:r>
                  <a:rPr lang="es-ES" sz="2400" dirty="0"/>
                  <a:t> mide la sustituibilidad entre $ y soles.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P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p>
                        </m:sub>
                      </m:sSub>
                      <m:r>
                        <a:rPr lang="es-E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s-P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P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4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P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bSup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1A8B0B-D830-6A0B-6AB1-498D70F54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052736"/>
                <a:ext cx="11233248" cy="5040560"/>
              </a:xfrm>
              <a:blipFill>
                <a:blip r:embed="rId2"/>
                <a:stretch>
                  <a:fillRect l="-869" r="-130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26B056-C66F-BAEB-87C0-6D5EDD58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20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30765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C476-1A0F-AFAF-11F2-9B391259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7795F-FC41-1835-8CEE-7DCF98EFD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57" y="332656"/>
            <a:ext cx="10515600" cy="964856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 : Créditos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ED5274-457A-A20D-4E31-B66873B38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196752"/>
            <a:ext cx="10945216" cy="396044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PE" sz="2400" b="1" dirty="0"/>
              <a:t>Tercera conclusión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Si la elasticidad cruzada es infinita, entonces los créditos en $ frente a soles serían perfectamente sustitutos, por lo que prácticamente se está en el caso de una misma moneda. </a:t>
            </a:r>
            <a:endParaRPr lang="es-PE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F22CC9-A87B-4E62-B27B-BBA60AA8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21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13031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120E-B7DE-75D8-F0C7-0BA12132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7A3FF-E8E1-0311-3107-51581C36D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10515600" cy="1077690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Depósitos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A6DB1B-6F59-CA8B-667B-9584A7BD7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056" y="1191568"/>
            <a:ext cx="10821560" cy="511775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PE" sz="2400" b="1" dirty="0"/>
              <a:t>Proceso de optimización : Depósitos en $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Si un cliente quiere depositar $ en el banco A </a:t>
            </a:r>
            <a:r>
              <a:rPr lang="es-ES" sz="2400" dirty="0">
                <a:sym typeface="Wingdings" panose="05000000000000000000" pitchFamily="2" charset="2"/>
              </a:rPr>
              <a:t></a:t>
            </a:r>
            <a:r>
              <a:rPr lang="es-ES" sz="2400" dirty="0"/>
              <a:t> el banco A debe rentabilizar ese depósito prestando el dinero a otro banco (banco B), que pagará la tasa interbancaria en $ (R</a:t>
            </a:r>
            <a:r>
              <a:rPr lang="es-ES" sz="2400" baseline="30000" dirty="0"/>
              <a:t>$</a:t>
            </a:r>
            <a:r>
              <a:rPr lang="es-ES" sz="2400" dirty="0"/>
              <a:t>).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Sin embargo, el banco A no prestará todo el monto del depósito, sino descontando el encaje, y considerando el tipo de cambio para obtener el equivalente en soles.</a:t>
            </a:r>
            <a:endParaRPr lang="es-PE" sz="2400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F11B9B-7936-8AC1-81EA-31E6DBEAF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22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118805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B33B-0496-3C28-88C5-F553F482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D8C1A-B951-E58D-B244-6AF900CE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10515600" cy="1077690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Depósitos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38274A-770B-EAC1-79BD-576A93F5D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056" y="1191568"/>
            <a:ext cx="10821560" cy="511775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PE" sz="2400" b="1" dirty="0"/>
              <a:t>Proceso de optimización : Depósitos en $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El costo de recibir este depósito implica pagar al depositante la tasa de interés en $ ajustada por el tipo de cambio. 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Así, en caso de un cambio en el tipo de cambio, el cliente (depositante) podría moverse entre monedas, generando una variación en la tasa de interés de los depósitos en soles debido a los cambios en los depósitos en $.</a:t>
            </a:r>
          </a:p>
          <a:p>
            <a:pPr algn="just">
              <a:lnSpc>
                <a:spcPct val="150000"/>
              </a:lnSpc>
            </a:pPr>
            <a:r>
              <a:rPr lang="es-ES" sz="2400" dirty="0"/>
              <a:t>Esos movimientos afectan las utilidades del banco (el cambio impacta el volumen total de depósitos en soles).</a:t>
            </a:r>
            <a:endParaRPr lang="es-PE" sz="2400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763688-CB7B-A127-7B86-3F826C01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23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939235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E528-7B95-A128-689B-4F3F03AFB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896A1-E4A1-06EE-FEB7-346E6156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10515600" cy="1077690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Depósitos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DFFED7E-EBA1-9153-90D4-B37663E362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1344" y="1191568"/>
                <a:ext cx="11665296" cy="5117751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PE" sz="2400" b="1" dirty="0"/>
                  <a:t>Proceso de optimización : Depósitos en $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/>
                  <a:t>El beneficio del banco es:</a:t>
                </a:r>
                <a:endParaRPr lang="es-ES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L,D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R</a:t>
                </a:r>
                <a:r>
                  <a:rPr lang="es-PE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(L,L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)L + R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,L)L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PE" sz="22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RM + R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s-PE" sz="2200" i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PE" sz="22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R</a:t>
                </a:r>
                <a:r>
                  <a:rPr lang="es-PE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(D,D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)D – R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s-PE" sz="2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PE" sz="2200" i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,D)</a:t>
                </a:r>
                <a:r>
                  <a:rPr lang="es-PE" sz="2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PE" sz="2200" i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PE" sz="22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– C(L,D,L</a:t>
                </a:r>
                <a:r>
                  <a:rPr lang="es-PE" sz="2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s-PE" sz="2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PE" sz="2200" i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</a:t>
                </a:r>
                <a:r>
                  <a:rPr lang="es-PE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273050" indent="0" algn="just">
                  <a:lnSpc>
                    <a:spcPct val="150000"/>
                  </a:lnSpc>
                  <a:buNone/>
                </a:pPr>
                <a:r>
                  <a:rPr lang="es-PE" sz="2400" dirty="0"/>
                  <a:t>La CPO 1: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r>
                          <a:rPr lang="el-G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𝝅</m:t>
                        </m:r>
                      </m:num>
                      <m:den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sSup>
                          <m:sSupPr>
                            <m:ctrlPr>
                              <a:rPr lang="el-GR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den>
                    </m:f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PE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p>
                    <m:sSub>
                      <m:sSub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PE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Sup>
                      <m:sSubSupPr>
                        <m:ctrlPr>
                          <a:rPr lang="es-PE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PE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s-PE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sub>
                      <m:sup>
                        <m:r>
                          <a:rPr lang="es-PE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bSup>
                    <m:d>
                      <m:dPr>
                        <m:ctrlPr>
                          <a:rPr lang="es-PE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s-PE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PE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s-PE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s-PE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sSub>
                          <m:sSubPr>
                            <m:ctrlPr>
                              <a:rPr lang="el-GR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sub>
                        </m:sSub>
                        <m:d>
                          <m:dPr>
                            <m:ctrlP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s-PE" sz="2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PE" sz="2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s-PE" sz="2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$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l-GR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sSup>
                          <m:sSupPr>
                            <m:ctrlPr>
                              <a:rPr lang="el-GR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den>
                    </m:f>
                    <m:r>
                      <a:rPr lang="es-PE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s-PE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]−</m:t>
                    </m:r>
                  </m:oMath>
                </a14:m>
                <a:r>
                  <a:rPr lang="es-PE" sz="24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r>
                          <a:rPr lang="es-P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  <m:r>
                          <a:rPr lang="es-P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s-P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  <m:r>
                          <a:rPr lang="es-P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s-P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p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  <m:r>
                          <a:rPr lang="es-P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s-P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s-P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s-P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  <m:r>
                          <a:rPr lang="es-P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sSup>
                          <m:sSupPr>
                            <m:ctrlPr>
                              <a:rPr lang="el-GR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den>
                    </m:f>
                    <m:r>
                      <a:rPr lang="es-PE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s-PE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PE" sz="2200" b="1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DFFED7E-EBA1-9153-90D4-B37663E36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344" y="1191568"/>
                <a:ext cx="11665296" cy="5117751"/>
              </a:xfrm>
              <a:blipFill>
                <a:blip r:embed="rId2"/>
                <a:stretch>
                  <a:fillRect l="-784" r="-26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DFE73A-BCB0-80C4-264C-C1FF5205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24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4257283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63D8-F322-C8DD-84CB-618FABED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2CE2E-D979-C234-90F1-5B8D56D6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10515600" cy="1077690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Depósitos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17889-29EF-A5B2-2F4E-9852D010F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376" y="1191568"/>
                <a:ext cx="11377264" cy="5117751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PE" sz="2400" b="1" dirty="0"/>
                  <a:t>Proceso de optimización : Depósitos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sz="2400" dirty="0"/>
                  <a:t>Arreglando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r>
                          <a:rPr lang="el-G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𝝅</m:t>
                        </m:r>
                      </m:num>
                      <m:den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sSup>
                          <m:sSupPr>
                            <m:ctrlPr>
                              <a:rPr lang="el-GR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den>
                    </m:f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p>
                    <m:sSub>
                      <m:sSub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−[</m:t>
                    </m:r>
                    <m:sSubSup>
                      <m:sSubSup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sub>
                      <m:sup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</m:t>
                        </m:r>
                      </m:sup>
                    </m:sSubSup>
                    <m:d>
                      <m:d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sSub>
                          <m:sSubPr>
                            <m:ctrlPr>
                              <a:rPr lang="el-GR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sub>
                        </m:sSub>
                        <m:d>
                          <m:dPr>
                            <m:ctrlP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s-PE" sz="2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PE" sz="2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𝑫</m:t>
                                </m:r>
                              </m:e>
                              <m:sup>
                                <m:r>
                                  <a:rPr lang="es-PE" sz="2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$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sSup>
                          <m:sSupPr>
                            <m:ctrlPr>
                              <a:rPr lang="el-GR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den>
                    </m:f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]−</m:t>
                    </m:r>
                  </m:oMath>
                </a14:m>
                <a:r>
                  <a:rPr lang="es-PE" sz="24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s-P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  <m:r>
                          <a:rPr lang="es-P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s-P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s-P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  <m:r>
                          <a:rPr lang="es-P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l-GR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  <m:sSup>
                          <m:sSupPr>
                            <m:ctrlPr>
                              <a:rPr lang="el-GR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p>
                            <m:r>
                              <a:rPr lang="es-PE" sz="2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$</m:t>
                            </m:r>
                          </m:sup>
                        </m:sSup>
                      </m:den>
                    </m:f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s-PE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p>
                      <m:sSub>
                        <m:sSub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PE" sz="2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s-PE" sz="2200" b="1" dirty="0"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r>
                            <a:rPr lang="es-PE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p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l-GR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p>
                            <m:sSupPr>
                              <m:ctrlPr>
                                <a:rPr lang="el-GR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den>
                      </m:f>
                      <m:r>
                        <a:rPr lang="es-PE" sz="2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  <m:sup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bSup>
                      <m:d>
                        <m:dPr>
                          <m:ctrlP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r>
                        <a:rPr lang="es-PE" sz="2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l-GR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  <m:d>
                            <m:dPr>
                              <m:ctrlP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s-PE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l-GR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p>
                            <m:sSupPr>
                              <m:ctrlPr>
                                <a:rPr lang="el-GR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s-PE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s-PE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sub>
                          </m:sSub>
                        </m:den>
                      </m:f>
                      <m:r>
                        <a:rPr lang="es-PE" sz="2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f>
                        <m:fPr>
                          <m:ctrlPr>
                            <a:rPr lang="es-PE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s-PE" sz="2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PE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PE" sz="2200" b="1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17889-29EF-A5B2-2F4E-9852D010F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191568"/>
                <a:ext cx="11377264" cy="5117751"/>
              </a:xfrm>
              <a:blipFill>
                <a:blip r:embed="rId2"/>
                <a:stretch>
                  <a:fillRect l="-85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4C98-9B56-5BAE-600E-0973FC67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25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727758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7205-3DCB-CC38-2FB5-6F908AC3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DEC10-1010-2A38-E076-4221CCA8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10515600" cy="1077690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Depósitos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8173091-EC04-498E-FDF6-D45B1610E8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376" y="1191568"/>
                <a:ext cx="11377264" cy="5117751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PE" sz="2400" b="1" dirty="0"/>
                  <a:t>Proceso de optimización : Depósitos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sz="2400" dirty="0"/>
                  <a:t>Arreglando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  <m:sup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bSup>
                      <m:d>
                        <m:d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sSup>
                                <m:sSupPr>
                                  <m:ctrlP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sub>
                          </m:sSub>
                        </m:den>
                      </m:f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f>
                        <m:f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𝜹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sub>
                          </m:sSub>
                        </m:den>
                      </m:f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p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p>
                      <m:sSub>
                        <m:sSub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PE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s-PE" sz="2200" b="1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p>
                                  <m: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l-GR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p>
                            <m:sSupPr>
                              <m:ctrlPr>
                                <a:rPr lang="el-GR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PE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  <m:sup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bSup>
                      <m:d>
                        <m:d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r>
                        <a:rPr lang="es-PE" sz="2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PE" sz="2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p>
                      <m:r>
                        <a:rPr lang="es-PE" sz="2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s-PE" sz="2200" b="1" dirty="0"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r>
                            <a:rPr lang="es-PE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p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r>
                                <a:rPr lang="es-PE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l-GR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p>
                            <m:sSupPr>
                              <m:ctrlPr>
                                <a:rPr lang="el-GR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sub>
                          </m:sSub>
                        </m:den>
                      </m:f>
                      <m:r>
                        <a:rPr lang="es-PE" sz="2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PE" sz="22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sSup>
                                    <m:sSupPr>
                                      <m:ctrlPr>
                                        <a:rPr lang="es-PE" sz="22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PE" sz="22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𝑫</m:t>
                                      </m:r>
                                    </m:e>
                                    <m:sup>
                                      <m:r>
                                        <a:rPr lang="es-PE" sz="22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$</m:t>
                                      </m:r>
                                    </m:sup>
                                  </m:sSup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PE" sz="22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PE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𝜹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s-PE" sz="22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PE" sz="22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𝑫</m:t>
                                      </m:r>
                                    </m:e>
                                    <m:sup>
                                      <m:r>
                                        <a:rPr lang="es-PE" sz="22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$</m:t>
                                      </m:r>
                                    </m:sup>
                                  </m:sSup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</m:sSub>
                      <m:d>
                        <m:dPr>
                          <m:ctrlP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s-PE" sz="2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r>
                        <a:rPr lang="es-PE" sz="2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s-PE" sz="2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s-PE" sz="22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sub>
                          </m:sSub>
                        </m:den>
                      </m:f>
                      <m:r>
                        <a:rPr lang="es-PE" sz="22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s-PE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8173091-EC04-498E-FDF6-D45B1610E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191568"/>
                <a:ext cx="11377264" cy="5117751"/>
              </a:xfrm>
              <a:blipFill>
                <a:blip r:embed="rId2"/>
                <a:stretch>
                  <a:fillRect l="-85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4CE6C6-3855-1A42-AF13-CD2C9BEF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26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664967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0904-30F3-06F7-C3C8-BD539A6F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CC6BD-ED4A-2D3C-EE01-B0C8F3B0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10515600" cy="1077690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Depósitos</a:t>
            </a:r>
            <a:endParaRPr lang="es-PE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C3AACA2-F30C-F287-B5A2-45AA3E03E2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376" y="1191568"/>
                <a:ext cx="11377264" cy="5117751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PE" sz="2400" b="1" dirty="0"/>
                  <a:t>Proceso de optimización : Depósitos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sz="2400" dirty="0"/>
                  <a:t>Arreglando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  <m:sup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bSup>
                      <m:d>
                        <m:d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−(</m:t>
                      </m:r>
                      <m:f>
                        <m:f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sSup>
                                <m:sSupPr>
                                  <m:ctrlP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sub>
                          </m:sSub>
                        </m:den>
                      </m:f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f>
                        <m:f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𝜹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sub>
                          </m:sSub>
                        </m:den>
                      </m:f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p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PE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s-PE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s-PE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$</m:t>
                          </m:r>
                        </m:sup>
                      </m:sSup>
                      <m:sSub>
                        <m:sSub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PE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s-PE" sz="2200" b="1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r>
                            <a:rPr lang="es-PE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p>
                                  <m: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sSup>
                                <m:sSupPr>
                                  <m:ctrlP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e>
                                <m:sup>
                                  <m:r>
                                    <a:rPr lang="es-PE" sz="2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$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l-GR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p>
                            <m:sSupPr>
                              <m:ctrlPr>
                                <a:rPr lang="el-GR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s-PE" sz="2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$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PE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ES" sz="2400" dirty="0"/>
                  <a:t>Comparado con el modelo de una moneda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s-PE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s-PE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s-PE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s-PE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</m:d>
                      <m:r>
                        <a:rPr lang="es-PE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𝑹</m:t>
                      </m:r>
                      <m:r>
                        <a:rPr lang="es-PE" sz="24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s-PE" sz="2400" b="1" dirty="0"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s-PE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r>
                            <a:rPr lang="es-P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s-P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  <m:r>
                                <a:rPr lang="es-P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r>
                                <a:rPr lang="es-PE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</m:d>
                        </m:num>
                        <m:den>
                          <m:r>
                            <a:rPr lang="el-GR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r>
                            <a:rPr lang="es-PE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den>
                      </m:f>
                    </m:oMath>
                  </m:oMathPara>
                </a14:m>
                <a:endParaRPr lang="es-PE" sz="24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PE" sz="2200" b="1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C3AACA2-F30C-F287-B5A2-45AA3E03E2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191568"/>
                <a:ext cx="11377264" cy="5117751"/>
              </a:xfrm>
              <a:blipFill>
                <a:blip r:embed="rId2"/>
                <a:stretch>
                  <a:fillRect l="-85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B9028A-3C61-533C-38AF-673464A1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27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961876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7266-459D-BAC8-25C3-355B13B24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A472C-A54E-23F2-AD25-04F96CDF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10515600" cy="1077690"/>
          </a:xfrm>
        </p:spPr>
        <p:txBody>
          <a:bodyPr/>
          <a:lstStyle/>
          <a:p>
            <a:r>
              <a:rPr lang="es-ES" altLang="es-PE" sz="36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interés: Depósitos</a:t>
            </a:r>
            <a:endParaRPr lang="es-PE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13561E-7F98-0CE9-D0CC-F9CE739EE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052736"/>
            <a:ext cx="11377264" cy="561662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PE" sz="2200" b="1" dirty="0"/>
              <a:t>Proceso de optimización : Depósitos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Cuando hay dos monedas, la tasa de depósitos es mayor. 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Ello significa que el banco ofrece una tasa de interés más alta en comparación con la tasa de interés cuando solo hay una moneda (debido a la sustituibilidad entre monedas: si los depósitos en $ ofrecen una tasa más baja, los depositantes se moverán hacia los S/, y viceversa). 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Esta dinámica presiona las tasas hacia arriba y reduce cualquier diferencia (spread) entre las tasas de ambas monedas. Esta es la consecuencia de la competencia entre las dos monedas. 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La sustituibilidad hará que haya simultaneidad entre tasas de interés de depósitos en S/ y $ así como hubo en las tasas de créditos en S/ y $, porque los agentes se están moviendo entre una moneda u otra.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71FF96-7E7E-B753-5642-18EB7856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39104-18EF-4017-8EC8-89CC3800080B}" type="slidenum">
              <a:rPr lang="es-PE" altLang="es-PE" smtClean="0"/>
              <a:pPr>
                <a:defRPr/>
              </a:pPr>
              <a:t>28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595978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73A0-B64E-C5DC-452C-310D8F9C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114;p3">
            <a:extLst>
              <a:ext uri="{FF2B5EF4-FFF2-40B4-BE49-F238E27FC236}">
                <a16:creationId xmlns:a16="http://schemas.microsoft.com/office/drawing/2014/main" id="{5FE91594-CF19-A71F-4331-B7BC24CD5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13" y="908050"/>
            <a:ext cx="11941175" cy="1008063"/>
          </a:xfrm>
        </p:spPr>
        <p:txBody>
          <a:bodyPr lIns="162533" tIns="162533" rIns="162533" bIns="162533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ES" altLang="es-PE" sz="5600">
                <a:solidFill>
                  <a:srgbClr val="000000"/>
                </a:solidFill>
              </a:rPr>
              <a:t>CONTENIDO DETALLADO</a:t>
            </a:r>
            <a:endParaRPr lang="es-PE" altLang="es-PE" sz="5600">
              <a:solidFill>
                <a:srgbClr val="000000"/>
              </a:solidFill>
            </a:endParaRPr>
          </a:p>
        </p:txBody>
      </p:sp>
      <p:sp>
        <p:nvSpPr>
          <p:cNvPr id="36867" name="CuadroTexto 7">
            <a:extLst>
              <a:ext uri="{FF2B5EF4-FFF2-40B4-BE49-F238E27FC236}">
                <a16:creationId xmlns:a16="http://schemas.microsoft.com/office/drawing/2014/main" id="{B8FCAEE5-63DF-0553-CFA2-9993FAE95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2348880"/>
            <a:ext cx="8202612" cy="155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altLang="es-PE" sz="3200" b="1" dirty="0">
                <a:latin typeface="Arial" panose="020B0604020202020204" pitchFamily="34" charset="0"/>
                <a:cs typeface="Arial" panose="020B0604020202020204" pitchFamily="34" charset="0"/>
              </a:rPr>
              <a:t>Determinación de tasas de interés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3200" b="1" dirty="0">
                <a:latin typeface="Arial" panose="020B0604020202020204" pitchFamily="34" charset="0"/>
                <a:cs typeface="Arial" panose="020B0604020202020204" pitchFamily="34" charset="0"/>
              </a:rPr>
              <a:t>Mercado de competencia monopolística</a:t>
            </a:r>
          </a:p>
        </p:txBody>
      </p:sp>
    </p:spTree>
    <p:extLst>
      <p:ext uri="{BB962C8B-B14F-4D97-AF65-F5344CB8AC3E}">
        <p14:creationId xmlns:p14="http://schemas.microsoft.com/office/powerpoint/2010/main" val="123949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6795778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ADQUISICIÓN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460809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9444A2-DADC-44F4-755C-889FF961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980728"/>
            <a:ext cx="3254022" cy="53497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E928516-42D3-9E76-756F-A86AA3013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302" y="987480"/>
            <a:ext cx="3254022" cy="53497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A61045CA-28C7-F74E-9B5C-289444F77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639" y="2102442"/>
            <a:ext cx="10775003" cy="9534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De Gregorio Macroeconomía (7a ed.):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s-PE" altLang="es-PE" sz="2000" u="sng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Capitulo 16</a:t>
            </a: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Oferta de dinero, politica monetaria e inflación (415-443)</a:t>
            </a:r>
          </a:p>
        </p:txBody>
      </p:sp>
      <p:sp>
        <p:nvSpPr>
          <p:cNvPr id="3" name="Google Shape;109;p2">
            <a:extLst>
              <a:ext uri="{FF2B5EF4-FFF2-40B4-BE49-F238E27FC236}">
                <a16:creationId xmlns:a16="http://schemas.microsoft.com/office/drawing/2014/main" id="{6E3E92D3-64DD-DFDE-F5B8-873401D42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640" y="987357"/>
            <a:ext cx="7375923" cy="77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lvl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2pPr>
            <a:lvl3pPr lvl="2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3pPr>
            <a:lvl4pPr lvl="3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4pPr>
            <a:lvl5pPr lvl="4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5pPr>
            <a:lvl6pPr marL="457200" lvl="5" algn="ct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6pPr>
            <a:lvl7pPr marL="914400" lvl="6" algn="ct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7pPr>
            <a:lvl8pPr marL="1371600" lvl="7" algn="ct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8pPr>
            <a:lvl9pPr marL="1828800" lvl="8" algn="ct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s-ES" altLang="es-PE" sz="3300" dirty="0">
                <a:solidFill>
                  <a:srgbClr val="FFC000"/>
                </a:solidFill>
              </a:rPr>
              <a:t>Fuente: </a:t>
            </a:r>
            <a:endParaRPr lang="es-PE" altLang="es-PE" sz="3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7588889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TRANSFERENCIA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510350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EF98-59B0-4CCC-9501-870121BDD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32656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s-ES" sz="4400" dirty="0"/>
              <a:t>SET DE EJERCICIOS 1</a:t>
            </a:r>
            <a:endParaRPr lang="es-P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D465D4-FB2B-F573-4C98-888CE9D25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514" y="1857618"/>
            <a:ext cx="98916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lang="es-ES" altLang="es-PE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lang="es-ES" altLang="es-PE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s-ES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5620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7588889" cy="211151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CIERRE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3780397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1;p17">
            <a:extLst>
              <a:ext uri="{FF2B5EF4-FFF2-40B4-BE49-F238E27FC236}">
                <a16:creationId xmlns:a16="http://schemas.microsoft.com/office/drawing/2014/main" id="{6496F065-121F-9968-CCBE-203352754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0013" y="449263"/>
            <a:ext cx="6477000" cy="889000"/>
          </a:xfrm>
        </p:spPr>
        <p:txBody>
          <a:bodyPr lIns="121900" tIns="121900" rIns="121900" bIns="121900" rtlCol="0" anchor="t"/>
          <a:lstStyle/>
          <a:p>
            <a:pPr algn="ctr">
              <a:defRPr/>
            </a:pPr>
            <a:r>
              <a:rPr lang="es-ES" sz="3733" dirty="0">
                <a:solidFill>
                  <a:srgbClr val="FE9B03"/>
                </a:solidFill>
                <a:latin typeface="Tahoma"/>
                <a:ea typeface="Tahoma"/>
                <a:cs typeface="Tahoma"/>
                <a:sym typeface="Tahoma"/>
              </a:rPr>
              <a:t>Actividad de cierre</a:t>
            </a:r>
            <a:endParaRPr sz="3733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0690FCD-DD63-A502-439B-B7C52359A7B0}"/>
              </a:ext>
            </a:extLst>
          </p:cNvPr>
          <p:cNvSpPr txBox="1"/>
          <p:nvPr/>
        </p:nvSpPr>
        <p:spPr>
          <a:xfrm>
            <a:off x="649288" y="1908175"/>
            <a:ext cx="5807075" cy="37548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800" dirty="0"/>
              <a:t>Se </a:t>
            </a:r>
            <a:r>
              <a:rPr lang="en-US" sz="2800" dirty="0" err="1"/>
              <a:t>evalúa</a:t>
            </a:r>
            <a:r>
              <a:rPr lang="en-US" sz="2800" dirty="0"/>
              <a:t> lo  </a:t>
            </a:r>
            <a:r>
              <a:rPr lang="en-US" sz="2800" dirty="0" err="1"/>
              <a:t>aprendido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medio: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De </a:t>
            </a:r>
            <a:r>
              <a:rPr lang="en-US" sz="2800" dirty="0" err="1"/>
              <a:t>comentarios</a:t>
            </a:r>
            <a:r>
              <a:rPr lang="en-US" sz="2800" dirty="0"/>
              <a:t> de </a:t>
            </a:r>
            <a:r>
              <a:rPr lang="en-US" sz="2800" dirty="0" err="1"/>
              <a:t>noticias</a:t>
            </a:r>
            <a:r>
              <a:rPr lang="en-US" sz="2800" dirty="0"/>
              <a:t> de la </a:t>
            </a:r>
            <a:r>
              <a:rPr lang="en-US" sz="2800" dirty="0" err="1"/>
              <a:t>actualidad</a:t>
            </a:r>
            <a:r>
              <a:rPr lang="en-US" sz="2800" dirty="0"/>
              <a:t> </a:t>
            </a:r>
            <a:r>
              <a:rPr lang="en-US" sz="2800" dirty="0" err="1"/>
              <a:t>relacionados</a:t>
            </a:r>
            <a:r>
              <a:rPr lang="en-US" sz="2800" dirty="0"/>
              <a:t> al consume, inversion y </a:t>
            </a:r>
            <a:r>
              <a:rPr lang="en-US" sz="2800" dirty="0" err="1"/>
              <a:t>gasto</a:t>
            </a:r>
            <a:r>
              <a:rPr lang="en-US" sz="2800" dirty="0"/>
              <a:t> de </a:t>
            </a:r>
            <a:r>
              <a:rPr lang="en-US" sz="2800" dirty="0" err="1"/>
              <a:t>gobierno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A70155-44DB-2A74-8D9B-7072862D3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532" y="1142434"/>
            <a:ext cx="3749171" cy="50948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13803</TotalTime>
  <Words>1997</Words>
  <Application>Microsoft Office PowerPoint</Application>
  <PresentationFormat>Panorámica</PresentationFormat>
  <Paragraphs>175</Paragraphs>
  <Slides>36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6" baseType="lpstr">
      <vt:lpstr>Abril Fatface</vt:lpstr>
      <vt:lpstr>Arial</vt:lpstr>
      <vt:lpstr>Calibri</vt:lpstr>
      <vt:lpstr>Calibri Light</vt:lpstr>
      <vt:lpstr>Cambria Math</vt:lpstr>
      <vt:lpstr>Tahoma</vt:lpstr>
      <vt:lpstr>Times New Roman</vt:lpstr>
      <vt:lpstr>Verdana</vt:lpstr>
      <vt:lpstr>Wingdings</vt:lpstr>
      <vt:lpstr>Tema de Office</vt:lpstr>
      <vt:lpstr>DETERMINACION DE TASAS DE INTERES (2ª PARTE)</vt:lpstr>
      <vt:lpstr>IMPACTO (IATC)</vt:lpstr>
      <vt:lpstr>Logro de aprendizaje: </vt:lpstr>
      <vt:lpstr>CONTENIDO DETALLADO</vt:lpstr>
      <vt:lpstr>Determinación de tasas de interés: Introducción</vt:lpstr>
      <vt:lpstr>Determinación de tasas de interés: Créditos</vt:lpstr>
      <vt:lpstr>Determinación de tasas de interés: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 : Créditos</vt:lpstr>
      <vt:lpstr>Determinación de tasas de interés: Depósitos</vt:lpstr>
      <vt:lpstr>Determinación de tasas de interés: Depósitos</vt:lpstr>
      <vt:lpstr>Determinación de tasas de interés: Depósitos</vt:lpstr>
      <vt:lpstr>Determinación de tasas de interés: Depósitos</vt:lpstr>
      <vt:lpstr>Determinación de tasas de interés: Depósitos</vt:lpstr>
      <vt:lpstr>Determinación de tasas de interés: Depósitos</vt:lpstr>
      <vt:lpstr>Determinación de tasas de interés: Depósitos</vt:lpstr>
      <vt:lpstr>CONTENIDO DETALLADO</vt:lpstr>
      <vt:lpstr>ADQUISICIÓN (IATC)</vt:lpstr>
      <vt:lpstr>Presentación de PowerPoint</vt:lpstr>
      <vt:lpstr>Presentación de PowerPoint</vt:lpstr>
      <vt:lpstr>TRANSFERENCIA (IATC)</vt:lpstr>
      <vt:lpstr>SET DE EJERCICIOS 1</vt:lpstr>
      <vt:lpstr>CIERRE (IATC)</vt:lpstr>
      <vt:lpstr>Actividad de cierre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Nora</dc:creator>
  <cp:lastModifiedBy>Azanero Saona, Jose  Manuel</cp:lastModifiedBy>
  <cp:revision>311</cp:revision>
  <cp:lastPrinted>2024-03-21T21:38:00Z</cp:lastPrinted>
  <dcterms:created xsi:type="dcterms:W3CDTF">2006-01-13T00:27:24Z</dcterms:created>
  <dcterms:modified xsi:type="dcterms:W3CDTF">2025-10-14T23:23:07Z</dcterms:modified>
</cp:coreProperties>
</file>