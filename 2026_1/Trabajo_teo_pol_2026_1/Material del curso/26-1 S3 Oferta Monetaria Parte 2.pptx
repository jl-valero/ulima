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8" r:id="rId1"/>
  </p:sldMasterIdLst>
  <p:notesMasterIdLst>
    <p:notesMasterId r:id="rId29"/>
  </p:notesMasterIdLst>
  <p:handoutMasterIdLst>
    <p:handoutMasterId r:id="rId30"/>
  </p:handoutMasterIdLst>
  <p:sldIdLst>
    <p:sldId id="256" r:id="rId2"/>
    <p:sldId id="569" r:id="rId3"/>
    <p:sldId id="399" r:id="rId4"/>
    <p:sldId id="307" r:id="rId5"/>
    <p:sldId id="544" r:id="rId6"/>
    <p:sldId id="334" r:id="rId7"/>
    <p:sldId id="551" r:id="rId8"/>
    <p:sldId id="590" r:id="rId9"/>
    <p:sldId id="431" r:id="rId10"/>
    <p:sldId id="439" r:id="rId11"/>
    <p:sldId id="440" r:id="rId12"/>
    <p:sldId id="438" r:id="rId13"/>
    <p:sldId id="441" r:id="rId14"/>
    <p:sldId id="604" r:id="rId15"/>
    <p:sldId id="442" r:id="rId16"/>
    <p:sldId id="443" r:id="rId17"/>
    <p:sldId id="584" r:id="rId18"/>
    <p:sldId id="605" r:id="rId19"/>
    <p:sldId id="565" r:id="rId20"/>
    <p:sldId id="566" r:id="rId21"/>
    <p:sldId id="603" r:id="rId22"/>
    <p:sldId id="606" r:id="rId23"/>
    <p:sldId id="602" r:id="rId24"/>
    <p:sldId id="570" r:id="rId25"/>
    <p:sldId id="264" r:id="rId26"/>
    <p:sldId id="571" r:id="rId27"/>
    <p:sldId id="401" r:id="rId28"/>
  </p:sldIdLst>
  <p:sldSz cx="12192000" cy="6858000"/>
  <p:notesSz cx="6889750" cy="10021888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F2BC76EB-3AE8-4CB1-8E09-1D17B2ACCE16}">
          <p14:sldIdLst>
            <p14:sldId id="256"/>
          </p14:sldIdLst>
        </p14:section>
        <p14:section name="IMPACTO" id="{02D12366-C454-4177-9040-64585DE89E1E}">
          <p14:sldIdLst>
            <p14:sldId id="569"/>
          </p14:sldIdLst>
        </p14:section>
        <p14:section name="Logro del Aprendizaje" id="{C05FA2BF-8577-4C57-A2AE-357A0843E586}">
          <p14:sldIdLst>
            <p14:sldId id="399"/>
          </p14:sldIdLst>
        </p14:section>
        <p14:section name="Contenido Detallado" id="{9D2CF210-996B-4269-8B0B-777849BBED89}">
          <p14:sldIdLst>
            <p14:sldId id="307"/>
          </p14:sldIdLst>
        </p14:section>
        <p14:section name="Bases Teóricas" id="{799450E8-B4B3-4BCC-A1DF-8998175AB7ED}">
          <p14:sldIdLst>
            <p14:sldId id="544"/>
            <p14:sldId id="334"/>
            <p14:sldId id="551"/>
          </p14:sldIdLst>
        </p14:section>
        <p14:section name="Pol Monetaria" id="{DDA1AF9C-AD69-42B4-9374-46E089A014BB}">
          <p14:sldIdLst>
            <p14:sldId id="590"/>
            <p14:sldId id="431"/>
            <p14:sldId id="439"/>
          </p14:sldIdLst>
        </p14:section>
        <p14:section name="OMAs" id="{C8768FD0-7E86-45AC-BA1C-F5D8C87F0D8F}">
          <p14:sldIdLst>
            <p14:sldId id="440"/>
            <p14:sldId id="438"/>
          </p14:sldIdLst>
        </p14:section>
        <p14:section name="Facilidades Financ" id="{BB1CA1B8-B28E-407D-9348-DE4BCFEF2C59}">
          <p14:sldIdLst>
            <p14:sldId id="441"/>
            <p14:sldId id="604"/>
            <p14:sldId id="442"/>
            <p14:sldId id="443"/>
          </p14:sldIdLst>
        </p14:section>
        <p14:section name="Operaciones con ME" id="{DDB9178F-6ACF-4CE3-809F-8230B2AC8EB6}">
          <p14:sldIdLst>
            <p14:sldId id="584"/>
          </p14:sldIdLst>
        </p14:section>
        <p14:section name="Encaje" id="{6FA0C6C7-3341-4892-9C44-99CCBAC2B997}">
          <p14:sldIdLst>
            <p14:sldId id="605"/>
            <p14:sldId id="565"/>
            <p14:sldId id="566"/>
          </p14:sldIdLst>
        </p14:section>
        <p14:section name="Esterilización" id="{9370CCDF-3018-4450-A8FF-978C20DA31AC}">
          <p14:sldIdLst>
            <p14:sldId id="603"/>
            <p14:sldId id="606"/>
          </p14:sldIdLst>
        </p14:section>
        <p14:section name="Esterilización" id="{3914BDFF-8281-4484-9461-FF75B4E2D02B}">
          <p14:sldIdLst>
            <p14:sldId id="602"/>
          </p14:sldIdLst>
        </p14:section>
        <p14:section name="Aplicaciones" id="{98D950DD-60EC-4E19-8632-EDFA52E55613}">
          <p14:sldIdLst>
            <p14:sldId id="570"/>
            <p14:sldId id="264"/>
          </p14:sldIdLst>
        </p14:section>
        <p14:section name="Actividades de Cierre" id="{F8B690E5-A2A7-40B5-B696-50B7305016F2}">
          <p14:sldIdLst>
            <p14:sldId id="571"/>
            <p14:sldId id="4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7">
          <p15:clr>
            <a:srgbClr val="A4A3A4"/>
          </p15:clr>
        </p15:guide>
        <p15:guide id="2" pos="217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E84706"/>
    <a:srgbClr val="FFFFFF"/>
    <a:srgbClr val="F8F8F8"/>
    <a:srgbClr val="CCFFCC"/>
    <a:srgbClr val="33CC33"/>
    <a:srgbClr val="CCFF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85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2323" y="72"/>
      </p:cViewPr>
      <p:guideLst>
        <p:guide orient="horz" pos="3157"/>
        <p:guide pos="217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4">
            <a:extLst>
              <a:ext uri="{FF2B5EF4-FFF2-40B4-BE49-F238E27FC236}">
                <a16:creationId xmlns:a16="http://schemas.microsoft.com/office/drawing/2014/main" id="{24F082F9-59C7-AB60-D213-A451814EBD3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1865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7F7D5EC9-3C05-AAB2-E798-5873C121082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3663" y="951865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933F690-987B-48DE-A18B-471B5D26D24A}" type="slidenum">
              <a:rPr lang="es-ES" altLang="es-PE"/>
              <a:pPr>
                <a:defRPr/>
              </a:pPr>
              <a:t>‹Nº›</a:t>
            </a:fld>
            <a:endParaRPr lang="es-ES" altLang="es-PE"/>
          </a:p>
        </p:txBody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1B6542B1-F7AE-9289-691F-5AF0E43C049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06400" y="327025"/>
            <a:ext cx="38354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900" i="1">
                <a:latin typeface="Arial" charset="0"/>
              </a:defRPr>
            </a:lvl1pPr>
          </a:lstStyle>
          <a:p>
            <a:pPr>
              <a:defRPr/>
            </a:pPr>
            <a:r>
              <a:rPr lang="es-PE"/>
              <a:t>MEDICIÓN DE ALGUNOS AGREGADOS MACROECNÓMICOS</a:t>
            </a:r>
          </a:p>
        </p:txBody>
      </p:sp>
      <p:sp>
        <p:nvSpPr>
          <p:cNvPr id="31749" name="Line 8">
            <a:extLst>
              <a:ext uri="{FF2B5EF4-FFF2-40B4-BE49-F238E27FC236}">
                <a16:creationId xmlns:a16="http://schemas.microsoft.com/office/drawing/2014/main" id="{8657A121-39FC-C926-152D-18831E9527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475" y="550863"/>
            <a:ext cx="6073775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3168" tIns="46584" rIns="93168" bIns="46584" anchor="ctr">
            <a:spAutoFit/>
          </a:bodyPr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>
            <a:extLst>
              <a:ext uri="{FF2B5EF4-FFF2-40B4-BE49-F238E27FC236}">
                <a16:creationId xmlns:a16="http://schemas.microsoft.com/office/drawing/2014/main" id="{D761BE1C-B045-6F0B-AEA4-584E2236529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3663" y="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23" name="Rectangle 4">
            <a:extLst>
              <a:ext uri="{FF2B5EF4-FFF2-40B4-BE49-F238E27FC236}">
                <a16:creationId xmlns:a16="http://schemas.microsoft.com/office/drawing/2014/main" id="{18E8F9F7-0FE0-607B-D9A0-93F4B326472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3188" y="750888"/>
            <a:ext cx="6683375" cy="3759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6F58775B-834D-8ABF-D20F-BD7BB4487C1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5" y="4760913"/>
            <a:ext cx="5511800" cy="451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FC2488DD-B7E7-707B-60A4-5FCA6C9E758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1865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4D91AA3C-6C5C-0B71-CB7A-86C00AAEDD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3663" y="9518650"/>
            <a:ext cx="29845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6B56DB8-13C8-47F4-AAD3-8A215483D5E4}" type="slidenum">
              <a:rPr lang="es-ES" altLang="es-PE"/>
              <a:pPr>
                <a:defRPr/>
              </a:pPr>
              <a:t>‹Nº›</a:t>
            </a:fld>
            <a:endParaRPr lang="es-ES" altLang="es-PE"/>
          </a:p>
        </p:txBody>
      </p:sp>
      <p:sp>
        <p:nvSpPr>
          <p:cNvPr id="3" name="Marcador de encabezado 2">
            <a:extLst>
              <a:ext uri="{FF2B5EF4-FFF2-40B4-BE49-F238E27FC236}">
                <a16:creationId xmlns:a16="http://schemas.microsoft.com/office/drawing/2014/main" id="{747D111B-10EF-7C8A-1DC6-3B18114088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3238"/>
          </a:xfrm>
          <a:prstGeom prst="rect">
            <a:avLst/>
          </a:prstGeom>
        </p:spPr>
        <p:txBody>
          <a:bodyPr vert="horz" lIns="93168" tIns="46584" rIns="93168" bIns="46584" rtlCol="0"/>
          <a:lstStyle>
            <a:lvl1pPr algn="l">
              <a:defRPr sz="1200"/>
            </a:lvl1pPr>
          </a:lstStyle>
          <a:p>
            <a:pPr>
              <a:defRPr/>
            </a:pPr>
            <a:endParaRPr 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196;p1:notes">
            <a:extLst>
              <a:ext uri="{FF2B5EF4-FFF2-40B4-BE49-F238E27FC236}">
                <a16:creationId xmlns:a16="http://schemas.microsoft.com/office/drawing/2014/main" id="{21B8F38F-0A8D-DE8C-F71C-19BF8F53CF7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66725" y="692150"/>
            <a:ext cx="6151563" cy="346075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round/>
            <a:headEnd type="none" w="sm" len="sm"/>
            <a:tailEnd type="none" w="sm" len="sm"/>
          </a:ln>
        </p:spPr>
      </p:sp>
      <p:sp>
        <p:nvSpPr>
          <p:cNvPr id="33795" name="Google Shape;197;p1:notes">
            <a:extLst>
              <a:ext uri="{FF2B5EF4-FFF2-40B4-BE49-F238E27FC236}">
                <a16:creationId xmlns:a16="http://schemas.microsoft.com/office/drawing/2014/main" id="{8BF3E4B7-7CE0-7AE1-3E94-A0885064C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4384675"/>
            <a:ext cx="5668963" cy="415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53" tIns="93153" rIns="93153" bIns="93153"/>
          <a:lstStyle/>
          <a:p>
            <a:pPr>
              <a:spcBef>
                <a:spcPct val="0"/>
              </a:spcBef>
              <a:buSzPts val="1100"/>
            </a:pPr>
            <a:endParaRPr lang="es-PE" altLang="es-P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B56DB8-13C8-47F4-AAD3-8A215483D5E4}" type="slidenum">
              <a:rPr lang="es-ES" altLang="es-PE" smtClean="0"/>
              <a:pPr>
                <a:defRPr/>
              </a:pPr>
              <a:t>4</a:t>
            </a:fld>
            <a:endParaRPr lang="es-ES" altLang="es-PE"/>
          </a:p>
        </p:txBody>
      </p:sp>
      <p:sp>
        <p:nvSpPr>
          <p:cNvPr id="5" name="Marcador de encabezado 4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10889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9791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  <a:t>9</a:t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90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/>
            <a:endParaRPr lang="es-ES" altLang="en-US" dirty="0"/>
          </a:p>
        </p:txBody>
      </p:sp>
    </p:spTree>
    <p:extLst>
      <p:ext uri="{BB962C8B-B14F-4D97-AF65-F5344CB8AC3E}">
        <p14:creationId xmlns:p14="http://schemas.microsoft.com/office/powerpoint/2010/main" val="1945432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en-US" altLang="en-US" sz="1200" b="0" dirty="0">
                <a:latin typeface="Times New Roman" panose="02020603050405020304" pitchFamily="18" charset="0"/>
              </a:rPr>
              <a:t>12</a:t>
            </a:fld>
            <a:endParaRPr lang="en-US" altLang="en-US" sz="1200" b="0" dirty="0">
              <a:latin typeface="Times New Roman" panose="02020603050405020304" pitchFamily="18" charset="0"/>
            </a:endParaRPr>
          </a:p>
        </p:txBody>
      </p:sp>
      <p:sp>
        <p:nvSpPr>
          <p:cNvPr id="6041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042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/>
            <a:endParaRPr lang="es-ES" altLang="en-US" dirty="0"/>
          </a:p>
        </p:txBody>
      </p:sp>
    </p:spTree>
    <p:extLst>
      <p:ext uri="{BB962C8B-B14F-4D97-AF65-F5344CB8AC3E}">
        <p14:creationId xmlns:p14="http://schemas.microsoft.com/office/powerpoint/2010/main" val="4244441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3442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2511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Google Shape;226;p5:notes">
            <a:extLst>
              <a:ext uri="{FF2B5EF4-FFF2-40B4-BE49-F238E27FC236}">
                <a16:creationId xmlns:a16="http://schemas.microsoft.com/office/drawing/2014/main" id="{820BDFAA-EEE0-2326-BF07-C3EAAE63306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66725" y="692150"/>
            <a:ext cx="6151563" cy="346075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round/>
            <a:headEnd type="none" w="sm" len="sm"/>
            <a:tailEnd type="none" w="sm" len="sm"/>
          </a:ln>
        </p:spPr>
      </p:sp>
      <p:sp>
        <p:nvSpPr>
          <p:cNvPr id="114691" name="Google Shape;227;p5:notes">
            <a:extLst>
              <a:ext uri="{FF2B5EF4-FFF2-40B4-BE49-F238E27FC236}">
                <a16:creationId xmlns:a16="http://schemas.microsoft.com/office/drawing/2014/main" id="{23B55297-81B1-349F-B3CB-5A328D017E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4384675"/>
            <a:ext cx="5668963" cy="4152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53" tIns="93153" rIns="93153" bIns="93153"/>
          <a:lstStyle/>
          <a:p>
            <a:pPr>
              <a:spcBef>
                <a:spcPct val="0"/>
              </a:spcBef>
              <a:buSzPts val="1100"/>
            </a:pPr>
            <a:endParaRPr lang="es-PE" altLang="es-P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53A2DA5C-D437-027B-DCF4-917B017583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2253C85-4E9D-347A-5035-F1D6C50B9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477D3C-5E98-5A3C-C5FD-2A30C78D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59A324-6E69-DDB8-A342-D2CB96E7E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925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F26608-AF33-4FFA-90AC-390B5519ABAC}" type="slidenum">
              <a:rPr lang="es-ES" altLang="es-PE"/>
              <a:pPr>
                <a:defRPr/>
              </a:pPr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349720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8263CB5D-6E6E-7DB9-985F-45DFA4FDE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2B6D90E-FB7E-AE80-1DA8-63F5280A4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ACFE7F5-3F69-28AB-AFDD-79F600E9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DDD806-9E56-8FA4-284F-3D87296EA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639104-18EF-4017-8EC8-89CC3800080B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1232805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9F5FD84B-455E-D860-880D-1ADCBAC5D1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F2B4AB6-74E0-DC02-A256-64B47F4E3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1FA4CA-06A2-A6AB-98C0-4F5120AD1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FA2803-C4A2-3D3D-2AAF-3F0C7C1ED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E9A4C8-39F6-41EB-8684-F978523BC4BF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200578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6">
            <a:extLst>
              <a:ext uri="{FF2B5EF4-FFF2-40B4-BE49-F238E27FC236}">
                <a16:creationId xmlns:a16="http://schemas.microsoft.com/office/drawing/2014/main" id="{F08AD305-3131-938C-A82C-25FAB8C873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BC70A5C-5195-312F-0D11-2A36080A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72E41FC-A43B-CB12-10BD-37D05353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2E72A5A-7077-1149-6395-6D1B5FCD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69ADA8-AA6B-441D-9CC4-385D61BC9163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446009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1">
            <a:extLst>
              <a:ext uri="{FF2B5EF4-FFF2-40B4-BE49-F238E27FC236}">
                <a16:creationId xmlns:a16="http://schemas.microsoft.com/office/drawing/2014/main" id="{C2F6939F-4E48-EE83-AAD3-0475A11566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40D1B83-405F-62B2-4F3F-93E7E8B7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ECE5D62-1F29-D6A4-0B26-1A4234382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8D71913-C923-154F-0A82-BD7E5B878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C22ACB-C149-4B74-B84A-204A7D7D2869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171709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6">
            <a:extLst>
              <a:ext uri="{FF2B5EF4-FFF2-40B4-BE49-F238E27FC236}">
                <a16:creationId xmlns:a16="http://schemas.microsoft.com/office/drawing/2014/main" id="{F72149B0-BAE8-798F-78F3-900087058B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848FE-560C-0168-7161-FF3426A3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4D77D-6691-A738-AC1C-026F2E77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2E71B-9EB4-335B-756D-E3F3FC5FA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1542AE-E0E7-4EA6-984B-B2F2ADF99AA5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2345068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9881EA49-1F6D-2371-5D64-B9EF0C2CC9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64492D8-6820-A8DE-AEDB-2F4749307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0F638DA-02D7-72D4-71F9-D54241C1F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28B9456-B87D-71C2-D51B-2D934AA4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61048-3D9D-45EC-AB63-0A18BF5540D8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3671054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6">
            <a:extLst>
              <a:ext uri="{FF2B5EF4-FFF2-40B4-BE49-F238E27FC236}">
                <a16:creationId xmlns:a16="http://schemas.microsoft.com/office/drawing/2014/main" id="{95D835EC-F8E8-A6E8-A625-AD556F084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08720AE-C245-9DB6-079D-144EE37BE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D30D8F3-AF85-EF9B-A720-077F1FCD3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1C22E62-5506-9191-8E76-981DF521E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B3B45-3365-4277-9E04-1D00011744D0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101149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6">
            <a:extLst>
              <a:ext uri="{FF2B5EF4-FFF2-40B4-BE49-F238E27FC236}">
                <a16:creationId xmlns:a16="http://schemas.microsoft.com/office/drawing/2014/main" id="{9A243640-7DEB-76D1-0370-9F3E2F1454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814BE7F-7F5C-BD65-4CB1-2C616A188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661234C-EF78-8381-6B16-784245DB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08DB979-886E-DEEB-474C-2824E9D2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A27C8-72B9-4FDB-B5D7-3C8C07C4B812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35015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3500F91A-607C-4309-1585-C00F8DE0E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9D005B2-E2F0-366E-A541-12E9AA147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1A85EDA-3176-0DC7-7336-052AA4E96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790BC8D-A7C2-506C-6E27-E1E5545C0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CD69CA-E9EA-4C17-B1EC-0A5B2523D554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3109001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>
            <a:extLst>
              <a:ext uri="{FF2B5EF4-FFF2-40B4-BE49-F238E27FC236}">
                <a16:creationId xmlns:a16="http://schemas.microsoft.com/office/drawing/2014/main" id="{166377C5-A7D1-E087-776B-A57A68D959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150813"/>
            <a:ext cx="2174875" cy="60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B6C197A-886C-8778-3729-487CB71B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02C9B3A-5E2E-A6A5-501F-C8A107BD7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E730B77-D557-D46E-ED81-14035ECA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8E8C5D-CB98-4F98-96E1-A46CA8A5D2FC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  <p:extLst>
      <p:ext uri="{BB962C8B-B14F-4D97-AF65-F5344CB8AC3E}">
        <p14:creationId xmlns:p14="http://schemas.microsoft.com/office/powerpoint/2010/main" val="2195529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>
  <p:cSld name="Main slide">
    <p:bg>
      <p:bgPr>
        <a:solidFill>
          <a:srgbClr val="FFFFFF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FB7E514-D667-6A94-41FE-7EF68186A7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8" y="188913"/>
            <a:ext cx="18669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633200" y="2304591"/>
            <a:ext cx="8925600" cy="14196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4267"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 idx="2"/>
          </p:nvPr>
        </p:nvSpPr>
        <p:spPr>
          <a:xfrm>
            <a:off x="1633200" y="3934776"/>
            <a:ext cx="8925600" cy="9652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 anchor="t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2133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1800"/>
              <a:buNone/>
              <a:defRPr sz="2400">
                <a:solidFill>
                  <a:srgbClr val="7F8D99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1108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with title 1">
  <p:cSld name="Text slide with title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8">
            <a:extLst>
              <a:ext uri="{FF2B5EF4-FFF2-40B4-BE49-F238E27FC236}">
                <a16:creationId xmlns:a16="http://schemas.microsoft.com/office/drawing/2014/main" id="{F4E89367-4D92-04F6-F5E4-FE9401B330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1741150" y="149225"/>
            <a:ext cx="300038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29767" y="139240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 anchor="b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b="1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529779" y="2170933"/>
            <a:ext cx="8196800" cy="25040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>
            <a:noAutofit/>
          </a:bodyPr>
          <a:lstStyle>
            <a:lvl1pPr marL="609585" lvl="0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A00"/>
              </a:buClr>
              <a:buSzPts val="1400"/>
              <a:buChar char="●"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21917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600">
                <a:solidFill>
                  <a:srgbClr val="999999"/>
                </a:solidFill>
              </a:defRPr>
            </a:lvl2pPr>
            <a:lvl3pPr marL="1828754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600">
                <a:solidFill>
                  <a:srgbClr val="999999"/>
                </a:solidFill>
              </a:defRPr>
            </a:lvl3pPr>
            <a:lvl4pPr marL="2438339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600">
                <a:solidFill>
                  <a:srgbClr val="999999"/>
                </a:solidFill>
              </a:defRPr>
            </a:lvl4pPr>
            <a:lvl5pPr marL="3047924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600">
                <a:solidFill>
                  <a:srgbClr val="999999"/>
                </a:solidFill>
              </a:defRPr>
            </a:lvl5pPr>
            <a:lvl6pPr marL="3657509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600">
                <a:solidFill>
                  <a:srgbClr val="999999"/>
                </a:solidFill>
              </a:defRPr>
            </a:lvl6pPr>
            <a:lvl7pPr marL="4267093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 sz="1600">
                <a:solidFill>
                  <a:srgbClr val="999999"/>
                </a:solidFill>
              </a:defRPr>
            </a:lvl7pPr>
            <a:lvl8pPr marL="4876678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 sz="1600">
                <a:solidFill>
                  <a:srgbClr val="999999"/>
                </a:solidFill>
              </a:defRPr>
            </a:lvl8pPr>
            <a:lvl9pPr marL="5486263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 sz="1600">
                <a:solidFill>
                  <a:srgbClr val="999999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5066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47EA2F6-4754-A008-6A7D-6473C368287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Haga clic para modificar el estilo de título del patrón</a:t>
            </a:r>
            <a:endParaRPr lang="en-US" altLang="es-PE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CC9E05C-8257-236B-C839-BED11D43C2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Editar el estilo de texto del patrón</a:t>
            </a:r>
          </a:p>
          <a:p>
            <a:pPr lvl="1"/>
            <a:r>
              <a:rPr lang="es-ES" altLang="es-PE"/>
              <a:t>Segundo nivel</a:t>
            </a:r>
          </a:p>
          <a:p>
            <a:pPr lvl="2"/>
            <a:r>
              <a:rPr lang="es-ES" altLang="es-PE"/>
              <a:t>Tercer nivel</a:t>
            </a:r>
          </a:p>
          <a:p>
            <a:pPr lvl="3"/>
            <a:r>
              <a:rPr lang="es-ES" altLang="es-PE"/>
              <a:t>Cuarto nivel</a:t>
            </a:r>
          </a:p>
          <a:p>
            <a:pPr lvl="4"/>
            <a:r>
              <a:rPr lang="es-ES" altLang="es-PE"/>
              <a:t>Quinto nivel</a:t>
            </a:r>
            <a:endParaRPr lang="en-US" alt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A7707-60E2-63CE-DB23-172F11634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368E5-F402-0206-198A-4F601AD68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277BD-E0E3-278A-885F-48575420D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64650" y="6373813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D1C8E5D-FE42-4EAE-89CC-4282ED39BFF2}" type="slidenum">
              <a:rPr lang="es-PE" altLang="es-PE"/>
              <a:pPr>
                <a:defRPr/>
              </a:pPr>
              <a:t>‹Nº›</a:t>
            </a:fld>
            <a:endParaRPr lang="es-PE" alt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06" r:id="rId1"/>
    <p:sldLayoutId id="2147485407" r:id="rId2"/>
    <p:sldLayoutId id="2147485408" r:id="rId3"/>
    <p:sldLayoutId id="2147485409" r:id="rId4"/>
    <p:sldLayoutId id="2147485410" r:id="rId5"/>
    <p:sldLayoutId id="2147485411" r:id="rId6"/>
    <p:sldLayoutId id="2147485412" r:id="rId7"/>
    <p:sldLayoutId id="2147485413" r:id="rId8"/>
    <p:sldLayoutId id="2147485414" r:id="rId9"/>
    <p:sldLayoutId id="2147485415" r:id="rId10"/>
    <p:sldLayoutId id="2147485416" r:id="rId11"/>
    <p:sldLayoutId id="2147485419" r:id="rId12"/>
    <p:sldLayoutId id="2147485420" r:id="rId13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8">
            <a:extLst>
              <a:ext uri="{FF2B5EF4-FFF2-40B4-BE49-F238E27FC236}">
                <a16:creationId xmlns:a16="http://schemas.microsoft.com/office/drawing/2014/main" id="{E39994CF-768F-5D00-CB30-95FFE3A571E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65275" y="3933056"/>
            <a:ext cx="9499600" cy="1872433"/>
          </a:xfrm>
        </p:spPr>
        <p:txBody>
          <a:bodyPr/>
          <a:lstStyle/>
          <a:p>
            <a:pPr marL="112395" marR="798830">
              <a:spcBef>
                <a:spcPts val="470"/>
              </a:spcBef>
              <a:spcAft>
                <a:spcPts val="0"/>
              </a:spcAft>
              <a:tabLst>
                <a:tab pos="4814570" algn="l"/>
              </a:tabLst>
            </a:pPr>
            <a:r>
              <a:rPr lang="es-PE" sz="2800" cap="all" dirty="0"/>
              <a:t>Oferta monetaria y POLITICA MONETARIA</a:t>
            </a:r>
            <a:br>
              <a:rPr lang="es-PE" sz="2800" cap="all" dirty="0"/>
            </a:br>
            <a:r>
              <a:rPr lang="es-PE" sz="2800" dirty="0">
                <a:latin typeface="Arial" panose="020B0604020202020204" pitchFamily="34" charset="0"/>
                <a:ea typeface="+mn-ea"/>
                <a:cs typeface="+mn-cs"/>
              </a:rPr>
              <a:t>Parte 2</a:t>
            </a:r>
            <a:endParaRPr lang="es-ES_tradnl" altLang="es-PE" sz="2800" dirty="0"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2771" name="CuadroTexto 11">
            <a:extLst>
              <a:ext uri="{FF2B5EF4-FFF2-40B4-BE49-F238E27FC236}">
                <a16:creationId xmlns:a16="http://schemas.microsoft.com/office/drawing/2014/main" id="{5857CE26-C16D-4CA0-A412-0B0DBE736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5200" y="6026150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s-PE" altLang="es-PE" sz="3200"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7C2278-2B26-A772-E588-947743735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8763" y="322263"/>
            <a:ext cx="6707187" cy="544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lang="es-ES_tradnl" altLang="es-PE" sz="1467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FACULTAD DE CIENCIAS EMPRESARIALES Y ECONÓMICAS</a:t>
            </a:r>
          </a:p>
          <a:p>
            <a:pPr algn="r" eaLnBrk="1" hangingPunct="1">
              <a:spcBef>
                <a:spcPct val="0"/>
              </a:spcBef>
              <a:buFontTx/>
              <a:buNone/>
              <a:defRPr/>
            </a:pPr>
            <a:r>
              <a:rPr lang="es-ES_tradnl" altLang="es-PE" sz="1467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CARRERA DE ECONOMÍA</a:t>
            </a:r>
            <a:endParaRPr lang="en-US" altLang="es-PE" sz="1467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2773" name="Google Shape;102;p1">
            <a:extLst>
              <a:ext uri="{FF2B5EF4-FFF2-40B4-BE49-F238E27FC236}">
                <a16:creationId xmlns:a16="http://schemas.microsoft.com/office/drawing/2014/main" id="{6E328A6A-5D8A-1B80-EFE4-A4091FADF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5275" y="2133600"/>
            <a:ext cx="9334500" cy="148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2533" tIns="162533" rIns="162533" bIns="162533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>
                <a:srgbClr val="434343"/>
              </a:buClr>
              <a:buSzPts val="1800"/>
              <a:buFont typeface="Abril Fatface" panose="02000503000000020003" pitchFamily="2" charset="0"/>
              <a:buNone/>
            </a:pPr>
            <a:r>
              <a:rPr lang="es-ES" altLang="es-PE" sz="3600" b="1" dirty="0">
                <a:solidFill>
                  <a:srgbClr val="FF3A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TEORIA Y POLITICA MONETARIA</a:t>
            </a:r>
          </a:p>
        </p:txBody>
      </p:sp>
      <p:sp>
        <p:nvSpPr>
          <p:cNvPr id="32774" name="CuadroTexto 7">
            <a:extLst>
              <a:ext uri="{FF2B5EF4-FFF2-40B4-BE49-F238E27FC236}">
                <a16:creationId xmlns:a16="http://schemas.microsoft.com/office/drawing/2014/main" id="{F38040BD-5CA7-F14D-C009-AA9B13ADA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0" y="6240463"/>
            <a:ext cx="2311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s-PE" sz="1800">
                <a:solidFill>
                  <a:srgbClr val="FF3A00"/>
                </a:solidFill>
                <a:latin typeface="Arial" panose="020B0604020202020204" pitchFamily="34" charset="0"/>
              </a:rPr>
              <a:t>Metodología IATC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ctrTitle"/>
          </p:nvPr>
        </p:nvSpPr>
        <p:spPr>
          <a:xfrm>
            <a:off x="2698111" y="3070084"/>
            <a:ext cx="6795778" cy="7178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6000" dirty="0"/>
              <a:t>IMPACTO</a:t>
            </a:r>
            <a:br>
              <a:rPr lang="es-ES" sz="6000" dirty="0"/>
            </a:br>
            <a:r>
              <a:rPr lang="es-ES" sz="6000" dirty="0"/>
              <a:t>(IATC)</a:t>
            </a:r>
            <a:endParaRPr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109;p2">
            <a:extLst>
              <a:ext uri="{FF2B5EF4-FFF2-40B4-BE49-F238E27FC236}">
                <a16:creationId xmlns:a16="http://schemas.microsoft.com/office/drawing/2014/main" id="{49D1396B-967A-7DB0-B16B-BC61CEA05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88" y="917575"/>
            <a:ext cx="11369675" cy="1039813"/>
          </a:xfrm>
        </p:spPr>
        <p:txBody>
          <a:bodyPr lIns="162533" tIns="162533" rIns="162533" bIns="162533"/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s-ES" altLang="es-PE" sz="4400">
                <a:solidFill>
                  <a:srgbClr val="FFC000"/>
                </a:solidFill>
              </a:rPr>
              <a:t>Logro de aprendizaje: </a:t>
            </a:r>
            <a:endParaRPr lang="es-PE" altLang="es-PE" sz="4400"/>
          </a:p>
        </p:txBody>
      </p:sp>
      <p:sp>
        <p:nvSpPr>
          <p:cNvPr id="35843" name="CuadroTexto 9">
            <a:extLst>
              <a:ext uri="{FF2B5EF4-FFF2-40B4-BE49-F238E27FC236}">
                <a16:creationId xmlns:a16="http://schemas.microsoft.com/office/drawing/2014/main" id="{881B3B00-675C-C87D-3FBA-5E53226B7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63" y="2276475"/>
            <a:ext cx="104775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s-PE" altLang="es-PE" dirty="0">
                <a:latin typeface="Arial" panose="020B0604020202020204" pitchFamily="34" charset="0"/>
              </a:rPr>
              <a:t>Comprender la politica monetaria</a:t>
            </a:r>
            <a:endParaRPr lang="es-PE" altLang="es-PE" dirty="0"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Google Shape;114;p3">
            <a:extLst>
              <a:ext uri="{FF2B5EF4-FFF2-40B4-BE49-F238E27FC236}">
                <a16:creationId xmlns:a16="http://schemas.microsoft.com/office/drawing/2014/main" id="{195605CC-16B3-E283-5E6B-70BBCDB8D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13" y="908050"/>
            <a:ext cx="11941175" cy="1008063"/>
          </a:xfrm>
        </p:spPr>
        <p:txBody>
          <a:bodyPr lIns="162533" tIns="162533" rIns="162533" bIns="162533"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s-ES" altLang="es-PE" sz="5600">
                <a:solidFill>
                  <a:srgbClr val="000000"/>
                </a:solidFill>
              </a:rPr>
              <a:t>CONTENIDO DETALLADO</a:t>
            </a:r>
            <a:endParaRPr lang="es-PE" altLang="es-PE" sz="5600">
              <a:solidFill>
                <a:srgbClr val="000000"/>
              </a:solidFill>
            </a:endParaRPr>
          </a:p>
        </p:txBody>
      </p:sp>
      <p:sp>
        <p:nvSpPr>
          <p:cNvPr id="36867" name="CuadroTexto 7">
            <a:extLst>
              <a:ext uri="{FF2B5EF4-FFF2-40B4-BE49-F238E27FC236}">
                <a16:creationId xmlns:a16="http://schemas.microsoft.com/office/drawing/2014/main" id="{458BA948-35BA-2184-0A3A-11FDA3EE5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576" y="2132856"/>
            <a:ext cx="8202612" cy="2470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s-ES" altLang="es-PE" sz="2400" b="1" dirty="0">
                <a:latin typeface="Arial" panose="020B0604020202020204" pitchFamily="34" charset="0"/>
                <a:cs typeface="Arial" panose="020B0604020202020204" pitchFamily="34" charset="0"/>
              </a:rPr>
              <a:t>Política monetaria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altLang="es-PE" sz="2400" b="1" dirty="0">
                <a:latin typeface="Arial" panose="020B0604020202020204" pitchFamily="34" charset="0"/>
                <a:cs typeface="Arial" panose="020B0604020202020204" pitchFamily="34" charset="0"/>
              </a:rPr>
              <a:t>Operaciones de mercado abierto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altLang="es-PE" sz="2400" b="1" dirty="0">
                <a:latin typeface="Arial" panose="020B0604020202020204" pitchFamily="34" charset="0"/>
                <a:cs typeface="Arial" panose="020B0604020202020204" pitchFamily="34" charset="0"/>
              </a:rPr>
              <a:t>Operaciones de moneda extranjera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s-ES" altLang="es-PE" sz="2400" b="1" dirty="0">
                <a:latin typeface="Arial" panose="020B0604020202020204" pitchFamily="34" charset="0"/>
                <a:cs typeface="Arial" panose="020B0604020202020204" pitchFamily="34" charset="0"/>
              </a:rPr>
              <a:t>Otras medidas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ctrTitle"/>
          </p:nvPr>
        </p:nvSpPr>
        <p:spPr>
          <a:xfrm>
            <a:off x="2698111" y="3070084"/>
            <a:ext cx="6795778" cy="7178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6000" dirty="0"/>
              <a:t>ADQUISICIÓN</a:t>
            </a:r>
            <a:br>
              <a:rPr lang="es-ES" sz="6000" dirty="0"/>
            </a:br>
            <a:r>
              <a:rPr lang="es-ES" sz="6000" dirty="0"/>
              <a:t>(IATC)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460809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CDD76BB-CB49-4D67-F51D-F95424C73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1" y="609601"/>
            <a:ext cx="4648603" cy="6058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A61045CA-28C7-F74E-9B5C-289444F77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639" y="2102442"/>
            <a:ext cx="10775003" cy="95340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s-PE" altLang="es-PE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De Gregorio Macroeconomía (7a ed.):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s-PE" altLang="es-PE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 </a:t>
            </a:r>
            <a:r>
              <a:rPr lang="es-PE" altLang="es-PE" sz="2000" u="sng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Capitulo 16</a:t>
            </a:r>
            <a:r>
              <a:rPr lang="es-PE" altLang="es-PE" sz="20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Oferta de dinero, politica monetaria e inflación (415-443)</a:t>
            </a:r>
          </a:p>
        </p:txBody>
      </p:sp>
      <p:sp>
        <p:nvSpPr>
          <p:cNvPr id="3" name="Google Shape;109;p2">
            <a:extLst>
              <a:ext uri="{FF2B5EF4-FFF2-40B4-BE49-F238E27FC236}">
                <a16:creationId xmlns:a16="http://schemas.microsoft.com/office/drawing/2014/main" id="{6E3E92D3-64DD-DFDE-F5B8-873401D42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640" y="987357"/>
            <a:ext cx="7375923" cy="779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>
            <a:lvl1pPr lvl="0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3200" b="1" i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lvl="1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 sz="2800">
                <a:solidFill>
                  <a:srgbClr val="7F8D99"/>
                </a:solidFill>
                <a:latin typeface="Arial Black" panose="020B0A04020102020204" pitchFamily="34" charset="0"/>
              </a:defRPr>
            </a:lvl2pPr>
            <a:lvl3pPr lvl="2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 sz="2800">
                <a:solidFill>
                  <a:srgbClr val="7F8D99"/>
                </a:solidFill>
                <a:latin typeface="Arial Black" panose="020B0A04020102020204" pitchFamily="34" charset="0"/>
              </a:defRPr>
            </a:lvl3pPr>
            <a:lvl4pPr lvl="3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 sz="2800">
                <a:solidFill>
                  <a:srgbClr val="7F8D99"/>
                </a:solidFill>
                <a:latin typeface="Arial Black" panose="020B0A04020102020204" pitchFamily="34" charset="0"/>
              </a:defRPr>
            </a:lvl4pPr>
            <a:lvl5pPr lvl="4" algn="ct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 sz="2800">
                <a:solidFill>
                  <a:srgbClr val="7F8D99"/>
                </a:solidFill>
                <a:latin typeface="Arial Black" panose="020B0A04020102020204" pitchFamily="34" charset="0"/>
              </a:defRPr>
            </a:lvl5pPr>
            <a:lvl6pPr marL="457200" lvl="5" algn="ct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 sz="2800">
                <a:solidFill>
                  <a:srgbClr val="7F8D99"/>
                </a:solidFill>
                <a:latin typeface="Arial Black" panose="020B0A04020102020204" pitchFamily="34" charset="0"/>
              </a:defRPr>
            </a:lvl6pPr>
            <a:lvl7pPr marL="914400" lvl="6" algn="ct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 sz="2800">
                <a:solidFill>
                  <a:srgbClr val="7F8D99"/>
                </a:solidFill>
                <a:latin typeface="Arial Black" panose="020B0A04020102020204" pitchFamily="34" charset="0"/>
              </a:defRPr>
            </a:lvl7pPr>
            <a:lvl8pPr marL="1371600" lvl="7" algn="ct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 sz="2800">
                <a:solidFill>
                  <a:srgbClr val="7F8D99"/>
                </a:solidFill>
                <a:latin typeface="Arial Black" panose="020B0A04020102020204" pitchFamily="34" charset="0"/>
              </a:defRPr>
            </a:lvl8pPr>
            <a:lvl9pPr marL="1828800" lvl="8" algn="ctr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8D99"/>
              </a:buClr>
              <a:buSzPts val="2800"/>
              <a:buNone/>
              <a:defRPr sz="2800">
                <a:solidFill>
                  <a:srgbClr val="7F8D99"/>
                </a:solidFill>
                <a:latin typeface="Arial Black" panose="020B0A04020102020204" pitchFamily="34" charset="0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s-ES" altLang="es-PE" sz="3300" dirty="0">
                <a:solidFill>
                  <a:srgbClr val="FFC000"/>
                </a:solidFill>
              </a:rPr>
              <a:t>Fuente: </a:t>
            </a:r>
            <a:endParaRPr lang="es-PE" altLang="es-PE" sz="3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6494A-D626-E17B-0078-E751A0CA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E9F7C-BEE9-0F56-06BE-F599041FF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PE" sz="5400" dirty="0"/>
              <a:t>OFERTA MONETARIA:</a:t>
            </a:r>
            <a:br>
              <a:rPr lang="es-PE" sz="5400" dirty="0"/>
            </a:br>
            <a:r>
              <a:rPr lang="es-PE" sz="5400" dirty="0"/>
              <a:t>LOS INSTRUMENTOS DE LA POLITICA MONETARIA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BC8E44-6D5D-6112-EA62-56F66D4F1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5404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3"/>
          <p:cNvSpPr>
            <a:spLocks noGrp="1" noChangeArrowheads="1"/>
          </p:cNvSpPr>
          <p:nvPr>
            <p:ph type="title"/>
          </p:nvPr>
        </p:nvSpPr>
        <p:spPr>
          <a:xfrm>
            <a:off x="458970" y="61913"/>
            <a:ext cx="8596668" cy="1057275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>
              <a:defRPr/>
            </a:pPr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Política </a:t>
            </a:r>
            <a:r>
              <a:rPr lang="en-US" altLang="en-US" sz="32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Monetaria</a:t>
            </a:r>
            <a:endParaRPr lang="en-US" altLang="en-US" sz="32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0837" name="Text Box 5"/>
          <p:cNvSpPr txBox="1"/>
          <p:nvPr/>
        </p:nvSpPr>
        <p:spPr>
          <a:xfrm>
            <a:off x="674688" y="1749367"/>
            <a:ext cx="3194050" cy="400050"/>
          </a:xfrm>
          <a:prstGeom prst="rect">
            <a:avLst/>
          </a:prstGeom>
          <a:solidFill>
            <a:schemeClr val="hlink"/>
          </a:solidFill>
          <a:ln w="31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13499999" algn="ctr" rotWithShape="0">
              <a:schemeClr val="bg2"/>
            </a:outerShdw>
          </a:effectLst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70000"/>
              </a:spcBef>
              <a:spcAft>
                <a:spcPct val="0"/>
              </a:spcAft>
              <a:buClr>
                <a:srgbClr val="969696"/>
              </a:buClr>
              <a:buSzPct val="8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969696"/>
              </a:buClr>
              <a:buSzPct val="65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969696"/>
              </a:buClr>
              <a:buSzPct val="115000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969696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9696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indent="0">
              <a:spcBef>
                <a:spcPct val="0"/>
              </a:spcBef>
              <a:buClrTx/>
              <a:buSzPct val="100000"/>
              <a:buNone/>
            </a:pPr>
            <a:r>
              <a:rPr lang="en-US" altLang="en-US" sz="2000" b="1" dirty="0"/>
              <a:t>¿Qué hacen los bancos?</a:t>
            </a:r>
          </a:p>
        </p:txBody>
      </p:sp>
      <p:sp>
        <p:nvSpPr>
          <p:cNvPr id="120838" name="Text Box 6"/>
          <p:cNvSpPr txBox="1"/>
          <p:nvPr/>
        </p:nvSpPr>
        <p:spPr>
          <a:xfrm>
            <a:off x="3676273" y="2320070"/>
            <a:ext cx="110331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70000"/>
              </a:spcBef>
              <a:spcAft>
                <a:spcPct val="0"/>
              </a:spcAft>
              <a:buClr>
                <a:srgbClr val="969696"/>
              </a:buClr>
              <a:buSzPct val="8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969696"/>
              </a:buClr>
              <a:buSzPct val="65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969696"/>
              </a:buClr>
              <a:buSzPct val="115000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969696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9696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indent="0">
              <a:spcBef>
                <a:spcPct val="0"/>
              </a:spcBef>
              <a:buClrTx/>
              <a:buSzPct val="100000"/>
              <a:buNone/>
            </a:pPr>
            <a:r>
              <a:rPr lang="en-US" altLang="en-US" sz="2000" b="1" dirty="0"/>
              <a:t>Bancos</a:t>
            </a:r>
          </a:p>
        </p:txBody>
      </p:sp>
      <p:sp>
        <p:nvSpPr>
          <p:cNvPr id="120847" name="Text Box 15"/>
          <p:cNvSpPr txBox="1"/>
          <p:nvPr/>
        </p:nvSpPr>
        <p:spPr>
          <a:xfrm>
            <a:off x="3273048" y="4475895"/>
            <a:ext cx="18637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70000"/>
              </a:spcBef>
              <a:spcAft>
                <a:spcPct val="0"/>
              </a:spcAft>
              <a:buClr>
                <a:srgbClr val="969696"/>
              </a:buClr>
              <a:buSzPct val="8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969696"/>
              </a:buClr>
              <a:buSzPct val="65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969696"/>
              </a:buClr>
              <a:buSzPct val="115000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969696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9696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indent="0" algn="ctr">
              <a:spcBef>
                <a:spcPct val="0"/>
              </a:spcBef>
              <a:buClrTx/>
              <a:buSzPct val="100000"/>
              <a:buNone/>
            </a:pPr>
            <a:r>
              <a:rPr lang="en-US" altLang="en-US" sz="2000" b="1" dirty="0"/>
              <a:t>Banco central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600233-3A4C-48EF-AC40-98C728D3614A}"/>
              </a:ext>
            </a:extLst>
          </p:cNvPr>
          <p:cNvGrpSpPr/>
          <p:nvPr/>
        </p:nvGrpSpPr>
        <p:grpSpPr>
          <a:xfrm>
            <a:off x="912412" y="5004846"/>
            <a:ext cx="7858364" cy="1489260"/>
            <a:chOff x="675" y="2251"/>
            <a:chExt cx="1599" cy="1334"/>
          </a:xfrm>
        </p:grpSpPr>
        <p:sp>
          <p:nvSpPr>
            <p:cNvPr id="20" name="Text Box 11">
              <a:extLst>
                <a:ext uri="{FF2B5EF4-FFF2-40B4-BE49-F238E27FC236}">
                  <a16:creationId xmlns:a16="http://schemas.microsoft.com/office/drawing/2014/main" id="{2C3DA060-EFAB-4DCB-968F-D4B7BFB4D079}"/>
                </a:ext>
              </a:extLst>
            </p:cNvPr>
            <p:cNvSpPr txBox="1"/>
            <p:nvPr/>
          </p:nvSpPr>
          <p:spPr>
            <a:xfrm>
              <a:off x="888" y="2251"/>
              <a:ext cx="18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70000"/>
                </a:spcBef>
                <a:spcAft>
                  <a:spcPct val="0"/>
                </a:spcAft>
                <a:buClr>
                  <a:srgbClr val="969696"/>
                </a:buClr>
                <a:buSzPct val="85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30000"/>
                </a:spcBef>
                <a:spcAft>
                  <a:spcPct val="0"/>
                </a:spcAft>
                <a:buClr>
                  <a:srgbClr val="969696"/>
                </a:buClr>
                <a:buSzPct val="65000"/>
                <a:buFont typeface="Wingdings" panose="05000000000000000000" pitchFamily="2" charset="2"/>
                <a:buChar char="u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rgbClr val="969696"/>
                </a:buClr>
                <a:buSzPct val="115000"/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rgbClr val="969696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69696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en-US" sz="1800" b="1" dirty="0"/>
                <a:t>Activos</a:t>
              </a:r>
            </a:p>
          </p:txBody>
        </p:sp>
        <p:sp>
          <p:nvSpPr>
            <p:cNvPr id="21" name="Text Box 12">
              <a:extLst>
                <a:ext uri="{FF2B5EF4-FFF2-40B4-BE49-F238E27FC236}">
                  <a16:creationId xmlns:a16="http://schemas.microsoft.com/office/drawing/2014/main" id="{CFDDAAE1-1ED8-4C71-90A0-F6240D3AEC76}"/>
                </a:ext>
              </a:extLst>
            </p:cNvPr>
            <p:cNvSpPr txBox="1"/>
            <p:nvPr/>
          </p:nvSpPr>
          <p:spPr>
            <a:xfrm>
              <a:off x="1598" y="2282"/>
              <a:ext cx="18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70000"/>
                </a:spcBef>
                <a:spcAft>
                  <a:spcPct val="0"/>
                </a:spcAft>
                <a:buClr>
                  <a:srgbClr val="969696"/>
                </a:buClr>
                <a:buSzPct val="85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30000"/>
                </a:spcBef>
                <a:spcAft>
                  <a:spcPct val="0"/>
                </a:spcAft>
                <a:buClr>
                  <a:srgbClr val="969696"/>
                </a:buClr>
                <a:buSzPct val="65000"/>
                <a:buFont typeface="Wingdings" panose="05000000000000000000" pitchFamily="2" charset="2"/>
                <a:buChar char="u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rgbClr val="969696"/>
                </a:buClr>
                <a:buSzPct val="115000"/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rgbClr val="969696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69696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indent="0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en-US" sz="1800" b="1" dirty="0"/>
                <a:t>Pasivos</a:t>
              </a:r>
            </a:p>
          </p:txBody>
        </p:sp>
        <p:grpSp>
          <p:nvGrpSpPr>
            <p:cNvPr id="22" name="Group 15">
              <a:extLst>
                <a:ext uri="{FF2B5EF4-FFF2-40B4-BE49-F238E27FC236}">
                  <a16:creationId xmlns:a16="http://schemas.microsoft.com/office/drawing/2014/main" id="{D25D0021-50AD-4F0E-B90F-DDFE2DB898FC}"/>
                </a:ext>
              </a:extLst>
            </p:cNvPr>
            <p:cNvGrpSpPr/>
            <p:nvPr/>
          </p:nvGrpSpPr>
          <p:grpSpPr>
            <a:xfrm>
              <a:off x="675" y="2374"/>
              <a:ext cx="1599" cy="1211"/>
              <a:chOff x="675" y="2374"/>
              <a:chExt cx="1599" cy="1211"/>
            </a:xfrm>
          </p:grpSpPr>
          <p:sp>
            <p:nvSpPr>
              <p:cNvPr id="25" name="Line 13">
                <a:extLst>
                  <a:ext uri="{FF2B5EF4-FFF2-40B4-BE49-F238E27FC236}">
                    <a16:creationId xmlns:a16="http://schemas.microsoft.com/office/drawing/2014/main" id="{4135C246-04E9-42F0-87D0-9ADE554F3541}"/>
                  </a:ext>
                </a:extLst>
              </p:cNvPr>
              <p:cNvSpPr/>
              <p:nvPr/>
            </p:nvSpPr>
            <p:spPr>
              <a:xfrm>
                <a:off x="675" y="2522"/>
                <a:ext cx="15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6" name="Line 14">
                <a:extLst>
                  <a:ext uri="{FF2B5EF4-FFF2-40B4-BE49-F238E27FC236}">
                    <a16:creationId xmlns:a16="http://schemas.microsoft.com/office/drawing/2014/main" id="{C3A3F6EA-E8A2-42B8-A3C9-ABB23AE3D6CD}"/>
                  </a:ext>
                </a:extLst>
              </p:cNvPr>
              <p:cNvSpPr/>
              <p:nvPr/>
            </p:nvSpPr>
            <p:spPr>
              <a:xfrm>
                <a:off x="1390" y="2374"/>
                <a:ext cx="0" cy="121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PE"/>
              </a:p>
            </p:txBody>
          </p:sp>
        </p:grpSp>
        <p:sp>
          <p:nvSpPr>
            <p:cNvPr id="23" name="Text Box 16">
              <a:extLst>
                <a:ext uri="{FF2B5EF4-FFF2-40B4-BE49-F238E27FC236}">
                  <a16:creationId xmlns:a16="http://schemas.microsoft.com/office/drawing/2014/main" id="{B1500848-96CC-485A-A964-408EDBF02BA4}"/>
                </a:ext>
              </a:extLst>
            </p:cNvPr>
            <p:cNvSpPr txBox="1"/>
            <p:nvPr/>
          </p:nvSpPr>
          <p:spPr>
            <a:xfrm>
              <a:off x="697" y="2617"/>
              <a:ext cx="672" cy="9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70000"/>
                </a:spcBef>
                <a:spcAft>
                  <a:spcPct val="0"/>
                </a:spcAft>
                <a:buClr>
                  <a:srgbClr val="969696"/>
                </a:buClr>
                <a:buSzPct val="85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30000"/>
                </a:spcBef>
                <a:spcAft>
                  <a:spcPct val="0"/>
                </a:spcAft>
                <a:buClr>
                  <a:srgbClr val="969696"/>
                </a:buClr>
                <a:buSzPct val="65000"/>
                <a:buFont typeface="Wingdings" panose="05000000000000000000" pitchFamily="2" charset="2"/>
                <a:buChar char="u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rgbClr val="969696"/>
                </a:buClr>
                <a:buSzPct val="115000"/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rgbClr val="969696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69696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>
                <a:spcBef>
                  <a:spcPct val="0"/>
                </a:spcBef>
                <a:buClrTx/>
                <a:buSzPct val="100000"/>
                <a:buFont typeface="Wingdings" panose="05000000000000000000" pitchFamily="2" charset="2"/>
                <a:buChar char="§"/>
              </a:pPr>
              <a:r>
                <a:rPr lang="en-US" altLang="en-US" sz="1600" b="1" dirty="0" err="1"/>
                <a:t>Valores</a:t>
              </a:r>
              <a:r>
                <a:rPr lang="en-US" altLang="en-US" sz="1600" b="1" dirty="0"/>
                <a:t> </a:t>
              </a:r>
              <a:r>
                <a:rPr lang="en-US" altLang="en-US" sz="1600" b="1" dirty="0" err="1"/>
                <a:t>financieros</a:t>
              </a:r>
              <a:r>
                <a:rPr lang="en-US" altLang="en-US" sz="1600" b="1" dirty="0"/>
                <a:t> (</a:t>
              </a:r>
              <a:r>
                <a:rPr lang="en-US" altLang="en-US" sz="1600" b="1" dirty="0" err="1"/>
                <a:t>Bonos</a:t>
              </a:r>
              <a:r>
                <a:rPr lang="en-US" altLang="en-US" sz="1600" b="1" dirty="0"/>
                <a:t>)</a:t>
              </a:r>
            </a:p>
            <a:p>
              <a:pPr>
                <a:spcBef>
                  <a:spcPct val="0"/>
                </a:spcBef>
                <a:buClrTx/>
                <a:buSzPct val="100000"/>
                <a:buFont typeface="Wingdings" panose="05000000000000000000" pitchFamily="2" charset="2"/>
                <a:buChar char="§"/>
              </a:pPr>
              <a:r>
                <a:rPr lang="en-US" altLang="en-US" sz="1600" b="1" dirty="0" err="1"/>
                <a:t>Credito</a:t>
              </a:r>
              <a:r>
                <a:rPr lang="en-US" altLang="en-US" sz="1600" b="1" dirty="0"/>
                <a:t> </a:t>
              </a:r>
              <a:r>
                <a:rPr lang="en-US" altLang="en-US" sz="1600" b="1" dirty="0" err="1"/>
                <a:t>Interno</a:t>
              </a:r>
              <a:r>
                <a:rPr lang="en-US" altLang="en-US" sz="1600" b="1" dirty="0"/>
                <a:t> Neto (S. </a:t>
              </a:r>
              <a:r>
                <a:rPr lang="en-US" altLang="en-US" sz="1600" b="1" dirty="0" err="1"/>
                <a:t>Público</a:t>
              </a:r>
              <a:r>
                <a:rPr lang="en-US" altLang="en-US" sz="1600" b="1" dirty="0"/>
                <a:t> o S. Privado)</a:t>
              </a:r>
            </a:p>
            <a:p>
              <a:pPr>
                <a:spcBef>
                  <a:spcPct val="0"/>
                </a:spcBef>
                <a:buClrTx/>
                <a:buSzPct val="100000"/>
                <a:buFont typeface="Wingdings" panose="05000000000000000000" pitchFamily="2" charset="2"/>
                <a:buChar char="§"/>
              </a:pPr>
              <a:r>
                <a:rPr lang="en-US" altLang="en-US" sz="1600" b="1" dirty="0"/>
                <a:t>RIN</a:t>
              </a:r>
            </a:p>
          </p:txBody>
        </p:sp>
        <p:sp>
          <p:nvSpPr>
            <p:cNvPr id="24" name="Text Box 17">
              <a:extLst>
                <a:ext uri="{FF2B5EF4-FFF2-40B4-BE49-F238E27FC236}">
                  <a16:creationId xmlns:a16="http://schemas.microsoft.com/office/drawing/2014/main" id="{B4B8AA5D-FEE7-4D9A-A241-0ECA8CBAE0A7}"/>
                </a:ext>
              </a:extLst>
            </p:cNvPr>
            <p:cNvSpPr txBox="1"/>
            <p:nvPr/>
          </p:nvSpPr>
          <p:spPr>
            <a:xfrm>
              <a:off x="1416" y="2617"/>
              <a:ext cx="653" cy="5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70000"/>
                </a:spcBef>
                <a:spcAft>
                  <a:spcPct val="0"/>
                </a:spcAft>
                <a:buClr>
                  <a:srgbClr val="969696"/>
                </a:buClr>
                <a:buSzPct val="85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30000"/>
                </a:spcBef>
                <a:spcAft>
                  <a:spcPct val="0"/>
                </a:spcAft>
                <a:buClr>
                  <a:srgbClr val="969696"/>
                </a:buClr>
                <a:buSzPct val="65000"/>
                <a:buFont typeface="Wingdings" panose="05000000000000000000" pitchFamily="2" charset="2"/>
                <a:buChar char="u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rgbClr val="969696"/>
                </a:buClr>
                <a:buSzPct val="115000"/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rgbClr val="969696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69696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>
                <a:spcBef>
                  <a:spcPct val="0"/>
                </a:spcBef>
                <a:buClrTx/>
                <a:buSzPct val="100000"/>
                <a:buFont typeface="Wingdings" panose="05000000000000000000" pitchFamily="2" charset="2"/>
                <a:buChar char="§"/>
              </a:pPr>
              <a:r>
                <a:rPr lang="en-US" altLang="en-US" sz="1600" b="1" dirty="0" err="1"/>
                <a:t>Efectivo</a:t>
              </a:r>
              <a:r>
                <a:rPr lang="en-US" altLang="en-US" sz="1600" b="1" dirty="0"/>
                <a:t> o </a:t>
              </a:r>
              <a:r>
                <a:rPr lang="en-US" altLang="en-US" sz="1600" b="1" dirty="0" err="1"/>
                <a:t>circulante</a:t>
              </a:r>
              <a:endParaRPr lang="en-US" altLang="en-US" sz="1600" b="1" dirty="0"/>
            </a:p>
            <a:p>
              <a:pPr>
                <a:spcBef>
                  <a:spcPct val="0"/>
                </a:spcBef>
                <a:buClrTx/>
                <a:buSzPct val="100000"/>
                <a:buFont typeface="Wingdings" panose="05000000000000000000" pitchFamily="2" charset="2"/>
                <a:buChar char="§"/>
              </a:pPr>
              <a:r>
                <a:rPr lang="en-US" altLang="en-US" sz="1600" b="1" dirty="0" err="1"/>
                <a:t>Reservas</a:t>
              </a:r>
              <a:r>
                <a:rPr lang="en-US" altLang="en-US" sz="1600" b="1" dirty="0"/>
                <a:t> (</a:t>
              </a:r>
              <a:r>
                <a:rPr lang="en-US" altLang="en-US" sz="1600" b="1" dirty="0" err="1"/>
                <a:t>encaje</a:t>
              </a:r>
              <a:r>
                <a:rPr lang="en-US" altLang="en-US" sz="1600" b="1" dirty="0"/>
                <a:t>)</a:t>
              </a:r>
            </a:p>
          </p:txBody>
        </p:sp>
      </p:grpSp>
      <p:grpSp>
        <p:nvGrpSpPr>
          <p:cNvPr id="27" name="Group 18">
            <a:extLst>
              <a:ext uri="{FF2B5EF4-FFF2-40B4-BE49-F238E27FC236}">
                <a16:creationId xmlns:a16="http://schemas.microsoft.com/office/drawing/2014/main" id="{7C901096-5932-41A3-A688-D79433C4104D}"/>
              </a:ext>
            </a:extLst>
          </p:cNvPr>
          <p:cNvGrpSpPr/>
          <p:nvPr/>
        </p:nvGrpSpPr>
        <p:grpSpPr>
          <a:xfrm>
            <a:off x="912412" y="2628573"/>
            <a:ext cx="7858364" cy="1489260"/>
            <a:chOff x="675" y="2251"/>
            <a:chExt cx="1599" cy="1334"/>
          </a:xfrm>
        </p:grpSpPr>
        <p:sp>
          <p:nvSpPr>
            <p:cNvPr id="28" name="Text Box 11">
              <a:extLst>
                <a:ext uri="{FF2B5EF4-FFF2-40B4-BE49-F238E27FC236}">
                  <a16:creationId xmlns:a16="http://schemas.microsoft.com/office/drawing/2014/main" id="{F0F4C0EC-EB9D-4DF8-90F8-6A8EF5A54C38}"/>
                </a:ext>
              </a:extLst>
            </p:cNvPr>
            <p:cNvSpPr txBox="1"/>
            <p:nvPr/>
          </p:nvSpPr>
          <p:spPr>
            <a:xfrm>
              <a:off x="888" y="2251"/>
              <a:ext cx="18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70000"/>
                </a:spcBef>
                <a:spcAft>
                  <a:spcPct val="0"/>
                </a:spcAft>
                <a:buClr>
                  <a:srgbClr val="969696"/>
                </a:buClr>
                <a:buSzPct val="85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30000"/>
                </a:spcBef>
                <a:spcAft>
                  <a:spcPct val="0"/>
                </a:spcAft>
                <a:buClr>
                  <a:srgbClr val="969696"/>
                </a:buClr>
                <a:buSzPct val="65000"/>
                <a:buFont typeface="Wingdings" panose="05000000000000000000" pitchFamily="2" charset="2"/>
                <a:buChar char="u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rgbClr val="969696"/>
                </a:buClr>
                <a:buSzPct val="115000"/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rgbClr val="969696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69696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indent="0" algn="ctr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en-US" sz="1800" b="1" dirty="0"/>
                <a:t>Activos</a:t>
              </a:r>
            </a:p>
          </p:txBody>
        </p:sp>
        <p:sp>
          <p:nvSpPr>
            <p:cNvPr id="29" name="Text Box 12">
              <a:extLst>
                <a:ext uri="{FF2B5EF4-FFF2-40B4-BE49-F238E27FC236}">
                  <a16:creationId xmlns:a16="http://schemas.microsoft.com/office/drawing/2014/main" id="{490297F7-4860-4D2E-AE62-C08F800B4D84}"/>
                </a:ext>
              </a:extLst>
            </p:cNvPr>
            <p:cNvSpPr txBox="1"/>
            <p:nvPr/>
          </p:nvSpPr>
          <p:spPr>
            <a:xfrm>
              <a:off x="1598" y="2282"/>
              <a:ext cx="18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70000"/>
                </a:spcBef>
                <a:spcAft>
                  <a:spcPct val="0"/>
                </a:spcAft>
                <a:buClr>
                  <a:srgbClr val="969696"/>
                </a:buClr>
                <a:buSzPct val="85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30000"/>
                </a:spcBef>
                <a:spcAft>
                  <a:spcPct val="0"/>
                </a:spcAft>
                <a:buClr>
                  <a:srgbClr val="969696"/>
                </a:buClr>
                <a:buSzPct val="65000"/>
                <a:buFont typeface="Wingdings" panose="05000000000000000000" pitchFamily="2" charset="2"/>
                <a:buChar char="u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rgbClr val="969696"/>
                </a:buClr>
                <a:buSzPct val="115000"/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rgbClr val="969696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69696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 marL="0" indent="0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en-US" sz="1800" b="1" dirty="0"/>
                <a:t>Pasivos</a:t>
              </a:r>
            </a:p>
          </p:txBody>
        </p:sp>
        <p:grpSp>
          <p:nvGrpSpPr>
            <p:cNvPr id="30" name="Group 15">
              <a:extLst>
                <a:ext uri="{FF2B5EF4-FFF2-40B4-BE49-F238E27FC236}">
                  <a16:creationId xmlns:a16="http://schemas.microsoft.com/office/drawing/2014/main" id="{63848AE6-1080-4772-A8AC-D393A3F44AA5}"/>
                </a:ext>
              </a:extLst>
            </p:cNvPr>
            <p:cNvGrpSpPr/>
            <p:nvPr/>
          </p:nvGrpSpPr>
          <p:grpSpPr>
            <a:xfrm>
              <a:off x="675" y="2374"/>
              <a:ext cx="1599" cy="1211"/>
              <a:chOff x="675" y="2374"/>
              <a:chExt cx="1599" cy="1211"/>
            </a:xfrm>
          </p:grpSpPr>
          <p:sp>
            <p:nvSpPr>
              <p:cNvPr id="33" name="Line 13">
                <a:extLst>
                  <a:ext uri="{FF2B5EF4-FFF2-40B4-BE49-F238E27FC236}">
                    <a16:creationId xmlns:a16="http://schemas.microsoft.com/office/drawing/2014/main" id="{D6ACA082-5BC1-4B90-BBB2-79793ACBA32F}"/>
                  </a:ext>
                </a:extLst>
              </p:cNvPr>
              <p:cNvSpPr/>
              <p:nvPr/>
            </p:nvSpPr>
            <p:spPr>
              <a:xfrm>
                <a:off x="675" y="2522"/>
                <a:ext cx="159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4" name="Line 14">
                <a:extLst>
                  <a:ext uri="{FF2B5EF4-FFF2-40B4-BE49-F238E27FC236}">
                    <a16:creationId xmlns:a16="http://schemas.microsoft.com/office/drawing/2014/main" id="{37174A2C-131A-42C6-A75D-90E5EC34E5AC}"/>
                  </a:ext>
                </a:extLst>
              </p:cNvPr>
              <p:cNvSpPr/>
              <p:nvPr/>
            </p:nvSpPr>
            <p:spPr>
              <a:xfrm>
                <a:off x="1390" y="2374"/>
                <a:ext cx="0" cy="121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PE"/>
              </a:p>
            </p:txBody>
          </p:sp>
        </p:grpSp>
        <p:sp>
          <p:nvSpPr>
            <p:cNvPr id="31" name="Text Box 16">
              <a:extLst>
                <a:ext uri="{FF2B5EF4-FFF2-40B4-BE49-F238E27FC236}">
                  <a16:creationId xmlns:a16="http://schemas.microsoft.com/office/drawing/2014/main" id="{E1751AA0-4445-47B4-BE3F-5486393CAB51}"/>
                </a:ext>
              </a:extLst>
            </p:cNvPr>
            <p:cNvSpPr txBox="1"/>
            <p:nvPr/>
          </p:nvSpPr>
          <p:spPr>
            <a:xfrm>
              <a:off x="697" y="2617"/>
              <a:ext cx="672" cy="9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70000"/>
                </a:spcBef>
                <a:spcAft>
                  <a:spcPct val="0"/>
                </a:spcAft>
                <a:buClr>
                  <a:srgbClr val="969696"/>
                </a:buClr>
                <a:buSzPct val="85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30000"/>
                </a:spcBef>
                <a:spcAft>
                  <a:spcPct val="0"/>
                </a:spcAft>
                <a:buClr>
                  <a:srgbClr val="969696"/>
                </a:buClr>
                <a:buSzPct val="65000"/>
                <a:buFont typeface="Wingdings" panose="05000000000000000000" pitchFamily="2" charset="2"/>
                <a:buChar char="u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rgbClr val="969696"/>
                </a:buClr>
                <a:buSzPct val="115000"/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rgbClr val="969696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69696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>
                <a:spcBef>
                  <a:spcPct val="0"/>
                </a:spcBef>
                <a:buClrTx/>
                <a:buSzPct val="100000"/>
                <a:buFont typeface="Wingdings" panose="05000000000000000000" pitchFamily="2" charset="2"/>
                <a:buChar char="§"/>
              </a:pPr>
              <a:r>
                <a:rPr lang="en-US" altLang="en-US" sz="1600" b="1" dirty="0" err="1"/>
                <a:t>Reservas</a:t>
              </a:r>
              <a:endParaRPr lang="en-US" altLang="en-US" sz="1600" b="1" dirty="0"/>
            </a:p>
            <a:p>
              <a:pPr>
                <a:spcBef>
                  <a:spcPct val="0"/>
                </a:spcBef>
                <a:buClrTx/>
                <a:buSzPct val="100000"/>
                <a:buFont typeface="Wingdings" panose="05000000000000000000" pitchFamily="2" charset="2"/>
                <a:buChar char="§"/>
              </a:pPr>
              <a:r>
                <a:rPr lang="en-US" altLang="en-US" sz="1600" b="1" dirty="0" err="1"/>
                <a:t>Préstamos</a:t>
              </a:r>
              <a:endParaRPr lang="en-US" altLang="en-US" sz="1600" b="1" dirty="0"/>
            </a:p>
            <a:p>
              <a:pPr>
                <a:spcBef>
                  <a:spcPct val="0"/>
                </a:spcBef>
                <a:buClrTx/>
                <a:buSzPct val="100000"/>
                <a:buFont typeface="Wingdings" panose="05000000000000000000" pitchFamily="2" charset="2"/>
                <a:buChar char="§"/>
              </a:pPr>
              <a:r>
                <a:rPr lang="en-US" altLang="en-US" sz="1600" b="1" dirty="0"/>
                <a:t>RIN de </a:t>
              </a:r>
              <a:r>
                <a:rPr lang="en-US" altLang="en-US" sz="1600" b="1" dirty="0" err="1"/>
                <a:t>Bancos</a:t>
              </a:r>
              <a:endParaRPr lang="en-US" altLang="en-US" sz="1600" b="1" dirty="0"/>
            </a:p>
            <a:p>
              <a:pPr>
                <a:spcBef>
                  <a:spcPct val="0"/>
                </a:spcBef>
                <a:buClrTx/>
                <a:buSzPct val="100000"/>
                <a:buFont typeface="Wingdings" panose="05000000000000000000" pitchFamily="2" charset="2"/>
                <a:buChar char="§"/>
              </a:pPr>
              <a:r>
                <a:rPr lang="en-US" altLang="en-US" sz="1600" b="1" dirty="0"/>
                <a:t>VF (</a:t>
              </a:r>
              <a:r>
                <a:rPr lang="en-US" altLang="en-US" sz="1600" b="1" dirty="0" err="1"/>
                <a:t>bonos</a:t>
              </a:r>
              <a:r>
                <a:rPr lang="en-US" altLang="en-US" sz="1600" b="1" dirty="0"/>
                <a:t>)</a:t>
              </a:r>
            </a:p>
          </p:txBody>
        </p:sp>
        <p:sp>
          <p:nvSpPr>
            <p:cNvPr id="32" name="Text Box 17">
              <a:extLst>
                <a:ext uri="{FF2B5EF4-FFF2-40B4-BE49-F238E27FC236}">
                  <a16:creationId xmlns:a16="http://schemas.microsoft.com/office/drawing/2014/main" id="{B16D14D6-8DE5-4906-B160-E36E7F12EBDE}"/>
                </a:ext>
              </a:extLst>
            </p:cNvPr>
            <p:cNvSpPr txBox="1"/>
            <p:nvPr/>
          </p:nvSpPr>
          <p:spPr>
            <a:xfrm>
              <a:off x="1414" y="2607"/>
              <a:ext cx="765" cy="5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70000"/>
                </a:spcBef>
                <a:spcAft>
                  <a:spcPct val="0"/>
                </a:spcAft>
                <a:buClr>
                  <a:srgbClr val="969696"/>
                </a:buClr>
                <a:buSzPct val="85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30000"/>
                </a:spcBef>
                <a:spcAft>
                  <a:spcPct val="0"/>
                </a:spcAft>
                <a:buClr>
                  <a:srgbClr val="969696"/>
                </a:buClr>
                <a:buSzPct val="65000"/>
                <a:buFont typeface="Wingdings" panose="05000000000000000000" pitchFamily="2" charset="2"/>
                <a:buChar char="u"/>
                <a:defRPr sz="2800">
                  <a:solidFill>
                    <a:schemeClr val="tx1"/>
                  </a:solidFill>
                  <a:latin typeface="+mn-lt"/>
                </a:defRPr>
              </a:lvl2pPr>
              <a:lvl3pPr marL="1143000" indent="-22860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rgbClr val="969696"/>
                </a:buClr>
                <a:buSzPct val="115000"/>
                <a:buChar char="•"/>
                <a:defRPr sz="2400">
                  <a:solidFill>
                    <a:schemeClr val="tx1"/>
                  </a:solidFill>
                  <a:latin typeface="+mn-lt"/>
                </a:defRPr>
              </a:lvl3pPr>
              <a:lvl4pPr marL="1600200" indent="-22860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rgbClr val="969696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69696"/>
                </a:buClr>
                <a:buChar char="»"/>
                <a:defRPr sz="2000">
                  <a:solidFill>
                    <a:schemeClr val="tx1"/>
                  </a:solidFill>
                  <a:latin typeface="+mn-lt"/>
                </a:defRPr>
              </a:lvl5pPr>
            </a:lstStyle>
            <a:p>
              <a:pPr>
                <a:spcBef>
                  <a:spcPct val="0"/>
                </a:spcBef>
                <a:buClrTx/>
                <a:buSzPct val="100000"/>
                <a:buFont typeface="Wingdings" panose="05000000000000000000" pitchFamily="2" charset="2"/>
                <a:buChar char="§"/>
              </a:pPr>
              <a:r>
                <a:rPr lang="en-US" altLang="en-US" sz="1600" b="1" dirty="0" err="1"/>
                <a:t>Depósitos</a:t>
              </a:r>
              <a:endParaRPr lang="en-US" altLang="en-US" sz="1600" b="1" dirty="0"/>
            </a:p>
            <a:p>
              <a:pPr>
                <a:spcBef>
                  <a:spcPct val="0"/>
                </a:spcBef>
                <a:buClrTx/>
                <a:buSzPct val="100000"/>
                <a:buFont typeface="Wingdings" panose="05000000000000000000" pitchFamily="2" charset="2"/>
                <a:buChar char="§"/>
              </a:pPr>
              <a:r>
                <a:rPr lang="en-US" altLang="en-US" sz="1600" b="1" dirty="0" err="1"/>
                <a:t>Credito</a:t>
              </a:r>
              <a:r>
                <a:rPr lang="en-US" altLang="en-US" sz="1600" b="1" dirty="0"/>
                <a:t> </a:t>
              </a:r>
              <a:r>
                <a:rPr lang="en-US" altLang="en-US" sz="1600" b="1" dirty="0" err="1"/>
                <a:t>Interno</a:t>
              </a:r>
              <a:r>
                <a:rPr lang="en-US" altLang="en-US" sz="1600" b="1" dirty="0"/>
                <a:t> Neto (S. Privado)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223827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B10DA-5A53-CB81-7204-3ABE01A68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81583"/>
            <a:ext cx="8596668" cy="752272"/>
          </a:xfrm>
        </p:spPr>
        <p:txBody>
          <a:bodyPr/>
          <a:lstStyle/>
          <a:p>
            <a:r>
              <a:rPr lang="es-PE" b="1" dirty="0"/>
              <a:t>Política Monetaria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85746-8C4A-6AEF-E9ED-602A75042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84052"/>
            <a:ext cx="11035290" cy="4329294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s-ES" sz="30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El Banco Central (BC) utiliza 3 tipos principales de operaciones para modificar el stock de </a:t>
            </a:r>
            <a:r>
              <a:rPr lang="es-ES" sz="3000" b="1" i="0" u="none" strike="noStrike" baseline="0" dirty="0">
                <a:solidFill>
                  <a:srgbClr val="FF0000"/>
                </a:solidFill>
                <a:latin typeface="Tahoma" panose="020B0604030504040204" pitchFamily="34" charset="0"/>
              </a:rPr>
              <a:t>dinero de alto poder expansivo</a:t>
            </a:r>
            <a:r>
              <a:rPr lang="es-ES" sz="3000" dirty="0">
                <a:solidFill>
                  <a:srgbClr val="000000"/>
                </a:solidFill>
                <a:latin typeface="Tahoma" panose="020B0604030504040204" pitchFamily="34" charset="0"/>
              </a:rPr>
              <a:t> o</a:t>
            </a:r>
            <a:r>
              <a:rPr lang="es-ES" sz="30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s-ES" sz="3000" b="1" i="0" u="none" strike="noStrike" baseline="0" dirty="0">
                <a:solidFill>
                  <a:srgbClr val="FF0000"/>
                </a:solidFill>
                <a:latin typeface="Tahoma" panose="020B0604030504040204" pitchFamily="34" charset="0"/>
              </a:rPr>
              <a:t>base monetaria</a:t>
            </a:r>
            <a:r>
              <a:rPr lang="es-ES" sz="30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: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s-PE" sz="2600" b="0" i="0" u="none" strike="noStrike" baseline="0" dirty="0">
                <a:solidFill>
                  <a:srgbClr val="3232CC"/>
                </a:solidFill>
                <a:latin typeface="Tahoma" panose="020B0604030504040204" pitchFamily="34" charset="0"/>
              </a:rPr>
              <a:t>–Operaciones de Mercado Abierto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s-PE" sz="2600" b="0" i="0" u="none" strike="noStrike" baseline="0" dirty="0">
                <a:solidFill>
                  <a:srgbClr val="3232CC"/>
                </a:solidFill>
                <a:latin typeface="Tahoma" panose="020B0604030504040204" pitchFamily="34" charset="0"/>
              </a:rPr>
              <a:t>–Operaciones de Descuento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s-PE" sz="2600" b="0" i="0" u="none" strike="noStrike" baseline="0" dirty="0">
                <a:solidFill>
                  <a:srgbClr val="3232CC"/>
                </a:solidFill>
                <a:latin typeface="Tahoma" panose="020B0604030504040204" pitchFamily="34" charset="0"/>
              </a:rPr>
              <a:t>–Operaciones en Moneda Extranjera</a:t>
            </a:r>
          </a:p>
          <a:p>
            <a:pPr>
              <a:lnSpc>
                <a:spcPct val="150000"/>
              </a:lnSpc>
            </a:pPr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956571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B10DA-5A53-CB81-7204-3ABE01A6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Política Monetaria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85746-8C4A-6AEF-E9ED-602A75042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2572"/>
            <a:ext cx="11035290" cy="388077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s-ES" sz="2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Operaciones de Mercado Abierto</a:t>
            </a:r>
          </a:p>
          <a:p>
            <a:pPr>
              <a:lnSpc>
                <a:spcPct val="160000"/>
              </a:lnSpc>
            </a:pP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Son las </a:t>
            </a:r>
            <a:r>
              <a:rPr lang="es-ES" sz="2400" b="0" i="0" u="none" strike="noStrike" baseline="0" dirty="0">
                <a:solidFill>
                  <a:srgbClr val="D50092"/>
                </a:solidFill>
                <a:latin typeface="Tahoma" panose="020B0604030504040204" pitchFamily="34" charset="0"/>
              </a:rPr>
              <a:t>transacciones 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de los bancos centrales cuando compran y venden </a:t>
            </a:r>
            <a:r>
              <a:rPr lang="es-ES" sz="2400" b="0" i="0" u="none" strike="noStrike" baseline="0" dirty="0">
                <a:solidFill>
                  <a:srgbClr val="FF0000"/>
                </a:solidFill>
                <a:latin typeface="Tahoma" panose="020B0604030504040204" pitchFamily="34" charset="0"/>
              </a:rPr>
              <a:t>bonos 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en el mercado abierto (mercado secundario).</a:t>
            </a:r>
          </a:p>
          <a:p>
            <a:pPr>
              <a:lnSpc>
                <a:spcPct val="160000"/>
              </a:lnSpc>
            </a:pP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Una </a:t>
            </a:r>
            <a:r>
              <a:rPr lang="es-ES" sz="2400" b="0" i="0" u="none" strike="noStrike" baseline="0" dirty="0">
                <a:solidFill>
                  <a:srgbClr val="3232CC"/>
                </a:solidFill>
                <a:latin typeface="Tahoma" panose="020B0604030504040204" pitchFamily="34" charset="0"/>
              </a:rPr>
              <a:t>compra de instrumentos 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financieros por parte de BC, </a:t>
            </a:r>
            <a:r>
              <a:rPr lang="es-ES" sz="2400" b="0" i="0" u="none" strike="noStrike" baseline="0" dirty="0">
                <a:solidFill>
                  <a:srgbClr val="3232CC"/>
                </a:solidFill>
                <a:latin typeface="Tahoma" panose="020B0604030504040204" pitchFamily="34" charset="0"/>
              </a:rPr>
              <a:t>incrementa la oferta 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de dinero de alto poder en manos del público. Sucede a la inversa en el caso de una venta de instrumentos.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511744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52" name="Rectangle 8"/>
          <p:cNvSpPr>
            <a:spLocks noGrp="1" noChangeArrowheads="1"/>
          </p:cNvSpPr>
          <p:nvPr>
            <p:ph type="title"/>
          </p:nvPr>
        </p:nvSpPr>
        <p:spPr>
          <a:xfrm>
            <a:off x="513561" y="0"/>
            <a:ext cx="8596668" cy="1320800"/>
          </a:xfrm>
        </p:spPr>
        <p:txBody>
          <a:bodyPr vert="horz" wrap="square" lIns="91440" tIns="45720" rIns="91440" bIns="45720" numCol="1" anchor="ctr" anchorCtr="0" compatLnSpc="1"/>
          <a:lstStyle/>
          <a:p>
            <a:pPr>
              <a:defRPr/>
            </a:pPr>
            <a:r>
              <a:rPr lang="en-US" altLang="en-US" b="1" dirty="0"/>
              <a:t>Política </a:t>
            </a:r>
            <a:r>
              <a:rPr lang="en-US" altLang="en-US" b="1" dirty="0" err="1"/>
              <a:t>Monetaria</a:t>
            </a:r>
            <a:endParaRPr lang="en-US" altLang="en-US" b="1" dirty="0"/>
          </a:p>
        </p:txBody>
      </p:sp>
      <p:sp>
        <p:nvSpPr>
          <p:cNvPr id="59394" name="2 Marcador de número de diapositiva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>
              <a:buSzPct val="100000"/>
            </a:pPr>
            <a:r>
              <a:rPr lang="en-US" altLang="en-US" dirty="0"/>
              <a:t>Pág. </a:t>
            </a:r>
            <a:fld id="{9A0DB2DC-4C9A-4742-B13C-FB6460FD3503}" type="slidenum">
              <a:rPr lang="en-US" altLang="en-US" dirty="0"/>
              <a:pPr>
                <a:buSzPct val="100000"/>
              </a:pPr>
              <a:t>12</a:t>
            </a:fld>
            <a:endParaRPr lang="en-US" altLang="en-US" dirty="0"/>
          </a:p>
        </p:txBody>
      </p:sp>
      <p:sp>
        <p:nvSpPr>
          <p:cNvPr id="108550" name="Text Box 6"/>
          <p:cNvSpPr txBox="1"/>
          <p:nvPr/>
        </p:nvSpPr>
        <p:spPr>
          <a:xfrm>
            <a:off x="521241" y="1772816"/>
            <a:ext cx="10338046" cy="302050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70000"/>
              </a:spcBef>
              <a:spcAft>
                <a:spcPct val="0"/>
              </a:spcAft>
              <a:buClr>
                <a:srgbClr val="969696"/>
              </a:buClr>
              <a:buSzPct val="85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969696"/>
              </a:buClr>
              <a:buSzPct val="65000"/>
              <a:buFont typeface="Wingdings" panose="05000000000000000000" pitchFamily="2" charset="2"/>
              <a:buChar char="u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969696"/>
              </a:buClr>
              <a:buSzPct val="115000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969696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69696"/>
              </a:buClr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marL="0" indent="0">
              <a:lnSpc>
                <a:spcPct val="150000"/>
              </a:lnSpc>
              <a:spcBef>
                <a:spcPct val="50000"/>
              </a:spcBef>
              <a:buClrTx/>
              <a:buSzPct val="100000"/>
              <a:buNone/>
            </a:pPr>
            <a:r>
              <a:rPr lang="es-ES" sz="2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Operaciones de Mercado Abierto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Tx/>
              <a:buSzPct val="100000"/>
              <a:buFont typeface="Wingdings" panose="05000000000000000000" pitchFamily="2" charset="2"/>
              <a:buChar char="§"/>
            </a:pPr>
            <a:r>
              <a:rPr lang="en-US" altLang="en-US" sz="2800" dirty="0" err="1"/>
              <a:t>Comprando</a:t>
            </a:r>
            <a:r>
              <a:rPr lang="en-US" altLang="en-US" sz="2800" dirty="0"/>
              <a:t> y vendiendo bonos del Estado por el   banco central: 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  <a:buClrTx/>
              <a:buSzPct val="100000"/>
              <a:buFont typeface="Wingdings" panose="05000000000000000000" pitchFamily="2" charset="2"/>
              <a:buChar char="§"/>
            </a:pPr>
            <a:r>
              <a:rPr lang="en-US" altLang="en-US" sz="2400" dirty="0"/>
              <a:t>Comprar </a:t>
            </a:r>
            <a:r>
              <a:rPr lang="en-US" altLang="en-US" sz="2400" dirty="0" err="1"/>
              <a:t>bonos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aumenta</a:t>
            </a:r>
            <a:r>
              <a:rPr lang="en-US" altLang="en-US" sz="2400" dirty="0"/>
              <a:t> la oferta monetaria</a:t>
            </a:r>
          </a:p>
          <a:p>
            <a:pPr lvl="1">
              <a:lnSpc>
                <a:spcPct val="150000"/>
              </a:lnSpc>
              <a:spcBef>
                <a:spcPct val="50000"/>
              </a:spcBef>
              <a:buClrTx/>
              <a:buSzPct val="100000"/>
              <a:buFont typeface="Wingdings" panose="05000000000000000000" pitchFamily="2" charset="2"/>
              <a:buChar char="§"/>
            </a:pPr>
            <a:r>
              <a:rPr lang="en-US" altLang="en-US" sz="2400" dirty="0"/>
              <a:t>Vender </a:t>
            </a:r>
            <a:r>
              <a:rPr lang="en-US" altLang="en-US" sz="2400" dirty="0" err="1"/>
              <a:t>bonos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disminuye</a:t>
            </a:r>
            <a:r>
              <a:rPr lang="en-US" altLang="en-US" sz="2400" dirty="0"/>
              <a:t> la oferta monetaria</a:t>
            </a:r>
          </a:p>
        </p:txBody>
      </p:sp>
    </p:spTree>
    <p:extLst>
      <p:ext uri="{BB962C8B-B14F-4D97-AF65-F5344CB8AC3E}">
        <p14:creationId xmlns:p14="http://schemas.microsoft.com/office/powerpoint/2010/main" val="142299003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B10DA-5A53-CB81-7204-3ABE01A6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Política Monetaria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85746-8C4A-6AEF-E9ED-602A75042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2572"/>
            <a:ext cx="10819266" cy="388077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2400" b="1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Facilidades financieras (de crédito y depósito)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Présta</a:t>
            </a:r>
            <a:r>
              <a:rPr lang="es-ES" sz="2400" dirty="0">
                <a:solidFill>
                  <a:srgbClr val="000000"/>
                </a:solidFill>
                <a:latin typeface="Tahoma" panose="020B0604030504040204" pitchFamily="34" charset="0"/>
              </a:rPr>
              <a:t>mos a la banca comercial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Ventanilla de descuento y/o redescuento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Depósitos remunerados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2581896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4915D-3339-4BE2-760F-BB88DC12E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787785-BC6D-FA6D-5B32-656DD2B3B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Política Monetaria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D4AD5-C609-ECBB-74FD-0F866AD3F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2572"/>
            <a:ext cx="10819266" cy="388077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2400" b="1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Redescuento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El BC compra papel comercial (deuda de corto plazo) o bonos de empresas privadas.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Sus efectos monetarios son similares a los de una operación en el mercado abierto.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3041130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B10DA-5A53-CB81-7204-3ABE01A68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63051"/>
            <a:ext cx="10515600" cy="1033702"/>
          </a:xfrm>
        </p:spPr>
        <p:txBody>
          <a:bodyPr/>
          <a:lstStyle/>
          <a:p>
            <a:r>
              <a:rPr lang="es-PE" b="1" dirty="0"/>
              <a:t>Política Monetaria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85746-8C4A-6AEF-E9ED-602A75042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96753"/>
            <a:ext cx="11251314" cy="5004262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s-ES" sz="2400" b="1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Ventanilla de Descuento</a:t>
            </a:r>
            <a:endParaRPr lang="es-PE" sz="2400" b="1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s-ES" sz="2400" b="0" i="0" u="none" strike="noStrike" baseline="0" dirty="0">
                <a:latin typeface="Tahoma" panose="020B0604030504040204" pitchFamily="34" charset="0"/>
              </a:rPr>
              <a:t>En esta modalidad el BC presta dinero al Sector Privado, ya sea a la banca (más común) y/o a las empresas.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s-ES" sz="2400" b="0" i="0" u="none" strike="noStrike" baseline="0" dirty="0">
                <a:latin typeface="Tahoma" panose="020B0604030504040204" pitchFamily="34" charset="0"/>
              </a:rPr>
              <a:t>La tasa de interés cobrada a los bancos comerciales es llamada </a:t>
            </a:r>
            <a:r>
              <a:rPr lang="es-ES" sz="2400" b="0" i="0" u="none" strike="noStrike" baseline="0" dirty="0">
                <a:solidFill>
                  <a:srgbClr val="FF0000"/>
                </a:solidFill>
                <a:latin typeface="Tahoma" panose="020B0604030504040204" pitchFamily="34" charset="0"/>
              </a:rPr>
              <a:t>tasa de descuento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Un </a:t>
            </a:r>
            <a:r>
              <a:rPr lang="es-ES" sz="2400" b="0" i="0" u="none" strike="noStrike" baseline="0" dirty="0">
                <a:solidFill>
                  <a:srgbClr val="3232CC"/>
                </a:solidFill>
                <a:latin typeface="Tahoma" panose="020B0604030504040204" pitchFamily="34" charset="0"/>
              </a:rPr>
              <a:t>préstamo 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otorgado por esta modalidad produce un </a:t>
            </a:r>
            <a:r>
              <a:rPr lang="es-ES" sz="2400" b="0" i="0" u="none" strike="noStrike" baseline="0" dirty="0">
                <a:solidFill>
                  <a:srgbClr val="3232CC"/>
                </a:solidFill>
                <a:latin typeface="Tahoma" panose="020B0604030504040204" pitchFamily="34" charset="0"/>
              </a:rPr>
              <a:t>incremento 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de la base monetaria igual al monto del préstamo.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2107275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B10DA-5A53-CB81-7204-3ABE01A68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6632"/>
            <a:ext cx="10515600" cy="1325563"/>
          </a:xfrm>
        </p:spPr>
        <p:txBody>
          <a:bodyPr/>
          <a:lstStyle/>
          <a:p>
            <a:r>
              <a:rPr lang="es-PE" b="1" dirty="0"/>
              <a:t>Política Monetaria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85746-8C4A-6AEF-E9ED-602A75042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766" y="1442195"/>
            <a:ext cx="10882849" cy="451582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2400" b="1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Ventanilla de Descuento</a:t>
            </a:r>
            <a:endParaRPr lang="es-PE" sz="2400" b="1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Los bancos usan esta opción crediticia por 2 motivos: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s-ES" b="0" i="0" u="none" strike="noStrike" baseline="0" dirty="0">
                <a:solidFill>
                  <a:srgbClr val="3232CC"/>
                </a:solidFill>
                <a:latin typeface="Tahoma" panose="020B0604030504040204" pitchFamily="34" charset="0"/>
              </a:rPr>
              <a:t>Ajustar sus niveles de reservas </a:t>
            </a:r>
            <a:r>
              <a:rPr lang="es-ES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en efectivo para alcanzar un mínimo deseado u obligatorio (que veremos luego).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s-ES" b="0" i="0" u="none" strike="noStrike" baseline="0" dirty="0">
                <a:solidFill>
                  <a:srgbClr val="3232CC"/>
                </a:solidFill>
                <a:latin typeface="Tahoma" panose="020B0604030504040204" pitchFamily="34" charset="0"/>
              </a:rPr>
              <a:t>Obtener fondos para préstamos </a:t>
            </a:r>
            <a:r>
              <a:rPr lang="es-ES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adicionales en el caso de que el mercado sea atractivo (decidirá entre prestarse de otros bancos [tasa de fondos </a:t>
            </a:r>
            <a:r>
              <a:rPr lang="es-ES" dirty="0">
                <a:solidFill>
                  <a:srgbClr val="000000"/>
                </a:solidFill>
                <a:latin typeface="Tahoma" panose="020B0604030504040204" pitchFamily="34" charset="0"/>
              </a:rPr>
              <a:t>interbancarios</a:t>
            </a:r>
            <a:r>
              <a:rPr lang="es-ES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] y el BC [tasa de descuento] )</a:t>
            </a:r>
          </a:p>
        </p:txBody>
      </p:sp>
    </p:spTree>
    <p:extLst>
      <p:ext uri="{BB962C8B-B14F-4D97-AF65-F5344CB8AC3E}">
        <p14:creationId xmlns:p14="http://schemas.microsoft.com/office/powerpoint/2010/main" val="397957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B10DA-5A53-CB81-7204-3ABE01A68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Política Monetaria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D85746-8C4A-6AEF-E9ED-602A75042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2572"/>
            <a:ext cx="10819266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2400" b="1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Operaciones en Moneda Extranjera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También puede afectar la oferta monetaria al comprar o vender activos denominados en moneda extranjera.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En el caso más simple, el BC compra o vende moneda extranjera a cambio de moneda local.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No sólo afecta el nivel de oferta monetaria sino el tipo de cambio</a:t>
            </a:r>
            <a:endParaRPr lang="es-PE" sz="240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948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5502D-E309-3F53-871E-72017C012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36C0F-47F3-7E22-2DAB-E0C4E85F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9659"/>
          </a:xfrm>
        </p:spPr>
        <p:txBody>
          <a:bodyPr/>
          <a:lstStyle/>
          <a:p>
            <a:r>
              <a:rPr lang="es-PE" b="1" dirty="0"/>
              <a:t>Política Monetaria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B2847F-AFC3-9112-E8E1-8C525A46D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832" y="1628800"/>
            <a:ext cx="10819266" cy="476030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2400" b="1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Encaje legal (requisitos de reservas bancarias)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PE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Ajustar (al alza o a la baja) los depósitos que los bancos deben mantener en reserva.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PE" sz="2400" dirty="0">
                <a:solidFill>
                  <a:srgbClr val="000000"/>
                </a:solidFill>
                <a:latin typeface="Tahoma" panose="020B0604030504040204" pitchFamily="34" charset="0"/>
              </a:rPr>
              <a:t>Reducir el encaje: más créditos disponibles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PE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Aumentar el encaje: menos </a:t>
            </a:r>
            <a:r>
              <a:rPr lang="es-PE" sz="2400" dirty="0">
                <a:solidFill>
                  <a:srgbClr val="000000"/>
                </a:solidFill>
                <a:latin typeface="Tahoma" panose="020B0604030504040204" pitchFamily="34" charset="0"/>
              </a:rPr>
              <a:t>créditos disponibles</a:t>
            </a:r>
            <a:endParaRPr lang="es-PE" sz="240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358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AD56B-3FD9-09A0-041D-AA95A8275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645E2-C6CF-A38A-0C2C-A198DF642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0"/>
            <a:ext cx="11287125" cy="725488"/>
          </a:xfrm>
        </p:spPr>
        <p:txBody>
          <a:bodyPr>
            <a:normAutofit/>
          </a:bodyPr>
          <a:lstStyle/>
          <a:p>
            <a:r>
              <a:rPr lang="es-ES" sz="4000" dirty="0"/>
              <a:t>Política monetaria</a:t>
            </a: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8791446-134D-1A49-3D68-97E964103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26" y="647549"/>
            <a:ext cx="8099628" cy="596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269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40303-8F8E-C9D1-8318-4C8FFE2C0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6D751-FAAF-5E2A-8C52-1FE486044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37" y="106888"/>
            <a:ext cx="11287125" cy="725488"/>
          </a:xfrm>
        </p:spPr>
        <p:txBody>
          <a:bodyPr>
            <a:noAutofit/>
          </a:bodyPr>
          <a:lstStyle/>
          <a:p>
            <a:r>
              <a:rPr lang="es-ES" sz="3600" dirty="0"/>
              <a:t>Política monetaria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6F00E60-650E-F7ED-BD2A-D5F9FBF015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76"/>
          <a:stretch/>
        </p:blipFill>
        <p:spPr>
          <a:xfrm>
            <a:off x="452437" y="832376"/>
            <a:ext cx="9051486" cy="560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44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97BF-29CA-14A0-B98E-8A06022E8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1E9D6-BA58-5798-763F-C6F3B2360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16632"/>
            <a:ext cx="10515600" cy="1119659"/>
          </a:xfrm>
        </p:spPr>
        <p:txBody>
          <a:bodyPr/>
          <a:lstStyle/>
          <a:p>
            <a:r>
              <a:rPr lang="es-PE" b="1" dirty="0"/>
              <a:t>Política Monetaria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AAC501-0120-64FB-190D-638CBA08F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048848"/>
            <a:ext cx="10819266" cy="533248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2400" b="1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Operaciones No convencionales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s-ES" b="1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Programas de crédito directo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Préstamos a sectores específicos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s-ES" b="1" dirty="0">
                <a:solidFill>
                  <a:srgbClr val="000000"/>
                </a:solidFill>
                <a:latin typeface="Tahoma" panose="020B0604030504040204" pitchFamily="34" charset="0"/>
              </a:rPr>
              <a:t>Forward </a:t>
            </a:r>
            <a:r>
              <a:rPr lang="es-ES" b="1" dirty="0" err="1">
                <a:solidFill>
                  <a:srgbClr val="000000"/>
                </a:solidFill>
                <a:latin typeface="Tahoma" panose="020B0604030504040204" pitchFamily="34" charset="0"/>
              </a:rPr>
              <a:t>Guidance</a:t>
            </a:r>
            <a:endParaRPr lang="es-ES" b="1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ES" dirty="0">
                <a:solidFill>
                  <a:srgbClr val="000000"/>
                </a:solidFill>
                <a:latin typeface="Tahoma" panose="020B0604030504040204" pitchFamily="34" charset="0"/>
              </a:rPr>
              <a:t>Comunicar planes futuros de política monetaria para influir en las expectativas de los agentes económicos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s-ES" b="1" dirty="0">
                <a:solidFill>
                  <a:srgbClr val="000000"/>
                </a:solidFill>
                <a:latin typeface="Tahoma" panose="020B0604030504040204" pitchFamily="34" charset="0"/>
              </a:rPr>
              <a:t>Regulación </a:t>
            </a:r>
            <a:r>
              <a:rPr lang="es-ES" b="1" dirty="0" err="1">
                <a:solidFill>
                  <a:srgbClr val="000000"/>
                </a:solidFill>
                <a:latin typeface="Tahoma" panose="020B0604030504040204" pitchFamily="34" charset="0"/>
              </a:rPr>
              <a:t>macroprudencial</a:t>
            </a:r>
            <a:endParaRPr lang="es-ES" b="1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PE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Límites a los préstamos, coeficientes de liquidez (en moneda extranjera)</a:t>
            </a:r>
          </a:p>
        </p:txBody>
      </p:sp>
    </p:spTree>
    <p:extLst>
      <p:ext uri="{BB962C8B-B14F-4D97-AF65-F5344CB8AC3E}">
        <p14:creationId xmlns:p14="http://schemas.microsoft.com/office/powerpoint/2010/main" val="64409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5A700-F8B9-CB5C-EEE1-DBBB4BD2C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11FADD-03E8-EB58-D9AE-E5ADBF2A8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16632"/>
            <a:ext cx="10515600" cy="1119659"/>
          </a:xfrm>
        </p:spPr>
        <p:txBody>
          <a:bodyPr/>
          <a:lstStyle/>
          <a:p>
            <a:r>
              <a:rPr lang="es-PE" b="1" dirty="0"/>
              <a:t>Política Monetaria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6FF788-D991-0520-5594-F076B2740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048848"/>
            <a:ext cx="10819266" cy="533248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2400" b="1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Operaciones No convencionales</a:t>
            </a:r>
          </a:p>
          <a:p>
            <a:pPr lvl="1">
              <a:lnSpc>
                <a:spcPct val="150000"/>
              </a:lnSpc>
            </a:pPr>
            <a:r>
              <a:rPr lang="es-PE" b="1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Flexibilización cuantitativa (</a:t>
            </a:r>
            <a:r>
              <a:rPr lang="es-PE" b="1" i="0" u="none" strike="noStrike" baseline="0" dirty="0" err="1">
                <a:solidFill>
                  <a:srgbClr val="000000"/>
                </a:solidFill>
                <a:latin typeface="Tahoma" panose="020B0604030504040204" pitchFamily="34" charset="0"/>
              </a:rPr>
              <a:t>Quantitative</a:t>
            </a:r>
            <a:r>
              <a:rPr lang="es-PE" b="1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s-PE" b="1" i="0" u="none" strike="noStrike" baseline="0" dirty="0" err="1">
                <a:solidFill>
                  <a:srgbClr val="000000"/>
                </a:solidFill>
                <a:latin typeface="Tahoma" panose="020B0604030504040204" pitchFamily="34" charset="0"/>
              </a:rPr>
              <a:t>easing</a:t>
            </a:r>
            <a:r>
              <a:rPr lang="es-PE" b="1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: QE)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s-PE" dirty="0">
                <a:solidFill>
                  <a:srgbClr val="000000"/>
                </a:solidFill>
                <a:latin typeface="Tahoma" panose="020B0604030504040204" pitchFamily="34" charset="0"/>
              </a:rPr>
              <a:t>El banco central compra activos a largo plazo (bonos corporativos, hipotecarios, </a:t>
            </a:r>
            <a:r>
              <a:rPr lang="es-PE" dirty="0" err="1">
                <a:solidFill>
                  <a:srgbClr val="000000"/>
                </a:solidFill>
                <a:latin typeface="Tahoma" panose="020B0604030504040204" pitchFamily="34" charset="0"/>
              </a:rPr>
              <a:t>etc</a:t>
            </a:r>
            <a:r>
              <a:rPr lang="es-PE" dirty="0">
                <a:solidFill>
                  <a:srgbClr val="000000"/>
                </a:solidFill>
                <a:latin typeface="Tahoma" panose="020B0604030504040204" pitchFamily="34" charset="0"/>
              </a:rPr>
              <a:t>) para bajar las tasas de interés a largo plazo.</a:t>
            </a:r>
          </a:p>
          <a:p>
            <a:pPr lvl="1">
              <a:lnSpc>
                <a:spcPct val="150000"/>
              </a:lnSpc>
            </a:pPr>
            <a:r>
              <a:rPr lang="es-PE" b="1" i="0" u="none" strike="noStrike" baseline="0" dirty="0" err="1">
                <a:solidFill>
                  <a:srgbClr val="000000"/>
                </a:solidFill>
                <a:latin typeface="Tahoma" panose="020B0604030504040204" pitchFamily="34" charset="0"/>
              </a:rPr>
              <a:t>Quantitative</a:t>
            </a:r>
            <a:r>
              <a:rPr lang="es-PE" b="1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 Tapering</a:t>
            </a:r>
          </a:p>
        </p:txBody>
      </p:sp>
    </p:spTree>
    <p:extLst>
      <p:ext uri="{BB962C8B-B14F-4D97-AF65-F5344CB8AC3E}">
        <p14:creationId xmlns:p14="http://schemas.microsoft.com/office/powerpoint/2010/main" val="2249939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0F589-1F75-4E65-4BF3-1B1E92916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F08B2-B83F-3B58-5CEE-8DF53078F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Política Monetaria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7A1189-C1BE-941B-D800-3A489B9D4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592" y="1690688"/>
            <a:ext cx="10676466" cy="388077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2400" b="1" i="0" u="none" strike="noStrike" baseline="0" dirty="0">
                <a:solidFill>
                  <a:srgbClr val="3333FF"/>
                </a:solidFill>
                <a:latin typeface="Tahoma" panose="020B0604030504040204" pitchFamily="34" charset="0"/>
              </a:rPr>
              <a:t>Esterilizaci</a:t>
            </a:r>
            <a:r>
              <a:rPr lang="es-ES" sz="2400" b="1" dirty="0">
                <a:solidFill>
                  <a:srgbClr val="3333FF"/>
                </a:solidFill>
                <a:latin typeface="Tahoma" panose="020B0604030504040204" pitchFamily="34" charset="0"/>
              </a:rPr>
              <a:t>ón</a:t>
            </a:r>
            <a:endParaRPr lang="es-PE" sz="200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469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ctrTitle"/>
          </p:nvPr>
        </p:nvSpPr>
        <p:spPr>
          <a:xfrm>
            <a:off x="2698111" y="3070084"/>
            <a:ext cx="7588889" cy="7178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6000" dirty="0"/>
              <a:t>TRANSFERENCIA</a:t>
            </a:r>
            <a:br>
              <a:rPr lang="es-ES" sz="6000" dirty="0"/>
            </a:br>
            <a:r>
              <a:rPr lang="es-ES" sz="6000" dirty="0"/>
              <a:t>(IATC)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1510350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2EF98-59B0-4CCC-9501-870121BDD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332656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s-ES" sz="4400" dirty="0"/>
              <a:t>SET DE EJERCICIOS 1</a:t>
            </a:r>
            <a:endParaRPr lang="es-PE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ED465D4-FB2B-F573-4C98-888CE9D25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514" y="1857618"/>
            <a:ext cx="989162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endParaRPr lang="es-ES" altLang="es-PE" sz="2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es-ES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lang="es-ES" altLang="es-PE" sz="2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es-ES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457200" algn="l"/>
              </a:tabLst>
            </a:pPr>
            <a:r>
              <a:rPr kumimoji="0" lang="es-ES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kumimoji="0" lang="es-PE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es-ES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85620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ctrTitle"/>
          </p:nvPr>
        </p:nvSpPr>
        <p:spPr>
          <a:xfrm>
            <a:off x="2698111" y="3070084"/>
            <a:ext cx="7588889" cy="211151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s-ES" sz="6000" dirty="0"/>
              <a:t>CIERRE</a:t>
            </a:r>
            <a:br>
              <a:rPr lang="es-ES" sz="6000" dirty="0"/>
            </a:br>
            <a:r>
              <a:rPr lang="es-ES" sz="6000" dirty="0"/>
              <a:t>(IATC)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3780397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1;p17">
            <a:extLst>
              <a:ext uri="{FF2B5EF4-FFF2-40B4-BE49-F238E27FC236}">
                <a16:creationId xmlns:a16="http://schemas.microsoft.com/office/drawing/2014/main" id="{6496F065-121F-9968-CCBE-2033527543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0013" y="449263"/>
            <a:ext cx="6477000" cy="889000"/>
          </a:xfrm>
        </p:spPr>
        <p:txBody>
          <a:bodyPr lIns="121900" tIns="121900" rIns="121900" bIns="121900" rtlCol="0" anchor="t"/>
          <a:lstStyle/>
          <a:p>
            <a:pPr algn="ctr">
              <a:defRPr/>
            </a:pPr>
            <a:r>
              <a:rPr lang="es-ES" sz="3733" dirty="0">
                <a:solidFill>
                  <a:srgbClr val="FE9B03"/>
                </a:solidFill>
                <a:latin typeface="Tahoma"/>
                <a:ea typeface="Tahoma"/>
                <a:cs typeface="Tahoma"/>
                <a:sym typeface="Tahoma"/>
              </a:rPr>
              <a:t>Actividad de cierre</a:t>
            </a:r>
            <a:endParaRPr sz="3733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0690FCD-DD63-A502-439B-B7C52359A7B0}"/>
              </a:ext>
            </a:extLst>
          </p:cNvPr>
          <p:cNvSpPr txBox="1"/>
          <p:nvPr/>
        </p:nvSpPr>
        <p:spPr>
          <a:xfrm>
            <a:off x="649288" y="1908175"/>
            <a:ext cx="5807075" cy="37548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2800" dirty="0"/>
              <a:t>Se </a:t>
            </a:r>
            <a:r>
              <a:rPr lang="en-US" sz="2800" dirty="0" err="1"/>
              <a:t>evalúa</a:t>
            </a:r>
            <a:r>
              <a:rPr lang="en-US" sz="2800" dirty="0"/>
              <a:t> lo  </a:t>
            </a:r>
            <a:r>
              <a:rPr lang="en-US" sz="2800" dirty="0" err="1"/>
              <a:t>aprendido</a:t>
            </a:r>
            <a:r>
              <a:rPr lang="en-US" sz="2800" dirty="0"/>
              <a:t> </a:t>
            </a:r>
            <a:r>
              <a:rPr lang="en-US" sz="2800" dirty="0" err="1"/>
              <a:t>por</a:t>
            </a:r>
            <a:r>
              <a:rPr lang="en-US" sz="2800" dirty="0"/>
              <a:t> medio: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De </a:t>
            </a:r>
            <a:r>
              <a:rPr lang="en-US" sz="2800" dirty="0" err="1"/>
              <a:t>comentarios</a:t>
            </a:r>
            <a:r>
              <a:rPr lang="en-US" sz="2800" dirty="0"/>
              <a:t> de </a:t>
            </a:r>
            <a:r>
              <a:rPr lang="en-US" sz="2800" dirty="0" err="1"/>
              <a:t>noticias</a:t>
            </a:r>
            <a:r>
              <a:rPr lang="en-US" sz="2800" dirty="0"/>
              <a:t> de la </a:t>
            </a:r>
            <a:r>
              <a:rPr lang="en-US" sz="2800" dirty="0" err="1"/>
              <a:t>actualidad</a:t>
            </a:r>
            <a:r>
              <a:rPr lang="en-US" sz="2800" dirty="0"/>
              <a:t> </a:t>
            </a:r>
            <a:r>
              <a:rPr lang="en-US" sz="2800" dirty="0" err="1"/>
              <a:t>relacionados</a:t>
            </a:r>
            <a:r>
              <a:rPr lang="en-US" sz="2800" dirty="0"/>
              <a:t> al </a:t>
            </a:r>
            <a:r>
              <a:rPr lang="en-US" sz="2800" dirty="0" err="1"/>
              <a:t>señoreaje</a:t>
            </a:r>
            <a:r>
              <a:rPr lang="en-US" sz="2800" dirty="0"/>
              <a:t>, </a:t>
            </a:r>
            <a:r>
              <a:rPr lang="en-US" sz="2800" dirty="0" err="1"/>
              <a:t>inflación</a:t>
            </a:r>
            <a:r>
              <a:rPr lang="en-US" sz="2800" dirty="0"/>
              <a:t> y </a:t>
            </a:r>
            <a:r>
              <a:rPr lang="en-US" sz="2800" dirty="0" err="1"/>
              <a:t>emisión</a:t>
            </a:r>
            <a:r>
              <a:rPr lang="en-US" sz="2800" dirty="0"/>
              <a:t> de dinero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A70155-44DB-2A74-8D9B-7072862D3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532" y="1142434"/>
            <a:ext cx="3749171" cy="50948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9377</TotalTime>
  <Words>712</Words>
  <Application>Microsoft Office PowerPoint</Application>
  <PresentationFormat>Panorámica</PresentationFormat>
  <Paragraphs>112</Paragraphs>
  <Slides>27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6" baseType="lpstr">
      <vt:lpstr>Abril Fatface</vt:lpstr>
      <vt:lpstr>Arial</vt:lpstr>
      <vt:lpstr>Calibri</vt:lpstr>
      <vt:lpstr>Calibri Light</vt:lpstr>
      <vt:lpstr>Tahoma</vt:lpstr>
      <vt:lpstr>Times New Roman</vt:lpstr>
      <vt:lpstr>Verdana</vt:lpstr>
      <vt:lpstr>Wingdings</vt:lpstr>
      <vt:lpstr>Tema de Office</vt:lpstr>
      <vt:lpstr>Oferta monetaria y POLITICA MONETARIA Parte 2</vt:lpstr>
      <vt:lpstr>IMPACTO (IATC)</vt:lpstr>
      <vt:lpstr>Logro de aprendizaje: </vt:lpstr>
      <vt:lpstr>CONTENIDO DETALLADO</vt:lpstr>
      <vt:lpstr>ADQUISICIÓN (IATC)</vt:lpstr>
      <vt:lpstr>Presentación de PowerPoint</vt:lpstr>
      <vt:lpstr>Presentación de PowerPoint</vt:lpstr>
      <vt:lpstr>OFERTA MONETARIA: LOS INSTRUMENTOS DE LA POLITICA MONETARIA</vt:lpstr>
      <vt:lpstr>Política Monetaria</vt:lpstr>
      <vt:lpstr>Política Monetaria</vt:lpstr>
      <vt:lpstr>Política Monetaria</vt:lpstr>
      <vt:lpstr>Política Monetaria</vt:lpstr>
      <vt:lpstr>Política Monetaria</vt:lpstr>
      <vt:lpstr>Política Monetaria</vt:lpstr>
      <vt:lpstr>Política Monetaria</vt:lpstr>
      <vt:lpstr>Política Monetaria</vt:lpstr>
      <vt:lpstr>Política Monetaria</vt:lpstr>
      <vt:lpstr>Política Monetaria</vt:lpstr>
      <vt:lpstr>Política monetaria</vt:lpstr>
      <vt:lpstr>Política monetaria</vt:lpstr>
      <vt:lpstr>Política Monetaria</vt:lpstr>
      <vt:lpstr>Política Monetaria</vt:lpstr>
      <vt:lpstr>Política Monetaria</vt:lpstr>
      <vt:lpstr>TRANSFERENCIA (IATC)</vt:lpstr>
      <vt:lpstr>SET DE EJERCICIOS 1</vt:lpstr>
      <vt:lpstr>CIERRE (IATC)</vt:lpstr>
      <vt:lpstr>Actividad de cierre</vt:lpstr>
    </vt:vector>
  </TitlesOfParts>
  <Company>Personal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Nora</dc:creator>
  <cp:lastModifiedBy>Azanero Saona, Jose  Manuel</cp:lastModifiedBy>
  <cp:revision>296</cp:revision>
  <cp:lastPrinted>2024-03-21T21:38:00Z</cp:lastPrinted>
  <dcterms:created xsi:type="dcterms:W3CDTF">2006-01-13T00:27:24Z</dcterms:created>
  <dcterms:modified xsi:type="dcterms:W3CDTF">2026-04-27T23:01:20Z</dcterms:modified>
</cp:coreProperties>
</file>