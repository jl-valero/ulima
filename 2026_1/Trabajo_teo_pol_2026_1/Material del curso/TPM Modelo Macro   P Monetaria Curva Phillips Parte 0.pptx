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2"/>
  </p:notesMasterIdLst>
  <p:sldIdLst>
    <p:sldId id="374" r:id="rId2"/>
    <p:sldId id="436" r:id="rId3"/>
    <p:sldId id="440" r:id="rId4"/>
    <p:sldId id="308" r:id="rId5"/>
    <p:sldId id="292" r:id="rId6"/>
    <p:sldId id="368" r:id="rId7"/>
    <p:sldId id="268" r:id="rId8"/>
    <p:sldId id="269" r:id="rId9"/>
    <p:sldId id="270" r:id="rId10"/>
    <p:sldId id="271" r:id="rId11"/>
    <p:sldId id="293" r:id="rId12"/>
    <p:sldId id="294" r:id="rId13"/>
    <p:sldId id="323" r:id="rId14"/>
    <p:sldId id="295" r:id="rId15"/>
    <p:sldId id="296" r:id="rId16"/>
    <p:sldId id="438" r:id="rId17"/>
    <p:sldId id="298" r:id="rId18"/>
    <p:sldId id="435" r:id="rId19"/>
    <p:sldId id="299" r:id="rId20"/>
    <p:sldId id="433" r:id="rId21"/>
    <p:sldId id="432" r:id="rId22"/>
    <p:sldId id="301" r:id="rId23"/>
    <p:sldId id="431" r:id="rId24"/>
    <p:sldId id="426" r:id="rId25"/>
    <p:sldId id="304" r:id="rId26"/>
    <p:sldId id="427" r:id="rId27"/>
    <p:sldId id="428" r:id="rId28"/>
    <p:sldId id="306" r:id="rId29"/>
    <p:sldId id="307" r:id="rId30"/>
    <p:sldId id="437" r:id="rId31"/>
    <p:sldId id="309" r:id="rId32"/>
    <p:sldId id="429" r:id="rId33"/>
    <p:sldId id="311" r:id="rId34"/>
    <p:sldId id="434" r:id="rId35"/>
    <p:sldId id="430" r:id="rId36"/>
    <p:sldId id="422" r:id="rId37"/>
    <p:sldId id="423" r:id="rId38"/>
    <p:sldId id="424" r:id="rId39"/>
    <p:sldId id="439" r:id="rId40"/>
    <p:sldId id="411" r:id="rId41"/>
    <p:sldId id="410" r:id="rId42"/>
    <p:sldId id="413" r:id="rId43"/>
    <p:sldId id="414" r:id="rId44"/>
    <p:sldId id="412" r:id="rId45"/>
    <p:sldId id="415" r:id="rId46"/>
    <p:sldId id="416" r:id="rId47"/>
    <p:sldId id="408" r:id="rId48"/>
    <p:sldId id="409" r:id="rId49"/>
    <p:sldId id="417" r:id="rId50"/>
    <p:sldId id="419" r:id="rId51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Wingdings" panose="05000000000000000000" pitchFamily="2" charset="2"/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Wingdings" panose="05000000000000000000" pitchFamily="2" charset="2"/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Wingdings" panose="05000000000000000000" pitchFamily="2" charset="2"/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Wingdings" panose="05000000000000000000" pitchFamily="2" charset="2"/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Wingdings" panose="05000000000000000000" pitchFamily="2" charset="2"/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Wingdings" panose="05000000000000000000" pitchFamily="2" charset="2"/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Wingdings" panose="05000000000000000000" pitchFamily="2" charset="2"/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Wingdings" panose="05000000000000000000" pitchFamily="2" charset="2"/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Wingdings" panose="05000000000000000000" pitchFamily="2" charset="2"/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D40255F-4C59-42ED-B36A-CEA861FBAAAC}">
          <p14:sldIdLst>
            <p14:sldId id="374"/>
            <p14:sldId id="436"/>
            <p14:sldId id="440"/>
            <p14:sldId id="308"/>
            <p14:sldId id="292"/>
          </p14:sldIdLst>
        </p14:section>
        <p14:section name="LA INFLACIÓN, LA INFLACION ESPERADA Y EL DESEMPLEO" id="{8C848A59-E5CD-4ECC-8FBC-6C6EE7F7B451}">
          <p14:sldIdLst>
            <p14:sldId id="368"/>
            <p14:sldId id="268"/>
            <p14:sldId id="269"/>
            <p14:sldId id="270"/>
            <p14:sldId id="271"/>
            <p14:sldId id="293"/>
            <p14:sldId id="294"/>
            <p14:sldId id="323"/>
            <p14:sldId id="295"/>
            <p14:sldId id="296"/>
          </p14:sldIdLst>
        </p14:section>
        <p14:section name="LA CURVA DE PHILLIPS" id="{B5BB4E46-33A6-49D1-9DF7-0037C72CA9A1}">
          <p14:sldIdLst>
            <p14:sldId id="438"/>
            <p14:sldId id="298"/>
            <p14:sldId id="435"/>
            <p14:sldId id="299"/>
          </p14:sldIdLst>
        </p14:section>
        <p14:section name="Sección sin título" id="{DAD7B3FF-685D-4940-9D25-060F4207EA59}">
          <p14:sldIdLst>
            <p14:sldId id="433"/>
            <p14:sldId id="432"/>
            <p14:sldId id="301"/>
            <p14:sldId id="431"/>
            <p14:sldId id="426"/>
            <p14:sldId id="304"/>
            <p14:sldId id="427"/>
            <p14:sldId id="428"/>
            <p14:sldId id="306"/>
            <p14:sldId id="307"/>
          </p14:sldIdLst>
        </p14:section>
        <p14:section name="LA CURVA DE PHILLIPS Y TASA NATURAL DE DESEMPLEO" id="{FAA6DE31-6E66-4334-A1D2-4F7991CC7732}">
          <p14:sldIdLst>
            <p14:sldId id="437"/>
            <p14:sldId id="309"/>
            <p14:sldId id="429"/>
            <p14:sldId id="311"/>
            <p14:sldId id="434"/>
            <p14:sldId id="430"/>
          </p14:sldIdLst>
        </p14:section>
        <p14:section name="ALGUNAS ADVERTENCIAS" id="{6719E874-31E1-443D-A0E6-AB1C2C7ACBA7}">
          <p14:sldIdLst>
            <p14:sldId id="422"/>
            <p14:sldId id="423"/>
            <p14:sldId id="424"/>
          </p14:sldIdLst>
        </p14:section>
        <p14:section name="MODELO IS LM PC" id="{55389C93-2670-48ED-B231-1C04059CADBA}">
          <p14:sldIdLst>
            <p14:sldId id="439"/>
          </p14:sldIdLst>
        </p14:section>
        <p14:section name="Sección sin título" id="{E8FA4849-3195-4FE8-A5E2-529D1A283B67}">
          <p14:sldIdLst>
            <p14:sldId id="411"/>
            <p14:sldId id="410"/>
            <p14:sldId id="413"/>
            <p14:sldId id="414"/>
            <p14:sldId id="412"/>
            <p14:sldId id="415"/>
            <p14:sldId id="416"/>
          </p14:sldIdLst>
        </p14:section>
        <p14:section name="Sección sin título" id="{931938D3-466D-4CE9-8EE6-720F12135A15}">
          <p14:sldIdLst>
            <p14:sldId id="408"/>
            <p14:sldId id="409"/>
            <p14:sldId id="417"/>
            <p14:sldId id="41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8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C5D4D4"/>
    <a:srgbClr val="C40075"/>
    <a:srgbClr val="007E8E"/>
    <a:srgbClr val="CCFFCC"/>
    <a:srgbClr val="FCFAF6"/>
    <a:srgbClr val="C0A162"/>
    <a:srgbClr val="FBF9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9770" autoAdjust="0"/>
    <p:restoredTop sz="99245"/>
  </p:normalViewPr>
  <p:slideViewPr>
    <p:cSldViewPr showGuides="1">
      <p:cViewPr varScale="1">
        <p:scale>
          <a:sx n="79" d="100"/>
          <a:sy n="79" d="100"/>
        </p:scale>
        <p:origin x="1766" y="82"/>
      </p:cViewPr>
      <p:guideLst>
        <p:guide orient="horz" pos="48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174" d="100"/>
        <a:sy n="174" d="100"/>
      </p:scale>
      <p:origin x="0" y="-4324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spcAft>
                <a:spcPct val="0"/>
              </a:spcAft>
              <a:buFontTx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s-PE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spcAft>
                <a:spcPct val="0"/>
              </a:spcAft>
              <a:buFontTx/>
              <a:buNone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s-PE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s-PE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Click to edit Master text styles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s-PE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Second level</a:t>
            </a: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s-PE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Third level</a:t>
            </a: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s-PE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Fourth level</a:t>
            </a:r>
          </a:p>
          <a:p>
            <a:pPr marL="1828800" marR="0" lvl="4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s-PE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Fifth level</a:t>
            </a:r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spcAft>
                <a:spcPct val="0"/>
              </a:spcAft>
              <a:buFontTx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s-PE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spcAft>
                <a:spcPct val="0"/>
              </a:spcAft>
              <a:buFontTx/>
              <a:buNone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5726A03-C11A-42E4-B626-68E3A6AF632F}" type="slidenum">
              <a:rPr kumimoji="0" lang="en-US" altLang="es-PE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‹Nº›</a:t>
            </a:fld>
            <a:endParaRPr kumimoji="0" lang="en-US" altLang="es-PE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022312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en-US" altLang="es-PE" sz="1200" dirty="0"/>
              <a:t>3</a:t>
            </a:fld>
            <a:endParaRPr lang="en-US" altLang="es-PE" sz="1200" dirty="0"/>
          </a:p>
        </p:txBody>
      </p:sp>
      <p:sp>
        <p:nvSpPr>
          <p:cNvPr id="1843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es-PE" altLang="es-PE" dirty="0"/>
          </a:p>
        </p:txBody>
      </p:sp>
    </p:spTree>
    <p:extLst>
      <p:ext uri="{BB962C8B-B14F-4D97-AF65-F5344CB8AC3E}">
        <p14:creationId xmlns:p14="http://schemas.microsoft.com/office/powerpoint/2010/main" val="28841407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en-US" altLang="es-PE" sz="1200" dirty="0"/>
              <a:t>5</a:t>
            </a:fld>
            <a:endParaRPr lang="en-US" altLang="es-PE" sz="1200" dirty="0"/>
          </a:p>
        </p:txBody>
      </p:sp>
      <p:sp>
        <p:nvSpPr>
          <p:cNvPr id="614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es-PE" altLang="es-PE" dirty="0"/>
          </a:p>
        </p:txBody>
      </p:sp>
    </p:spTree>
    <p:extLst>
      <p:ext uri="{BB962C8B-B14F-4D97-AF65-F5344CB8AC3E}">
        <p14:creationId xmlns:p14="http://schemas.microsoft.com/office/powerpoint/2010/main" val="38217028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en-US" altLang="es-PE" sz="1200" dirty="0"/>
              <a:t>11</a:t>
            </a:fld>
            <a:endParaRPr lang="en-US" altLang="es-PE" sz="1200" dirty="0"/>
          </a:p>
        </p:txBody>
      </p:sp>
      <p:sp>
        <p:nvSpPr>
          <p:cNvPr id="819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es-PE" altLang="es-PE" dirty="0"/>
          </a:p>
        </p:txBody>
      </p:sp>
    </p:spTree>
    <p:extLst>
      <p:ext uri="{BB962C8B-B14F-4D97-AF65-F5344CB8AC3E}">
        <p14:creationId xmlns:p14="http://schemas.microsoft.com/office/powerpoint/2010/main" val="28553409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en-US" altLang="es-PE" sz="1200" dirty="0"/>
              <a:t>12</a:t>
            </a:fld>
            <a:endParaRPr lang="en-US" altLang="es-PE" sz="1200" dirty="0"/>
          </a:p>
        </p:txBody>
      </p:sp>
      <p:sp>
        <p:nvSpPr>
          <p:cNvPr id="1024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24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es-PE" altLang="es-PE" dirty="0"/>
          </a:p>
        </p:txBody>
      </p:sp>
    </p:spTree>
    <p:extLst>
      <p:ext uri="{BB962C8B-B14F-4D97-AF65-F5344CB8AC3E}">
        <p14:creationId xmlns:p14="http://schemas.microsoft.com/office/powerpoint/2010/main" val="15416320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en-US" altLang="es-PE" sz="1200" dirty="0"/>
              <a:t>14</a:t>
            </a:fld>
            <a:endParaRPr lang="en-US" altLang="es-PE" sz="1200" dirty="0"/>
          </a:p>
        </p:txBody>
      </p:sp>
      <p:sp>
        <p:nvSpPr>
          <p:cNvPr id="1229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29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es-PE" altLang="es-PE" dirty="0"/>
          </a:p>
        </p:txBody>
      </p:sp>
    </p:spTree>
    <p:extLst>
      <p:ext uri="{BB962C8B-B14F-4D97-AF65-F5344CB8AC3E}">
        <p14:creationId xmlns:p14="http://schemas.microsoft.com/office/powerpoint/2010/main" val="8996123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en-US" altLang="es-PE" sz="1200" dirty="0"/>
              <a:t>15</a:t>
            </a:fld>
            <a:endParaRPr lang="en-US" altLang="es-PE" sz="1200" dirty="0"/>
          </a:p>
        </p:txBody>
      </p:sp>
      <p:sp>
        <p:nvSpPr>
          <p:cNvPr id="1433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434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es-PE" altLang="es-PE" dirty="0"/>
          </a:p>
        </p:txBody>
      </p:sp>
    </p:spTree>
    <p:extLst>
      <p:ext uri="{BB962C8B-B14F-4D97-AF65-F5344CB8AC3E}">
        <p14:creationId xmlns:p14="http://schemas.microsoft.com/office/powerpoint/2010/main" val="38939267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en-US" altLang="es-PE" sz="1200" dirty="0"/>
              <a:t>17</a:t>
            </a:fld>
            <a:endParaRPr lang="en-US" altLang="es-PE" sz="1200" dirty="0"/>
          </a:p>
        </p:txBody>
      </p:sp>
      <p:sp>
        <p:nvSpPr>
          <p:cNvPr id="1843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es-PE" altLang="es-PE" dirty="0"/>
          </a:p>
        </p:txBody>
      </p:sp>
    </p:spTree>
    <p:extLst>
      <p:ext uri="{BB962C8B-B14F-4D97-AF65-F5344CB8AC3E}">
        <p14:creationId xmlns:p14="http://schemas.microsoft.com/office/powerpoint/2010/main" val="31216496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en-US" altLang="es-PE" sz="1200" dirty="0"/>
              <a:t>18</a:t>
            </a:fld>
            <a:endParaRPr lang="en-US" altLang="es-PE" sz="1200" dirty="0"/>
          </a:p>
        </p:txBody>
      </p:sp>
      <p:sp>
        <p:nvSpPr>
          <p:cNvPr id="1843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es-PE" altLang="es-PE" dirty="0"/>
          </a:p>
        </p:txBody>
      </p:sp>
    </p:spTree>
    <p:extLst>
      <p:ext uri="{BB962C8B-B14F-4D97-AF65-F5344CB8AC3E}">
        <p14:creationId xmlns:p14="http://schemas.microsoft.com/office/powerpoint/2010/main" val="946114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en-US" altLang="es-PE" sz="1200" dirty="0"/>
              <a:t>19</a:t>
            </a:fld>
            <a:endParaRPr lang="en-US" altLang="es-PE" sz="1200" dirty="0"/>
          </a:p>
        </p:txBody>
      </p:sp>
      <p:sp>
        <p:nvSpPr>
          <p:cNvPr id="2048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048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es-PE" altLang="es-PE" dirty="0"/>
          </a:p>
        </p:txBody>
      </p:sp>
    </p:spTree>
    <p:extLst>
      <p:ext uri="{BB962C8B-B14F-4D97-AF65-F5344CB8AC3E}">
        <p14:creationId xmlns:p14="http://schemas.microsoft.com/office/powerpoint/2010/main" val="25609346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en-US" altLang="es-PE" sz="1200" dirty="0"/>
              <a:t>20</a:t>
            </a:fld>
            <a:endParaRPr lang="en-US" altLang="es-PE" sz="1200" dirty="0"/>
          </a:p>
        </p:txBody>
      </p:sp>
      <p:sp>
        <p:nvSpPr>
          <p:cNvPr id="1843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es-PE" altLang="es-PE" dirty="0"/>
          </a:p>
        </p:txBody>
      </p:sp>
    </p:spTree>
    <p:extLst>
      <p:ext uri="{BB962C8B-B14F-4D97-AF65-F5344CB8AC3E}">
        <p14:creationId xmlns:p14="http://schemas.microsoft.com/office/powerpoint/2010/main" val="11517986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en-US" altLang="es-PE" sz="1200" dirty="0"/>
              <a:t>21</a:t>
            </a:fld>
            <a:endParaRPr lang="en-US" altLang="es-PE" sz="1200" dirty="0"/>
          </a:p>
        </p:txBody>
      </p:sp>
      <p:sp>
        <p:nvSpPr>
          <p:cNvPr id="1843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es-PE" altLang="es-PE" dirty="0"/>
          </a:p>
        </p:txBody>
      </p:sp>
    </p:spTree>
    <p:extLst>
      <p:ext uri="{BB962C8B-B14F-4D97-AF65-F5344CB8AC3E}">
        <p14:creationId xmlns:p14="http://schemas.microsoft.com/office/powerpoint/2010/main" val="38457338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en-US" altLang="es-PE" sz="1200" dirty="0"/>
              <a:t>22</a:t>
            </a:fld>
            <a:endParaRPr lang="en-US" altLang="es-PE" sz="1200" dirty="0"/>
          </a:p>
        </p:txBody>
      </p:sp>
      <p:sp>
        <p:nvSpPr>
          <p:cNvPr id="2457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458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es-PE" altLang="es-PE" dirty="0"/>
          </a:p>
        </p:txBody>
      </p:sp>
    </p:spTree>
    <p:extLst>
      <p:ext uri="{BB962C8B-B14F-4D97-AF65-F5344CB8AC3E}">
        <p14:creationId xmlns:p14="http://schemas.microsoft.com/office/powerpoint/2010/main" val="17767191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en-US" altLang="es-PE" sz="1200" dirty="0"/>
              <a:t>23</a:t>
            </a:fld>
            <a:endParaRPr lang="en-US" altLang="es-PE" sz="1200" dirty="0"/>
          </a:p>
        </p:txBody>
      </p:sp>
      <p:sp>
        <p:nvSpPr>
          <p:cNvPr id="1843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es-PE" altLang="es-PE" dirty="0"/>
          </a:p>
        </p:txBody>
      </p:sp>
    </p:spTree>
    <p:extLst>
      <p:ext uri="{BB962C8B-B14F-4D97-AF65-F5344CB8AC3E}">
        <p14:creationId xmlns:p14="http://schemas.microsoft.com/office/powerpoint/2010/main" val="10546525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en-US" altLang="es-PE" sz="1200" dirty="0"/>
              <a:t>24</a:t>
            </a:fld>
            <a:endParaRPr lang="en-US" altLang="es-PE" sz="1200" dirty="0"/>
          </a:p>
        </p:txBody>
      </p:sp>
      <p:sp>
        <p:nvSpPr>
          <p:cNvPr id="1843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es-PE" altLang="es-PE" dirty="0"/>
          </a:p>
        </p:txBody>
      </p:sp>
    </p:spTree>
    <p:extLst>
      <p:ext uri="{BB962C8B-B14F-4D97-AF65-F5344CB8AC3E}">
        <p14:creationId xmlns:p14="http://schemas.microsoft.com/office/powerpoint/2010/main" val="36375047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en-US" altLang="es-PE" sz="1200" dirty="0"/>
              <a:t>25</a:t>
            </a:fld>
            <a:endParaRPr lang="en-US" altLang="es-PE" sz="1200" dirty="0"/>
          </a:p>
        </p:txBody>
      </p:sp>
      <p:sp>
        <p:nvSpPr>
          <p:cNvPr id="3072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072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es-PE" altLang="es-PE" dirty="0"/>
          </a:p>
        </p:txBody>
      </p:sp>
    </p:spTree>
    <p:extLst>
      <p:ext uri="{BB962C8B-B14F-4D97-AF65-F5344CB8AC3E}">
        <p14:creationId xmlns:p14="http://schemas.microsoft.com/office/powerpoint/2010/main" val="42307224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en-US" altLang="es-PE" sz="1200" dirty="0"/>
              <a:t>26</a:t>
            </a:fld>
            <a:endParaRPr lang="en-US" altLang="es-PE" sz="1200" dirty="0"/>
          </a:p>
        </p:txBody>
      </p:sp>
      <p:sp>
        <p:nvSpPr>
          <p:cNvPr id="1843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es-PE" altLang="es-PE" dirty="0"/>
          </a:p>
        </p:txBody>
      </p:sp>
    </p:spTree>
    <p:extLst>
      <p:ext uri="{BB962C8B-B14F-4D97-AF65-F5344CB8AC3E}">
        <p14:creationId xmlns:p14="http://schemas.microsoft.com/office/powerpoint/2010/main" val="12328323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en-US" altLang="es-PE" sz="1200" dirty="0"/>
              <a:t>27</a:t>
            </a:fld>
            <a:endParaRPr lang="en-US" altLang="es-PE" sz="1200" dirty="0"/>
          </a:p>
        </p:txBody>
      </p:sp>
      <p:sp>
        <p:nvSpPr>
          <p:cNvPr id="1843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es-PE" altLang="es-PE" dirty="0"/>
          </a:p>
        </p:txBody>
      </p:sp>
    </p:spTree>
    <p:extLst>
      <p:ext uri="{BB962C8B-B14F-4D97-AF65-F5344CB8AC3E}">
        <p14:creationId xmlns:p14="http://schemas.microsoft.com/office/powerpoint/2010/main" val="34250780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en-US" altLang="es-PE" sz="1200" dirty="0"/>
              <a:t>28</a:t>
            </a:fld>
            <a:endParaRPr lang="en-US" altLang="es-PE" sz="1200" dirty="0"/>
          </a:p>
        </p:txBody>
      </p:sp>
      <p:sp>
        <p:nvSpPr>
          <p:cNvPr id="3481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482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es-PE" altLang="es-PE" dirty="0"/>
          </a:p>
        </p:txBody>
      </p:sp>
    </p:spTree>
    <p:extLst>
      <p:ext uri="{BB962C8B-B14F-4D97-AF65-F5344CB8AC3E}">
        <p14:creationId xmlns:p14="http://schemas.microsoft.com/office/powerpoint/2010/main" val="28197681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en-US" altLang="es-PE" sz="1200" dirty="0"/>
              <a:t>29</a:t>
            </a:fld>
            <a:endParaRPr lang="en-US" altLang="es-PE" sz="1200" dirty="0"/>
          </a:p>
        </p:txBody>
      </p:sp>
      <p:sp>
        <p:nvSpPr>
          <p:cNvPr id="3686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686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es-PE" altLang="es-PE" dirty="0"/>
          </a:p>
        </p:txBody>
      </p:sp>
    </p:spTree>
    <p:extLst>
      <p:ext uri="{BB962C8B-B14F-4D97-AF65-F5344CB8AC3E}">
        <p14:creationId xmlns:p14="http://schemas.microsoft.com/office/powerpoint/2010/main" val="26982398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en-US" altLang="es-PE" sz="1200" dirty="0"/>
              <a:t>31</a:t>
            </a:fld>
            <a:endParaRPr lang="en-US" altLang="es-PE" sz="1200" dirty="0"/>
          </a:p>
        </p:txBody>
      </p:sp>
      <p:sp>
        <p:nvSpPr>
          <p:cNvPr id="4096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096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es-PE" altLang="es-PE" dirty="0"/>
          </a:p>
        </p:txBody>
      </p:sp>
    </p:spTree>
    <p:extLst>
      <p:ext uri="{BB962C8B-B14F-4D97-AF65-F5344CB8AC3E}">
        <p14:creationId xmlns:p14="http://schemas.microsoft.com/office/powerpoint/2010/main" val="21178182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en-US" altLang="es-PE" sz="1200" dirty="0"/>
              <a:t>32</a:t>
            </a:fld>
            <a:endParaRPr lang="en-US" altLang="es-PE" sz="1200" dirty="0"/>
          </a:p>
        </p:txBody>
      </p:sp>
      <p:sp>
        <p:nvSpPr>
          <p:cNvPr id="4096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096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es-PE" altLang="es-PE" dirty="0"/>
          </a:p>
        </p:txBody>
      </p:sp>
    </p:spTree>
    <p:extLst>
      <p:ext uri="{BB962C8B-B14F-4D97-AF65-F5344CB8AC3E}">
        <p14:creationId xmlns:p14="http://schemas.microsoft.com/office/powerpoint/2010/main" val="17259286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en-US" altLang="es-PE" sz="1200" dirty="0"/>
              <a:t>33</a:t>
            </a:fld>
            <a:endParaRPr lang="en-US" altLang="es-PE" sz="1200" dirty="0"/>
          </a:p>
        </p:txBody>
      </p:sp>
      <p:sp>
        <p:nvSpPr>
          <p:cNvPr id="4505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506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es-PE" altLang="es-PE" dirty="0"/>
          </a:p>
        </p:txBody>
      </p:sp>
    </p:spTree>
    <p:extLst>
      <p:ext uri="{BB962C8B-B14F-4D97-AF65-F5344CB8AC3E}">
        <p14:creationId xmlns:p14="http://schemas.microsoft.com/office/powerpoint/2010/main" val="6399251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en-US" altLang="es-PE" sz="1200" dirty="0"/>
              <a:t>34</a:t>
            </a:fld>
            <a:endParaRPr lang="en-US" altLang="es-PE" sz="1200" dirty="0"/>
          </a:p>
        </p:txBody>
      </p:sp>
      <p:sp>
        <p:nvSpPr>
          <p:cNvPr id="4505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506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es-PE" altLang="es-PE" dirty="0"/>
          </a:p>
        </p:txBody>
      </p:sp>
    </p:spTree>
    <p:extLst>
      <p:ext uri="{BB962C8B-B14F-4D97-AF65-F5344CB8AC3E}">
        <p14:creationId xmlns:p14="http://schemas.microsoft.com/office/powerpoint/2010/main" val="3523538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en-US" altLang="es-PE" sz="1200" dirty="0"/>
              <a:t>35</a:t>
            </a:fld>
            <a:endParaRPr lang="en-US" altLang="es-PE" sz="1200" dirty="0"/>
          </a:p>
        </p:txBody>
      </p:sp>
      <p:sp>
        <p:nvSpPr>
          <p:cNvPr id="4505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506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es-PE" altLang="es-PE" dirty="0"/>
          </a:p>
        </p:txBody>
      </p:sp>
    </p:spTree>
    <p:extLst>
      <p:ext uri="{BB962C8B-B14F-4D97-AF65-F5344CB8AC3E}">
        <p14:creationId xmlns:p14="http://schemas.microsoft.com/office/powerpoint/2010/main" val="8555102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en-US" altLang="es-PE" sz="1200" dirty="0"/>
              <a:t>36</a:t>
            </a:fld>
            <a:endParaRPr lang="en-US" altLang="es-PE" sz="1200" dirty="0"/>
          </a:p>
        </p:txBody>
      </p:sp>
      <p:sp>
        <p:nvSpPr>
          <p:cNvPr id="6144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4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es-PE" altLang="es-PE" dirty="0"/>
          </a:p>
        </p:txBody>
      </p:sp>
    </p:spTree>
    <p:extLst>
      <p:ext uri="{BB962C8B-B14F-4D97-AF65-F5344CB8AC3E}">
        <p14:creationId xmlns:p14="http://schemas.microsoft.com/office/powerpoint/2010/main" val="22916259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en-US" altLang="es-PE" sz="1200" dirty="0"/>
              <a:t>37</a:t>
            </a:fld>
            <a:endParaRPr lang="en-US" altLang="es-PE" sz="1200" dirty="0"/>
          </a:p>
        </p:txBody>
      </p:sp>
      <p:sp>
        <p:nvSpPr>
          <p:cNvPr id="6349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349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es-PE" altLang="es-PE" dirty="0"/>
          </a:p>
        </p:txBody>
      </p:sp>
    </p:spTree>
    <p:extLst>
      <p:ext uri="{BB962C8B-B14F-4D97-AF65-F5344CB8AC3E}">
        <p14:creationId xmlns:p14="http://schemas.microsoft.com/office/powerpoint/2010/main" val="5169244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en-US" altLang="es-PE" sz="1200" dirty="0"/>
              <a:t>38</a:t>
            </a:fld>
            <a:endParaRPr lang="en-US" altLang="es-PE" sz="1200" dirty="0"/>
          </a:p>
        </p:txBody>
      </p:sp>
      <p:sp>
        <p:nvSpPr>
          <p:cNvPr id="6553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554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es-PE" altLang="es-PE" dirty="0"/>
          </a:p>
        </p:txBody>
      </p:sp>
    </p:spTree>
    <p:extLst>
      <p:ext uri="{BB962C8B-B14F-4D97-AF65-F5344CB8AC3E}">
        <p14:creationId xmlns:p14="http://schemas.microsoft.com/office/powerpoint/2010/main" val="298980453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en-US" altLang="es-PE" sz="1200" dirty="0"/>
              <a:t>40</a:t>
            </a:fld>
            <a:endParaRPr lang="en-US" altLang="es-PE" sz="1200" dirty="0"/>
          </a:p>
        </p:txBody>
      </p:sp>
      <p:sp>
        <p:nvSpPr>
          <p:cNvPr id="6758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758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es-PE" altLang="es-PE" dirty="0"/>
          </a:p>
        </p:txBody>
      </p:sp>
    </p:spTree>
    <p:extLst>
      <p:ext uri="{BB962C8B-B14F-4D97-AF65-F5344CB8AC3E}">
        <p14:creationId xmlns:p14="http://schemas.microsoft.com/office/powerpoint/2010/main" val="30085102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en-US" altLang="es-PE" sz="1200" dirty="0"/>
              <a:t>41</a:t>
            </a:fld>
            <a:endParaRPr lang="en-US" altLang="es-PE" sz="1200" dirty="0"/>
          </a:p>
        </p:txBody>
      </p:sp>
      <p:sp>
        <p:nvSpPr>
          <p:cNvPr id="6758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758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es-PE" altLang="es-PE" dirty="0"/>
          </a:p>
        </p:txBody>
      </p:sp>
    </p:spTree>
    <p:extLst>
      <p:ext uri="{BB962C8B-B14F-4D97-AF65-F5344CB8AC3E}">
        <p14:creationId xmlns:p14="http://schemas.microsoft.com/office/powerpoint/2010/main" val="333812993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en-US" altLang="es-PE" sz="1200" dirty="0"/>
              <a:t>42</a:t>
            </a:fld>
            <a:endParaRPr lang="en-US" altLang="es-PE" sz="1200" dirty="0"/>
          </a:p>
        </p:txBody>
      </p:sp>
      <p:sp>
        <p:nvSpPr>
          <p:cNvPr id="6758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758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es-PE" altLang="es-PE" dirty="0"/>
          </a:p>
        </p:txBody>
      </p:sp>
    </p:spTree>
    <p:extLst>
      <p:ext uri="{BB962C8B-B14F-4D97-AF65-F5344CB8AC3E}">
        <p14:creationId xmlns:p14="http://schemas.microsoft.com/office/powerpoint/2010/main" val="111666430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en-US" altLang="es-PE" sz="1200" dirty="0"/>
              <a:t>43</a:t>
            </a:fld>
            <a:endParaRPr lang="en-US" altLang="es-PE" sz="1200" dirty="0"/>
          </a:p>
        </p:txBody>
      </p:sp>
      <p:sp>
        <p:nvSpPr>
          <p:cNvPr id="6758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758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es-PE" altLang="es-PE" dirty="0"/>
          </a:p>
        </p:txBody>
      </p:sp>
    </p:spTree>
    <p:extLst>
      <p:ext uri="{BB962C8B-B14F-4D97-AF65-F5344CB8AC3E}">
        <p14:creationId xmlns:p14="http://schemas.microsoft.com/office/powerpoint/2010/main" val="30720871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en-US" altLang="es-PE" sz="1200" dirty="0"/>
              <a:t>44</a:t>
            </a:fld>
            <a:endParaRPr lang="en-US" altLang="es-PE" sz="1200" dirty="0"/>
          </a:p>
        </p:txBody>
      </p:sp>
      <p:sp>
        <p:nvSpPr>
          <p:cNvPr id="6758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758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es-PE" altLang="es-PE" dirty="0"/>
          </a:p>
        </p:txBody>
      </p:sp>
    </p:spTree>
    <p:extLst>
      <p:ext uri="{BB962C8B-B14F-4D97-AF65-F5344CB8AC3E}">
        <p14:creationId xmlns:p14="http://schemas.microsoft.com/office/powerpoint/2010/main" val="183591425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en-US" altLang="es-PE" sz="1200" dirty="0"/>
              <a:t>45</a:t>
            </a:fld>
            <a:endParaRPr lang="en-US" altLang="es-PE" sz="1200" dirty="0"/>
          </a:p>
        </p:txBody>
      </p:sp>
      <p:sp>
        <p:nvSpPr>
          <p:cNvPr id="6758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758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es-PE" altLang="es-PE" dirty="0"/>
          </a:p>
        </p:txBody>
      </p:sp>
    </p:spTree>
    <p:extLst>
      <p:ext uri="{BB962C8B-B14F-4D97-AF65-F5344CB8AC3E}">
        <p14:creationId xmlns:p14="http://schemas.microsoft.com/office/powerpoint/2010/main" val="314122296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en-US" altLang="es-PE" sz="1200" dirty="0"/>
              <a:t>46</a:t>
            </a:fld>
            <a:endParaRPr lang="en-US" altLang="es-PE" sz="1200" dirty="0"/>
          </a:p>
        </p:txBody>
      </p:sp>
      <p:sp>
        <p:nvSpPr>
          <p:cNvPr id="6758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758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es-PE" altLang="es-PE" dirty="0"/>
          </a:p>
        </p:txBody>
      </p:sp>
    </p:spTree>
    <p:extLst>
      <p:ext uri="{BB962C8B-B14F-4D97-AF65-F5344CB8AC3E}">
        <p14:creationId xmlns:p14="http://schemas.microsoft.com/office/powerpoint/2010/main" val="152903542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en-US" altLang="es-PE" sz="1200" dirty="0"/>
              <a:t>47</a:t>
            </a:fld>
            <a:endParaRPr lang="en-US" altLang="es-PE" sz="1200" dirty="0"/>
          </a:p>
        </p:txBody>
      </p:sp>
      <p:sp>
        <p:nvSpPr>
          <p:cNvPr id="6758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758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es-PE" altLang="es-PE" dirty="0"/>
          </a:p>
        </p:txBody>
      </p:sp>
    </p:spTree>
    <p:extLst>
      <p:ext uri="{BB962C8B-B14F-4D97-AF65-F5344CB8AC3E}">
        <p14:creationId xmlns:p14="http://schemas.microsoft.com/office/powerpoint/2010/main" val="377618012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en-US" altLang="es-PE" sz="1200" dirty="0"/>
              <a:t>48</a:t>
            </a:fld>
            <a:endParaRPr lang="en-US" altLang="es-PE" sz="1200" dirty="0"/>
          </a:p>
        </p:txBody>
      </p:sp>
      <p:sp>
        <p:nvSpPr>
          <p:cNvPr id="6758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758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es-PE" altLang="es-PE" dirty="0"/>
          </a:p>
        </p:txBody>
      </p:sp>
    </p:spTree>
    <p:extLst>
      <p:ext uri="{BB962C8B-B14F-4D97-AF65-F5344CB8AC3E}">
        <p14:creationId xmlns:p14="http://schemas.microsoft.com/office/powerpoint/2010/main" val="188423570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en-US" altLang="es-PE" sz="1200" dirty="0"/>
              <a:t>49</a:t>
            </a:fld>
            <a:endParaRPr lang="en-US" altLang="es-PE" sz="1200" dirty="0"/>
          </a:p>
        </p:txBody>
      </p:sp>
      <p:sp>
        <p:nvSpPr>
          <p:cNvPr id="6758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758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es-PE" altLang="es-PE" dirty="0"/>
          </a:p>
        </p:txBody>
      </p:sp>
    </p:spTree>
    <p:extLst>
      <p:ext uri="{BB962C8B-B14F-4D97-AF65-F5344CB8AC3E}">
        <p14:creationId xmlns:p14="http://schemas.microsoft.com/office/powerpoint/2010/main" val="328271660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en-US" altLang="es-PE" sz="1200" dirty="0"/>
              <a:t>50</a:t>
            </a:fld>
            <a:endParaRPr lang="en-US" altLang="es-PE" sz="1200" dirty="0"/>
          </a:p>
        </p:txBody>
      </p:sp>
      <p:sp>
        <p:nvSpPr>
          <p:cNvPr id="6758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758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es-PE" altLang="es-PE" dirty="0"/>
          </a:p>
        </p:txBody>
      </p:sp>
    </p:spTree>
    <p:extLst>
      <p:ext uri="{BB962C8B-B14F-4D97-AF65-F5344CB8AC3E}">
        <p14:creationId xmlns:p14="http://schemas.microsoft.com/office/powerpoint/2010/main" val="1162315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65"/>
          <p:cNvGrpSpPr/>
          <p:nvPr userDrawn="1"/>
        </p:nvGrpSpPr>
        <p:grpSpPr>
          <a:xfrm>
            <a:off x="4572000" y="4876800"/>
            <a:ext cx="3962400" cy="762000"/>
            <a:chOff x="384" y="3408"/>
            <a:chExt cx="2496" cy="480"/>
          </a:xfrm>
        </p:grpSpPr>
        <p:sp>
          <p:nvSpPr>
            <p:cNvPr id="2061" name="Text Box 17"/>
            <p:cNvSpPr txBox="1"/>
            <p:nvPr/>
          </p:nvSpPr>
          <p:spPr>
            <a:xfrm>
              <a:off x="384" y="3456"/>
              <a:ext cx="2496" cy="39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es-PE" sz="1400" b="1" dirty="0">
                  <a:solidFill>
                    <a:srgbClr val="C0A162"/>
                  </a:solidFill>
                  <a:latin typeface="Avenir 55 Roman" pitchFamily="34" charset="0"/>
                </a:rPr>
                <a:t>Prepared by:</a:t>
              </a:r>
            </a:p>
            <a:p>
              <a:pPr lvl="0" eaLnBrk="1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es-PE" sz="1400" b="1" dirty="0">
                  <a:solidFill>
                    <a:srgbClr val="C0A162"/>
                  </a:solidFill>
                  <a:latin typeface="Avenir 55 Roman" pitchFamily="34" charset="0"/>
                </a:rPr>
                <a:t>Fernando Quijano and Yvonn Quijano</a:t>
              </a:r>
            </a:p>
          </p:txBody>
        </p:sp>
        <p:sp>
          <p:nvSpPr>
            <p:cNvPr id="2062" name="Text Box 63"/>
            <p:cNvSpPr txBox="1"/>
            <p:nvPr userDrawn="1"/>
          </p:nvSpPr>
          <p:spPr>
            <a:xfrm>
              <a:off x="384" y="3840"/>
              <a:ext cx="2496" cy="48"/>
            </a:xfrm>
            <a:prstGeom prst="rect">
              <a:avLst/>
            </a:prstGeom>
            <a:gradFill rotWithShape="1">
              <a:gsLst>
                <a:gs pos="0">
                  <a:srgbClr val="007E8E"/>
                </a:gs>
                <a:gs pos="100000">
                  <a:srgbClr val="C0A162">
                    <a:alpha val="17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pPr lvl="0" eaLnBrk="1" hangingPunct="1">
                <a:spcBef>
                  <a:spcPct val="50000"/>
                </a:spcBef>
                <a:spcAft>
                  <a:spcPct val="0"/>
                </a:spcAft>
              </a:pPr>
              <a:endParaRPr lang="es-PE" altLang="es-PE" sz="1400" dirty="0">
                <a:solidFill>
                  <a:srgbClr val="333399"/>
                </a:solidFill>
                <a:latin typeface="Futura Lt BT" pitchFamily="34" charset="0"/>
              </a:endParaRPr>
            </a:p>
          </p:txBody>
        </p:sp>
        <p:sp>
          <p:nvSpPr>
            <p:cNvPr id="2063" name="Text Box 64"/>
            <p:cNvSpPr txBox="1"/>
            <p:nvPr userDrawn="1"/>
          </p:nvSpPr>
          <p:spPr>
            <a:xfrm>
              <a:off x="384" y="3408"/>
              <a:ext cx="2496" cy="48"/>
            </a:xfrm>
            <a:prstGeom prst="rect">
              <a:avLst/>
            </a:prstGeom>
            <a:gradFill rotWithShape="1">
              <a:gsLst>
                <a:gs pos="0">
                  <a:srgbClr val="007E8E"/>
                </a:gs>
                <a:gs pos="100000">
                  <a:srgbClr val="C0A162">
                    <a:alpha val="17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pPr lvl="0" eaLnBrk="1" hangingPunct="1">
                <a:spcBef>
                  <a:spcPct val="50000"/>
                </a:spcBef>
                <a:spcAft>
                  <a:spcPct val="0"/>
                </a:spcAft>
              </a:pPr>
              <a:endParaRPr lang="es-PE" altLang="es-PE" sz="1400" dirty="0">
                <a:solidFill>
                  <a:srgbClr val="333399"/>
                </a:solidFill>
                <a:latin typeface="Futura Lt BT" pitchFamily="34" charset="0"/>
              </a:endParaRPr>
            </a:p>
          </p:txBody>
        </p:sp>
        <p:sp>
          <p:nvSpPr>
            <p:cNvPr id="2064" name="Line 61"/>
            <p:cNvSpPr/>
            <p:nvPr userDrawn="1"/>
          </p:nvSpPr>
          <p:spPr>
            <a:xfrm>
              <a:off x="384" y="3840"/>
              <a:ext cx="2496" cy="0"/>
            </a:xfrm>
            <a:prstGeom prst="line">
              <a:avLst/>
            </a:prstGeom>
            <a:ln w="3175" cap="flat" cmpd="sng">
              <a:solidFill>
                <a:srgbClr val="C40075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058" name="Rectangle 67"/>
          <p:cNvSpPr/>
          <p:nvPr userDrawn="1"/>
        </p:nvSpPr>
        <p:spPr>
          <a:xfrm>
            <a:off x="228600" y="6600825"/>
            <a:ext cx="8077200" cy="25717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es-PE" sz="1200" dirty="0">
                <a:solidFill>
                  <a:srgbClr val="008080"/>
                </a:solidFill>
                <a:latin typeface="Arial" panose="020B0604020202020204" pitchFamily="34" charset="0"/>
              </a:rPr>
              <a:t>Macroeconomics, 5/e  </a:t>
            </a:r>
            <a:r>
              <a:rPr lang="en-US" altLang="es-PE" sz="1200" dirty="0">
                <a:solidFill>
                  <a:srgbClr val="00808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•</a:t>
            </a:r>
            <a:r>
              <a:rPr lang="en-US" altLang="es-PE" sz="1200" dirty="0">
                <a:solidFill>
                  <a:srgbClr val="0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es-PE" sz="1200" dirty="0">
                <a:solidFill>
                  <a:srgbClr val="008080"/>
                </a:solidFill>
                <a:latin typeface="Arial" panose="020B0604020202020204" pitchFamily="34" charset="0"/>
              </a:rPr>
              <a:t>Olivier Blanchard</a:t>
            </a:r>
          </a:p>
        </p:txBody>
      </p:sp>
      <p:sp>
        <p:nvSpPr>
          <p:cNvPr id="20" name="Rectangle 56"/>
          <p:cNvSpPr/>
          <p:nvPr userDrawn="1"/>
        </p:nvSpPr>
        <p:spPr>
          <a:xfrm>
            <a:off x="838200" y="3048000"/>
            <a:ext cx="3657600" cy="8239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0"/>
              </a:spcBef>
              <a:spcAft>
                <a:spcPct val="0"/>
              </a:spcAft>
            </a:pPr>
            <a:r>
              <a:rPr lang="en-US" altLang="es-PE" sz="4800" dirty="0">
                <a:solidFill>
                  <a:srgbClr val="008080"/>
                </a:solidFill>
                <a:latin typeface="Avenir 55 Roman" pitchFamily="34" charset="0"/>
              </a:rPr>
              <a:t>CHAPTER 8</a:t>
            </a:r>
          </a:p>
        </p:txBody>
      </p:sp>
      <p:sp>
        <p:nvSpPr>
          <p:cNvPr id="19" name="Rectangle 14"/>
          <p:cNvSpPr/>
          <p:nvPr/>
        </p:nvSpPr>
        <p:spPr>
          <a:xfrm>
            <a:off x="2057400" y="-76200"/>
            <a:ext cx="6858000" cy="22875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0"/>
              </a:spcBef>
              <a:spcAft>
                <a:spcPct val="0"/>
              </a:spcAft>
            </a:pPr>
            <a:r>
              <a:rPr lang="en-US" altLang="es-PE" sz="4800" b="1" dirty="0">
                <a:solidFill>
                  <a:srgbClr val="C0A162"/>
                </a:solidFill>
                <a:latin typeface="Arial Black" panose="020B0A04020102020204" pitchFamily="34" charset="0"/>
              </a:rPr>
              <a:t>The Natural Rate of</a:t>
            </a:r>
          </a:p>
          <a:p>
            <a:pPr lvl="0" eaLnBrk="1" hangingPunct="1">
              <a:spcBef>
                <a:spcPct val="0"/>
              </a:spcBef>
              <a:spcAft>
                <a:spcPct val="0"/>
              </a:spcAft>
            </a:pPr>
            <a:r>
              <a:rPr lang="en-US" altLang="es-PE" sz="4800" b="1" dirty="0">
                <a:solidFill>
                  <a:srgbClr val="C0A162"/>
                </a:solidFill>
                <a:latin typeface="Arial Black" panose="020B0A04020102020204" pitchFamily="34" charset="0"/>
              </a:rPr>
              <a:t>Unemployment and</a:t>
            </a:r>
          </a:p>
          <a:p>
            <a:pPr lvl="0" eaLnBrk="1" hangingPunct="1">
              <a:spcBef>
                <a:spcPct val="0"/>
              </a:spcBef>
              <a:spcAft>
                <a:spcPct val="0"/>
              </a:spcAft>
            </a:pPr>
            <a:r>
              <a:rPr lang="en-US" altLang="es-PE" sz="4800" b="1" dirty="0">
                <a:solidFill>
                  <a:srgbClr val="C0A162"/>
                </a:solidFill>
                <a:latin typeface="Arial Black" panose="020B0A04020102020204" pitchFamily="34" charset="0"/>
              </a:rPr>
              <a:t>the Phillips Curve</a:t>
            </a:r>
          </a:p>
        </p:txBody>
      </p:sp>
      <p:sp>
        <p:nvSpPr>
          <p:cNvPr id="18" name="Rectangle 55"/>
          <p:cNvSpPr/>
          <p:nvPr userDrawn="1"/>
        </p:nvSpPr>
        <p:spPr>
          <a:xfrm>
            <a:off x="2133600" y="-76200"/>
            <a:ext cx="6858000" cy="22875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0"/>
              </a:spcBef>
              <a:spcAft>
                <a:spcPct val="0"/>
              </a:spcAft>
            </a:pPr>
            <a:r>
              <a:rPr lang="en-US" altLang="es-PE" sz="4800" dirty="0">
                <a:solidFill>
                  <a:srgbClr val="008080"/>
                </a:solidFill>
                <a:latin typeface="Arial Black" panose="020B0A04020102020204" pitchFamily="34" charset="0"/>
              </a:rPr>
              <a:t>The Natural Rate of</a:t>
            </a:r>
          </a:p>
          <a:p>
            <a:pPr lvl="0" eaLnBrk="1" hangingPunct="1">
              <a:spcBef>
                <a:spcPct val="0"/>
              </a:spcBef>
              <a:spcAft>
                <a:spcPct val="0"/>
              </a:spcAft>
            </a:pPr>
            <a:r>
              <a:rPr lang="en-US" altLang="es-PE" sz="4800" dirty="0">
                <a:solidFill>
                  <a:srgbClr val="008080"/>
                </a:solidFill>
                <a:latin typeface="Arial Black" panose="020B0A04020102020204" pitchFamily="34" charset="0"/>
              </a:rPr>
              <a:t>Unemployment and</a:t>
            </a:r>
          </a:p>
          <a:p>
            <a:pPr lvl="0" eaLnBrk="1" hangingPunct="1">
              <a:spcBef>
                <a:spcPct val="0"/>
              </a:spcBef>
              <a:spcAft>
                <a:spcPct val="0"/>
              </a:spcAft>
            </a:pPr>
            <a:r>
              <a:rPr lang="en-US" altLang="es-PE" sz="4800" dirty="0">
                <a:solidFill>
                  <a:srgbClr val="008080"/>
                </a:solidFill>
                <a:latin typeface="Arial Black" panose="020B0A04020102020204" pitchFamily="34" charset="0"/>
              </a:rPr>
              <a:t>the Phillips Curve</a:t>
            </a:r>
          </a:p>
        </p:txBody>
      </p:sp>
      <p:sp>
        <p:nvSpPr>
          <p:cNvPr id="14" name="Line 60"/>
          <p:cNvSpPr/>
          <p:nvPr userDrawn="1"/>
        </p:nvSpPr>
        <p:spPr>
          <a:xfrm>
            <a:off x="1143000" y="1292225"/>
            <a:ext cx="8001000" cy="3175"/>
          </a:xfrm>
          <a:prstGeom prst="line">
            <a:avLst/>
          </a:prstGeom>
          <a:ln w="38100" cap="flat" cmpd="sng">
            <a:solidFill>
              <a:srgbClr val="C40075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053" name="Group 59"/>
          <p:cNvGrpSpPr/>
          <p:nvPr userDrawn="1"/>
        </p:nvGrpSpPr>
        <p:grpSpPr>
          <a:xfrm>
            <a:off x="0" y="0"/>
            <a:ext cx="9144000" cy="1295400"/>
            <a:chOff x="0" y="336"/>
            <a:chExt cx="5760" cy="480"/>
          </a:xfrm>
        </p:grpSpPr>
        <p:sp>
          <p:nvSpPr>
            <p:cNvPr id="2065" name="Rectangle 58"/>
            <p:cNvSpPr/>
            <p:nvPr userDrawn="1"/>
          </p:nvSpPr>
          <p:spPr>
            <a:xfrm>
              <a:off x="336" y="528"/>
              <a:ext cx="5424" cy="288"/>
            </a:xfrm>
            <a:prstGeom prst="rect">
              <a:avLst/>
            </a:prstGeom>
            <a:gradFill rotWithShape="1">
              <a:gsLst>
                <a:gs pos="0">
                  <a:srgbClr val="D7B973"/>
                </a:gs>
                <a:gs pos="100000">
                  <a:srgbClr val="F7F2E7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pPr lvl="0" algn="ctr" eaLnBrk="1" hangingPunct="1">
                <a:spcBef>
                  <a:spcPct val="0"/>
                </a:spcBef>
                <a:spcAft>
                  <a:spcPct val="0"/>
                </a:spcAft>
              </a:pPr>
              <a:endParaRPr lang="es-PE" altLang="es-PE" sz="1800" dirty="0">
                <a:latin typeface="Arial" panose="020B0604020202020204" pitchFamily="34" charset="0"/>
              </a:endParaRPr>
            </a:p>
          </p:txBody>
        </p:sp>
        <p:sp>
          <p:nvSpPr>
            <p:cNvPr id="2066" name="Rectangle 5"/>
            <p:cNvSpPr/>
            <p:nvPr/>
          </p:nvSpPr>
          <p:spPr>
            <a:xfrm>
              <a:off x="0" y="336"/>
              <a:ext cx="5760" cy="288"/>
            </a:xfrm>
            <a:prstGeom prst="rect">
              <a:avLst/>
            </a:prstGeom>
            <a:gradFill rotWithShape="1">
              <a:gsLst>
                <a:gs pos="0">
                  <a:srgbClr val="D7B973"/>
                </a:gs>
                <a:gs pos="100000">
                  <a:srgbClr val="F7F2E7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pPr lvl="0" algn="ctr" eaLnBrk="1" hangingPunct="1">
                <a:spcBef>
                  <a:spcPct val="0"/>
                </a:spcBef>
                <a:spcAft>
                  <a:spcPct val="0"/>
                </a:spcAft>
              </a:pPr>
              <a:endParaRPr lang="es-PE" altLang="es-PE" sz="1800" dirty="0">
                <a:latin typeface="Arial" panose="020B0604020202020204" pitchFamily="34" charset="0"/>
              </a:endParaRPr>
            </a:p>
          </p:txBody>
        </p:sp>
      </p:grpSp>
      <p:sp>
        <p:nvSpPr>
          <p:cNvPr id="13" name="Rectangle 57"/>
          <p:cNvSpPr/>
          <p:nvPr userDrawn="1"/>
        </p:nvSpPr>
        <p:spPr>
          <a:xfrm>
            <a:off x="876300" y="3062288"/>
            <a:ext cx="3657600" cy="8239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0"/>
              </a:spcBef>
              <a:spcAft>
                <a:spcPct val="0"/>
              </a:spcAft>
            </a:pPr>
            <a:r>
              <a:rPr lang="en-US" altLang="es-PE" sz="4800" dirty="0">
                <a:solidFill>
                  <a:srgbClr val="C0A162"/>
                </a:solidFill>
                <a:latin typeface="Avenir 55 Roman" pitchFamily="34" charset="0"/>
              </a:rPr>
              <a:t>CHAPTER 8</a:t>
            </a:r>
          </a:p>
        </p:txBody>
      </p:sp>
      <p:pic>
        <p:nvPicPr>
          <p:cNvPr id="2050" name="Picture 66" descr="PDF-Globe2"/>
          <p:cNvPicPr>
            <a:picLocks noChangeAspect="1"/>
          </p:cNvPicPr>
          <p:nvPr userDrawn="1"/>
        </p:nvPicPr>
        <p:blipFill>
          <a:blip r:embed="rId2">
            <a:lum bright="66000" contrast="-74001"/>
          </a:blip>
          <a:stretch>
            <a:fillRect/>
          </a:stretch>
        </p:blipFill>
        <p:spPr>
          <a:xfrm>
            <a:off x="-19050" y="0"/>
            <a:ext cx="9144000" cy="6553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9" grpId="0"/>
      <p:bldP spid="18" grpId="0"/>
      <p:bldP spid="14" grpId="0" animBg="1"/>
      <p:bldP spid="13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533400" y="1066800"/>
            <a:ext cx="4038600" cy="452596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4724400" y="1066800"/>
            <a:ext cx="4038600" cy="452596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PE" sz="3200" b="1" i="0" u="none" strike="noStrike" kern="1200" cap="none" spc="0" normalizeH="0" baseline="0" noProof="0">
              <a:ln>
                <a:noFill/>
              </a:ln>
              <a:solidFill>
                <a:srgbClr val="00808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819900" y="0"/>
            <a:ext cx="2095500" cy="559276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533400" y="0"/>
            <a:ext cx="6134100" cy="5592763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0"/>
            <a:ext cx="8382000" cy="762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sz="half" idx="1" hasCustomPrompt="1"/>
          </p:nvPr>
        </p:nvSpPr>
        <p:spPr>
          <a:xfrm>
            <a:off x="533400" y="1066800"/>
            <a:ext cx="4038600" cy="452596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4724400" y="1066800"/>
            <a:ext cx="4038600" cy="452596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ítulo, texto y 2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0"/>
            <a:ext cx="8382000" cy="762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sz="half" idx="1" hasCustomPrompt="1"/>
          </p:nvPr>
        </p:nvSpPr>
        <p:spPr>
          <a:xfrm>
            <a:off x="533400" y="1066800"/>
            <a:ext cx="4038600" cy="452596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/>
          <p:cNvSpPr>
            <a:spLocks noGrp="1"/>
          </p:cNvSpPr>
          <p:nvPr>
            <p:ph sz="quarter" idx="2" hasCustomPrompt="1"/>
          </p:nvPr>
        </p:nvSpPr>
        <p:spPr>
          <a:xfrm>
            <a:off x="4724400" y="1066800"/>
            <a:ext cx="4038600" cy="21859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contenido 4"/>
          <p:cNvSpPr>
            <a:spLocks noGrp="1"/>
          </p:cNvSpPr>
          <p:nvPr>
            <p:ph sz="quarter" idx="3" hasCustomPrompt="1"/>
          </p:nvPr>
        </p:nvSpPr>
        <p:spPr>
          <a:xfrm>
            <a:off x="4724400" y="3405188"/>
            <a:ext cx="4038600" cy="2187575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0"/>
          <p:cNvSpPr>
            <a:spLocks noGrp="1"/>
          </p:cNvSpPr>
          <p:nvPr>
            <p:ph type="body" idx="1"/>
          </p:nvPr>
        </p:nvSpPr>
        <p:spPr>
          <a:xfrm>
            <a:off x="533400" y="10668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es-PE" dirty="0"/>
              <a:t>Click to edit Master text styles</a:t>
            </a:r>
          </a:p>
          <a:p>
            <a:pPr lvl="1"/>
            <a:r>
              <a:rPr lang="en-US" altLang="es-PE" dirty="0"/>
              <a:t>Second level</a:t>
            </a:r>
          </a:p>
          <a:p>
            <a:pPr lvl="2"/>
            <a:r>
              <a:rPr lang="en-US" altLang="es-PE" dirty="0"/>
              <a:t>Third level</a:t>
            </a:r>
          </a:p>
          <a:p>
            <a:pPr lvl="3"/>
            <a:r>
              <a:rPr lang="en-US" altLang="es-PE" dirty="0"/>
              <a:t>Fourth level</a:t>
            </a:r>
          </a:p>
          <a:p>
            <a:pPr lvl="4"/>
            <a:r>
              <a:rPr lang="en-US" altLang="es-PE" dirty="0"/>
              <a:t>Fifth level</a:t>
            </a:r>
          </a:p>
        </p:txBody>
      </p:sp>
      <p:grpSp>
        <p:nvGrpSpPr>
          <p:cNvPr id="1027" name="Group 49"/>
          <p:cNvGrpSpPr/>
          <p:nvPr userDrawn="1"/>
        </p:nvGrpSpPr>
        <p:grpSpPr>
          <a:xfrm>
            <a:off x="0" y="0"/>
            <a:ext cx="9144000" cy="762000"/>
            <a:chOff x="0" y="336"/>
            <a:chExt cx="5760" cy="480"/>
          </a:xfrm>
        </p:grpSpPr>
        <p:sp>
          <p:nvSpPr>
            <p:cNvPr id="1034" name="Rectangle 47"/>
            <p:cNvSpPr/>
            <p:nvPr userDrawn="1"/>
          </p:nvSpPr>
          <p:spPr>
            <a:xfrm>
              <a:off x="336" y="528"/>
              <a:ext cx="5424" cy="288"/>
            </a:xfrm>
            <a:prstGeom prst="rect">
              <a:avLst/>
            </a:prstGeom>
            <a:gradFill rotWithShape="1">
              <a:gsLst>
                <a:gs pos="0">
                  <a:srgbClr val="D7B973"/>
                </a:gs>
                <a:gs pos="100000">
                  <a:srgbClr val="F7F2E7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pPr lvl="0" algn="ctr" eaLnBrk="1" hangingPunct="1">
                <a:spcBef>
                  <a:spcPct val="0"/>
                </a:spcBef>
                <a:spcAft>
                  <a:spcPct val="0"/>
                </a:spcAft>
              </a:pPr>
              <a:endParaRPr lang="es-PE" altLang="es-PE" sz="1800" dirty="0">
                <a:latin typeface="Arial" panose="020B0604020202020204" pitchFamily="34" charset="0"/>
              </a:endParaRPr>
            </a:p>
          </p:txBody>
        </p:sp>
        <p:sp>
          <p:nvSpPr>
            <p:cNvPr id="1035" name="Rectangle 48"/>
            <p:cNvSpPr/>
            <p:nvPr userDrawn="1"/>
          </p:nvSpPr>
          <p:spPr>
            <a:xfrm>
              <a:off x="0" y="336"/>
              <a:ext cx="5760" cy="288"/>
            </a:xfrm>
            <a:prstGeom prst="rect">
              <a:avLst/>
            </a:prstGeom>
            <a:gradFill rotWithShape="1">
              <a:gsLst>
                <a:gs pos="0">
                  <a:srgbClr val="D7B973"/>
                </a:gs>
                <a:gs pos="100000">
                  <a:srgbClr val="F7F2E7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pPr lvl="0" algn="ctr" eaLnBrk="1" hangingPunct="1">
                <a:spcBef>
                  <a:spcPct val="0"/>
                </a:spcBef>
                <a:spcAft>
                  <a:spcPct val="0"/>
                </a:spcAft>
              </a:pPr>
              <a:endParaRPr lang="es-PE" altLang="es-PE" sz="1800" dirty="0">
                <a:latin typeface="Arial" panose="020B0604020202020204" pitchFamily="34" charset="0"/>
              </a:endParaRPr>
            </a:p>
          </p:txBody>
        </p:sp>
      </p:grpSp>
      <p:sp>
        <p:nvSpPr>
          <p:cNvPr id="1028" name="Rectangle 28"/>
          <p:cNvSpPr>
            <a:spLocks noGrp="1"/>
          </p:cNvSpPr>
          <p:nvPr>
            <p:ph type="title"/>
          </p:nvPr>
        </p:nvSpPr>
        <p:spPr>
          <a:xfrm>
            <a:off x="533400" y="0"/>
            <a:ext cx="8382000" cy="762000"/>
          </a:xfrm>
          <a:prstGeom prst="rect">
            <a:avLst/>
          </a:prstGeom>
          <a:noFill/>
          <a:ln w="9525">
            <a:noFill/>
          </a:ln>
        </p:spPr>
        <p:txBody>
          <a:bodyPr tIns="548640" bIns="457200" anchor="ctr"/>
          <a:lstStyle/>
          <a:p>
            <a:pPr lvl="0"/>
            <a:r>
              <a:rPr lang="en-US" altLang="es-PE" dirty="0"/>
              <a:t>Click to edit Master title style</a:t>
            </a:r>
          </a:p>
        </p:txBody>
      </p:sp>
      <p:sp>
        <p:nvSpPr>
          <p:cNvPr id="1031" name="Line 50"/>
          <p:cNvSpPr/>
          <p:nvPr userDrawn="1"/>
        </p:nvSpPr>
        <p:spPr>
          <a:xfrm flipV="1">
            <a:off x="228600" y="0"/>
            <a:ext cx="0" cy="6858000"/>
          </a:xfrm>
          <a:prstGeom prst="line">
            <a:avLst/>
          </a:prstGeom>
          <a:ln w="28575" cap="flat" cmpd="sng">
            <a:solidFill>
              <a:srgbClr val="C40075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2" name="Line 51"/>
          <p:cNvSpPr/>
          <p:nvPr userDrawn="1"/>
        </p:nvSpPr>
        <p:spPr>
          <a:xfrm>
            <a:off x="1371600" y="762000"/>
            <a:ext cx="7772400" cy="0"/>
          </a:xfrm>
          <a:prstGeom prst="line">
            <a:avLst/>
          </a:prstGeom>
          <a:ln w="3175" cap="flat" cmpd="sng">
            <a:solidFill>
              <a:srgbClr val="C40075"/>
            </a:solidFill>
            <a:prstDash val="solid"/>
            <a:headEnd type="none" w="med" len="med"/>
            <a:tailEnd type="none" w="med" len="med"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2600" kern="1200">
          <a:solidFill>
            <a:srgbClr val="C0A16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600">
          <a:solidFill>
            <a:srgbClr val="C0A162"/>
          </a:solidFill>
          <a:latin typeface="Arial Black" panose="020B0A040201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2600">
          <a:solidFill>
            <a:srgbClr val="C0A162"/>
          </a:solidFill>
          <a:latin typeface="Arial Black" panose="020B0A040201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2600">
          <a:solidFill>
            <a:srgbClr val="C0A162"/>
          </a:solidFill>
          <a:latin typeface="Arial Black" panose="020B0A040201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2600">
          <a:solidFill>
            <a:srgbClr val="C0A162"/>
          </a:solidFill>
          <a:latin typeface="Arial Black" panose="020B0A040201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600">
          <a:solidFill>
            <a:srgbClr val="C0A162"/>
          </a:solidFill>
          <a:latin typeface="Arial Black" panose="020B0A040201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600">
          <a:solidFill>
            <a:srgbClr val="C0A162"/>
          </a:solidFill>
          <a:latin typeface="Arial Black" panose="020B0A040201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600">
          <a:solidFill>
            <a:srgbClr val="C0A162"/>
          </a:solidFill>
          <a:latin typeface="Arial Black" panose="020B0A040201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600">
          <a:solidFill>
            <a:srgbClr val="C0A162"/>
          </a:solidFill>
          <a:latin typeface="Arial Black" panose="020B0A040201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defRPr sz="2400" b="1" kern="1200">
          <a:solidFill>
            <a:srgbClr val="008080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CC0066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wmf"/><Relationship Id="rId7" Type="http://schemas.openxmlformats.org/officeDocument/2006/relationships/image" Target="../media/image6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5.wmf"/><Relationship Id="rId7" Type="http://schemas.openxmlformats.org/officeDocument/2006/relationships/image" Target="../media/image7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12.png"/><Relationship Id="rId5" Type="http://schemas.openxmlformats.org/officeDocument/2006/relationships/image" Target="../media/image6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8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7" Type="http://schemas.openxmlformats.org/officeDocument/2006/relationships/image" Target="../media/image15.png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8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wmf"/><Relationship Id="rId4" Type="http://schemas.openxmlformats.org/officeDocument/2006/relationships/oleObject" Target="../embeddings/oleObject10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0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5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wmf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495300" y="4586605"/>
            <a:ext cx="815403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PE" altLang="en-US" sz="4000" b="1" dirty="0">
                <a:solidFill>
                  <a:schemeClr val="tx1"/>
                </a:solidFill>
              </a:rPr>
              <a:t>Inflación, Producción y Desempleo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291ED8-87EC-2BF0-EF84-58EAC5A3E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7270609-DA9C-D8EC-8C28-439558E83F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/>
            <a:r>
              <a:rPr lang="es-PE" dirty="0"/>
              <a:t>Introducción</a:t>
            </a:r>
          </a:p>
        </p:txBody>
      </p:sp>
    </p:spTree>
    <p:extLst>
      <p:ext uri="{BB962C8B-B14F-4D97-AF65-F5344CB8AC3E}">
        <p14:creationId xmlns:p14="http://schemas.microsoft.com/office/powerpoint/2010/main" val="1767837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1" name="Rectangle 3"/>
          <p:cNvSpPr/>
          <p:nvPr/>
        </p:nvSpPr>
        <p:spPr>
          <a:xfrm>
            <a:off x="567055" y="838200"/>
            <a:ext cx="8314690" cy="42276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defRPr sz="2400" b="1" kern="1200">
                <a:solidFill>
                  <a:srgbClr val="00808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C0066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eaLnBrk="1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>
                <a:srgbClr val="003300"/>
              </a:buClr>
              <a:buFont typeface="Arial" panose="020B0604020202020204" pitchFamily="34" charset="0"/>
              <a:buChar char="•"/>
            </a:pPr>
            <a:r>
              <a:rPr lang="es-ES" altLang="es-PE" sz="2200" b="0" dirty="0">
                <a:solidFill>
                  <a:schemeClr val="tx1"/>
                </a:solidFill>
                <a:sym typeface="Symbol" panose="05050102010706020507" pitchFamily="18" charset="2"/>
              </a:rPr>
              <a:t>La curva de Phillips debe su origen al economista inglés Arthur W. Phillips, quien en 1958 presentó en un estudio la relación entre el desempleo y la inflación en RU usando datos anuales para el período 1861-1957.</a:t>
            </a:r>
          </a:p>
          <a:p>
            <a:pPr eaLnBrk="1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>
                <a:srgbClr val="003300"/>
              </a:buClr>
              <a:buFont typeface="Arial" panose="020B0604020202020204" pitchFamily="34" charset="0"/>
              <a:buChar char="•"/>
            </a:pPr>
            <a:r>
              <a:rPr lang="es-ES" altLang="es-PE" sz="2200" b="0" dirty="0">
                <a:solidFill>
                  <a:schemeClr val="tx1"/>
                </a:solidFill>
                <a:sym typeface="Symbol" panose="05050102010706020507" pitchFamily="18" charset="2"/>
              </a:rPr>
              <a:t>La medida de inflación que usó fue la tasa de crecimiento de los salarios nominales. </a:t>
            </a:r>
          </a:p>
          <a:p>
            <a:pPr eaLnBrk="1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>
                <a:srgbClr val="003300"/>
              </a:buClr>
              <a:buFont typeface="Arial" panose="020B0604020202020204" pitchFamily="34" charset="0"/>
              <a:buChar char="•"/>
            </a:pPr>
            <a:r>
              <a:rPr lang="es-ES" altLang="es-PE" sz="2200" b="0" dirty="0">
                <a:solidFill>
                  <a:schemeClr val="tx1"/>
                </a:solidFill>
                <a:sym typeface="Symbol" panose="05050102010706020507" pitchFamily="18" charset="2"/>
              </a:rPr>
              <a:t>Tras analizar varios subperíodos, concluyó que había una relación negativa entre inflación y desempleo.</a:t>
            </a:r>
            <a:endParaRPr lang="es-PE" altLang="en-US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14" name="Rectangle 7"/>
          <p:cNvSpPr>
            <a:spLocks noGrp="1"/>
          </p:cNvSpPr>
          <p:nvPr>
            <p:ph type="title"/>
          </p:nvPr>
        </p:nvSpPr>
        <p:spPr/>
        <p:txBody>
          <a:bodyPr vert="horz" wrap="square" lIns="91440" tIns="548640" rIns="91440" bIns="457200" anchor="ctr"/>
          <a:lstStyle/>
          <a:p>
            <a:pPr eaLnBrk="1" hangingPunct="1"/>
            <a:r>
              <a:rPr lang="es-PE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La Tasa Natural de Desempleo y la Curva de </a:t>
            </a:r>
            <a:r>
              <a:rPr lang="en-US" altLang="es-PE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Phillips</a:t>
            </a:r>
            <a:endParaRPr lang="en-US" altLang="es-PE" dirty="0"/>
          </a:p>
        </p:txBody>
      </p:sp>
    </p:spTree>
    <p:extLst>
      <p:ext uri="{BB962C8B-B14F-4D97-AF65-F5344CB8AC3E}">
        <p14:creationId xmlns:p14="http://schemas.microsoft.com/office/powerpoint/2010/main" val="3142611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eaLnBrk="1" hangingPunct="1">
              <a:buFontTx/>
              <a:buNone/>
              <a:defRPr/>
            </a:pPr>
            <a:r>
              <a:rPr lang="es-PE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La Tasa Natural de Desempleo y la Curva de </a:t>
            </a:r>
            <a:r>
              <a:rPr lang="en-US" altLang="es-PE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Phillips</a:t>
            </a:r>
            <a:endParaRPr lang="en-US" dirty="0">
              <a:ea typeface="ヒラギノ角ゴ Pro W3" pitchFamily="-84" charset="-128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66FB356-33E7-4808-B742-3788F5464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1" y="1344217"/>
            <a:ext cx="7010399" cy="4751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529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Marcador de número de diapositiva 2"/>
          <p:cNvSpPr txBox="1">
            <a:spLocks noGrp="1"/>
          </p:cNvSpPr>
          <p:nvPr>
            <p:ph type="sldNum" sz="quarter" idx="4294967295"/>
          </p:nvPr>
        </p:nvSpPr>
        <p:spPr>
          <a:xfrm>
            <a:off x="8001000" y="6581775"/>
            <a:ext cx="1143000" cy="304800"/>
          </a:xfrm>
          <a:prstGeom prst="rect">
            <a:avLst/>
          </a:prstGeom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Font typeface="Wingdings" panose="05000000000000000000" pitchFamily="2" charset="2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en-US" altLang="es-PE" sz="1400" dirty="0">
                <a:solidFill>
                  <a:srgbClr val="008080"/>
                </a:solidFill>
              </a:rPr>
              <a:t>5</a:t>
            </a:fld>
            <a:r>
              <a:rPr lang="en-US" altLang="es-PE" sz="1400" dirty="0">
                <a:solidFill>
                  <a:srgbClr val="008080"/>
                </a:solidFill>
              </a:rPr>
              <a:t> of 33</a:t>
            </a:r>
          </a:p>
        </p:txBody>
      </p:sp>
      <p:sp>
        <p:nvSpPr>
          <p:cNvPr id="5123" name="Rectangle 2"/>
          <p:cNvSpPr>
            <a:spLocks noGrp="1"/>
          </p:cNvSpPr>
          <p:nvPr>
            <p:ph type="title"/>
          </p:nvPr>
        </p:nvSpPr>
        <p:spPr>
          <a:xfrm>
            <a:off x="533400" y="0"/>
            <a:ext cx="8533765" cy="762000"/>
          </a:xfrm>
        </p:spPr>
        <p:txBody>
          <a:bodyPr vert="horz" wrap="square" lIns="91440" tIns="548640" rIns="91440" bIns="457200" anchor="ctr"/>
          <a:lstStyle/>
          <a:p>
            <a:pPr eaLnBrk="1" hangingPunct="1"/>
            <a:r>
              <a:rPr lang="es-PE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La Tasa Natural de Desempleo y la Curva de </a:t>
            </a:r>
            <a:r>
              <a:rPr lang="en-US" altLang="es-PE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Phillips</a:t>
            </a:r>
          </a:p>
        </p:txBody>
      </p:sp>
      <p:sp>
        <p:nvSpPr>
          <p:cNvPr id="348163" name="Rectangle 3"/>
          <p:cNvSpPr>
            <a:spLocks noGrp="1"/>
          </p:cNvSpPr>
          <p:nvPr>
            <p:ph type="subTitle"/>
          </p:nvPr>
        </p:nvSpPr>
        <p:spPr>
          <a:xfrm>
            <a:off x="609600" y="5601335"/>
            <a:ext cx="8325485" cy="723265"/>
          </a:xfrm>
        </p:spPr>
        <p:txBody>
          <a:bodyPr vert="horz" wrap="square" lIns="91440" tIns="45720" rIns="91440" bIns="45720" anchor="t"/>
          <a:lstStyle>
            <a:lvl1pPr marL="0" lvl="0" indent="0" algn="ctr">
              <a:defRPr/>
            </a:lvl1pPr>
            <a:lvl2pPr marL="457200" lvl="1" indent="0" algn="ctr">
              <a:buNone/>
              <a:defRPr/>
            </a:lvl2pPr>
            <a:lvl3pPr marL="914400" lvl="2" indent="0" algn="ctr">
              <a:buNone/>
              <a:defRPr/>
            </a:lvl3pPr>
            <a:lvl4pPr marL="1371600" lvl="3" indent="0" algn="ctr">
              <a:buNone/>
              <a:defRPr/>
            </a:lvl4pPr>
            <a:lvl5pPr marL="1828800" lvl="4" indent="0" algn="ctr">
              <a:buNone/>
              <a:defRPr/>
            </a:lvl5pPr>
          </a:lstStyle>
          <a:p>
            <a:pPr lvl="0" algn="l" eaLnBrk="1" hangingPunct="1"/>
            <a:r>
              <a:rPr lang="es-PE" altLang="en-US" sz="2000" b="0" dirty="0">
                <a:solidFill>
                  <a:schemeClr val="tx1"/>
                </a:solidFill>
                <a:latin typeface="+mn-lt"/>
              </a:rPr>
              <a:t>La </a:t>
            </a:r>
            <a:r>
              <a:rPr lang="es-PE" altLang="en-US" sz="2000" b="0" u="sng" dirty="0">
                <a:solidFill>
                  <a:schemeClr val="tx1"/>
                </a:solidFill>
                <a:latin typeface="+mn-lt"/>
              </a:rPr>
              <a:t>curva de </a:t>
            </a:r>
            <a:r>
              <a:rPr lang="en-US" altLang="es-PE" sz="2000" b="0" u="sng" dirty="0">
                <a:solidFill>
                  <a:schemeClr val="tx1"/>
                </a:solidFill>
                <a:latin typeface="+mn-lt"/>
              </a:rPr>
              <a:t>Phillips</a:t>
            </a:r>
            <a:r>
              <a:rPr lang="en-US" altLang="es-PE" sz="2000" b="0" dirty="0">
                <a:solidFill>
                  <a:schemeClr val="tx1"/>
                </a:solidFill>
                <a:latin typeface="+mn-lt"/>
              </a:rPr>
              <a:t>, </a:t>
            </a:r>
            <a:r>
              <a:rPr lang="es-PE" altLang="en-US" sz="2000" b="0" dirty="0">
                <a:solidFill>
                  <a:schemeClr val="tx1"/>
                </a:solidFill>
                <a:latin typeface="+mn-lt"/>
              </a:rPr>
              <a:t>muestra una relación negativa entre inflación y desempleo.</a:t>
            </a:r>
            <a:endParaRPr lang="en-US" altLang="es-PE" sz="2000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48169" name="Rectangle 9"/>
          <p:cNvSpPr/>
          <p:nvPr/>
        </p:nvSpPr>
        <p:spPr>
          <a:xfrm>
            <a:off x="533400" y="1921356"/>
            <a:ext cx="2133600" cy="326024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spcBef>
                <a:spcPct val="10000"/>
              </a:spcBef>
              <a:spcAft>
                <a:spcPct val="10000"/>
              </a:spcAft>
            </a:pPr>
            <a:r>
              <a:rPr lang="es-ES" altLang="es-PE" sz="1600" dirty="0">
                <a:latin typeface="Arial Narrow" panose="020B0606020202030204" pitchFamily="34" charset="0"/>
              </a:rPr>
              <a:t>En 1960, Paul Samuelson y Robert Solow observan una relación similar para Estados Unidos.</a:t>
            </a:r>
            <a:endParaRPr lang="es-PE" altLang="es-PE" sz="1600" dirty="0">
              <a:latin typeface="Arial Narrow" panose="020B0606020202030204" pitchFamily="34" charset="0"/>
            </a:endParaRPr>
          </a:p>
          <a:p>
            <a:pPr eaLnBrk="1" hangingPunct="1">
              <a:spcBef>
                <a:spcPct val="10000"/>
              </a:spcBef>
              <a:spcAft>
                <a:spcPct val="10000"/>
              </a:spcAft>
            </a:pPr>
            <a:r>
              <a:rPr lang="es-PE" altLang="es-PE" sz="1600" dirty="0">
                <a:latin typeface="Arial Narrow" panose="020B0606020202030204" pitchFamily="34" charset="0"/>
              </a:rPr>
              <a:t>Entre</a:t>
            </a:r>
            <a:r>
              <a:rPr lang="en-US" altLang="es-PE" sz="1600" dirty="0">
                <a:latin typeface="Arial Narrow" panose="020B0606020202030204" pitchFamily="34" charset="0"/>
              </a:rPr>
              <a:t> 1900</a:t>
            </a:r>
            <a:r>
              <a:rPr lang="es-PE" altLang="en-US" sz="1600" dirty="0">
                <a:latin typeface="Arial Narrow" panose="020B0606020202030204" pitchFamily="34" charset="0"/>
              </a:rPr>
              <a:t>-</a:t>
            </a:r>
            <a:r>
              <a:rPr lang="en-US" altLang="es-PE" sz="1600" dirty="0">
                <a:latin typeface="Arial Narrow" panose="020B0606020202030204" pitchFamily="34" charset="0"/>
              </a:rPr>
              <a:t>1960 </a:t>
            </a:r>
            <a:r>
              <a:rPr lang="es-PE" altLang="en-US" sz="1600" dirty="0">
                <a:latin typeface="Arial Narrow" panose="020B0606020202030204" pitchFamily="34" charset="0"/>
              </a:rPr>
              <a:t>en EEUU, se observó tasas de desempleo bajas asociadas con altas tasas de inflación; y tasas de desempleo altas típicamente asociadas con una tasa de inflación baja o negativa.</a:t>
            </a:r>
            <a:endParaRPr lang="en-US" altLang="es-PE" sz="1600" dirty="0">
              <a:latin typeface="Arial Narrow" panose="020B0606020202030204" pitchFamily="34" charset="0"/>
            </a:endParaRPr>
          </a:p>
        </p:txBody>
      </p:sp>
      <p:sp>
        <p:nvSpPr>
          <p:cNvPr id="5129" name="Text Box 11"/>
          <p:cNvSpPr txBox="1"/>
          <p:nvPr/>
        </p:nvSpPr>
        <p:spPr>
          <a:xfrm>
            <a:off x="533400" y="1121410"/>
            <a:ext cx="25908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en-US" altLang="es-PE" sz="1600" b="1" i="1" dirty="0">
                <a:latin typeface="Arial" panose="020B0604020202020204" pitchFamily="34" charset="0"/>
              </a:rPr>
              <a:t>Infla</a:t>
            </a:r>
            <a:r>
              <a:rPr lang="es-PE" altLang="en-US" sz="1600" b="1" i="1" dirty="0">
                <a:latin typeface="Arial" panose="020B0604020202020204" pitchFamily="34" charset="0"/>
              </a:rPr>
              <a:t>ció</a:t>
            </a:r>
            <a:r>
              <a:rPr lang="en-US" altLang="es-PE" sz="1600" b="1" i="1" dirty="0">
                <a:latin typeface="Arial" panose="020B0604020202020204" pitchFamily="34" charset="0"/>
              </a:rPr>
              <a:t>n vs </a:t>
            </a:r>
            <a:r>
              <a:rPr lang="es-PE" altLang="en-US" sz="1600" b="1" i="1" dirty="0">
                <a:latin typeface="Arial" panose="020B0604020202020204" pitchFamily="34" charset="0"/>
              </a:rPr>
              <a:t>Desempleo e</a:t>
            </a:r>
            <a:r>
              <a:rPr lang="en-US" altLang="es-PE" sz="1600" b="1" i="1" dirty="0">
                <a:latin typeface="Arial" panose="020B0604020202020204" pitchFamily="34" charset="0"/>
              </a:rPr>
              <a:t>n </a:t>
            </a:r>
            <a:r>
              <a:rPr lang="es-PE" altLang="en-US" sz="1600" b="1" i="1" dirty="0">
                <a:latin typeface="Arial" panose="020B0604020202020204" pitchFamily="34" charset="0"/>
              </a:rPr>
              <a:t>EEUU </a:t>
            </a:r>
            <a:r>
              <a:rPr lang="en-US" altLang="es-PE" sz="1600" b="1" i="1" dirty="0">
                <a:latin typeface="Arial" panose="020B0604020202020204" pitchFamily="34" charset="0"/>
              </a:rPr>
              <a:t>1900</a:t>
            </a:r>
            <a:r>
              <a:rPr lang="es-PE" altLang="en-US" sz="1600" b="1" i="1" dirty="0">
                <a:latin typeface="Arial" panose="020B0604020202020204" pitchFamily="34" charset="0"/>
              </a:rPr>
              <a:t>-</a:t>
            </a:r>
            <a:r>
              <a:rPr lang="en-US" altLang="es-PE" sz="1600" b="1" i="1" dirty="0">
                <a:latin typeface="Arial" panose="020B0604020202020204" pitchFamily="34" charset="0"/>
              </a:rPr>
              <a:t>1960 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7A37564-1706-4C36-AA55-FC5D95181E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705" t="21804" r="11136" b="43027"/>
          <a:stretch/>
        </p:blipFill>
        <p:spPr>
          <a:xfrm>
            <a:off x="3131650" y="1704975"/>
            <a:ext cx="5892586" cy="3623003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8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8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63" grpId="0" build="p" bldLvl="2" advAuto="1000"/>
      <p:bldP spid="34816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/>
          </p:cNvSpPr>
          <p:nvPr>
            <p:ph type="title"/>
          </p:nvPr>
        </p:nvSpPr>
        <p:spPr>
          <a:xfrm>
            <a:off x="457200" y="-102556"/>
            <a:ext cx="8686800" cy="951006"/>
          </a:xfrm>
        </p:spPr>
        <p:txBody>
          <a:bodyPr vert="horz" wrap="square" lIns="91440" tIns="548640" rIns="91440" bIns="457200" anchor="ctr">
            <a:noAutofit/>
          </a:bodyPr>
          <a:lstStyle/>
          <a:p>
            <a:pPr eaLnBrk="1" hangingPunct="1"/>
            <a:r>
              <a:rPr lang="es-PE" alt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Inflación, Inflación Esperada y Desempleo </a:t>
            </a:r>
            <a:endParaRPr lang="en-US" altLang="es-PE" sz="2800" b="1" dirty="0">
              <a:solidFill>
                <a:srgbClr val="C8AD76"/>
              </a:solidFill>
            </a:endParaRPr>
          </a:p>
        </p:txBody>
      </p:sp>
      <p:sp>
        <p:nvSpPr>
          <p:cNvPr id="190467" name="Rectangle 3"/>
          <p:cNvSpPr>
            <a:spLocks noGrp="1"/>
          </p:cNvSpPr>
          <p:nvPr>
            <p:ph idx="1"/>
          </p:nvPr>
        </p:nvSpPr>
        <p:spPr>
          <a:xfrm>
            <a:off x="609600" y="937383"/>
            <a:ext cx="8001000" cy="662817"/>
          </a:xfrm>
        </p:spPr>
        <p:txBody>
          <a:bodyPr vert="horz" wrap="square" lIns="91440" tIns="45720" rIns="91440" bIns="45720" anchor="t">
            <a:no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s-PE" sz="2200" b="0" dirty="0">
                <a:solidFill>
                  <a:schemeClr val="tx1"/>
                </a:solidFill>
                <a:latin typeface="Arial" panose="020B0604020202020204" pitchFamily="34" charset="0"/>
              </a:rPr>
              <a:t>De las </a:t>
            </a:r>
            <a:r>
              <a:rPr lang="en-US" altLang="es-PE" sz="2200" b="0" dirty="0" err="1">
                <a:solidFill>
                  <a:schemeClr val="tx1"/>
                </a:solidFill>
                <a:latin typeface="Arial" panose="020B0604020202020204" pitchFamily="34" charset="0"/>
              </a:rPr>
              <a:t>ecuaciones</a:t>
            </a:r>
            <a:r>
              <a:rPr lang="en-US" altLang="es-PE" sz="2200" b="0" dirty="0">
                <a:solidFill>
                  <a:schemeClr val="tx1"/>
                </a:solidFill>
                <a:latin typeface="Arial" panose="020B0604020202020204" pitchFamily="34" charset="0"/>
              </a:rPr>
              <a:t> de </a:t>
            </a:r>
            <a:r>
              <a:rPr lang="en-US" altLang="es-PE" sz="2200" b="0" dirty="0" err="1">
                <a:solidFill>
                  <a:schemeClr val="tx1"/>
                </a:solidFill>
                <a:latin typeface="Arial" panose="020B0604020202020204" pitchFamily="34" charset="0"/>
              </a:rPr>
              <a:t>determinación</a:t>
            </a:r>
            <a:r>
              <a:rPr lang="en-US" altLang="es-PE" sz="2200" b="0" dirty="0">
                <a:solidFill>
                  <a:schemeClr val="tx1"/>
                </a:solidFill>
                <a:latin typeface="Arial" panose="020B0604020202020204" pitchFamily="34" charset="0"/>
              </a:rPr>
              <a:t> de </a:t>
            </a:r>
            <a:r>
              <a:rPr lang="en-US" altLang="es-PE" sz="2200" b="0" dirty="0" err="1">
                <a:solidFill>
                  <a:schemeClr val="tx1"/>
                </a:solidFill>
                <a:latin typeface="Arial" panose="020B0604020202020204" pitchFamily="34" charset="0"/>
              </a:rPr>
              <a:t>salarios</a:t>
            </a:r>
            <a:r>
              <a:rPr lang="en-US" altLang="es-PE" sz="2200" b="0" dirty="0">
                <a:solidFill>
                  <a:schemeClr val="tx1"/>
                </a:solidFill>
                <a:latin typeface="Arial" panose="020B0604020202020204" pitchFamily="34" charset="0"/>
              </a:rPr>
              <a:t> y </a:t>
            </a:r>
            <a:r>
              <a:rPr lang="en-US" altLang="es-PE" sz="2200" b="0" dirty="0" err="1">
                <a:solidFill>
                  <a:schemeClr val="tx1"/>
                </a:solidFill>
                <a:latin typeface="Arial" panose="020B0604020202020204" pitchFamily="34" charset="0"/>
              </a:rPr>
              <a:t>precios</a:t>
            </a:r>
            <a:r>
              <a:rPr lang="en-US" altLang="es-PE" sz="2200" b="0" dirty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4099" name="Marcador de número de diapositiva 4"/>
          <p:cNvSpPr txBox="1">
            <a:spLocks noGrp="1"/>
          </p:cNvSpPr>
          <p:nvPr>
            <p:ph type="sldNum" sz="quarter" idx="4294967295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 defTabSz="914400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2F19230C-B106-407F-9C63-55C8040EE192}" type="slidenum">
              <a:rPr lang="en-US" altLang="es-PE" sz="1400" smtClean="0">
                <a:solidFill>
                  <a:schemeClr val="bg1"/>
                </a:solidFill>
                <a:latin typeface="Arial" panose="020B0604020202020204" pitchFamily="34" charset="0"/>
              </a:rPr>
              <a:pPr lvl="0" algn="r" defTabSz="914400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r>
              <a:rPr lang="en-US" altLang="es-PE" sz="1400">
                <a:solidFill>
                  <a:schemeClr val="bg1"/>
                </a:solidFill>
                <a:latin typeface="Arial" panose="020B0604020202020204" pitchFamily="34" charset="0"/>
              </a:rPr>
              <a:t> of 49</a:t>
            </a:r>
            <a:endParaRPr lang="en-US" altLang="es-PE" sz="1400" dirty="0">
              <a:solidFill>
                <a:schemeClr val="bg1"/>
              </a:solidFill>
            </a:endParaRPr>
          </a:p>
        </p:txBody>
      </p:sp>
      <p:graphicFrame>
        <p:nvGraphicFramePr>
          <p:cNvPr id="1904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9416960"/>
              </p:ext>
            </p:extLst>
          </p:nvPr>
        </p:nvGraphicFramePr>
        <p:xfrm>
          <a:off x="3286400" y="1587040"/>
          <a:ext cx="212725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939800" imgH="228600" progId="Equation.COEE2">
                  <p:embed/>
                </p:oleObj>
              </mc:Choice>
              <mc:Fallback>
                <p:oleObj r:id="rId2" imgW="939800" imgH="228600" progId="Equation.COEE2">
                  <p:embed/>
                  <p:pic>
                    <p:nvPicPr>
                      <p:cNvPr id="190469" name="Object 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86400" y="1587040"/>
                        <a:ext cx="2127250" cy="517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/>
              <p:cNvSpPr txBox="1"/>
              <p:nvPr/>
            </p:nvSpPr>
            <p:spPr>
              <a:xfrm>
                <a:off x="3285171" y="2249857"/>
                <a:ext cx="2109295" cy="4062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P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s-PE" sz="2400" dirty="0"/>
              </a:p>
            </p:txBody>
          </p:sp>
        </mc:Choice>
        <mc:Fallback xmlns="">
          <p:sp>
            <p:nvSpPr>
              <p:cNvPr id="7" name="Cuadro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5171" y="2249857"/>
                <a:ext cx="2109295" cy="406265"/>
              </a:xfrm>
              <a:prstGeom prst="rect">
                <a:avLst/>
              </a:prstGeom>
              <a:blipFill>
                <a:blip r:embed="rId5"/>
                <a:stretch>
                  <a:fillRect l="-2890" r="-1734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9">
            <a:extLst>
              <a:ext uri="{FF2B5EF4-FFF2-40B4-BE49-F238E27FC236}">
                <a16:creationId xmlns:a16="http://schemas.microsoft.com/office/drawing/2014/main" id="{2207C9CA-0868-45EE-9B0B-52A8A7C8D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644076"/>
            <a:ext cx="8153400" cy="1732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3275" indent="-34925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84580" indent="-16700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4775" indent="-17462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16405" indent="-17462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173605" indent="-1746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630805" indent="-1746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088005" indent="-1746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45205" indent="-1746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es-PE" sz="24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El </a:t>
            </a:r>
            <a:r>
              <a:rPr lang="en-US" altLang="es-PE" sz="24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nivel</a:t>
            </a:r>
            <a:r>
              <a:rPr lang="en-US" altLang="es-PE" sz="24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de </a:t>
            </a:r>
            <a:r>
              <a:rPr lang="en-US" altLang="es-PE" sz="24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precios</a:t>
            </a:r>
            <a:r>
              <a:rPr lang="en-US" altLang="es-PE" sz="24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altLang="es-PE" sz="24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depende</a:t>
            </a:r>
            <a:r>
              <a:rPr lang="en-US" altLang="es-PE" sz="24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del </a:t>
            </a:r>
            <a:r>
              <a:rPr lang="en-US" altLang="es-PE" sz="24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nivel</a:t>
            </a:r>
            <a:r>
              <a:rPr lang="en-US" altLang="es-PE" sz="24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altLang="es-PE" sz="24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esperado</a:t>
            </a:r>
            <a:r>
              <a:rPr lang="en-US" altLang="es-PE" sz="24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de </a:t>
            </a:r>
            <a:r>
              <a:rPr lang="en-US" altLang="es-PE" sz="24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precios</a:t>
            </a:r>
            <a:r>
              <a:rPr lang="en-US" altLang="es-PE" sz="24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y de la </a:t>
            </a:r>
            <a:r>
              <a:rPr lang="en-US" altLang="es-PE" sz="24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tasa</a:t>
            </a:r>
            <a:r>
              <a:rPr lang="en-US" altLang="es-PE" sz="24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de </a:t>
            </a:r>
            <a:r>
              <a:rPr lang="en-US" altLang="es-PE" sz="24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desempleo</a:t>
            </a:r>
            <a:r>
              <a:rPr lang="en-US" altLang="es-PE" sz="24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s-PE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 </a:t>
            </a:r>
            <a:r>
              <a:rPr kumimoji="0" lang="en-US" altLang="es-PE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asume</a:t>
            </a:r>
            <a:r>
              <a:rPr kumimoji="0" lang="en-US" altLang="es-PE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altLang="es-PE" sz="2400" b="0" i="1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kumimoji="0" lang="en-US" altLang="es-PE" sz="24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  <a:sym typeface="Symbol" panose="05050102010706020507" pitchFamily="18" charset="2"/>
              </a:rPr>
              <a:t> y </a:t>
            </a:r>
            <a:r>
              <a:rPr kumimoji="0" lang="en-US" altLang="es-PE" sz="2400" b="0" i="1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  <a:sym typeface="Symbol" panose="05050102010706020507" pitchFamily="18" charset="2"/>
              </a:rPr>
              <a:t>z</a:t>
            </a:r>
            <a:r>
              <a:rPr kumimoji="0" lang="en-US" altLang="es-PE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  <a:sym typeface="Symbol" panose="05050102010706020507" pitchFamily="18" charset="2"/>
              </a:rPr>
              <a:t> son </a:t>
            </a:r>
            <a:r>
              <a:rPr kumimoji="0" lang="en-US" altLang="es-PE" sz="2400" b="0" i="0" u="sng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  <a:sym typeface="Symbol" panose="05050102010706020507" pitchFamily="18" charset="2"/>
              </a:rPr>
              <a:t>constantes</a:t>
            </a:r>
            <a:r>
              <a:rPr kumimoji="0" lang="en-US" altLang="es-PE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  <a:sym typeface="Symbol" panose="05050102010706020507" pitchFamily="18" charset="2"/>
              </a:rPr>
              <a:t>.</a:t>
            </a:r>
            <a:endParaRPr kumimoji="0" lang="en-US" altLang="es-PE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aphicFrame>
        <p:nvGraphicFramePr>
          <p:cNvPr id="10" name="Object 4">
            <a:extLst>
              <a:ext uri="{FF2B5EF4-FFF2-40B4-BE49-F238E27FC236}">
                <a16:creationId xmlns:a16="http://schemas.microsoft.com/office/drawing/2014/main" id="{EBD702AB-8A86-43E4-AFBC-672E9A3F03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8430424"/>
              </p:ext>
            </p:extLst>
          </p:nvPr>
        </p:nvGraphicFramePr>
        <p:xfrm>
          <a:off x="1087719" y="2967106"/>
          <a:ext cx="212725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939800" imgH="228600" progId="Equation.COEE2">
                  <p:embed/>
                </p:oleObj>
              </mc:Choice>
              <mc:Fallback>
                <p:oleObj r:id="rId6" imgW="939800" imgH="228600" progId="Equation.COEE2">
                  <p:embed/>
                  <p:pic>
                    <p:nvPicPr>
                      <p:cNvPr id="191492" name="Object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87719" y="2967106"/>
                        <a:ext cx="2127250" cy="517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6">
            <a:extLst>
              <a:ext uri="{FF2B5EF4-FFF2-40B4-BE49-F238E27FC236}">
                <a16:creationId xmlns:a16="http://schemas.microsoft.com/office/drawing/2014/main" id="{B1DC1411-335F-4FF8-B7A5-6D18A69777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606" y="2962343"/>
            <a:ext cx="838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39725" indent="-33972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3275" indent="-34925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84580" indent="-16700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4775" indent="-17462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16405" indent="-17462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173605" indent="-1746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630805" indent="-1746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088005" indent="-1746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45205" indent="-1746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39725" marR="0" lvl="0" indent="-339725" algn="ctr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es-PE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y</a:t>
            </a: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C1D94BA1-2F92-4D9C-9FDA-F61304D2F9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2048" y="2947262"/>
            <a:ext cx="1811757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39725" indent="-33972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3275" indent="-34925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84580" indent="-16700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4775" indent="-17462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16405" indent="-17462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173605" indent="-1746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630805" indent="-1746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088005" indent="-1746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45205" indent="-1746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39725" marR="0" lvl="0" indent="-339725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es-PE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 </a:t>
            </a:r>
            <a:r>
              <a:rPr kumimoji="0" lang="en-US" altLang="es-PE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entonces</a:t>
            </a:r>
            <a:r>
              <a:rPr kumimoji="0" lang="en-US" altLang="es-PE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1764B0E6-B6D4-4B19-A4D3-DA1C38F9BC7C}"/>
                  </a:ext>
                </a:extLst>
              </p:cNvPr>
              <p:cNvSpPr txBox="1"/>
              <p:nvPr/>
            </p:nvSpPr>
            <p:spPr>
              <a:xfrm>
                <a:off x="4038600" y="3022735"/>
                <a:ext cx="2109295" cy="4062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P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s-PE" sz="2400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1764B0E6-B6D4-4B19-A4D3-DA1C38F9BC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3022735"/>
                <a:ext cx="2109295" cy="406265"/>
              </a:xfrm>
              <a:prstGeom prst="rect">
                <a:avLst/>
              </a:prstGeom>
              <a:blipFill>
                <a:blip r:embed="rId7"/>
                <a:stretch>
                  <a:fillRect l="-2890" r="-1734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5F0CED75-394D-4509-B649-28AA6FB431A1}"/>
                  </a:ext>
                </a:extLst>
              </p:cNvPr>
              <p:cNvSpPr txBox="1"/>
              <p:nvPr/>
            </p:nvSpPr>
            <p:spPr>
              <a:xfrm>
                <a:off x="2573903" y="3846898"/>
                <a:ext cx="357399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PE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p>
                      <m:d>
                        <m:dPr>
                          <m:ctrlPr>
                            <a:rPr lang="es-PE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PE" sz="2800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5F0CED75-394D-4509-B649-28AA6FB431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3903" y="3846898"/>
                <a:ext cx="3573992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51267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0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67" grpId="0" uiExpand="1" build="p"/>
      <p:bldP spid="7" grpId="0"/>
      <p:bldP spid="8" grpId="0"/>
      <p:bldP spid="11" grpId="0"/>
      <p:bldP spid="12" grpId="0"/>
      <p:bldP spid="13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Grp="1"/>
          </p:cNvSpPr>
          <p:nvPr>
            <p:ph type="title"/>
          </p:nvPr>
        </p:nvSpPr>
        <p:spPr>
          <a:xfrm>
            <a:off x="533400" y="79376"/>
            <a:ext cx="8382000" cy="775812"/>
          </a:xfrm>
        </p:spPr>
        <p:txBody>
          <a:bodyPr vert="horz" wrap="square" lIns="91440" tIns="548640" rIns="91440" bIns="457200" anchor="ctr">
            <a:noAutofit/>
          </a:bodyPr>
          <a:lstStyle/>
          <a:p>
            <a:r>
              <a:rPr lang="es-PE" alt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Inflación, Inflación Esperada y Desempleo </a:t>
            </a:r>
            <a:endParaRPr lang="en-US" altLang="es-PE" sz="2800" dirty="0">
              <a:solidFill>
                <a:srgbClr val="C8AD76"/>
              </a:solidFill>
            </a:endParaRPr>
          </a:p>
        </p:txBody>
      </p:sp>
      <p:sp>
        <p:nvSpPr>
          <p:cNvPr id="192515" name="Rectangle 3"/>
          <p:cNvSpPr>
            <a:spLocks noGrp="1"/>
          </p:cNvSpPr>
          <p:nvPr>
            <p:ph idx="1"/>
          </p:nvPr>
        </p:nvSpPr>
        <p:spPr>
          <a:xfrm>
            <a:off x="838200" y="1281589"/>
            <a:ext cx="6858000" cy="775811"/>
          </a:xfrm>
        </p:spPr>
        <p:txBody>
          <a:bodyPr vert="horz" wrap="square" lIns="91440" tIns="45720" rIns="91440" bIns="45720" anchor="t">
            <a:normAutofit fontScale="77500" lnSpcReduction="20000"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La </a:t>
            </a: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tasa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 de </a:t>
            </a: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desempleo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en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términos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 de las </a:t>
            </a: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producción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6147" name="Marcador de número de diapositiva 4"/>
          <p:cNvSpPr txBox="1">
            <a:spLocks noGrp="1"/>
          </p:cNvSpPr>
          <p:nvPr>
            <p:ph type="sldNum" sz="quarter" idx="4294967295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 defTabSz="914400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2F19230C-B106-407F-9C63-55C8040EE192}" type="slidenum">
              <a:rPr lang="en-US" altLang="es-PE" sz="1400" smtClean="0">
                <a:solidFill>
                  <a:schemeClr val="bg1"/>
                </a:solidFill>
                <a:latin typeface="Arial" panose="020B0604020202020204" pitchFamily="34" charset="0"/>
              </a:rPr>
              <a:pPr lvl="0" algn="r" defTabSz="914400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r>
              <a:rPr lang="en-US" altLang="es-PE" sz="1400">
                <a:solidFill>
                  <a:schemeClr val="bg1"/>
                </a:solidFill>
                <a:latin typeface="Arial" panose="020B0604020202020204" pitchFamily="34" charset="0"/>
              </a:rPr>
              <a:t> of 49</a:t>
            </a:r>
            <a:endParaRPr lang="en-US" altLang="es-PE" sz="1400" dirty="0">
              <a:solidFill>
                <a:schemeClr val="bg1"/>
              </a:solidFill>
            </a:endParaRPr>
          </a:p>
        </p:txBody>
      </p:sp>
      <p:sp>
        <p:nvSpPr>
          <p:cNvPr id="192517" name="Rectangle 5"/>
          <p:cNvSpPr>
            <a:spLocks noChangeArrowheads="1"/>
          </p:cNvSpPr>
          <p:nvPr/>
        </p:nvSpPr>
        <p:spPr bwMode="auto">
          <a:xfrm>
            <a:off x="838200" y="3962400"/>
            <a:ext cx="792480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3275" indent="-34925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84580" indent="-16700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4775" indent="-17462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16405" indent="-17462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173605" indent="-1746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630805" indent="-1746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088005" indent="-1746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45205" indent="-1746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fontAlgn="base">
              <a:lnSpc>
                <a:spcPct val="15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es-PE" sz="2200" dirty="0" err="1"/>
              <a:t>Por</a:t>
            </a:r>
            <a:r>
              <a:rPr lang="en-US" altLang="es-PE" sz="2200" dirty="0"/>
              <a:t> lo </a:t>
            </a:r>
            <a:r>
              <a:rPr lang="en-US" altLang="es-PE" sz="2200" dirty="0" err="1"/>
              <a:t>tanto</a:t>
            </a:r>
            <a:r>
              <a:rPr lang="en-US" altLang="es-PE" sz="2200" dirty="0"/>
              <a:t>, para un </a:t>
            </a:r>
            <a:r>
              <a:rPr lang="en-US" altLang="es-PE" sz="2200" dirty="0" err="1"/>
              <a:t>nivel</a:t>
            </a:r>
            <a:r>
              <a:rPr lang="en-US" altLang="es-PE" sz="2200" dirty="0"/>
              <a:t> de </a:t>
            </a:r>
            <a:r>
              <a:rPr lang="en-US" altLang="es-PE" sz="2200" dirty="0" err="1"/>
              <a:t>fuerza</a:t>
            </a:r>
            <a:r>
              <a:rPr lang="en-US" altLang="es-PE" sz="2200" dirty="0"/>
              <a:t> </a:t>
            </a:r>
            <a:r>
              <a:rPr lang="en-US" altLang="es-PE" sz="2200" dirty="0" err="1"/>
              <a:t>laboral</a:t>
            </a:r>
            <a:r>
              <a:rPr lang="en-US" altLang="es-PE" sz="2200" dirty="0"/>
              <a:t>, ante </a:t>
            </a:r>
            <a:r>
              <a:rPr lang="en-US" altLang="es-PE" sz="2200" u="sng" dirty="0"/>
              <a:t>mayor </a:t>
            </a:r>
            <a:r>
              <a:rPr lang="en-US" altLang="es-PE" sz="2200" u="sng" dirty="0" err="1"/>
              <a:t>producción</a:t>
            </a:r>
            <a:r>
              <a:rPr lang="en-US" altLang="es-PE" sz="2200" dirty="0"/>
              <a:t>, </a:t>
            </a:r>
            <a:r>
              <a:rPr lang="en-US" altLang="es-PE" sz="2200" u="sng" dirty="0" err="1"/>
              <a:t>menor</a:t>
            </a:r>
            <a:r>
              <a:rPr lang="en-US" altLang="es-PE" sz="2200" u="sng" dirty="0"/>
              <a:t> </a:t>
            </a:r>
            <a:r>
              <a:rPr lang="en-US" altLang="es-PE" sz="2200" u="sng" dirty="0" err="1"/>
              <a:t>es</a:t>
            </a:r>
            <a:r>
              <a:rPr lang="en-US" altLang="es-PE" sz="2200" u="sng" dirty="0"/>
              <a:t> la </a:t>
            </a:r>
            <a:r>
              <a:rPr lang="en-US" altLang="es-PE" sz="2200" u="sng" dirty="0" err="1"/>
              <a:t>tasa</a:t>
            </a:r>
            <a:r>
              <a:rPr lang="en-US" altLang="es-PE" sz="2200" u="sng" dirty="0"/>
              <a:t> de </a:t>
            </a:r>
            <a:r>
              <a:rPr lang="en-US" altLang="es-PE" sz="2200" u="sng" dirty="0" err="1"/>
              <a:t>desempleo</a:t>
            </a:r>
            <a:r>
              <a:rPr lang="en-US" altLang="es-PE" sz="22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/>
              <p:cNvSpPr txBox="1"/>
              <p:nvPr/>
            </p:nvSpPr>
            <p:spPr>
              <a:xfrm>
                <a:off x="2400300" y="1985226"/>
                <a:ext cx="4038600" cy="16678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PE" sz="2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PE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s-P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s-PE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s-PE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s-PE" sz="28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s-PE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PE" sz="2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s-PE" sz="28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s-PE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PE" sz="2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s-PE" sz="2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lang="es-PE" sz="2800" dirty="0"/>
                  <a:t> </a:t>
                </a:r>
              </a:p>
            </p:txBody>
          </p:sp>
        </mc:Choice>
        <mc:Fallback xmlns="">
          <p:sp>
            <p:nvSpPr>
              <p:cNvPr id="7" name="Cuadro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0300" y="1985226"/>
                <a:ext cx="4038600" cy="166789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2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2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15" grpId="0" build="p"/>
      <p:bldP spid="192517" grpId="0" bldLvl="0" animBg="1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2"/>
          <p:cNvSpPr>
            <a:spLocks noGrp="1"/>
          </p:cNvSpPr>
          <p:nvPr>
            <p:ph type="title"/>
          </p:nvPr>
        </p:nvSpPr>
        <p:spPr>
          <a:xfrm>
            <a:off x="228600" y="46832"/>
            <a:ext cx="8610600" cy="638968"/>
          </a:xfrm>
        </p:spPr>
        <p:txBody>
          <a:bodyPr vert="horz" wrap="square" lIns="91440" tIns="548640" rIns="91440" bIns="457200" anchor="ctr">
            <a:noAutofit/>
          </a:bodyPr>
          <a:lstStyle/>
          <a:p>
            <a:r>
              <a:rPr lang="es-PE" alt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Inflación, Inflación Esperada y Desempleo </a:t>
            </a:r>
            <a:endParaRPr lang="en-US" altLang="es-PE" sz="2800" dirty="0">
              <a:solidFill>
                <a:srgbClr val="C8AD76"/>
              </a:solidFill>
            </a:endParaRPr>
          </a:p>
        </p:txBody>
      </p:sp>
      <p:sp>
        <p:nvSpPr>
          <p:cNvPr id="193539" name="Rectangle 3"/>
          <p:cNvSpPr>
            <a:spLocks noGrp="1"/>
          </p:cNvSpPr>
          <p:nvPr>
            <p:ph idx="1"/>
          </p:nvPr>
        </p:nvSpPr>
        <p:spPr>
          <a:xfrm>
            <a:off x="506506" y="1238812"/>
            <a:ext cx="7543800" cy="817562"/>
          </a:xfrm>
        </p:spPr>
        <p:txBody>
          <a:bodyPr vert="horz" wrap="square" lIns="91440" tIns="45720" rIns="91440" bIns="45720" anchor="t">
            <a:normAutofit fontScale="925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Reemplazando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 la </a:t>
            </a: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tasa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 de </a:t>
            </a: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desempleo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en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 la </a:t>
            </a: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ecuación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7171" name="Marcador de número de diapositiva 4"/>
          <p:cNvSpPr txBox="1">
            <a:spLocks noGrp="1"/>
          </p:cNvSpPr>
          <p:nvPr>
            <p:ph type="sldNum" sz="quarter" idx="4294967295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 defTabSz="914400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2F19230C-B106-407F-9C63-55C8040EE192}" type="slidenum">
              <a:rPr lang="en-US" altLang="es-PE" sz="1400" smtClean="0">
                <a:solidFill>
                  <a:schemeClr val="bg1"/>
                </a:solidFill>
                <a:latin typeface="Arial" panose="020B0604020202020204" pitchFamily="34" charset="0"/>
              </a:rPr>
              <a:pPr lvl="0" algn="r" defTabSz="914400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r>
              <a:rPr lang="en-US" altLang="es-PE" sz="1400">
                <a:solidFill>
                  <a:schemeClr val="bg1"/>
                </a:solidFill>
                <a:latin typeface="Arial" panose="020B0604020202020204" pitchFamily="34" charset="0"/>
              </a:rPr>
              <a:t> of 49</a:t>
            </a:r>
            <a:endParaRPr lang="en-US" altLang="es-PE" sz="1400" dirty="0">
              <a:solidFill>
                <a:schemeClr val="bg1"/>
              </a:solidFill>
            </a:endParaRPr>
          </a:p>
        </p:txBody>
      </p:sp>
      <p:sp>
        <p:nvSpPr>
          <p:cNvPr id="193541" name="Rectangle 5"/>
          <p:cNvSpPr>
            <a:spLocks noChangeArrowheads="1"/>
          </p:cNvSpPr>
          <p:nvPr/>
        </p:nvSpPr>
        <p:spPr bwMode="auto">
          <a:xfrm>
            <a:off x="685800" y="3048000"/>
            <a:ext cx="7185212" cy="2794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3275" indent="-34925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84580" indent="-16700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4775" indent="-17462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16405" indent="-17462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173605" indent="-1746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630805" indent="-1746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088005" indent="-1746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45205" indent="-1746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fontAlgn="base">
              <a:lnSpc>
                <a:spcPct val="15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/>
            </a:pPr>
            <a:r>
              <a:rPr lang="en-US" altLang="es-PE" sz="2200" dirty="0"/>
              <a:t>El </a:t>
            </a:r>
            <a:r>
              <a:rPr lang="en-US" altLang="es-PE" sz="2200" dirty="0" err="1"/>
              <a:t>nivel</a:t>
            </a:r>
            <a:r>
              <a:rPr lang="en-US" altLang="es-PE" sz="2200" dirty="0"/>
              <a:t> de </a:t>
            </a:r>
            <a:r>
              <a:rPr lang="en-US" altLang="es-PE" sz="2200" dirty="0" err="1"/>
              <a:t>precios</a:t>
            </a:r>
            <a:r>
              <a:rPr lang="en-US" altLang="es-PE" sz="2200" dirty="0"/>
              <a:t> </a:t>
            </a:r>
            <a:r>
              <a:rPr lang="en-US" altLang="es-PE" sz="2200" dirty="0" err="1"/>
              <a:t>depende</a:t>
            </a:r>
            <a:r>
              <a:rPr lang="en-US" altLang="es-PE" sz="2200" dirty="0"/>
              <a:t> de:</a:t>
            </a:r>
          </a:p>
          <a:p>
            <a:pPr marL="801688" lvl="1" indent="-354013" fontAlgn="base">
              <a:lnSpc>
                <a:spcPct val="15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ü"/>
              <a:defRPr/>
            </a:pPr>
            <a:r>
              <a:rPr lang="en-US" altLang="es-PE" sz="2200" dirty="0"/>
              <a:t>El </a:t>
            </a:r>
            <a:r>
              <a:rPr lang="en-US" altLang="es-PE" sz="2200" dirty="0" err="1"/>
              <a:t>nivel</a:t>
            </a:r>
            <a:r>
              <a:rPr lang="en-US" altLang="es-PE" sz="2200" dirty="0"/>
              <a:t> </a:t>
            </a:r>
            <a:r>
              <a:rPr lang="en-US" altLang="es-PE" sz="2200" dirty="0" err="1"/>
              <a:t>esperado</a:t>
            </a:r>
            <a:r>
              <a:rPr lang="en-US" altLang="es-PE" sz="2200" dirty="0"/>
              <a:t> de </a:t>
            </a:r>
            <a:r>
              <a:rPr lang="en-US" altLang="es-PE" sz="2200" dirty="0" err="1"/>
              <a:t>precios</a:t>
            </a:r>
            <a:r>
              <a:rPr lang="en-US" altLang="es-PE" sz="2200" dirty="0"/>
              <a:t>, </a:t>
            </a:r>
            <a:r>
              <a:rPr lang="en-US" altLang="es-PE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s-PE" sz="22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es-PE" sz="2200" dirty="0"/>
              <a:t>, </a:t>
            </a:r>
          </a:p>
          <a:p>
            <a:pPr marL="801688" lvl="1" indent="-354013" fontAlgn="base">
              <a:lnSpc>
                <a:spcPct val="15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ü"/>
              <a:defRPr/>
            </a:pPr>
            <a:r>
              <a:rPr lang="en-US" altLang="es-PE" sz="2200" dirty="0"/>
              <a:t>El </a:t>
            </a:r>
            <a:r>
              <a:rPr lang="en-US" altLang="es-PE" sz="2200" dirty="0" err="1"/>
              <a:t>nivel</a:t>
            </a:r>
            <a:r>
              <a:rPr lang="en-US" altLang="es-PE" sz="2200" dirty="0"/>
              <a:t> de </a:t>
            </a:r>
            <a:r>
              <a:rPr lang="en-US" altLang="es-PE" sz="2200" dirty="0" err="1"/>
              <a:t>producción</a:t>
            </a:r>
            <a:r>
              <a:rPr lang="en-US" altLang="es-PE" sz="2200" dirty="0"/>
              <a:t> </a:t>
            </a:r>
            <a:r>
              <a:rPr lang="en-US" altLang="es-PE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s-PE" sz="2200" dirty="0"/>
              <a:t> (y de </a:t>
            </a:r>
            <a:r>
              <a:rPr lang="en-US" altLang="es-PE" sz="22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es-PE" sz="2200" dirty="0">
                <a:sym typeface="Symbol" panose="05050102010706020507" pitchFamily="18" charset="2"/>
              </a:rPr>
              <a:t>, </a:t>
            </a:r>
            <a:r>
              <a:rPr lang="en-US" altLang="es-PE" sz="22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es-PE" sz="2200" dirty="0">
                <a:sym typeface="Symbol" panose="05050102010706020507" pitchFamily="18" charset="2"/>
              </a:rPr>
              <a:t>, y </a:t>
            </a:r>
            <a:r>
              <a:rPr lang="en-US" altLang="es-PE" sz="22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es-PE" sz="2200" dirty="0">
                <a:sym typeface="Symbol" panose="05050102010706020507" pitchFamily="18" charset="2"/>
              </a:rPr>
              <a:t>, -</a:t>
            </a:r>
            <a:r>
              <a:rPr lang="en-US" altLang="es-PE" sz="2200" dirty="0" err="1">
                <a:sym typeface="Symbol" panose="05050102010706020507" pitchFamily="18" charset="2"/>
              </a:rPr>
              <a:t>asumidos</a:t>
            </a:r>
            <a:r>
              <a:rPr lang="en-US" altLang="es-PE" sz="2200" dirty="0">
                <a:sym typeface="Symbol" panose="05050102010706020507" pitchFamily="18" charset="2"/>
              </a:rPr>
              <a:t> </a:t>
            </a:r>
            <a:r>
              <a:rPr lang="en-US" altLang="es-PE" sz="2200" dirty="0" err="1">
                <a:sym typeface="Symbol" panose="05050102010706020507" pitchFamily="18" charset="2"/>
              </a:rPr>
              <a:t>como</a:t>
            </a:r>
            <a:r>
              <a:rPr lang="en-US" altLang="es-PE" sz="2200" dirty="0">
                <a:sym typeface="Symbol" panose="05050102010706020507" pitchFamily="18" charset="2"/>
              </a:rPr>
              <a:t> </a:t>
            </a:r>
            <a:r>
              <a:rPr lang="en-US" altLang="es-PE" sz="2200" dirty="0" err="1">
                <a:sym typeface="Symbol" panose="05050102010706020507" pitchFamily="18" charset="2"/>
              </a:rPr>
              <a:t>constantes</a:t>
            </a:r>
            <a:r>
              <a:rPr lang="en-US" altLang="es-PE" sz="2200" dirty="0">
                <a:sym typeface="Symbol" panose="05050102010706020507" pitchFamily="18" charset="2"/>
              </a:rPr>
              <a:t>).</a:t>
            </a:r>
            <a:endParaRPr lang="en-US" altLang="es-PE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/>
              <p:cNvSpPr txBox="1"/>
              <p:nvPr/>
            </p:nvSpPr>
            <p:spPr>
              <a:xfrm>
                <a:off x="914400" y="1905000"/>
                <a:ext cx="4374146" cy="803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PE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p>
                      <m:d>
                        <m:dPr>
                          <m:ctrlPr>
                            <a:rPr lang="es-PE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PE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num>
                        <m:den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PE" sz="2800" dirty="0"/>
              </a:p>
            </p:txBody>
          </p:sp>
        </mc:Choice>
        <mc:Fallback xmlns="">
          <p:sp>
            <p:nvSpPr>
              <p:cNvPr id="7" name="Cuadro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905000"/>
                <a:ext cx="4374146" cy="8038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39" grpId="0" build="p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/>
          </p:cNvSpPr>
          <p:nvPr>
            <p:ph type="title"/>
          </p:nvPr>
        </p:nvSpPr>
        <p:spPr>
          <a:xfrm>
            <a:off x="304657" y="49291"/>
            <a:ext cx="8686943" cy="918895"/>
          </a:xfrm>
        </p:spPr>
        <p:txBody>
          <a:bodyPr vert="horz" wrap="square" lIns="91440" tIns="548640" rIns="91440" bIns="457200" anchor="ctr">
            <a:noAutofit/>
          </a:bodyPr>
          <a:lstStyle/>
          <a:p>
            <a:r>
              <a:rPr lang="es-PE" alt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Inflación, Inflación Esperada y Desempleo </a:t>
            </a:r>
            <a:endParaRPr lang="en-US" altLang="es-PE" sz="2000" dirty="0">
              <a:solidFill>
                <a:srgbClr val="C8AD76"/>
              </a:solidFill>
            </a:endParaRPr>
          </a:p>
        </p:txBody>
      </p:sp>
      <p:sp>
        <p:nvSpPr>
          <p:cNvPr id="194563" name="Rectangle 3"/>
          <p:cNvSpPr>
            <a:spLocks noGrp="1"/>
          </p:cNvSpPr>
          <p:nvPr>
            <p:ph idx="1"/>
          </p:nvPr>
        </p:nvSpPr>
        <p:spPr>
          <a:xfrm>
            <a:off x="685800" y="1999279"/>
            <a:ext cx="7391400" cy="4196899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La </a:t>
            </a:r>
            <a:r>
              <a:rPr lang="en-US" altLang="es-PE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relación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PE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presenta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 dos </a:t>
            </a:r>
            <a:r>
              <a:rPr lang="en-US" altLang="es-PE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propiedades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PE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importantes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</a:p>
          <a:p>
            <a:pPr marL="858520" lvl="3" indent="0">
              <a:lnSpc>
                <a:spcPct val="150000"/>
              </a:lnSpc>
              <a:buClr>
                <a:srgbClr val="FF0066"/>
              </a:buClr>
              <a:buNone/>
            </a:pPr>
            <a:r>
              <a:rPr lang="en-US" altLang="es-PE" sz="2000" dirty="0" err="1"/>
              <a:t>i</a:t>
            </a:r>
            <a:r>
              <a:rPr lang="en-US" altLang="es-PE" sz="2000" dirty="0"/>
              <a:t>) Un </a:t>
            </a:r>
            <a:r>
              <a:rPr lang="en-US" altLang="es-PE" sz="2000" dirty="0" err="1"/>
              <a:t>aumento</a:t>
            </a:r>
            <a:r>
              <a:rPr lang="en-US" altLang="es-PE" sz="2000" dirty="0"/>
              <a:t> </a:t>
            </a:r>
            <a:r>
              <a:rPr lang="en-US" altLang="es-PE" sz="2000" dirty="0" err="1"/>
              <a:t>en</a:t>
            </a:r>
            <a:r>
              <a:rPr lang="en-US" altLang="es-PE" sz="2000" dirty="0"/>
              <a:t> la </a:t>
            </a:r>
            <a:r>
              <a:rPr lang="en-US" altLang="es-PE" sz="2000" b="1" u="sng" dirty="0" err="1"/>
              <a:t>producción</a:t>
            </a:r>
            <a:r>
              <a:rPr lang="en-US" altLang="es-PE" sz="2000" dirty="0"/>
              <a:t> </a:t>
            </a:r>
            <a:r>
              <a:rPr lang="en-US" altLang="es-PE" sz="2000" dirty="0" err="1"/>
              <a:t>lleva</a:t>
            </a:r>
            <a:r>
              <a:rPr lang="en-US" altLang="es-PE" sz="2000" dirty="0"/>
              <a:t> a un </a:t>
            </a:r>
            <a:r>
              <a:rPr lang="en-US" altLang="es-PE" sz="2000" dirty="0" err="1"/>
              <a:t>aumento</a:t>
            </a:r>
            <a:r>
              <a:rPr lang="en-US" altLang="es-PE" sz="2000" dirty="0"/>
              <a:t> </a:t>
            </a:r>
            <a:r>
              <a:rPr lang="en-US" altLang="es-PE" sz="2000" dirty="0" err="1"/>
              <a:t>en</a:t>
            </a:r>
            <a:r>
              <a:rPr lang="en-US" altLang="es-PE" sz="2000" dirty="0"/>
              <a:t> el </a:t>
            </a:r>
            <a:r>
              <a:rPr lang="en-US" altLang="es-PE" sz="2000" dirty="0" err="1"/>
              <a:t>nivel</a:t>
            </a:r>
            <a:r>
              <a:rPr lang="en-US" altLang="es-PE" sz="2000" dirty="0"/>
              <a:t> de </a:t>
            </a:r>
            <a:r>
              <a:rPr lang="en-US" altLang="es-PE" sz="2000" dirty="0" err="1"/>
              <a:t>precios</a:t>
            </a:r>
            <a:r>
              <a:rPr lang="en-US" altLang="es-PE" sz="2000" dirty="0"/>
              <a:t>. </a:t>
            </a:r>
          </a:p>
          <a:p>
            <a:pPr marL="627380" lvl="2" indent="0" eaLnBrk="1" hangingPunct="1">
              <a:lnSpc>
                <a:spcPct val="150000"/>
              </a:lnSpc>
              <a:buNone/>
            </a:pPr>
            <a:r>
              <a:rPr lang="en-US" altLang="es-PE" dirty="0"/>
              <a:t> </a:t>
            </a:r>
          </a:p>
          <a:p>
            <a:pPr marL="627380" lvl="2" indent="0" eaLnBrk="1" hangingPunct="1">
              <a:lnSpc>
                <a:spcPct val="150000"/>
              </a:lnSpc>
              <a:buNone/>
            </a:pPr>
            <a:r>
              <a:rPr lang="en-US" altLang="es-PE" dirty="0"/>
              <a:t> </a:t>
            </a:r>
          </a:p>
          <a:p>
            <a:pPr marL="627380" lvl="2" indent="0" eaLnBrk="1" hangingPunct="1">
              <a:lnSpc>
                <a:spcPct val="150000"/>
              </a:lnSpc>
              <a:buNone/>
            </a:pPr>
            <a:r>
              <a:rPr lang="en-US" altLang="es-PE" dirty="0"/>
              <a:t>  </a:t>
            </a:r>
          </a:p>
        </p:txBody>
      </p:sp>
      <p:sp>
        <p:nvSpPr>
          <p:cNvPr id="8195" name="Marcador de número de diapositiva 4"/>
          <p:cNvSpPr txBox="1">
            <a:spLocks noGrp="1"/>
          </p:cNvSpPr>
          <p:nvPr>
            <p:ph type="sldNum" sz="quarter" idx="4294967295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 defTabSz="914400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2F19230C-B106-407F-9C63-55C8040EE192}" type="slidenum">
              <a:rPr lang="en-US" altLang="es-PE" sz="1400" smtClean="0">
                <a:solidFill>
                  <a:schemeClr val="bg1"/>
                </a:solidFill>
                <a:latin typeface="Arial" panose="020B0604020202020204" pitchFamily="34" charset="0"/>
              </a:rPr>
              <a:pPr lvl="0" algn="r" defTabSz="914400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r>
              <a:rPr lang="en-US" altLang="es-PE" sz="1400">
                <a:solidFill>
                  <a:schemeClr val="bg1"/>
                </a:solidFill>
                <a:latin typeface="Arial" panose="020B0604020202020204" pitchFamily="34" charset="0"/>
              </a:rPr>
              <a:t> of 49</a:t>
            </a:r>
            <a:endParaRPr lang="en-US" altLang="es-PE" sz="1400" dirty="0">
              <a:solidFill>
                <a:schemeClr val="bg1"/>
              </a:solidFill>
            </a:endParaRPr>
          </a:p>
        </p:txBody>
      </p:sp>
      <p:graphicFrame>
        <p:nvGraphicFramePr>
          <p:cNvPr id="194565" name="Object 5"/>
          <p:cNvGraphicFramePr>
            <a:graphicFrameLocks noChangeAspect="1"/>
          </p:cNvGraphicFramePr>
          <p:nvPr/>
        </p:nvGraphicFramePr>
        <p:xfrm>
          <a:off x="2514600" y="3810000"/>
          <a:ext cx="106680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11200" imgH="203200" progId="Equation.COEE2">
                  <p:embed/>
                </p:oleObj>
              </mc:Choice>
              <mc:Fallback>
                <p:oleObj r:id="rId2" imgW="711200" imgH="203200" progId="Equation.COEE2">
                  <p:embed/>
                  <p:pic>
                    <p:nvPicPr>
                      <p:cNvPr id="194565" name="Object 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14600" y="3810000"/>
                        <a:ext cx="1066800" cy="315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66" name="Object 6"/>
          <p:cNvGraphicFramePr>
            <a:graphicFrameLocks noChangeAspect="1"/>
          </p:cNvGraphicFramePr>
          <p:nvPr/>
        </p:nvGraphicFramePr>
        <p:xfrm>
          <a:off x="2514600" y="4267200"/>
          <a:ext cx="106680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85800" imgH="203200" progId="Equation.COEE2">
                  <p:embed/>
                </p:oleObj>
              </mc:Choice>
              <mc:Fallback>
                <p:oleObj r:id="rId4" imgW="685800" imgH="203200" progId="Equation.COEE2">
                  <p:embed/>
                  <p:pic>
                    <p:nvPicPr>
                      <p:cNvPr id="194566" name="Object 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14600" y="4267200"/>
                        <a:ext cx="1066800" cy="315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67" name="Object 7"/>
          <p:cNvGraphicFramePr>
            <a:graphicFrameLocks noChangeAspect="1"/>
          </p:cNvGraphicFramePr>
          <p:nvPr/>
        </p:nvGraphicFramePr>
        <p:xfrm>
          <a:off x="2590800" y="4648200"/>
          <a:ext cx="106680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85800" imgH="203200" progId="Equation.COEE2">
                  <p:embed/>
                </p:oleObj>
              </mc:Choice>
              <mc:Fallback>
                <p:oleObj r:id="rId6" imgW="685800" imgH="203200" progId="Equation.COEE2">
                  <p:embed/>
                  <p:pic>
                    <p:nvPicPr>
                      <p:cNvPr id="194567" name="Object 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590800" y="4648200"/>
                        <a:ext cx="1066800" cy="315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68" name="Object 8"/>
          <p:cNvGraphicFramePr>
            <a:graphicFrameLocks noChangeAspect="1"/>
          </p:cNvGraphicFramePr>
          <p:nvPr/>
        </p:nvGraphicFramePr>
        <p:xfrm>
          <a:off x="2514600" y="5105400"/>
          <a:ext cx="1125538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723900" imgH="203200" progId="Equation.COEE2">
                  <p:embed/>
                </p:oleObj>
              </mc:Choice>
              <mc:Fallback>
                <p:oleObj r:id="rId8" imgW="723900" imgH="203200" progId="Equation.COEE2">
                  <p:embed/>
                  <p:pic>
                    <p:nvPicPr>
                      <p:cNvPr id="194568" name="Object 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514600" y="5105400"/>
                        <a:ext cx="1125538" cy="315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/>
              <p:cNvSpPr txBox="1"/>
              <p:nvPr/>
            </p:nvSpPr>
            <p:spPr>
              <a:xfrm>
                <a:off x="2286000" y="1096576"/>
                <a:ext cx="4374146" cy="803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PE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p>
                      <m:d>
                        <m:dPr>
                          <m:ctrlPr>
                            <a:rPr lang="es-PE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PE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num>
                        <m:den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PE" sz="2800" dirty="0"/>
              </a:p>
            </p:txBody>
          </p:sp>
        </mc:Choice>
        <mc:Fallback xmlns="">
          <p:sp>
            <p:nvSpPr>
              <p:cNvPr id="11" name="CuadroTexto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096576"/>
                <a:ext cx="4374146" cy="80381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94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94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94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3" grpId="0" uiExpand="1" build="p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1" name="Rectangle 2"/>
          <p:cNvSpPr>
            <a:spLocks noGrp="1"/>
          </p:cNvSpPr>
          <p:nvPr>
            <p:ph type="title"/>
          </p:nvPr>
        </p:nvSpPr>
        <p:spPr>
          <a:xfrm>
            <a:off x="388633" y="60367"/>
            <a:ext cx="8602967" cy="930234"/>
          </a:xfrm>
        </p:spPr>
        <p:txBody>
          <a:bodyPr vert="horz" wrap="square" lIns="91440" tIns="548640" rIns="91440" bIns="457200" anchor="ctr">
            <a:noAutofit/>
          </a:bodyPr>
          <a:lstStyle/>
          <a:p>
            <a:r>
              <a:rPr lang="es-PE" alt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Inflación, Inflación Esperada y Desempleo </a:t>
            </a:r>
            <a:endParaRPr lang="en-US" altLang="es-PE" sz="2000" dirty="0">
              <a:solidFill>
                <a:srgbClr val="C8AD76"/>
              </a:solidFill>
            </a:endParaRPr>
          </a:p>
        </p:txBody>
      </p:sp>
      <p:sp>
        <p:nvSpPr>
          <p:cNvPr id="9219" name="Marcador de número de diapositiva 4"/>
          <p:cNvSpPr txBox="1">
            <a:spLocks noGrp="1"/>
          </p:cNvSpPr>
          <p:nvPr>
            <p:ph type="sldNum" sz="quarter" idx="4294967295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 defTabSz="914400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2F19230C-B106-407F-9C63-55C8040EE192}" type="slidenum">
              <a:rPr lang="en-US" altLang="es-PE" sz="1400" smtClean="0">
                <a:solidFill>
                  <a:schemeClr val="bg1"/>
                </a:solidFill>
                <a:latin typeface="Arial" panose="020B0604020202020204" pitchFamily="34" charset="0"/>
              </a:rPr>
              <a:pPr lvl="0" algn="r" defTabSz="914400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r>
              <a:rPr lang="en-US" altLang="es-PE" sz="1400">
                <a:solidFill>
                  <a:schemeClr val="bg1"/>
                </a:solidFill>
                <a:latin typeface="Arial" panose="020B0604020202020204" pitchFamily="34" charset="0"/>
              </a:rPr>
              <a:t> of 49</a:t>
            </a:r>
            <a:endParaRPr lang="en-US" altLang="es-PE" sz="1400" dirty="0">
              <a:solidFill>
                <a:schemeClr val="bg1"/>
              </a:solidFill>
            </a:endParaRPr>
          </a:p>
        </p:txBody>
      </p:sp>
      <p:sp>
        <p:nvSpPr>
          <p:cNvPr id="195591" name="Rectangle 7"/>
          <p:cNvSpPr>
            <a:spLocks noChangeArrowheads="1"/>
          </p:cNvSpPr>
          <p:nvPr/>
        </p:nvSpPr>
        <p:spPr bwMode="auto">
          <a:xfrm>
            <a:off x="609600" y="2372904"/>
            <a:ext cx="8382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63550" indent="-34925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643380" indent="-56197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2214880" indent="-4572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786380" indent="-4572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324358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70078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415798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61518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indent="-770255" algn="just">
              <a:lnSpc>
                <a:spcPct val="150000"/>
              </a:lnSpc>
              <a:spcBef>
                <a:spcPts val="1000"/>
              </a:spcBef>
              <a:buClr>
                <a:schemeClr val="accent1"/>
              </a:buClr>
              <a:buSzPct val="80000"/>
              <a:tabLst>
                <a:tab pos="806450" algn="l"/>
              </a:tabLst>
              <a:defRPr/>
            </a:pPr>
            <a:r>
              <a:rPr lang="en-US" altLang="es-PE" dirty="0"/>
              <a:t>ii) Un </a:t>
            </a:r>
            <a:r>
              <a:rPr lang="en-US" altLang="es-PE" dirty="0" err="1"/>
              <a:t>aumento</a:t>
            </a:r>
            <a:r>
              <a:rPr lang="en-US" altLang="es-PE" dirty="0"/>
              <a:t> </a:t>
            </a:r>
            <a:r>
              <a:rPr lang="en-US" altLang="es-PE" dirty="0" err="1"/>
              <a:t>en</a:t>
            </a:r>
            <a:r>
              <a:rPr lang="en-US" altLang="es-PE" dirty="0"/>
              <a:t> el </a:t>
            </a:r>
            <a:r>
              <a:rPr lang="en-US" altLang="es-PE" dirty="0" err="1"/>
              <a:t>nivel</a:t>
            </a:r>
            <a:r>
              <a:rPr lang="en-US" altLang="es-PE" dirty="0"/>
              <a:t> </a:t>
            </a:r>
            <a:r>
              <a:rPr lang="en-US" altLang="es-PE" b="1" u="sng" dirty="0" err="1"/>
              <a:t>precio</a:t>
            </a:r>
            <a:r>
              <a:rPr lang="en-US" altLang="es-PE" b="1" u="sng" dirty="0"/>
              <a:t> </a:t>
            </a:r>
            <a:r>
              <a:rPr lang="en-US" altLang="es-PE" b="1" u="sng" dirty="0" err="1"/>
              <a:t>esperado</a:t>
            </a:r>
            <a:r>
              <a:rPr lang="en-US" altLang="es-PE" b="1" dirty="0"/>
              <a:t> </a:t>
            </a:r>
            <a:r>
              <a:rPr lang="en-US" altLang="es-PE" dirty="0"/>
              <a:t>conduce, uno a uno, a un </a:t>
            </a:r>
            <a:r>
              <a:rPr lang="en-US" altLang="es-PE" dirty="0" err="1"/>
              <a:t>aumento</a:t>
            </a:r>
            <a:r>
              <a:rPr lang="en-US" altLang="es-PE" dirty="0"/>
              <a:t> </a:t>
            </a:r>
            <a:r>
              <a:rPr lang="en-US" altLang="es-PE" dirty="0" err="1"/>
              <a:t>en</a:t>
            </a:r>
            <a:r>
              <a:rPr lang="en-US" altLang="es-PE" dirty="0"/>
              <a:t> el </a:t>
            </a:r>
            <a:r>
              <a:rPr lang="en-US" altLang="es-PE" dirty="0" err="1"/>
              <a:t>nivel</a:t>
            </a:r>
            <a:r>
              <a:rPr lang="en-US" altLang="es-PE" dirty="0"/>
              <a:t> actual de </a:t>
            </a:r>
            <a:r>
              <a:rPr lang="en-US" altLang="es-PE" dirty="0" err="1"/>
              <a:t>precios</a:t>
            </a:r>
            <a:r>
              <a:rPr lang="en-US" altLang="es-PE" dirty="0"/>
              <a:t>.</a:t>
            </a:r>
            <a:endParaRPr kumimoji="0" lang="en-US" altLang="es-PE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aphicFrame>
        <p:nvGraphicFramePr>
          <p:cNvPr id="1955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0815183"/>
              </p:ext>
            </p:extLst>
          </p:nvPr>
        </p:nvGraphicFramePr>
        <p:xfrm>
          <a:off x="2514600" y="3646897"/>
          <a:ext cx="1917388" cy="4942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86765" imgH="203200" progId="Equation.COEE2">
                  <p:embed/>
                </p:oleObj>
              </mc:Choice>
              <mc:Fallback>
                <p:oleObj r:id="rId2" imgW="786765" imgH="203200" progId="Equation.COEE2">
                  <p:embed/>
                  <p:pic>
                    <p:nvPicPr>
                      <p:cNvPr id="195589" name="Object 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14600" y="3646897"/>
                        <a:ext cx="1917388" cy="49424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5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4408345"/>
              </p:ext>
            </p:extLst>
          </p:nvPr>
        </p:nvGraphicFramePr>
        <p:xfrm>
          <a:off x="2592835" y="4375687"/>
          <a:ext cx="1760917" cy="4942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723900" imgH="203200" progId="Equation.COEE2">
                  <p:embed/>
                </p:oleObj>
              </mc:Choice>
              <mc:Fallback>
                <p:oleObj r:id="rId4" imgW="723900" imgH="203200" progId="Equation.COEE2">
                  <p:embed/>
                  <p:pic>
                    <p:nvPicPr>
                      <p:cNvPr id="195590" name="Object 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92835" y="4375687"/>
                        <a:ext cx="1760917" cy="49424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/>
              <p:cNvSpPr txBox="1"/>
              <p:nvPr/>
            </p:nvSpPr>
            <p:spPr>
              <a:xfrm>
                <a:off x="2362200" y="1334552"/>
                <a:ext cx="4374146" cy="803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PE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p>
                      <m:d>
                        <m:dPr>
                          <m:ctrlPr>
                            <a:rPr lang="es-PE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PE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num>
                        <m:den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PE" sz="2800" dirty="0"/>
              </a:p>
            </p:txBody>
          </p:sp>
        </mc:Choice>
        <mc:Fallback xmlns="">
          <p:sp>
            <p:nvSpPr>
              <p:cNvPr id="10" name="CuadroTexto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1334552"/>
                <a:ext cx="4374146" cy="80381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95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91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Marcador de número de diapositiva 3"/>
          <p:cNvSpPr txBox="1">
            <a:spLocks noGrp="1"/>
          </p:cNvSpPr>
          <p:nvPr>
            <p:ph type="sldNum" sz="quarter" idx="4294967295"/>
          </p:nvPr>
        </p:nvSpPr>
        <p:spPr>
          <a:xfrm>
            <a:off x="8001000" y="6581775"/>
            <a:ext cx="1143000" cy="304800"/>
          </a:xfrm>
          <a:prstGeom prst="rect">
            <a:avLst/>
          </a:prstGeom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Font typeface="Wingdings" panose="05000000000000000000" pitchFamily="2" charset="2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en-US" altLang="es-PE" sz="1400" dirty="0">
                <a:solidFill>
                  <a:srgbClr val="008080"/>
                </a:solidFill>
              </a:rPr>
              <a:t>11</a:t>
            </a:fld>
            <a:r>
              <a:rPr lang="en-US" altLang="es-PE" sz="1400" dirty="0">
                <a:solidFill>
                  <a:srgbClr val="008080"/>
                </a:solidFill>
              </a:rPr>
              <a:t> of 33</a:t>
            </a:r>
          </a:p>
        </p:txBody>
      </p:sp>
      <p:sp>
        <p:nvSpPr>
          <p:cNvPr id="3502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548640" rIns="91440" bIns="457200" anchor="ctr"/>
          <a:lstStyle/>
          <a:p>
            <a:pPr marL="741680" indent="-741680" eaLnBrk="1" hangingPunct="1"/>
            <a:r>
              <a:rPr lang="es-PE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Inflación, Inflación Esperada y Desempleo </a:t>
            </a:r>
            <a:endParaRPr lang="en-US" altLang="es-PE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50211" name="Rectangle 3"/>
          <p:cNvSpPr>
            <a:spLocks noGrp="1"/>
          </p:cNvSpPr>
          <p:nvPr>
            <p:ph idx="1" hasCustomPrompt="1"/>
          </p:nvPr>
        </p:nvSpPr>
        <p:spPr>
          <a:xfrm>
            <a:off x="824865" y="2066925"/>
            <a:ext cx="7881620" cy="1254125"/>
          </a:xfrm>
        </p:spPr>
        <p:txBody>
          <a:bodyPr vert="horz" wrap="square" lIns="91440" tIns="45720" rIns="91440" bIns="45720" anchor="t"/>
          <a:lstStyle/>
          <a:p>
            <a:pPr marL="0" indent="0" eaLnBrk="1" hangingPunct="1">
              <a:lnSpc>
                <a:spcPct val="150000"/>
              </a:lnSpc>
            </a:pPr>
            <a:r>
              <a:rPr lang="es-PE" altLang="en-US" sz="2000" b="0" dirty="0">
                <a:solidFill>
                  <a:schemeClr val="tx1"/>
                </a:solidFill>
              </a:rPr>
              <a:t>se puede reescribir para establecer la relación entre inflación, inflación esperada y tasa de desempleo.</a:t>
            </a:r>
            <a:endParaRPr lang="en-US" altLang="es-PE" sz="2000" b="0" dirty="0">
              <a:solidFill>
                <a:schemeClr val="tx1"/>
              </a:solidFill>
            </a:endParaRPr>
          </a:p>
        </p:txBody>
      </p:sp>
      <p:graphicFrame>
        <p:nvGraphicFramePr>
          <p:cNvPr id="350213" name="Object 5"/>
          <p:cNvGraphicFramePr>
            <a:graphicFrameLocks noChangeAspect="1"/>
          </p:cNvGraphicFramePr>
          <p:nvPr/>
        </p:nvGraphicFramePr>
        <p:xfrm>
          <a:off x="2882107" y="4061778"/>
          <a:ext cx="3188970" cy="514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257300" imgH="203200" progId="Equation.COEE2">
                  <p:embed/>
                </p:oleObj>
              </mc:Choice>
              <mc:Fallback>
                <p:oleObj r:id="rId3" imgW="1257300" imgH="203200" progId="Equation.COEE2">
                  <p:embed/>
                  <p:pic>
                    <p:nvPicPr>
                      <p:cNvPr id="0" name="Picture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82107" y="4061778"/>
                        <a:ext cx="3188970" cy="5149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0214" name="Rectangle 6"/>
          <p:cNvSpPr/>
          <p:nvPr/>
        </p:nvSpPr>
        <p:spPr>
          <a:xfrm>
            <a:off x="914400" y="3321050"/>
            <a:ext cx="7086600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defRPr sz="2400" b="1" kern="1200">
                <a:solidFill>
                  <a:srgbClr val="00808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C0066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 eaLnBrk="1" hangingPunct="1">
              <a:spcBef>
                <a:spcPct val="10000"/>
              </a:spcBef>
              <a:spcAft>
                <a:spcPct val="10000"/>
              </a:spcAft>
              <a:buClr>
                <a:srgbClr val="003300"/>
              </a:buClr>
              <a:buFont typeface="Arial" panose="020B0604020202020204" pitchFamily="34" charset="0"/>
              <a:buChar char="•"/>
            </a:pPr>
            <a:r>
              <a:rPr lang="es-PE" altLang="en-US" sz="2000" b="0" dirty="0">
                <a:solidFill>
                  <a:schemeClr val="tx1"/>
                </a:solidFill>
              </a:rPr>
              <a:t>Primero, </a:t>
            </a:r>
            <a:r>
              <a:rPr lang="es-PE" altLang="en-US" sz="2000" b="0" u="sng" dirty="0">
                <a:solidFill>
                  <a:schemeClr val="tx1"/>
                </a:solidFill>
              </a:rPr>
              <a:t>la función </a:t>
            </a:r>
            <a:r>
              <a:rPr lang="en-US" altLang="es-PE" i="1" u="sng" dirty="0">
                <a:solidFill>
                  <a:schemeClr val="tx1"/>
                </a:solidFill>
                <a:latin typeface="Times New Roman" panose="02020603050405020304" charset="0"/>
              </a:rPr>
              <a:t>F</a:t>
            </a:r>
            <a:r>
              <a:rPr lang="en-US" altLang="es-PE" sz="2000" b="0" dirty="0">
                <a:solidFill>
                  <a:schemeClr val="tx1"/>
                </a:solidFill>
              </a:rPr>
              <a:t>, </a:t>
            </a:r>
            <a:r>
              <a:rPr lang="es-PE" altLang="en-US" sz="2000" b="0" dirty="0">
                <a:solidFill>
                  <a:schemeClr val="tx1"/>
                </a:solidFill>
              </a:rPr>
              <a:t>asume la forma</a:t>
            </a:r>
            <a:r>
              <a:rPr lang="en-US" altLang="es-PE" sz="2000" b="0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350216" name="Rectangle 8"/>
          <p:cNvSpPr/>
          <p:nvPr/>
        </p:nvSpPr>
        <p:spPr>
          <a:xfrm>
            <a:off x="914400" y="4895214"/>
            <a:ext cx="7124700" cy="1276986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defRPr sz="2400" b="1" kern="1200">
                <a:solidFill>
                  <a:srgbClr val="00808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C0066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 eaLnBrk="1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>
                <a:srgbClr val="003300"/>
              </a:buClr>
              <a:buFont typeface="Arial" panose="020B0604020202020204" pitchFamily="34" charset="0"/>
              <a:buChar char="•"/>
            </a:pPr>
            <a:r>
              <a:rPr lang="es-PE" altLang="en-US" sz="2000" b="0" dirty="0">
                <a:solidFill>
                  <a:schemeClr val="tx1"/>
                </a:solidFill>
              </a:rPr>
              <a:t>Luego reemplazando se tiene: </a:t>
            </a:r>
          </a:p>
          <a:p>
            <a:pPr marL="0" indent="0" algn="ctr" eaLnBrk="1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>
                <a:srgbClr val="003300"/>
              </a:buClr>
            </a:pPr>
            <a:r>
              <a:rPr lang="es-PE" alt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= P</a:t>
            </a:r>
            <a:r>
              <a:rPr lang="es-PE" altLang="en-US" i="1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s-PE" alt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(1+m)(1-</a:t>
            </a:r>
            <a:r>
              <a:rPr lang="el-GR" alt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s-PE" alt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 +z)</a:t>
            </a:r>
            <a:r>
              <a:rPr lang="es-PE" altLang="en-US" dirty="0">
                <a:solidFill>
                  <a:schemeClr val="tx1"/>
                </a:solidFill>
              </a:rPr>
              <a:t> </a:t>
            </a:r>
            <a:endParaRPr lang="en-US" altLang="es-PE" dirty="0">
              <a:solidFill>
                <a:schemeClr val="tx1"/>
              </a:solidFill>
            </a:endParaRPr>
          </a:p>
        </p:txBody>
      </p:sp>
      <p:sp>
        <p:nvSpPr>
          <p:cNvPr id="2" name="Rectangle 3"/>
          <p:cNvSpPr>
            <a:spLocks noGrp="1"/>
          </p:cNvSpPr>
          <p:nvPr/>
        </p:nvSpPr>
        <p:spPr>
          <a:xfrm>
            <a:off x="824865" y="762000"/>
            <a:ext cx="8181975" cy="57531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defRPr sz="2400" b="1" kern="1200">
                <a:solidFill>
                  <a:srgbClr val="00808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C0066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lnSpc>
                <a:spcPct val="150000"/>
              </a:lnSpc>
            </a:pPr>
            <a:r>
              <a:rPr lang="es-PE" altLang="en-US" sz="2000" b="0" dirty="0">
                <a:solidFill>
                  <a:schemeClr val="tx1"/>
                </a:solidFill>
              </a:rPr>
              <a:t>La ecuación,</a:t>
            </a:r>
          </a:p>
          <a:p>
            <a:pPr marL="0" indent="0" algn="ctr" eaLnBrk="1" hangingPunct="1">
              <a:lnSpc>
                <a:spcPct val="150000"/>
              </a:lnSpc>
            </a:pPr>
            <a:r>
              <a:rPr lang="es-PE" alt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= P</a:t>
            </a:r>
            <a:r>
              <a:rPr lang="es-PE" altLang="en-US" i="1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s-PE" alt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(1+m)F(</a:t>
            </a:r>
            <a:r>
              <a:rPr lang="es-PE" altLang="en-US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u,z</a:t>
            </a:r>
            <a:r>
              <a:rPr lang="es-PE" alt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s-PE" altLang="en-US" dirty="0">
                <a:solidFill>
                  <a:schemeClr val="tx1"/>
                </a:solidFill>
              </a:rPr>
              <a:t> </a:t>
            </a:r>
            <a:endParaRPr lang="en-US" altLang="es-PE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0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0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502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502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50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211" grpId="0" build="p" bldLvl="2" advAuto="1000"/>
      <p:bldP spid="350214" grpId="0"/>
      <p:bldP spid="350216" grpId="0"/>
      <p:bldP spid="2" grpId="0" uiExpand="1" build="p" bldLvl="2" advAuto="100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9" name="Rectangle 3"/>
          <p:cNvSpPr>
            <a:spLocks noGrp="1"/>
          </p:cNvSpPr>
          <p:nvPr>
            <p:ph idx="1" hasCustomPrompt="1"/>
          </p:nvPr>
        </p:nvSpPr>
        <p:spPr>
          <a:xfrm>
            <a:off x="659765" y="896381"/>
            <a:ext cx="8129270" cy="2380219"/>
          </a:xfrm>
        </p:spPr>
        <p:txBody>
          <a:bodyPr vert="horz" wrap="square" lIns="91440" tIns="45720" rIns="91440" bIns="45720" anchor="t"/>
          <a:lstStyle/>
          <a:p>
            <a:pPr marL="0" indent="0" eaLnBrk="1" hangingPunct="1"/>
            <a:r>
              <a:rPr lang="es-PE" altLang="en-US" sz="2000" b="0" dirty="0">
                <a:solidFill>
                  <a:schemeClr val="tx1"/>
                </a:solidFill>
              </a:rPr>
              <a:t>De la ecuación en niveles</a:t>
            </a:r>
            <a:r>
              <a:rPr lang="en-US" altLang="es-PE" sz="2000" b="0" dirty="0">
                <a:solidFill>
                  <a:schemeClr val="tx1"/>
                </a:solidFill>
              </a:rPr>
              <a:t>:</a:t>
            </a:r>
          </a:p>
          <a:p>
            <a:pPr marL="0" indent="0"/>
            <a:r>
              <a:rPr lang="es-PE" altLang="en-US" sz="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</a:p>
          <a:p>
            <a:pPr marL="0" indent="0" algn="ctr"/>
            <a:r>
              <a:rPr lang="es-PE" alt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= P</a:t>
            </a:r>
            <a:r>
              <a:rPr lang="es-PE" altLang="en-US" i="1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s-PE" alt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(1+m)F(</a:t>
            </a:r>
            <a:r>
              <a:rPr lang="es-PE" altLang="en-US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u,z</a:t>
            </a:r>
            <a:r>
              <a:rPr lang="es-PE" alt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s-PE" altLang="en-US" dirty="0">
                <a:solidFill>
                  <a:schemeClr val="tx1"/>
                </a:solidFill>
              </a:rPr>
              <a:t> </a:t>
            </a:r>
          </a:p>
          <a:p>
            <a:pPr marL="0" indent="0" algn="ctr"/>
            <a:endParaRPr lang="en-US" altLang="es-PE" sz="1000" b="0" dirty="0">
              <a:solidFill>
                <a:schemeClr val="tx1"/>
              </a:solidFill>
            </a:endParaRPr>
          </a:p>
          <a:p>
            <a:pPr marL="0" indent="0" eaLnBrk="1" hangingPunct="1"/>
            <a:r>
              <a:rPr lang="es-PE" altLang="en-US" sz="2000" b="0" dirty="0">
                <a:solidFill>
                  <a:schemeClr val="tx1"/>
                </a:solidFill>
              </a:rPr>
              <a:t>se obtiene la relación en </a:t>
            </a:r>
            <a:r>
              <a:rPr lang="es-PE" altLang="en-US" sz="2000" u="sng" dirty="0">
                <a:solidFill>
                  <a:schemeClr val="tx1"/>
                </a:solidFill>
              </a:rPr>
              <a:t>variaciones</a:t>
            </a:r>
            <a:r>
              <a:rPr lang="es-PE" altLang="en-US" sz="2000" b="0" dirty="0">
                <a:solidFill>
                  <a:schemeClr val="tx1"/>
                </a:solidFill>
              </a:rPr>
              <a:t>:</a:t>
            </a:r>
          </a:p>
          <a:p>
            <a:pPr marL="0" indent="0" algn="ctr" eaLnBrk="1" hangingPunct="1"/>
            <a:endParaRPr lang="es-PE" altLang="en-US" sz="20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eaLnBrk="1" hangingPunct="1"/>
            <a:r>
              <a:rPr lang="es-PE" alt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 = π </a:t>
            </a:r>
            <a:r>
              <a:rPr lang="es-PE" altLang="en-US" i="1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s-PE" alt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(m + z) - </a:t>
            </a:r>
            <a:r>
              <a:rPr lang="el-GR" alt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s-PE" alt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9221" name="Rectangle 7"/>
          <p:cNvSpPr>
            <a:spLocks noGrp="1"/>
          </p:cNvSpPr>
          <p:nvPr>
            <p:ph type="title"/>
          </p:nvPr>
        </p:nvSpPr>
        <p:spPr/>
        <p:txBody>
          <a:bodyPr vert="horz" wrap="square" lIns="91440" tIns="548640" rIns="91440" bIns="457200" anchor="ctr"/>
          <a:lstStyle/>
          <a:p>
            <a:pPr marL="741680" indent="-741680" eaLnBrk="1" hangingPunct="1"/>
            <a:r>
              <a:rPr lang="es-PE" alt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Inflación, Inflación Esperada y Desempleo </a:t>
            </a:r>
            <a:endParaRPr lang="en-US" altLang="es-PE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25654F3-D6B8-4B95-9250-1E9EB2C2A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3276600"/>
            <a:ext cx="4846767" cy="342900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2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52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52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52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52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2259" grpId="0" build="p" bldLvl="2" advAuto="100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alt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Inflación, Inflación Esperada y Desempleo </a:t>
            </a:r>
            <a:endParaRPr lang="en-US" sz="2800" dirty="0">
              <a:ea typeface="ヒラギノ角ゴ Pro W3" pitchFamily="-65" charset="-128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57648" y="1429923"/>
            <a:ext cx="8428703" cy="4953000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1800" b="0" dirty="0">
                <a:solidFill>
                  <a:schemeClr val="tx1"/>
                </a:solidFill>
                <a:ea typeface="ヒラギノ角ゴ Pro W3" pitchFamily="-84" charset="-128"/>
              </a:rPr>
              <a:t>Dado:</a:t>
            </a:r>
          </a:p>
          <a:p>
            <a:pPr>
              <a:spcBef>
                <a:spcPts val="525"/>
              </a:spcBef>
            </a:pPr>
            <a:endParaRPr lang="en-US" sz="1800" b="0" dirty="0">
              <a:solidFill>
                <a:schemeClr val="tx1"/>
              </a:solidFill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r>
              <a:rPr lang="en-US" sz="1800" b="0" dirty="0" err="1">
                <a:solidFill>
                  <a:schemeClr val="tx1"/>
                </a:solidFill>
                <a:ea typeface="ヒラギノ角ゴ Pro W3" pitchFamily="-84" charset="-128"/>
              </a:rPr>
              <a:t>Dividiendo</a:t>
            </a:r>
            <a:r>
              <a:rPr lang="en-US" sz="1800" b="0" dirty="0">
                <a:solidFill>
                  <a:schemeClr val="tx1"/>
                </a:solidFill>
                <a:ea typeface="ヒラギノ角ゴ Pro W3" pitchFamily="-84" charset="-128"/>
              </a:rPr>
              <a:t> entre </a:t>
            </a:r>
            <a:r>
              <a:rPr lang="en-US" sz="1800" b="0" i="1" dirty="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P</a:t>
            </a:r>
            <a:r>
              <a:rPr lang="en-US" sz="1800" b="0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t-</a:t>
            </a:r>
            <a:r>
              <a:rPr lang="en-US" sz="18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1</a:t>
            </a:r>
            <a:r>
              <a:rPr lang="en-US" sz="1800" b="0" dirty="0">
                <a:solidFill>
                  <a:schemeClr val="tx1"/>
                </a:solidFill>
                <a:ea typeface="ヒラギノ角ゴ Pro W3" pitchFamily="-84" charset="-128"/>
              </a:rPr>
              <a:t>:</a:t>
            </a:r>
          </a:p>
          <a:p>
            <a:pPr>
              <a:spcBef>
                <a:spcPts val="525"/>
              </a:spcBef>
            </a:pPr>
            <a:endParaRPr lang="en-US" sz="1800" b="0" dirty="0">
              <a:solidFill>
                <a:schemeClr val="tx1"/>
              </a:solidFill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1800" b="0" dirty="0">
              <a:solidFill>
                <a:schemeClr val="tx1"/>
              </a:solidFill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r>
              <a:rPr lang="en-US" sz="1800" b="0" dirty="0">
                <a:solidFill>
                  <a:schemeClr val="tx1"/>
                </a:solidFill>
                <a:ea typeface="ヒラギノ角ゴ Pro W3" pitchFamily="-84" charset="-128"/>
              </a:rPr>
              <a:t>Si  </a:t>
            </a:r>
            <a:r>
              <a:rPr lang="en-US" sz="2000" b="0" i="1" dirty="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P</a:t>
            </a:r>
            <a:r>
              <a:rPr lang="en-US" sz="1800" b="0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t </a:t>
            </a:r>
            <a:r>
              <a:rPr lang="en-US" sz="1800" b="0" i="1" dirty="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/</a:t>
            </a:r>
            <a:r>
              <a:rPr lang="en-US" sz="2000" b="0" i="1" dirty="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P</a:t>
            </a:r>
            <a:r>
              <a:rPr lang="en-US" sz="1800" b="0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t-</a:t>
            </a:r>
            <a:r>
              <a:rPr lang="en-US" sz="18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1</a:t>
            </a:r>
            <a:r>
              <a:rPr lang="en-US" sz="1800" b="0" dirty="0">
                <a:solidFill>
                  <a:schemeClr val="tx1"/>
                </a:solidFill>
                <a:ea typeface="ヒラギノ角ゴ Pro W3" pitchFamily="-84" charset="-128"/>
              </a:rPr>
              <a:t> es 1+</a:t>
            </a:r>
            <a:r>
              <a:rPr lang="el-GR" sz="2000" b="0" i="1" dirty="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π</a:t>
            </a:r>
            <a:r>
              <a:rPr lang="en-US" sz="1800" b="0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t  </a:t>
            </a:r>
            <a:r>
              <a:rPr lang="en-US" sz="1800" b="0" dirty="0">
                <a:solidFill>
                  <a:schemeClr val="tx1"/>
                </a:solidFill>
                <a:ea typeface="ヒラギノ角ゴ Pro W3" pitchFamily="-84" charset="-128"/>
                <a:cs typeface="Times New Roman" panose="02020603050405020304" pitchFamily="18" charset="0"/>
              </a:rPr>
              <a:t>:</a:t>
            </a:r>
            <a:endParaRPr lang="en-US" sz="1800" b="0" dirty="0">
              <a:solidFill>
                <a:schemeClr val="tx1"/>
              </a:solidFill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1800" b="0" dirty="0">
              <a:solidFill>
                <a:schemeClr val="tx1"/>
              </a:solidFill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1800" b="0" dirty="0">
              <a:solidFill>
                <a:schemeClr val="tx1"/>
              </a:solidFill>
              <a:ea typeface="ヒラギノ角ゴ Pro W3" pitchFamily="-84" charset="-128"/>
            </a:endParaRPr>
          </a:p>
          <a:p>
            <a:pPr marL="339725" indent="-339725">
              <a:spcBef>
                <a:spcPts val="525"/>
              </a:spcBef>
            </a:pPr>
            <a:endParaRPr lang="en-US" sz="1800" b="0" i="1" dirty="0">
              <a:solidFill>
                <a:schemeClr val="tx1"/>
              </a:solidFill>
              <a:ea typeface="ヒラギノ角ゴ Pro W3" pitchFamily="-84" charset="-128"/>
            </a:endParaRPr>
          </a:p>
          <a:p>
            <a:pPr marL="0" indent="0">
              <a:spcBef>
                <a:spcPts val="525"/>
              </a:spcBef>
              <a:buNone/>
            </a:pPr>
            <a:endParaRPr lang="en-US" sz="1800" b="0" dirty="0">
              <a:solidFill>
                <a:schemeClr val="tx1"/>
              </a:solidFill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r>
              <a:rPr lang="en-US" sz="1800" b="0" dirty="0">
                <a:solidFill>
                  <a:schemeClr val="tx1"/>
                </a:solidFill>
                <a:ea typeface="ヒラギノ角ゴ Pro W3" pitchFamily="-84" charset="-128"/>
              </a:rPr>
              <a:t>Si </a:t>
            </a:r>
            <a:r>
              <a:rPr lang="en-US" sz="1800" b="0" dirty="0" err="1">
                <a:solidFill>
                  <a:schemeClr val="tx1"/>
                </a:solidFill>
                <a:ea typeface="ヒラギノ角ゴ Pro W3" pitchFamily="-84" charset="-128"/>
              </a:rPr>
              <a:t>los</a:t>
            </a:r>
            <a:r>
              <a:rPr lang="en-US" sz="1800" b="0" dirty="0">
                <a:solidFill>
                  <a:schemeClr val="tx1"/>
                </a:solidFill>
                <a:ea typeface="ヒラギノ角ゴ Pro W3" pitchFamily="-84" charset="-128"/>
              </a:rPr>
              <a:t> </a:t>
            </a:r>
            <a:r>
              <a:rPr lang="en-US" sz="1800" b="0" dirty="0" err="1">
                <a:solidFill>
                  <a:schemeClr val="tx1"/>
                </a:solidFill>
                <a:ea typeface="ヒラギノ角ゴ Pro W3" pitchFamily="-84" charset="-128"/>
              </a:rPr>
              <a:t>miembros</a:t>
            </a:r>
            <a:r>
              <a:rPr lang="en-US" sz="1800" b="0" dirty="0">
                <a:solidFill>
                  <a:schemeClr val="tx1"/>
                </a:solidFill>
                <a:ea typeface="ヒラギノ角ゴ Pro W3" pitchFamily="-84" charset="-128"/>
              </a:rPr>
              <a:t> de la </a:t>
            </a:r>
            <a:r>
              <a:rPr lang="en-US" sz="1800" b="0" dirty="0" err="1">
                <a:solidFill>
                  <a:schemeClr val="tx1"/>
                </a:solidFill>
                <a:ea typeface="ヒラギノ角ゴ Pro W3" pitchFamily="-84" charset="-128"/>
              </a:rPr>
              <a:t>izquierda</a:t>
            </a:r>
            <a:r>
              <a:rPr lang="en-US" sz="1800" b="0" dirty="0">
                <a:solidFill>
                  <a:schemeClr val="tx1"/>
                </a:solidFill>
                <a:ea typeface="ヒラギノ角ゴ Pro W3" pitchFamily="-84" charset="-128"/>
              </a:rPr>
              <a:t> no son </a:t>
            </a:r>
            <a:r>
              <a:rPr lang="en-US" sz="1800" b="0" dirty="0" err="1">
                <a:solidFill>
                  <a:schemeClr val="tx1"/>
                </a:solidFill>
                <a:ea typeface="ヒラギノ角ゴ Pro W3" pitchFamily="-84" charset="-128"/>
              </a:rPr>
              <a:t>grandes</a:t>
            </a:r>
            <a:r>
              <a:rPr lang="en-US" sz="1800" b="0" dirty="0">
                <a:solidFill>
                  <a:schemeClr val="tx1"/>
                </a:solidFill>
                <a:ea typeface="ヒラギノ角ゴ Pro W3" pitchFamily="-84" charset="-128"/>
              </a:rPr>
              <a:t>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912" y="1812131"/>
            <a:ext cx="3333750" cy="32146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r="25022" b="-10363"/>
          <a:stretch/>
        </p:blipFill>
        <p:spPr>
          <a:xfrm>
            <a:off x="2944439" y="2438399"/>
            <a:ext cx="4142161" cy="72270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9073" y="3696891"/>
            <a:ext cx="4822031" cy="3095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6445" y="4116595"/>
            <a:ext cx="3762375" cy="67865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4905392"/>
            <a:ext cx="1940719" cy="2857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6741" y="5413739"/>
            <a:ext cx="2821781" cy="29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939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7" name="Rectangle 3"/>
          <p:cNvSpPr>
            <a:spLocks noGrp="1"/>
          </p:cNvSpPr>
          <p:nvPr>
            <p:ph idx="1" hasCustomPrompt="1"/>
          </p:nvPr>
        </p:nvSpPr>
        <p:spPr>
          <a:xfrm>
            <a:off x="685800" y="1378920"/>
            <a:ext cx="8268018" cy="525048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50000"/>
              </a:lnSpc>
              <a:buClr>
                <a:srgbClr val="C40075"/>
              </a:buClr>
              <a:buFont typeface="Arial" panose="020B0604020202020204" pitchFamily="34" charset="0"/>
              <a:buChar char="•"/>
            </a:pPr>
            <a:r>
              <a:rPr lang="es-PE" altLang="en-US" sz="2200" b="0" dirty="0">
                <a:solidFill>
                  <a:schemeClr val="tx1"/>
                </a:solidFill>
              </a:rPr>
              <a:t>Un </a:t>
            </a:r>
            <a:r>
              <a:rPr lang="es-PE" altLang="en-US" sz="2200" b="0" u="sng" dirty="0">
                <a:solidFill>
                  <a:schemeClr val="tx1"/>
                </a:solidFill>
              </a:rPr>
              <a:t>aumento en la inflación esperada</a:t>
            </a:r>
            <a:r>
              <a:rPr lang="es-PE" altLang="en-US" sz="2200" b="0" dirty="0">
                <a:solidFill>
                  <a:schemeClr val="tx1"/>
                </a:solidFill>
              </a:rPr>
              <a:t>, </a:t>
            </a:r>
            <a:r>
              <a:rPr lang="en-US" altLang="es-PE" sz="2200" i="1" dirty="0">
                <a:solidFill>
                  <a:schemeClr val="tx1"/>
                </a:solidFill>
                <a:sym typeface="Symbol" panose="05050102010706020507" pitchFamily="18" charset="2"/>
              </a:rPr>
              <a:t></a:t>
            </a:r>
            <a:r>
              <a:rPr lang="en-US" altLang="es-PE" sz="2200" i="1" baseline="30000" dirty="0">
                <a:solidFill>
                  <a:schemeClr val="tx1"/>
                </a:solidFill>
                <a:sym typeface="Symbol" panose="05050102010706020507" pitchFamily="18" charset="2"/>
              </a:rPr>
              <a:t>e</a:t>
            </a:r>
            <a:r>
              <a:rPr lang="es-PE" altLang="en-US" sz="2200" b="0" dirty="0">
                <a:solidFill>
                  <a:schemeClr val="tx1"/>
                </a:solidFill>
                <a:sym typeface="Symbol" panose="05050102010706020507" pitchFamily="18" charset="2"/>
              </a:rPr>
              <a:t>  </a:t>
            </a:r>
            <a:r>
              <a:rPr lang="es-PE" altLang="en-US" sz="2200" b="0" dirty="0">
                <a:solidFill>
                  <a:schemeClr val="tx1"/>
                </a:solidFill>
              </a:rPr>
              <a:t>lleva a un aumento de la inflación, 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</a:t>
            </a:r>
            <a:r>
              <a:rPr lang="es-PE" altLang="en-US" sz="2200" b="0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.</a:t>
            </a:r>
          </a:p>
          <a:p>
            <a:pPr eaLnBrk="1" hangingPunct="1">
              <a:lnSpc>
                <a:spcPct val="150000"/>
              </a:lnSpc>
              <a:buClr>
                <a:srgbClr val="C40075"/>
              </a:buClr>
              <a:buFont typeface="Arial" panose="020B0604020202020204" pitchFamily="34" charset="0"/>
              <a:buChar char="•"/>
            </a:pPr>
            <a:r>
              <a:rPr lang="es-PE" altLang="en-US" sz="2200" b="0" dirty="0">
                <a:solidFill>
                  <a:schemeClr val="tx1"/>
                </a:solidFill>
                <a:sym typeface="Symbol" panose="05050102010706020507" pitchFamily="18" charset="2"/>
              </a:rPr>
              <a:t>Dada la inflación esperada</a:t>
            </a:r>
            <a:r>
              <a:rPr lang="es-PE" altLang="en-US" sz="2200" dirty="0">
                <a:sym typeface="Symbol" panose="05050102010706020507" pitchFamily="18" charset="2"/>
              </a:rPr>
              <a:t>, </a:t>
            </a:r>
            <a:r>
              <a:rPr lang="en-US" altLang="es-PE" sz="2200" i="1" dirty="0">
                <a:solidFill>
                  <a:schemeClr val="tx1"/>
                </a:solidFill>
                <a:sym typeface="Symbol" panose="05050102010706020507" pitchFamily="18" charset="2"/>
              </a:rPr>
              <a:t></a:t>
            </a:r>
            <a:r>
              <a:rPr lang="en-US" altLang="es-PE" sz="2200" i="1" baseline="30000" dirty="0">
                <a:solidFill>
                  <a:schemeClr val="tx1"/>
                </a:solidFill>
                <a:sym typeface="Symbol" panose="05050102010706020507" pitchFamily="18" charset="2"/>
              </a:rPr>
              <a:t>e</a:t>
            </a:r>
            <a:r>
              <a:rPr lang="es-PE" altLang="en-US" sz="2200" dirty="0">
                <a:solidFill>
                  <a:schemeClr val="tx1"/>
                </a:solidFill>
                <a:sym typeface="Symbol" panose="05050102010706020507" pitchFamily="18" charset="2"/>
              </a:rPr>
              <a:t>, </a:t>
            </a:r>
          </a:p>
          <a:p>
            <a:pPr marL="800100" lvl="2" indent="-285750">
              <a:lnSpc>
                <a:spcPct val="150000"/>
              </a:lnSpc>
              <a:buClr>
                <a:srgbClr val="C40075"/>
              </a:buClr>
              <a:buFont typeface="Arial" panose="020B0604020202020204" pitchFamily="34" charset="0"/>
              <a:buChar char="•"/>
            </a:pPr>
            <a:r>
              <a:rPr lang="es-PE" altLang="en-US" sz="2200" dirty="0">
                <a:sym typeface="Symbol" panose="05050102010706020507" pitchFamily="18" charset="2"/>
              </a:rPr>
              <a:t>un </a:t>
            </a:r>
            <a:r>
              <a:rPr lang="es-PE" altLang="en-US" sz="2200" u="sng" dirty="0">
                <a:sym typeface="Symbol" panose="05050102010706020507" pitchFamily="18" charset="2"/>
              </a:rPr>
              <a:t>aumento del </a:t>
            </a:r>
            <a:r>
              <a:rPr lang="es-PE" altLang="en-US" sz="2200" u="sng" dirty="0" err="1">
                <a:sym typeface="Symbol" panose="05050102010706020507" pitchFamily="18" charset="2"/>
              </a:rPr>
              <a:t>mark</a:t>
            </a:r>
            <a:r>
              <a:rPr lang="es-PE" altLang="en-US" sz="2200" u="sng" dirty="0">
                <a:sym typeface="Symbol" panose="05050102010706020507" pitchFamily="18" charset="2"/>
              </a:rPr>
              <a:t>-up</a:t>
            </a:r>
            <a:r>
              <a:rPr lang="es-PE" altLang="en-US" sz="2200" dirty="0">
                <a:sym typeface="Symbol" panose="05050102010706020507" pitchFamily="18" charset="2"/>
              </a:rPr>
              <a:t>, </a:t>
            </a:r>
            <a:r>
              <a:rPr lang="es-PE" altLang="en-US" sz="2200" b="1" i="1" dirty="0">
                <a:sym typeface="Symbol" panose="05050102010706020507" pitchFamily="18" charset="2"/>
              </a:rPr>
              <a:t>m</a:t>
            </a:r>
            <a:r>
              <a:rPr lang="es-PE" altLang="en-US" sz="2200" dirty="0">
                <a:sym typeface="Symbol" panose="05050102010706020507" pitchFamily="18" charset="2"/>
              </a:rPr>
              <a:t>, o </a:t>
            </a:r>
          </a:p>
          <a:p>
            <a:pPr marL="800100" lvl="2" indent="-285750">
              <a:lnSpc>
                <a:spcPct val="150000"/>
              </a:lnSpc>
              <a:buClr>
                <a:srgbClr val="C40075"/>
              </a:buClr>
              <a:buFont typeface="Arial" panose="020B0604020202020204" pitchFamily="34" charset="0"/>
              <a:buChar char="•"/>
            </a:pPr>
            <a:r>
              <a:rPr lang="es-PE" altLang="en-US" sz="2200" dirty="0">
                <a:sym typeface="Symbol" panose="05050102010706020507" pitchFamily="18" charset="2"/>
              </a:rPr>
              <a:t>un aumento de los factores residuales del salario, </a:t>
            </a:r>
            <a:r>
              <a:rPr lang="es-PE" altLang="en-US" sz="2200" b="1" i="1" dirty="0">
                <a:sym typeface="Symbol" panose="05050102010706020507" pitchFamily="18" charset="2"/>
              </a:rPr>
              <a:t>z</a:t>
            </a:r>
            <a:r>
              <a:rPr lang="es-PE" altLang="en-US" sz="2200" dirty="0">
                <a:sym typeface="Symbol" panose="05050102010706020507" pitchFamily="18" charset="2"/>
              </a:rPr>
              <a:t>, </a:t>
            </a:r>
          </a:p>
          <a:p>
            <a:pPr marL="1257300" lvl="3" indent="-285750" eaLnBrk="1" hangingPunct="1">
              <a:lnSpc>
                <a:spcPct val="150000"/>
              </a:lnSpc>
              <a:buClr>
                <a:srgbClr val="C40075"/>
              </a:buClr>
              <a:buFont typeface="Wingdings" panose="05000000000000000000" pitchFamily="2" charset="2"/>
              <a:buChar char="à"/>
            </a:pPr>
            <a:r>
              <a:rPr lang="es-PE" altLang="en-US" sz="2200" dirty="0">
                <a:sym typeface="Symbol" panose="05050102010706020507" pitchFamily="18" charset="2"/>
              </a:rPr>
              <a:t>lleva a un aumento de la inflación, </a:t>
            </a:r>
            <a:r>
              <a:rPr lang="en-US" altLang="es-PE" sz="2200" b="1" i="1" dirty="0">
                <a:sym typeface="Symbol" panose="05050102010706020507" pitchFamily="18" charset="2"/>
              </a:rPr>
              <a:t></a:t>
            </a:r>
            <a:r>
              <a:rPr lang="en-US" altLang="es-PE" sz="2200" dirty="0">
                <a:sym typeface="Symbol" panose="05050102010706020507" pitchFamily="18" charset="2"/>
              </a:rPr>
              <a:t>.</a:t>
            </a:r>
          </a:p>
          <a:p>
            <a:pPr eaLnBrk="1" hangingPunct="1">
              <a:lnSpc>
                <a:spcPct val="150000"/>
              </a:lnSpc>
              <a:buClr>
                <a:srgbClr val="C40075"/>
              </a:buClr>
              <a:buFont typeface="Arial" panose="020B0604020202020204" pitchFamily="34" charset="0"/>
              <a:buChar char="•"/>
            </a:pPr>
            <a:r>
              <a:rPr lang="es-PE" altLang="en-US" sz="2200" b="0" dirty="0">
                <a:solidFill>
                  <a:schemeClr val="tx1"/>
                </a:solidFill>
                <a:sym typeface="Symbol" panose="05050102010706020507" pitchFamily="18" charset="2"/>
              </a:rPr>
              <a:t>Dada la inflación esperada, </a:t>
            </a:r>
            <a:r>
              <a:rPr lang="en-US" altLang="es-PE" sz="2200" i="1" dirty="0">
                <a:solidFill>
                  <a:schemeClr val="tx1"/>
                </a:solidFill>
                <a:sym typeface="Symbol" panose="05050102010706020507" pitchFamily="18" charset="2"/>
              </a:rPr>
              <a:t></a:t>
            </a:r>
            <a:r>
              <a:rPr lang="en-US" altLang="es-PE" sz="2200" i="1" baseline="30000" dirty="0">
                <a:solidFill>
                  <a:schemeClr val="tx1"/>
                </a:solidFill>
                <a:sym typeface="Symbol" panose="05050102010706020507" pitchFamily="18" charset="2"/>
              </a:rPr>
              <a:t>e</a:t>
            </a:r>
            <a:r>
              <a:rPr lang="en-US" altLang="es-PE" sz="22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</a:p>
          <a:p>
            <a:pPr lvl="1" eaLnBrk="1" hangingPunct="1">
              <a:lnSpc>
                <a:spcPct val="150000"/>
              </a:lnSpc>
              <a:buClr>
                <a:srgbClr val="C40075"/>
              </a:buClr>
              <a:buFont typeface="Arial" panose="020B0604020202020204" pitchFamily="34" charset="0"/>
              <a:buChar char="•"/>
            </a:pPr>
            <a:r>
              <a:rPr lang="es-PE" altLang="en-US" sz="2200" dirty="0">
                <a:sym typeface="Symbol" panose="05050102010706020507" pitchFamily="18" charset="2"/>
              </a:rPr>
              <a:t>un </a:t>
            </a:r>
            <a:r>
              <a:rPr lang="es-PE" altLang="en-US" sz="2200" u="sng" dirty="0">
                <a:sym typeface="Symbol" panose="05050102010706020507" pitchFamily="18" charset="2"/>
              </a:rPr>
              <a:t>aumento en la tasa de desempleo</a:t>
            </a:r>
            <a:r>
              <a:rPr lang="es-PE" altLang="en-US" sz="2200" dirty="0">
                <a:sym typeface="Symbol" panose="05050102010706020507" pitchFamily="18" charset="2"/>
              </a:rPr>
              <a:t> </a:t>
            </a:r>
            <a:r>
              <a:rPr lang="es-PE" altLang="en-US" sz="2200" b="1" i="1" dirty="0">
                <a:latin typeface="Times New Roman" panose="02020603050405020304" charset="0"/>
                <a:sym typeface="Symbol" panose="05050102010706020507" pitchFamily="18" charset="2"/>
              </a:rPr>
              <a:t>u</a:t>
            </a:r>
            <a:r>
              <a:rPr lang="es-PE" altLang="en-US" sz="2200" b="1" dirty="0">
                <a:sym typeface="Symbol" panose="05050102010706020507" pitchFamily="18" charset="2"/>
              </a:rPr>
              <a:t>,</a:t>
            </a:r>
            <a:r>
              <a:rPr lang="es-PE" altLang="en-US" sz="2200" dirty="0">
                <a:sym typeface="Symbol" panose="05050102010706020507" pitchFamily="18" charset="2"/>
              </a:rPr>
              <a:t> </a:t>
            </a:r>
          </a:p>
          <a:p>
            <a:pPr marL="914400" lvl="2" indent="0" eaLnBrk="1" hangingPunct="1">
              <a:lnSpc>
                <a:spcPct val="150000"/>
              </a:lnSpc>
              <a:buClr>
                <a:srgbClr val="C40075"/>
              </a:buClr>
              <a:buNone/>
            </a:pPr>
            <a:r>
              <a:rPr lang="es-PE" altLang="en-US" sz="2200" dirty="0">
                <a:sym typeface="Wingdings" panose="05000000000000000000" pitchFamily="2" charset="2"/>
              </a:rPr>
              <a:t> </a:t>
            </a:r>
            <a:r>
              <a:rPr lang="es-PE" altLang="en-US" sz="2200" dirty="0">
                <a:sym typeface="Symbol" panose="05050102010706020507" pitchFamily="18" charset="2"/>
              </a:rPr>
              <a:t>conduce a una caída de la inflación,</a:t>
            </a:r>
            <a:r>
              <a:rPr lang="en-US" altLang="es-PE" sz="2200" dirty="0">
                <a:sym typeface="Symbol" panose="05050102010706020507" pitchFamily="18" charset="2"/>
              </a:rPr>
              <a:t> </a:t>
            </a:r>
            <a:r>
              <a:rPr lang="en-US" altLang="es-PE" sz="2200" i="1" dirty="0">
                <a:sym typeface="Symbol" panose="05050102010706020507" pitchFamily="18" charset="2"/>
              </a:rPr>
              <a:t></a:t>
            </a:r>
            <a:r>
              <a:rPr lang="en-US" altLang="es-PE" sz="2200" dirty="0">
                <a:sym typeface="Symbol" panose="05050102010706020507" pitchFamily="18" charset="2"/>
              </a:rPr>
              <a:t>.</a:t>
            </a:r>
          </a:p>
          <a:p>
            <a:pPr marL="971550" lvl="3" indent="0" eaLnBrk="1" hangingPunct="1">
              <a:lnSpc>
                <a:spcPct val="150000"/>
              </a:lnSpc>
              <a:buClr>
                <a:srgbClr val="C40075"/>
              </a:buClr>
              <a:buNone/>
            </a:pPr>
            <a:endParaRPr lang="en-US" altLang="es-PE" sz="2200" dirty="0">
              <a:sym typeface="Symbol" panose="05050102010706020507" pitchFamily="18" charset="2"/>
            </a:endParaRPr>
          </a:p>
          <a:p>
            <a:pPr eaLnBrk="1" hangingPunct="1">
              <a:buClr>
                <a:srgbClr val="C40075"/>
              </a:buClr>
              <a:buFont typeface="Arial" panose="020B0604020202020204" pitchFamily="34" charset="0"/>
              <a:buChar char="•"/>
            </a:pPr>
            <a:endParaRPr lang="es-PE" altLang="en-US" sz="2200" b="0" dirty="0">
              <a:solidFill>
                <a:schemeClr val="tx1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1269" name="Rectangle 6"/>
          <p:cNvSpPr>
            <a:spLocks noGrp="1"/>
          </p:cNvSpPr>
          <p:nvPr>
            <p:ph type="title"/>
          </p:nvPr>
        </p:nvSpPr>
        <p:spPr/>
        <p:txBody>
          <a:bodyPr vert="horz" wrap="square" lIns="91440" tIns="548640" rIns="91440" bIns="457200" anchor="ctr"/>
          <a:lstStyle/>
          <a:p>
            <a:pPr marL="741680" indent="-741680" eaLnBrk="1" hangingPunct="1"/>
            <a:r>
              <a:rPr lang="es-PE" alt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Inflación, Inflación Esperada y Desempleo </a:t>
            </a:r>
            <a:endParaRPr lang="en-US" altLang="es-PE" dirty="0"/>
          </a:p>
        </p:txBody>
      </p:sp>
      <p:sp>
        <p:nvSpPr>
          <p:cNvPr id="2" name="Rectangle 3"/>
          <p:cNvSpPr>
            <a:spLocks noGrp="1"/>
          </p:cNvSpPr>
          <p:nvPr/>
        </p:nvSpPr>
        <p:spPr>
          <a:xfrm>
            <a:off x="685800" y="834240"/>
            <a:ext cx="8229600" cy="47244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defRPr sz="2400" b="1" kern="1200">
                <a:solidFill>
                  <a:srgbClr val="00808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C0066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Clr>
                <a:srgbClr val="C40075"/>
              </a:buClr>
            </a:pPr>
            <a:r>
              <a:rPr lang="es-PE" altLang="en-US" b="0" dirty="0">
                <a:solidFill>
                  <a:schemeClr val="tx1"/>
                </a:solidFill>
              </a:rPr>
              <a:t>De acuerdo con esta ecuación: </a:t>
            </a:r>
            <a:r>
              <a:rPr lang="es-PE" alt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 = π </a:t>
            </a:r>
            <a:r>
              <a:rPr lang="es-PE" altLang="en-US" i="1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s-PE" alt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(m + z) - </a:t>
            </a:r>
            <a:r>
              <a:rPr lang="el-GR" alt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s-PE" alt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  <a:p>
            <a:pPr marL="0" indent="0" eaLnBrk="1" hangingPunct="1">
              <a:buClr>
                <a:srgbClr val="C40075"/>
              </a:buClr>
            </a:pPr>
            <a:endParaRPr lang="en-US" altLang="es-PE" b="0" dirty="0">
              <a:solidFill>
                <a:schemeClr val="tx1"/>
              </a:solidFill>
            </a:endParaRPr>
          </a:p>
          <a:p>
            <a:pPr marL="0" indent="0" eaLnBrk="1" hangingPunct="1">
              <a:buClr>
                <a:srgbClr val="C40075"/>
              </a:buClr>
            </a:pPr>
            <a:endParaRPr lang="en-US" altLang="es-PE" dirty="0">
              <a:sym typeface="Symbol" panose="05050102010706020507" pitchFamily="18" charset="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532765" y="4911725"/>
            <a:ext cx="8382635" cy="11874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defRPr sz="2400" b="1" kern="1200">
                <a:solidFill>
                  <a:srgbClr val="00808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C0066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buClr>
                <a:srgbClr val="C40075"/>
              </a:buClr>
              <a:buFont typeface="Arial" panose="020B0604020202020204" pitchFamily="34" charset="0"/>
              <a:buChar char="•"/>
            </a:pPr>
            <a:endParaRPr lang="en-US" altLang="es-PE" sz="8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54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354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354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354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354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354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354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354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1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4307" grpId="0" uiExpand="1" build="p"/>
      <p:bldP spid="2" grpId="0" build="p" bldLvl="2" advAuto="1000"/>
      <p:bldP spid="4" grpId="0"/>
      <p:bldP spid="4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Grp="1"/>
          </p:cNvSpPr>
          <p:nvPr>
            <p:ph type="title"/>
          </p:nvPr>
        </p:nvSpPr>
        <p:spPr/>
        <p:txBody>
          <a:bodyPr vert="horz" wrap="square" lIns="91440" tIns="548640" rIns="91440" bIns="457200" anchor="ctr"/>
          <a:lstStyle/>
          <a:p>
            <a:pPr marL="741680" indent="-741680" eaLnBrk="1" hangingPunct="1"/>
            <a:r>
              <a:rPr lang="es-PE" alt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Inflación, Inflación Esperada y Desempleo </a:t>
            </a:r>
            <a:endParaRPr lang="en-US" altLang="es-PE" dirty="0"/>
          </a:p>
        </p:txBody>
      </p:sp>
      <p:sp>
        <p:nvSpPr>
          <p:cNvPr id="356355" name="Rectangle 3"/>
          <p:cNvSpPr>
            <a:spLocks noGrp="1"/>
          </p:cNvSpPr>
          <p:nvPr>
            <p:ph type="body" sz="half" idx="1" hasCustomPrompt="1"/>
          </p:nvPr>
        </p:nvSpPr>
        <p:spPr>
          <a:xfrm>
            <a:off x="677217" y="958564"/>
            <a:ext cx="8114030" cy="2971799"/>
          </a:xfrm>
        </p:spPr>
        <p:txBody>
          <a:bodyPr vert="horz" wrap="square" lIns="91440" tIns="45720" rIns="91440" bIns="45720" anchor="t"/>
          <a:lstStyle/>
          <a:p>
            <a:pPr marL="0" indent="0" algn="ctr">
              <a:lnSpc>
                <a:spcPct val="150000"/>
              </a:lnSpc>
            </a:pPr>
            <a:r>
              <a:rPr lang="es-PE" alt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 = π </a:t>
            </a:r>
            <a:r>
              <a:rPr lang="es-PE" altLang="en-US" i="1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s-PE" alt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(m + z) - </a:t>
            </a:r>
            <a:r>
              <a:rPr lang="el-GR" alt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s-PE" alt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lang="es-PE" altLang="en-US" b="0" dirty="0">
              <a:solidFill>
                <a:schemeClr val="tx1"/>
              </a:solidFill>
            </a:endParaRPr>
          </a:p>
          <a:p>
            <a:pPr marL="0" indent="0" eaLnBrk="1" hangingPunct="1">
              <a:lnSpc>
                <a:spcPct val="150000"/>
              </a:lnSpc>
            </a:pPr>
            <a:r>
              <a:rPr lang="es-PE" altLang="en-US" sz="2000" b="0" dirty="0">
                <a:solidFill>
                  <a:schemeClr val="tx1"/>
                </a:solidFill>
              </a:rPr>
              <a:t>Cuando se hace referencia a la inflación, inflación esperada o desempleo en un año específico, la ecuación anterior debe incluir índice de tiempo,</a:t>
            </a:r>
            <a:r>
              <a:rPr lang="es-PE" altLang="en-US" sz="2000" b="0" i="1" dirty="0">
                <a:solidFill>
                  <a:schemeClr val="tx1"/>
                </a:solidFill>
                <a:latin typeface="Times New Roman" panose="02020603050405020304" charset="0"/>
              </a:rPr>
              <a:t> t</a:t>
            </a:r>
            <a:r>
              <a:rPr lang="es-PE" altLang="en-US" sz="2000" b="0" dirty="0">
                <a:solidFill>
                  <a:schemeClr val="tx1"/>
                </a:solidFill>
              </a:rPr>
              <a:t>: </a:t>
            </a:r>
          </a:p>
          <a:p>
            <a:pPr marL="0" indent="0" algn="ctr">
              <a:lnSpc>
                <a:spcPct val="150000"/>
              </a:lnSpc>
            </a:pPr>
            <a:r>
              <a:rPr lang="es-PE" alt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s-PE" altLang="en-US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s-PE" alt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π</a:t>
            </a:r>
            <a:r>
              <a:rPr lang="es-PE" altLang="en-US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s-PE" alt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altLang="en-US" i="1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s-PE" alt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(m + z) - </a:t>
            </a:r>
            <a:r>
              <a:rPr lang="el-GR" alt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s-PE" alt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s-PE" altLang="en-US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  <a:p>
            <a:pPr marL="0" indent="0" eaLnBrk="1" hangingPunct="1">
              <a:lnSpc>
                <a:spcPct val="150000"/>
              </a:lnSpc>
            </a:pPr>
            <a:endParaRPr lang="en-US" altLang="es-PE" sz="2000" b="0" dirty="0">
              <a:solidFill>
                <a:schemeClr val="tx1"/>
              </a:solidFill>
            </a:endParaRPr>
          </a:p>
        </p:txBody>
      </p:sp>
      <p:sp>
        <p:nvSpPr>
          <p:cNvPr id="356358" name="Rectangle 6"/>
          <p:cNvSpPr/>
          <p:nvPr/>
        </p:nvSpPr>
        <p:spPr>
          <a:xfrm>
            <a:off x="790964" y="3810000"/>
            <a:ext cx="7997825" cy="2590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defRPr sz="2400" b="1" kern="1200">
                <a:solidFill>
                  <a:srgbClr val="00808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C0066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 eaLnBrk="1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>
                <a:srgbClr val="003300"/>
              </a:buClr>
              <a:buFont typeface="Arial" panose="020B0604020202020204" pitchFamily="34" charset="0"/>
              <a:buChar char="•"/>
            </a:pPr>
            <a:r>
              <a:rPr lang="es-PE" altLang="en-US" sz="2000" b="0" dirty="0">
                <a:solidFill>
                  <a:schemeClr val="tx1"/>
                </a:solidFill>
              </a:rPr>
              <a:t>Las variables </a:t>
            </a:r>
            <a:r>
              <a:rPr lang="en-US" altLang="es-PE" sz="2000" b="0" i="1" dirty="0">
                <a:solidFill>
                  <a:schemeClr val="tx1"/>
                </a:solidFill>
                <a:sym typeface="Symbol" panose="05050102010706020507" pitchFamily="18" charset="2"/>
              </a:rPr>
              <a:t></a:t>
            </a:r>
            <a:r>
              <a:rPr lang="en-US" altLang="es-PE" sz="2000" b="0" dirty="0">
                <a:solidFill>
                  <a:schemeClr val="tx1"/>
                </a:solidFill>
                <a:sym typeface="Symbol" panose="05050102010706020507" pitchFamily="18" charset="2"/>
              </a:rPr>
              <a:t>, </a:t>
            </a:r>
            <a:r>
              <a:rPr lang="en-US" altLang="es-PE" sz="2000" b="0" i="1" dirty="0">
                <a:solidFill>
                  <a:schemeClr val="tx1"/>
                </a:solidFill>
                <a:sym typeface="Symbol" panose="05050102010706020507" pitchFamily="18" charset="2"/>
              </a:rPr>
              <a:t></a:t>
            </a:r>
            <a:r>
              <a:rPr lang="en-US" altLang="es-PE" sz="2000" b="0" i="1" baseline="30000" dirty="0">
                <a:solidFill>
                  <a:schemeClr val="tx1"/>
                </a:solidFill>
                <a:sym typeface="Symbol" panose="05050102010706020507" pitchFamily="18" charset="2"/>
              </a:rPr>
              <a:t>e</a:t>
            </a:r>
            <a:r>
              <a:rPr lang="en-US" altLang="es-PE" sz="2000" b="0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t</a:t>
            </a:r>
            <a:r>
              <a:rPr lang="en-US" altLang="es-PE" sz="2000" b="0" dirty="0">
                <a:solidFill>
                  <a:schemeClr val="tx1"/>
                </a:solidFill>
                <a:sym typeface="Symbol" panose="05050102010706020507" pitchFamily="18" charset="2"/>
              </a:rPr>
              <a:t>, </a:t>
            </a:r>
            <a:r>
              <a:rPr lang="es-PE" altLang="en-US" sz="2000" b="0" dirty="0">
                <a:solidFill>
                  <a:schemeClr val="tx1"/>
                </a:solidFill>
                <a:sym typeface="Symbol" panose="05050102010706020507" pitchFamily="18" charset="2"/>
              </a:rPr>
              <a:t>y</a:t>
            </a:r>
            <a:r>
              <a:rPr lang="en-US" altLang="es-PE" sz="2000" b="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es-PE" sz="2000" b="0" i="1" dirty="0">
                <a:solidFill>
                  <a:schemeClr val="tx1"/>
                </a:solidFill>
                <a:sym typeface="Symbol" panose="05050102010706020507" pitchFamily="18" charset="2"/>
              </a:rPr>
              <a:t>u</a:t>
            </a:r>
            <a:r>
              <a:rPr lang="en-US" altLang="es-PE" sz="2000" b="0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t</a:t>
            </a:r>
            <a:r>
              <a:rPr lang="en-US" altLang="es-PE" sz="2000" b="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s-PE" altLang="en-US" sz="2000" b="0" dirty="0">
                <a:solidFill>
                  <a:schemeClr val="tx1"/>
                </a:solidFill>
                <a:sym typeface="Symbol" panose="05050102010706020507" pitchFamily="18" charset="2"/>
              </a:rPr>
              <a:t>se refieren a la tasa de inflación, inflación esperada y desempleo en el año t.</a:t>
            </a:r>
          </a:p>
          <a:p>
            <a:pPr lvl="0" eaLnBrk="1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>
                <a:srgbClr val="003300"/>
              </a:buClr>
              <a:buFont typeface="Arial" panose="020B0604020202020204" pitchFamily="34" charset="0"/>
              <a:buChar char="•"/>
            </a:pPr>
            <a:r>
              <a:rPr lang="es-PE" altLang="en-US" sz="2000" b="0" dirty="0">
                <a:solidFill>
                  <a:schemeClr val="tx1"/>
                </a:solidFill>
                <a:sym typeface="Symbol" panose="05050102010706020507" pitchFamily="18" charset="2"/>
              </a:rPr>
              <a:t>Mientras que </a:t>
            </a:r>
            <a:r>
              <a:rPr lang="en-US" altLang="es-PE" sz="2000" b="0" i="1" dirty="0">
                <a:solidFill>
                  <a:schemeClr val="tx1"/>
                </a:solidFill>
                <a:sym typeface="Symbol" panose="05050102010706020507" pitchFamily="18" charset="2"/>
              </a:rPr>
              <a:t>m</a:t>
            </a:r>
            <a:r>
              <a:rPr lang="en-US" altLang="es-PE" sz="2000" b="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s-PE" altLang="en-US" sz="2000" b="0" dirty="0">
                <a:solidFill>
                  <a:schemeClr val="tx1"/>
                </a:solidFill>
                <a:sym typeface="Symbol" panose="05050102010706020507" pitchFamily="18" charset="2"/>
              </a:rPr>
              <a:t>y</a:t>
            </a:r>
            <a:r>
              <a:rPr lang="en-US" altLang="es-PE" sz="2000" b="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es-PE" sz="2000" b="0" i="1" dirty="0">
                <a:solidFill>
                  <a:schemeClr val="tx1"/>
                </a:solidFill>
                <a:sym typeface="Symbol" panose="05050102010706020507" pitchFamily="18" charset="2"/>
              </a:rPr>
              <a:t>z</a:t>
            </a:r>
            <a:r>
              <a:rPr lang="en-US" altLang="es-PE" sz="2000" b="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s-PE" altLang="en-US" sz="2000" b="0" dirty="0">
                <a:solidFill>
                  <a:schemeClr val="tx1"/>
                </a:solidFill>
                <a:sym typeface="Symbol" panose="05050102010706020507" pitchFamily="18" charset="2"/>
              </a:rPr>
              <a:t>se asumen como constantes.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6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6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56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356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355" grpId="0" build="p" bldLvl="2" advAuto="1000"/>
      <p:bldP spid="356355" grpId="1" build="p"/>
      <p:bldP spid="35635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291ED8-87EC-2BF0-EF84-58EAC5A3E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7270609-DA9C-D8EC-8C28-439558E83F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/>
            <a:r>
              <a:rPr lang="es-PE" dirty="0"/>
              <a:t>La curva de Phillips</a:t>
            </a:r>
          </a:p>
        </p:txBody>
      </p:sp>
    </p:spTree>
    <p:extLst>
      <p:ext uri="{BB962C8B-B14F-4D97-AF65-F5344CB8AC3E}">
        <p14:creationId xmlns:p14="http://schemas.microsoft.com/office/powerpoint/2010/main" val="3858560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1" name="Rectangle 3"/>
          <p:cNvSpPr/>
          <p:nvPr/>
        </p:nvSpPr>
        <p:spPr>
          <a:xfrm>
            <a:off x="567055" y="838200"/>
            <a:ext cx="8314690" cy="33289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defRPr sz="2400" b="1" kern="1200">
                <a:solidFill>
                  <a:srgbClr val="00808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C0066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>
                <a:srgbClr val="003300"/>
              </a:buClr>
            </a:pPr>
            <a:r>
              <a:rPr lang="es-PE" altLang="es-PE" dirty="0">
                <a:sym typeface="Symbol" panose="05050102010706020507" pitchFamily="18" charset="2"/>
              </a:rPr>
              <a:t>La Curva de Phillips</a:t>
            </a:r>
          </a:p>
          <a:p>
            <a:pPr eaLnBrk="1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>
                <a:srgbClr val="003300"/>
              </a:buClr>
              <a:buFont typeface="Arial" panose="020B0604020202020204" pitchFamily="34" charset="0"/>
              <a:buChar char="•"/>
            </a:pPr>
            <a:r>
              <a:rPr lang="es-ES" altLang="es-PE" sz="2200" b="0" dirty="0">
                <a:solidFill>
                  <a:schemeClr val="tx1"/>
                </a:solidFill>
                <a:sym typeface="Symbol" panose="05050102010706020507" pitchFamily="18" charset="2"/>
              </a:rPr>
              <a:t>La relación entre precios y producción en la función de la oferta agregada se refleja mediante los vínculos entre salarios, precios, empleo y producción. </a:t>
            </a:r>
          </a:p>
          <a:p>
            <a:pPr eaLnBrk="1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>
                <a:srgbClr val="003300"/>
              </a:buClr>
              <a:buFont typeface="Arial" panose="020B0604020202020204" pitchFamily="34" charset="0"/>
              <a:buChar char="•"/>
            </a:pPr>
            <a:r>
              <a:rPr lang="es-ES" altLang="es-PE" sz="2200" b="0" dirty="0">
                <a:solidFill>
                  <a:schemeClr val="tx1"/>
                </a:solidFill>
                <a:sym typeface="Symbol" panose="05050102010706020507" pitchFamily="18" charset="2"/>
              </a:rPr>
              <a:t>El vínculo entre desempleo e inflación se llama </a:t>
            </a:r>
            <a:r>
              <a:rPr lang="es-ES" altLang="es-PE" sz="2200" dirty="0">
                <a:solidFill>
                  <a:schemeClr val="tx1"/>
                </a:solidFill>
                <a:sym typeface="Symbol" panose="05050102010706020507" pitchFamily="18" charset="2"/>
              </a:rPr>
              <a:t>curva de Phillips</a:t>
            </a:r>
            <a:r>
              <a:rPr lang="es-ES" altLang="es-PE" sz="2200" b="0" dirty="0">
                <a:solidFill>
                  <a:schemeClr val="tx1"/>
                </a:solidFill>
                <a:sym typeface="Symbol" panose="05050102010706020507" pitchFamily="18" charset="2"/>
              </a:rPr>
              <a:t>.</a:t>
            </a:r>
            <a:endParaRPr lang="es-PE" altLang="en-US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14" name="Rectangle 7"/>
          <p:cNvSpPr>
            <a:spLocks noGrp="1"/>
          </p:cNvSpPr>
          <p:nvPr>
            <p:ph type="title"/>
          </p:nvPr>
        </p:nvSpPr>
        <p:spPr/>
        <p:txBody>
          <a:bodyPr vert="horz" wrap="square" lIns="91440" tIns="548640" rIns="91440" bIns="457200" anchor="ctr"/>
          <a:lstStyle/>
          <a:p>
            <a:pPr eaLnBrk="1" hangingPunct="1"/>
            <a:r>
              <a:rPr lang="es-PE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La curva de </a:t>
            </a:r>
            <a:r>
              <a:rPr lang="en-US" altLang="es-PE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Phillips</a:t>
            </a:r>
            <a:endParaRPr lang="en-US" altLang="es-PE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1" name="Rectangle 3"/>
          <p:cNvSpPr/>
          <p:nvPr/>
        </p:nvSpPr>
        <p:spPr>
          <a:xfrm>
            <a:off x="381000" y="838200"/>
            <a:ext cx="8610600" cy="50323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defRPr sz="2400" b="1" kern="1200">
                <a:solidFill>
                  <a:srgbClr val="00808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C0066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>
                <a:srgbClr val="003300"/>
              </a:buClr>
            </a:pPr>
            <a:r>
              <a:rPr lang="es-PE" altLang="es-PE" u="sng" dirty="0">
                <a:sym typeface="Symbol" panose="05050102010706020507" pitchFamily="18" charset="2"/>
              </a:rPr>
              <a:t>Primera Versión</a:t>
            </a:r>
            <a:r>
              <a:rPr lang="es-PE" altLang="es-PE" dirty="0">
                <a:sym typeface="Symbol" panose="05050102010706020507" pitchFamily="18" charset="2"/>
              </a:rPr>
              <a:t> de la Curva de Phillips</a:t>
            </a:r>
          </a:p>
          <a:p>
            <a:pPr eaLnBrk="1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>
                <a:srgbClr val="003300"/>
              </a:buClr>
              <a:buFont typeface="Arial" panose="020B0604020202020204" pitchFamily="34" charset="0"/>
              <a:buChar char="•"/>
            </a:pPr>
            <a:r>
              <a:rPr lang="es-PE" altLang="es-PE" sz="2200" b="0" dirty="0">
                <a:solidFill>
                  <a:schemeClr val="tx1"/>
                </a:solidFill>
                <a:sym typeface="Symbol" panose="05050102010706020507" pitchFamily="18" charset="2"/>
              </a:rPr>
              <a:t>Se asume que la </a:t>
            </a:r>
            <a:r>
              <a:rPr lang="es-PE" altLang="es-PE" sz="2200" b="0" u="sng" dirty="0">
                <a:solidFill>
                  <a:schemeClr val="tx1"/>
                </a:solidFill>
                <a:sym typeface="Symbol" panose="05050102010706020507" pitchFamily="18" charset="2"/>
              </a:rPr>
              <a:t>inflación no es muy persistente</a:t>
            </a:r>
            <a:r>
              <a:rPr lang="es-PE" altLang="es-PE" sz="2200" b="0" dirty="0">
                <a:solidFill>
                  <a:schemeClr val="tx1"/>
                </a:solidFill>
                <a:sym typeface="Symbol" panose="05050102010706020507" pitchFamily="18" charset="2"/>
              </a:rPr>
              <a:t> (la inflación esperada no depende mucho de la inflación pasada).</a:t>
            </a:r>
          </a:p>
          <a:p>
            <a:pPr eaLnBrk="1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>
                <a:srgbClr val="003300"/>
              </a:buClr>
              <a:buFont typeface="Arial" panose="020B0604020202020204" pitchFamily="34" charset="0"/>
              <a:buChar char="•"/>
            </a:pPr>
            <a:r>
              <a:rPr lang="es-PE" altLang="es-PE" sz="2200" b="0" dirty="0">
                <a:solidFill>
                  <a:schemeClr val="tx1"/>
                </a:solidFill>
                <a:sym typeface="Symbol" panose="05050102010706020507" pitchFamily="18" charset="2"/>
              </a:rPr>
              <a:t>Se asume que la inflación fluctúa de un año a otro en torno a cierto valor </a:t>
            </a:r>
            <a:r>
              <a:rPr lang="es-PE" altLang="en-US" sz="22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͞</a:t>
            </a:r>
            <a:r>
              <a:rPr lang="es-PE" altLang="en-US" sz="22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s-PE" altLang="en-US" sz="2200" i="1" baseline="-25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</a:t>
            </a:r>
            <a:r>
              <a:rPr lang="es-PE" altLang="en-US" sz="22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.</a:t>
            </a:r>
          </a:p>
          <a:p>
            <a:pPr eaLnBrk="1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>
                <a:srgbClr val="003300"/>
              </a:buClr>
              <a:buFont typeface="Arial" panose="020B0604020202020204" pitchFamily="34" charset="0"/>
              <a:buChar char="•"/>
            </a:pPr>
            <a:r>
              <a:rPr lang="es-PE" altLang="es-PE" sz="2200" b="0" dirty="0">
                <a:solidFill>
                  <a:schemeClr val="tx1"/>
                </a:solidFill>
                <a:sym typeface="Symbol" panose="05050102010706020507" pitchFamily="18" charset="2"/>
              </a:rPr>
              <a:t>Con esos supuestos, los  trabajadores ajustan los salarios considerando que la inflación de un año sería igual a cierto valor.</a:t>
            </a:r>
          </a:p>
          <a:p>
            <a:pPr eaLnBrk="1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>
                <a:srgbClr val="003300"/>
              </a:buClr>
              <a:buFont typeface="Arial" panose="020B0604020202020204" pitchFamily="34" charset="0"/>
              <a:buChar char="•"/>
            </a:pPr>
            <a:r>
              <a:rPr lang="es-PE" altLang="es-PE" sz="2200" b="0" dirty="0">
                <a:solidFill>
                  <a:schemeClr val="tx1"/>
                </a:solidFill>
                <a:sym typeface="Symbol" panose="05050102010706020507" pitchFamily="18" charset="2"/>
              </a:rPr>
              <a:t>Se define así, la relación entre desempleo e inflación de Phillips:</a:t>
            </a:r>
          </a:p>
          <a:p>
            <a:pPr marL="0" indent="0" algn="ctr" eaLnBrk="1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>
                <a:srgbClr val="003300"/>
              </a:buClr>
            </a:pPr>
            <a:r>
              <a:rPr lang="es-PE" alt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s-PE" altLang="en-US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s-PE" alt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s-PE" altLang="en-US" sz="24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͞</a:t>
            </a:r>
            <a:r>
              <a:rPr lang="es-PE" altLang="en-US" sz="24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s-PE" altLang="en-US" sz="2400" i="1" baseline="-25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</a:t>
            </a:r>
            <a:r>
              <a:rPr lang="es-PE" altLang="en-US" sz="24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s-PE" alt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(m + z) - </a:t>
            </a:r>
            <a:r>
              <a:rPr lang="el-GR" alt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s-PE" alt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s-PE" altLang="en-US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17414" name="Rectangle 7"/>
          <p:cNvSpPr>
            <a:spLocks noGrp="1"/>
          </p:cNvSpPr>
          <p:nvPr>
            <p:ph type="title"/>
          </p:nvPr>
        </p:nvSpPr>
        <p:spPr/>
        <p:txBody>
          <a:bodyPr vert="horz" wrap="square" lIns="91440" tIns="548640" rIns="91440" bIns="457200" anchor="ctr"/>
          <a:lstStyle/>
          <a:p>
            <a:pPr eaLnBrk="1" hangingPunct="1"/>
            <a:r>
              <a:rPr lang="es-PE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La curva de </a:t>
            </a:r>
            <a:r>
              <a:rPr lang="en-US" altLang="es-PE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Phillips</a:t>
            </a:r>
            <a:endParaRPr lang="en-US" altLang="es-PE" dirty="0"/>
          </a:p>
        </p:txBody>
      </p:sp>
    </p:spTree>
    <p:extLst>
      <p:ext uri="{BB962C8B-B14F-4D97-AF65-F5344CB8AC3E}">
        <p14:creationId xmlns:p14="http://schemas.microsoft.com/office/powerpoint/2010/main" val="20002775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9"/>
          <p:cNvSpPr>
            <a:spLocks noGrp="1"/>
          </p:cNvSpPr>
          <p:nvPr>
            <p:ph type="title"/>
          </p:nvPr>
        </p:nvSpPr>
        <p:spPr/>
        <p:txBody>
          <a:bodyPr vert="horz" wrap="square" lIns="91440" tIns="548640" rIns="91440" bIns="457200" anchor="ctr"/>
          <a:lstStyle/>
          <a:p>
            <a:pPr eaLnBrk="1" hangingPunct="1"/>
            <a:r>
              <a:rPr lang="es-PE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La curva de </a:t>
            </a:r>
            <a:r>
              <a:rPr lang="en-US" altLang="es-PE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Phillips</a:t>
            </a:r>
            <a:endParaRPr lang="en-US" altLang="es-PE" dirty="0"/>
          </a:p>
        </p:txBody>
      </p:sp>
      <p:sp>
        <p:nvSpPr>
          <p:cNvPr id="362506" name="Rectangle 10"/>
          <p:cNvSpPr/>
          <p:nvPr/>
        </p:nvSpPr>
        <p:spPr>
          <a:xfrm>
            <a:off x="533400" y="838200"/>
            <a:ext cx="8229600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defRPr sz="2400" b="1" kern="1200">
                <a:solidFill>
                  <a:srgbClr val="00808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C0066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/>
            <a:r>
              <a:rPr lang="es-ES" altLang="en-US" u="sng" dirty="0">
                <a:sym typeface="+mn-ea"/>
              </a:rPr>
              <a:t>Primera Versión</a:t>
            </a:r>
            <a:r>
              <a:rPr lang="es-ES" altLang="en-US" dirty="0">
                <a:sym typeface="+mn-ea"/>
              </a:rPr>
              <a:t> de la Curva de Phillips</a:t>
            </a:r>
          </a:p>
        </p:txBody>
      </p:sp>
      <p:sp>
        <p:nvSpPr>
          <p:cNvPr id="362507" name="Rectangle 11"/>
          <p:cNvSpPr/>
          <p:nvPr/>
        </p:nvSpPr>
        <p:spPr>
          <a:xfrm>
            <a:off x="533400" y="2261234"/>
            <a:ext cx="2438400" cy="314896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s-PE" sz="1800" dirty="0">
                <a:latin typeface="Arial Narrow" panose="020B0606020202030204" pitchFamily="34" charset="0"/>
              </a:rPr>
              <a:t>La disminución constante de la tasa de desempleo en los </a:t>
            </a:r>
            <a:r>
              <a:rPr lang="es-PE" altLang="en-US" sz="1800" dirty="0">
                <a:latin typeface="Arial Narrow" panose="020B0606020202030204" pitchFamily="34" charset="0"/>
              </a:rPr>
              <a:t>EEUU </a:t>
            </a:r>
            <a:r>
              <a:rPr lang="en-US" altLang="es-PE" sz="1800" dirty="0">
                <a:latin typeface="Arial Narrow" panose="020B0606020202030204" pitchFamily="34" charset="0"/>
              </a:rPr>
              <a:t>a lo largo de la década de 1960 </a:t>
            </a:r>
            <a:r>
              <a:rPr lang="en-US" altLang="es-PE" dirty="0">
                <a:latin typeface="Arial Narrow" panose="020B0606020202030204" pitchFamily="34" charset="0"/>
              </a:rPr>
              <a:t>se</a:t>
            </a:r>
            <a:r>
              <a:rPr lang="en-US" altLang="es-PE" sz="1800" dirty="0">
                <a:latin typeface="Arial Narrow" panose="020B0606020202030204" pitchFamily="34" charset="0"/>
              </a:rPr>
              <a:t> asoció con un aumento constante de la tasa de inflación.</a:t>
            </a:r>
          </a:p>
        </p:txBody>
      </p:sp>
      <p:sp>
        <p:nvSpPr>
          <p:cNvPr id="19465" name="Text Box 13"/>
          <p:cNvSpPr txBox="1"/>
          <p:nvPr/>
        </p:nvSpPr>
        <p:spPr>
          <a:xfrm>
            <a:off x="685800" y="1485265"/>
            <a:ext cx="25908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en-US" altLang="es-PE" sz="1600" b="1" i="1" dirty="0">
                <a:latin typeface="Arial" panose="020B0604020202020204" pitchFamily="34" charset="0"/>
              </a:rPr>
              <a:t>Infla</a:t>
            </a:r>
            <a:r>
              <a:rPr lang="es-PE" altLang="en-US" sz="1600" b="1" i="1" dirty="0">
                <a:latin typeface="Arial" panose="020B0604020202020204" pitchFamily="34" charset="0"/>
              </a:rPr>
              <a:t>ció</a:t>
            </a:r>
            <a:r>
              <a:rPr lang="en-US" altLang="es-PE" sz="1600" b="1" i="1" dirty="0">
                <a:latin typeface="Arial" panose="020B0604020202020204" pitchFamily="34" charset="0"/>
              </a:rPr>
              <a:t>n vs </a:t>
            </a:r>
            <a:r>
              <a:rPr lang="es-PE" altLang="en-US" sz="1600" b="1" i="1" dirty="0">
                <a:latin typeface="Arial" panose="020B0604020202020204" pitchFamily="34" charset="0"/>
              </a:rPr>
              <a:t>Desempleo e</a:t>
            </a:r>
            <a:r>
              <a:rPr lang="en-US" altLang="es-PE" sz="1600" b="1" i="1" dirty="0">
                <a:latin typeface="Arial" panose="020B0604020202020204" pitchFamily="34" charset="0"/>
              </a:rPr>
              <a:t>n </a:t>
            </a:r>
            <a:r>
              <a:rPr lang="es-PE" altLang="en-US" sz="1600" b="1" i="1" dirty="0">
                <a:latin typeface="Arial" panose="020B0604020202020204" pitchFamily="34" charset="0"/>
              </a:rPr>
              <a:t>EEUU</a:t>
            </a:r>
            <a:r>
              <a:rPr lang="en-US" altLang="es-PE" sz="1600" b="1" i="1" dirty="0">
                <a:latin typeface="Arial" panose="020B0604020202020204" pitchFamily="34" charset="0"/>
              </a:rPr>
              <a:t>, 1948 to 1969  </a:t>
            </a:r>
          </a:p>
        </p:txBody>
      </p:sp>
      <p:pic>
        <p:nvPicPr>
          <p:cNvPr id="362514" name="Picture 18" descr="Fig8-2-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1781175"/>
            <a:ext cx="5810250" cy="36290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2515" name="Picture 19" descr="Fig8-2-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6600" y="1781175"/>
            <a:ext cx="5810250" cy="36290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2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62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62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62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2506" grpId="0"/>
      <p:bldP spid="36250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1" name="Rectangle 3"/>
          <p:cNvSpPr/>
          <p:nvPr/>
        </p:nvSpPr>
        <p:spPr>
          <a:xfrm>
            <a:off x="414654" y="990600"/>
            <a:ext cx="8500745" cy="52769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defRPr sz="2400" b="1" kern="1200">
                <a:solidFill>
                  <a:srgbClr val="00808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C0066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>
                <a:srgbClr val="003300"/>
              </a:buClr>
            </a:pPr>
            <a:r>
              <a:rPr lang="es-PE" altLang="es-PE" u="sng" dirty="0">
                <a:sym typeface="Symbol" panose="05050102010706020507" pitchFamily="18" charset="2"/>
              </a:rPr>
              <a:t>Segunda Versión</a:t>
            </a:r>
            <a:r>
              <a:rPr lang="es-PE" altLang="es-PE" dirty="0">
                <a:sym typeface="Symbol" panose="05050102010706020507" pitchFamily="18" charset="2"/>
              </a:rPr>
              <a:t> de la Curva de Phillips</a:t>
            </a:r>
            <a:endParaRPr lang="es-PE" altLang="es-PE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>
                <a:srgbClr val="003300"/>
              </a:buClr>
              <a:buFont typeface="Arial" panose="020B0604020202020204" pitchFamily="34" charset="0"/>
              <a:buChar char="•"/>
            </a:pPr>
            <a:r>
              <a:rPr lang="es-PE" altLang="es-PE" sz="2100" b="0" dirty="0">
                <a:solidFill>
                  <a:schemeClr val="tx1"/>
                </a:solidFill>
                <a:sym typeface="Symbol" panose="05050102010706020507" pitchFamily="18" charset="2"/>
              </a:rPr>
              <a:t>¿Por qué desapareció la curva de Phillips de la primera versión? </a:t>
            </a:r>
          </a:p>
          <a:p>
            <a:pPr marL="355600" indent="0" eaLnBrk="1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>
                <a:srgbClr val="003300"/>
              </a:buClr>
            </a:pPr>
            <a:r>
              <a:rPr lang="es-PE" altLang="es-PE" sz="2100" b="0" dirty="0">
                <a:solidFill>
                  <a:schemeClr val="tx1"/>
                </a:solidFill>
                <a:sym typeface="Symbol" panose="05050102010706020507" pitchFamily="18" charset="2"/>
              </a:rPr>
              <a:t>Porque los agentes económicos al ajustar los salarios modificaron la manera de </a:t>
            </a:r>
            <a:r>
              <a:rPr lang="es-PE" altLang="es-PE" sz="2100" b="0" u="sng" dirty="0">
                <a:solidFill>
                  <a:schemeClr val="tx1"/>
                </a:solidFill>
                <a:sym typeface="Symbol" panose="05050102010706020507" pitchFamily="18" charset="2"/>
              </a:rPr>
              <a:t>formación de las expectativas</a:t>
            </a:r>
            <a:r>
              <a:rPr lang="es-PE" altLang="es-PE" sz="2100" b="0" dirty="0">
                <a:solidFill>
                  <a:schemeClr val="tx1"/>
                </a:solidFill>
                <a:sym typeface="Symbol" panose="05050102010706020507" pitchFamily="18" charset="2"/>
              </a:rPr>
              <a:t>.</a:t>
            </a:r>
          </a:p>
          <a:p>
            <a:pPr eaLnBrk="1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>
                <a:srgbClr val="003300"/>
              </a:buClr>
              <a:buFont typeface="Arial" panose="020B0604020202020204" pitchFamily="34" charset="0"/>
              <a:buChar char="•"/>
            </a:pPr>
            <a:r>
              <a:rPr lang="es-PE" altLang="es-PE" sz="2100" b="0" dirty="0">
                <a:solidFill>
                  <a:schemeClr val="tx1"/>
                </a:solidFill>
                <a:sym typeface="Symbol" panose="05050102010706020507" pitchFamily="18" charset="2"/>
              </a:rPr>
              <a:t>La modificación se debió a un cambio del comportamiento de la inflación: la tasa de inflación se hizo </a:t>
            </a:r>
            <a:r>
              <a:rPr lang="es-PE" altLang="es-PE" sz="2100" b="0" u="sng" dirty="0">
                <a:solidFill>
                  <a:schemeClr val="tx1"/>
                </a:solidFill>
                <a:sym typeface="Symbol" panose="05050102010706020507" pitchFamily="18" charset="2"/>
              </a:rPr>
              <a:t>persistente</a:t>
            </a:r>
            <a:r>
              <a:rPr lang="es-PE" altLang="es-PE" sz="2100" b="0" dirty="0">
                <a:solidFill>
                  <a:schemeClr val="tx1"/>
                </a:solidFill>
                <a:sym typeface="Symbol" panose="05050102010706020507" pitchFamily="18" charset="2"/>
              </a:rPr>
              <a:t>.</a:t>
            </a:r>
          </a:p>
          <a:p>
            <a:pPr eaLnBrk="1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>
                <a:srgbClr val="003300"/>
              </a:buClr>
              <a:buFont typeface="Arial" panose="020B0604020202020204" pitchFamily="34" charset="0"/>
              <a:buChar char="•"/>
            </a:pPr>
            <a:r>
              <a:rPr lang="es-PE" altLang="es-PE" sz="2100" b="0" dirty="0">
                <a:solidFill>
                  <a:schemeClr val="tx1"/>
                </a:solidFill>
                <a:sym typeface="Symbol" panose="05050102010706020507" pitchFamily="18" charset="2"/>
              </a:rPr>
              <a:t>El público, al formar sus expectativas, empezó a tener en cuenta la persistencia de la inflación.</a:t>
            </a:r>
          </a:p>
          <a:p>
            <a:pPr eaLnBrk="1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>
                <a:srgbClr val="003300"/>
              </a:buClr>
              <a:buFont typeface="Arial" panose="020B0604020202020204" pitchFamily="34" charset="0"/>
              <a:buChar char="•"/>
            </a:pPr>
            <a:r>
              <a:rPr lang="es-PE" altLang="es-PE" sz="2100" b="0" dirty="0">
                <a:solidFill>
                  <a:schemeClr val="tx1"/>
                </a:solidFill>
                <a:sym typeface="Symbol" panose="05050102010706020507" pitchFamily="18" charset="2"/>
              </a:rPr>
              <a:t>Asimismo, el cambio de la formación de expectativas alteró la naturaleza de la relación entre el desempleo y la inflación.</a:t>
            </a:r>
          </a:p>
        </p:txBody>
      </p:sp>
      <p:sp>
        <p:nvSpPr>
          <p:cNvPr id="17414" name="Rectangle 7"/>
          <p:cNvSpPr>
            <a:spLocks noGrp="1"/>
          </p:cNvSpPr>
          <p:nvPr>
            <p:ph type="title"/>
          </p:nvPr>
        </p:nvSpPr>
        <p:spPr/>
        <p:txBody>
          <a:bodyPr vert="horz" wrap="square" lIns="91440" tIns="548640" rIns="91440" bIns="457200" anchor="ctr"/>
          <a:lstStyle/>
          <a:p>
            <a:pPr eaLnBrk="1" hangingPunct="1"/>
            <a:r>
              <a:rPr lang="es-PE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La curva de </a:t>
            </a:r>
            <a:r>
              <a:rPr lang="en-US" altLang="es-PE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Phillips</a:t>
            </a:r>
            <a:endParaRPr lang="en-US" altLang="es-PE" dirty="0"/>
          </a:p>
        </p:txBody>
      </p:sp>
    </p:spTree>
    <p:extLst>
      <p:ext uri="{BB962C8B-B14F-4D97-AF65-F5344CB8AC3E}">
        <p14:creationId xmlns:p14="http://schemas.microsoft.com/office/powerpoint/2010/main" val="25059529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1" name="Rectangle 3"/>
          <p:cNvSpPr/>
          <p:nvPr/>
        </p:nvSpPr>
        <p:spPr>
          <a:xfrm>
            <a:off x="567055" y="838200"/>
            <a:ext cx="8314690" cy="167000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defRPr sz="2400" b="1" kern="1200">
                <a:solidFill>
                  <a:srgbClr val="00808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C0066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>
                <a:srgbClr val="003300"/>
              </a:buClr>
            </a:pPr>
            <a:r>
              <a:rPr lang="es-PE" altLang="es-PE" u="sng" dirty="0">
                <a:sym typeface="Symbol" panose="05050102010706020507" pitchFamily="18" charset="2"/>
              </a:rPr>
              <a:t>Segunda Versión</a:t>
            </a:r>
            <a:r>
              <a:rPr lang="es-PE" altLang="es-PE" dirty="0">
                <a:sym typeface="Symbol" panose="05050102010706020507" pitchFamily="18" charset="2"/>
              </a:rPr>
              <a:t> de la Curva de Phillips</a:t>
            </a:r>
          </a:p>
          <a:p>
            <a:pPr eaLnBrk="1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>
                <a:srgbClr val="003300"/>
              </a:buClr>
              <a:buFont typeface="Arial" panose="020B0604020202020204" pitchFamily="34" charset="0"/>
              <a:buChar char="•"/>
            </a:pPr>
            <a:r>
              <a:rPr lang="es-PE" altLang="es-PE" sz="2200" b="0" dirty="0">
                <a:solidFill>
                  <a:schemeClr val="tx1"/>
                </a:solidFill>
                <a:sym typeface="Symbol" panose="05050102010706020507" pitchFamily="18" charset="2"/>
              </a:rPr>
              <a:t>Hacia 1970 se rompió la relación entre la tasa de inflación y la tasa de desempleo.</a:t>
            </a:r>
          </a:p>
        </p:txBody>
      </p:sp>
      <p:sp>
        <p:nvSpPr>
          <p:cNvPr id="17414" name="Rectangle 7"/>
          <p:cNvSpPr>
            <a:spLocks noGrp="1"/>
          </p:cNvSpPr>
          <p:nvPr>
            <p:ph type="title"/>
          </p:nvPr>
        </p:nvSpPr>
        <p:spPr/>
        <p:txBody>
          <a:bodyPr vert="horz" wrap="square" lIns="91440" tIns="548640" rIns="91440" bIns="457200" anchor="ctr"/>
          <a:lstStyle/>
          <a:p>
            <a:pPr eaLnBrk="1" hangingPunct="1"/>
            <a:r>
              <a:rPr lang="es-PE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La curva de </a:t>
            </a:r>
            <a:r>
              <a:rPr lang="en-US" altLang="es-PE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Phillips</a:t>
            </a:r>
            <a:endParaRPr lang="en-US" altLang="es-PE" dirty="0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252D295A-F5C4-40DC-80C4-46AC0660373C}"/>
              </a:ext>
            </a:extLst>
          </p:cNvPr>
          <p:cNvSpPr/>
          <p:nvPr/>
        </p:nvSpPr>
        <p:spPr>
          <a:xfrm>
            <a:off x="377926" y="3755701"/>
            <a:ext cx="2226945" cy="28956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s-PE" dirty="0">
                <a:latin typeface="Arial Narrow" panose="020B0606020202030204" pitchFamily="34" charset="0"/>
              </a:rPr>
              <a:t>A partir de 1970, la relación entre la tasa de desempleo y la tasa de inflación desapareció en los Estados Unidos.</a:t>
            </a:r>
          </a:p>
        </p:txBody>
      </p:sp>
      <p:sp>
        <p:nvSpPr>
          <p:cNvPr id="5" name="Text Box 12">
            <a:extLst>
              <a:ext uri="{FF2B5EF4-FFF2-40B4-BE49-F238E27FC236}">
                <a16:creationId xmlns:a16="http://schemas.microsoft.com/office/drawing/2014/main" id="{8E4096EB-BD63-4C79-B071-2ADD3F1CDF43}"/>
              </a:ext>
            </a:extLst>
          </p:cNvPr>
          <p:cNvSpPr txBox="1"/>
          <p:nvPr/>
        </p:nvSpPr>
        <p:spPr>
          <a:xfrm>
            <a:off x="400049" y="2688901"/>
            <a:ext cx="2226945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en-US" altLang="es-PE" sz="1600" b="1" i="1" dirty="0">
                <a:sym typeface="+mn-ea"/>
              </a:rPr>
              <a:t>Infla</a:t>
            </a:r>
            <a:r>
              <a:rPr lang="es-PE" altLang="en-US" sz="1600" b="1" i="1" dirty="0">
                <a:sym typeface="+mn-ea"/>
              </a:rPr>
              <a:t>ció</a:t>
            </a:r>
            <a:r>
              <a:rPr lang="en-US" altLang="es-PE" sz="1600" b="1" i="1" dirty="0">
                <a:sym typeface="+mn-ea"/>
              </a:rPr>
              <a:t>n vs </a:t>
            </a:r>
            <a:r>
              <a:rPr lang="es-PE" altLang="en-US" sz="1600" b="1" i="1" dirty="0">
                <a:sym typeface="+mn-ea"/>
              </a:rPr>
              <a:t>Desempleo e</a:t>
            </a:r>
            <a:r>
              <a:rPr lang="en-US" altLang="es-PE" sz="1600" b="1" i="1" dirty="0">
                <a:sym typeface="+mn-ea"/>
              </a:rPr>
              <a:t>n </a:t>
            </a:r>
            <a:r>
              <a:rPr lang="es-PE" altLang="en-US" sz="1600" b="1" i="1" dirty="0">
                <a:sym typeface="+mn-ea"/>
              </a:rPr>
              <a:t>EEUU</a:t>
            </a:r>
            <a:r>
              <a:rPr lang="en-US" altLang="es-PE" sz="1600" b="1" i="1" dirty="0">
                <a:sym typeface="+mn-ea"/>
              </a:rPr>
              <a:t>, </a:t>
            </a:r>
            <a:r>
              <a:rPr lang="es-PE" altLang="en-US" sz="1600" b="1" i="1" u="sng" dirty="0">
                <a:sym typeface="+mn-ea"/>
              </a:rPr>
              <a:t>desde </a:t>
            </a:r>
            <a:r>
              <a:rPr lang="en-US" altLang="es-PE" sz="1600" b="1" i="1" u="sng" dirty="0">
                <a:latin typeface="Arial" panose="020B0604020202020204" pitchFamily="34" charset="0"/>
              </a:rPr>
              <a:t>1970 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17CFD33-4BE8-4D28-BC7A-7A11967E655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3409" t="34740" r="8374" b="21229"/>
          <a:stretch/>
        </p:blipFill>
        <p:spPr>
          <a:xfrm>
            <a:off x="3276600" y="2584409"/>
            <a:ext cx="5734049" cy="3714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163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Marcador de número de diapositiva 3"/>
          <p:cNvSpPr txBox="1">
            <a:spLocks noGrp="1"/>
          </p:cNvSpPr>
          <p:nvPr>
            <p:ph type="sldNum" sz="quarter" idx="4294967295"/>
          </p:nvPr>
        </p:nvSpPr>
        <p:spPr>
          <a:xfrm>
            <a:off x="8001000" y="6581775"/>
            <a:ext cx="1143000" cy="304800"/>
          </a:xfrm>
          <a:prstGeom prst="rect">
            <a:avLst/>
          </a:prstGeom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Font typeface="Wingdings" panose="05000000000000000000" pitchFamily="2" charset="2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en-US" altLang="es-PE" sz="1400" dirty="0">
                <a:solidFill>
                  <a:srgbClr val="008080"/>
                </a:solidFill>
              </a:rPr>
              <a:t>22</a:t>
            </a:fld>
            <a:r>
              <a:rPr lang="en-US" altLang="es-PE" sz="1400" dirty="0">
                <a:solidFill>
                  <a:srgbClr val="008080"/>
                </a:solidFill>
              </a:rPr>
              <a:t> of 33</a:t>
            </a:r>
          </a:p>
        </p:txBody>
      </p:sp>
      <p:sp>
        <p:nvSpPr>
          <p:cNvPr id="366595" name="Rectangle 3"/>
          <p:cNvSpPr>
            <a:spLocks noGrp="1"/>
          </p:cNvSpPr>
          <p:nvPr>
            <p:ph idx="1" hasCustomPrompt="1"/>
          </p:nvPr>
        </p:nvSpPr>
        <p:spPr>
          <a:xfrm>
            <a:off x="719847" y="1371600"/>
            <a:ext cx="8229600" cy="5118100"/>
          </a:xfrm>
        </p:spPr>
        <p:txBody>
          <a:bodyPr vert="horz" wrap="square" lIns="91440" tIns="45720" rIns="91440" bIns="45720" anchor="t"/>
          <a:lstStyle/>
          <a:p>
            <a:pPr marL="0" indent="0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Clr>
                <a:srgbClr val="C40075"/>
              </a:buClr>
            </a:pPr>
            <a:r>
              <a:rPr lang="es-PE" altLang="en-US" sz="2000" u="sng" dirty="0">
                <a:solidFill>
                  <a:schemeClr val="tx1"/>
                </a:solidFill>
              </a:rPr>
              <a:t>Curva de Phillips Modificada</a:t>
            </a:r>
            <a:endParaRPr lang="es-PE" altLang="en-US" sz="2000" b="0" dirty="0">
              <a:solidFill>
                <a:schemeClr val="tx1"/>
              </a:solidFill>
            </a:endParaRPr>
          </a:p>
          <a:p>
            <a:pPr marL="0" indent="0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Clr>
                <a:srgbClr val="C40075"/>
              </a:buClr>
            </a:pPr>
            <a:r>
              <a:rPr lang="es-PE" altLang="en-US" sz="2000" b="0" dirty="0">
                <a:solidFill>
                  <a:schemeClr val="tx1"/>
                </a:solidFill>
              </a:rPr>
              <a:t>La relación negativa observada entre desempleo e inflación observada durante la decada de los 60s, se desvanece por dos razones:</a:t>
            </a:r>
            <a:endParaRPr lang="en-US" altLang="es-PE" sz="2000" b="0" dirty="0">
              <a:solidFill>
                <a:schemeClr val="tx1"/>
              </a:solidFill>
            </a:endParaRPr>
          </a:p>
          <a:p>
            <a:pPr marL="463550" lvl="1" indent="-349250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Clr>
                <a:srgbClr val="C40075"/>
              </a:buClr>
            </a:pPr>
            <a:r>
              <a:rPr lang="es-PE" altLang="en-US" sz="2000" dirty="0"/>
              <a:t>Un </a:t>
            </a:r>
            <a:r>
              <a:rPr lang="es-PE" altLang="en-US" sz="2000" dirty="0">
                <a:solidFill>
                  <a:srgbClr val="0066CC"/>
                </a:solidFill>
              </a:rPr>
              <a:t>aumento en el precio del petroleo</a:t>
            </a:r>
            <a:r>
              <a:rPr lang="es-PE" altLang="en-US" sz="2000" dirty="0"/>
              <a:t>.</a:t>
            </a:r>
          </a:p>
          <a:p>
            <a:pPr marL="463550" lvl="1" indent="-349250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Clr>
                <a:srgbClr val="C40075"/>
              </a:buClr>
            </a:pPr>
            <a:r>
              <a:rPr lang="es-PE" altLang="en-US" sz="2000" dirty="0"/>
              <a:t>Modificación en el modo </a:t>
            </a:r>
            <a:r>
              <a:rPr lang="es-PE" altLang="en-US" sz="2000" dirty="0">
                <a:sym typeface="+mn-ea"/>
              </a:rPr>
              <a:t>de formación de expectativas de </a:t>
            </a:r>
            <a:r>
              <a:rPr lang="es-PE" altLang="en-US" sz="2000" dirty="0"/>
              <a:t>los agentes involucrados en el establecimiendo de salarios debido a un cambio en el comportamiento de la tasa de inflación.</a:t>
            </a:r>
            <a:endParaRPr lang="en-US" altLang="es-PE" sz="2000" dirty="0"/>
          </a:p>
          <a:p>
            <a:pPr marL="914400" lvl="2" indent="-336550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Clr>
                <a:schemeClr val="tx1"/>
              </a:buClr>
            </a:pPr>
            <a:r>
              <a:rPr lang="es-PE" altLang="en-US" dirty="0"/>
              <a:t>La tasa de inflación se hace consistentemente más positiva, y</a:t>
            </a:r>
          </a:p>
          <a:p>
            <a:pPr marL="914400" lvl="2" indent="-336550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Clr>
                <a:schemeClr val="tx1"/>
              </a:buClr>
            </a:pPr>
            <a:r>
              <a:rPr lang="es-PE" altLang="en-US" dirty="0"/>
              <a:t>La inflación se hace más </a:t>
            </a:r>
            <a:r>
              <a:rPr lang="es-PE" altLang="en-US" dirty="0">
                <a:solidFill>
                  <a:srgbClr val="0066CC"/>
                </a:solidFill>
              </a:rPr>
              <a:t>persistente</a:t>
            </a:r>
            <a:r>
              <a:rPr lang="es-PE" altLang="en-US" dirty="0"/>
              <a:t>.</a:t>
            </a:r>
            <a:endParaRPr lang="en-US" altLang="es-PE" dirty="0"/>
          </a:p>
        </p:txBody>
      </p:sp>
      <p:sp>
        <p:nvSpPr>
          <p:cNvPr id="23556" name="Rectangle 5"/>
          <p:cNvSpPr>
            <a:spLocks noGrp="1"/>
          </p:cNvSpPr>
          <p:nvPr>
            <p:ph type="title"/>
          </p:nvPr>
        </p:nvSpPr>
        <p:spPr/>
        <p:txBody>
          <a:bodyPr vert="horz" wrap="square" lIns="91440" tIns="548640" rIns="91440" bIns="457200" anchor="ctr"/>
          <a:lstStyle/>
          <a:p>
            <a:pPr eaLnBrk="1" hangingPunct="1"/>
            <a:r>
              <a:rPr lang="es-PE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La curva de </a:t>
            </a:r>
            <a:r>
              <a:rPr lang="en-US" altLang="es-PE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Phillips</a:t>
            </a:r>
            <a:endParaRPr lang="en-US" altLang="es-PE" dirty="0"/>
          </a:p>
        </p:txBody>
      </p:sp>
      <p:sp>
        <p:nvSpPr>
          <p:cNvPr id="23557" name="Rectangle 6"/>
          <p:cNvSpPr/>
          <p:nvPr/>
        </p:nvSpPr>
        <p:spPr>
          <a:xfrm>
            <a:off x="533400" y="838200"/>
            <a:ext cx="8229600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defRPr sz="2400" b="1" kern="1200">
                <a:solidFill>
                  <a:srgbClr val="00808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C0066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/>
            <a:r>
              <a:rPr lang="es-PE" altLang="en-US" dirty="0">
                <a:sym typeface="+mn-ea"/>
              </a:rPr>
              <a:t>Formación de expectativas</a:t>
            </a:r>
            <a:endParaRPr lang="en-US" altLang="es-PE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6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6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66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66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66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66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6595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1" name="Rectangle 3"/>
          <p:cNvSpPr/>
          <p:nvPr/>
        </p:nvSpPr>
        <p:spPr>
          <a:xfrm>
            <a:off x="533400" y="1228725"/>
            <a:ext cx="8314690" cy="33744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defRPr sz="2400" b="1" kern="1200">
                <a:solidFill>
                  <a:srgbClr val="00808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C0066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Clr>
                <a:srgbClr val="C40075"/>
              </a:buClr>
            </a:pPr>
            <a:r>
              <a:rPr lang="es-PE" altLang="en-US" sz="2200" b="0" dirty="0">
                <a:solidFill>
                  <a:schemeClr val="tx1"/>
                </a:solidFill>
              </a:rPr>
              <a:t>Asumiendo que las expectativas de inflación están formadas de acuerdo con:</a:t>
            </a:r>
            <a:endParaRPr lang="en-US" altLang="es-PE" sz="2200" b="0" dirty="0">
              <a:solidFill>
                <a:schemeClr val="tx1"/>
              </a:solidFill>
            </a:endParaRPr>
          </a:p>
          <a:p>
            <a:pPr marL="0" lvl="0" indent="0" algn="ctr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Clr>
                <a:srgbClr val="C40075"/>
              </a:buClr>
            </a:pPr>
            <a:r>
              <a:rPr lang="es-PE" altLang="en-US" sz="22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π</a:t>
            </a:r>
            <a:r>
              <a:rPr lang="es-PE" altLang="en-US" sz="2200" i="1" baseline="-25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</a:t>
            </a:r>
            <a:r>
              <a:rPr lang="es-PE" altLang="en-US" sz="22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s-PE" altLang="en-US" sz="2200" i="1" baseline="30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e </a:t>
            </a:r>
            <a:r>
              <a:rPr lang="es-PE" altLang="en-US" sz="22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= (1-</a:t>
            </a:r>
            <a:r>
              <a:rPr lang="el-GR" altLang="en-US" sz="22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θ</a:t>
            </a:r>
            <a:r>
              <a:rPr lang="es-PE" altLang="en-US" sz="22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  ͞</a:t>
            </a:r>
            <a:r>
              <a:rPr lang="es-PE" altLang="en-US" sz="22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s-PE" altLang="en-US" sz="2200" i="1" baseline="-25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</a:t>
            </a:r>
            <a:r>
              <a:rPr lang="es-PE" altLang="en-US" sz="22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+ </a:t>
            </a:r>
            <a:r>
              <a:rPr lang="el-GR" altLang="en-US" sz="22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θ</a:t>
            </a:r>
            <a:r>
              <a:rPr lang="el-GR" altLang="en-US" sz="22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s-PE" altLang="en-US" sz="2200" i="1" baseline="-25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t-1		</a:t>
            </a:r>
            <a:r>
              <a:rPr lang="es-PE" altLang="en-US" sz="22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0&lt; </a:t>
            </a:r>
            <a:r>
              <a:rPr lang="el-GR" altLang="en-US" sz="22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θ</a:t>
            </a:r>
            <a:r>
              <a:rPr lang="es-PE" altLang="en-US" sz="22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&lt; 1</a:t>
            </a:r>
            <a:endParaRPr lang="en-US" altLang="es-PE" sz="2200" b="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Clr>
                <a:srgbClr val="C40075"/>
              </a:buClr>
            </a:pPr>
            <a:endParaRPr lang="es-PE" altLang="en-US" sz="800" b="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Clr>
                <a:srgbClr val="C40075"/>
              </a:buClr>
              <a:buFont typeface="Wingdings" panose="05000000000000000000" pitchFamily="2" charset="2"/>
              <a:buChar char="§"/>
            </a:pPr>
            <a:r>
              <a:rPr lang="es-PE" altLang="en-US" sz="22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͞</a:t>
            </a:r>
            <a:r>
              <a:rPr lang="es-PE" altLang="en-US" sz="22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s-PE" altLang="en-US" sz="2200" i="1" baseline="-25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</a:t>
            </a:r>
            <a:r>
              <a:rPr lang="es-PE" altLang="en-US" sz="22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s-PE" altLang="en-US" sz="2200" b="0" dirty="0">
                <a:solidFill>
                  <a:schemeClr val="tx1"/>
                </a:solidFill>
                <a:sym typeface="Symbol" panose="05050102010706020507" pitchFamily="18" charset="2"/>
              </a:rPr>
              <a:t>: es la inflación promedio de los años previos</a:t>
            </a:r>
          </a:p>
          <a:p>
            <a:pPr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Clr>
                <a:srgbClr val="C40075"/>
              </a:buClr>
              <a:buFont typeface="Wingdings" panose="05000000000000000000" pitchFamily="2" charset="2"/>
              <a:buChar char="§"/>
            </a:pPr>
            <a:r>
              <a:rPr lang="el-GR" altLang="en-US" sz="22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θ </a:t>
            </a:r>
            <a:r>
              <a:rPr lang="es-PE" altLang="en-US" sz="2200" b="0" dirty="0">
                <a:solidFill>
                  <a:schemeClr val="tx1"/>
                </a:solidFill>
                <a:sym typeface="Symbol" panose="05050102010706020507" pitchFamily="18" charset="2"/>
              </a:rPr>
              <a:t>: mide el impacto de la inflación pasada (</a:t>
            </a:r>
            <a:r>
              <a:rPr lang="es-PE" altLang="en-US" sz="22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</a:t>
            </a:r>
            <a:r>
              <a:rPr lang="es-PE" altLang="en-US" sz="2200" b="0" i="1" baseline="-25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t-1</a:t>
            </a:r>
            <a:r>
              <a:rPr lang="es-PE" altLang="en-US" sz="22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 </a:t>
            </a:r>
            <a:r>
              <a:rPr lang="es-PE" altLang="en-US" sz="2200" b="0" dirty="0">
                <a:solidFill>
                  <a:schemeClr val="tx1"/>
                </a:solidFill>
                <a:sym typeface="Symbol" panose="05050102010706020507" pitchFamily="18" charset="2"/>
              </a:rPr>
              <a:t>) en la inflación actual (</a:t>
            </a:r>
            <a:r>
              <a:rPr lang="es-PE" altLang="en-US" sz="22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</a:t>
            </a:r>
            <a:r>
              <a:rPr lang="es-PE" altLang="en-US" sz="2200" b="0" i="1" baseline="-25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t</a:t>
            </a:r>
            <a:r>
              <a:rPr lang="es-PE" altLang="en-US" sz="22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 </a:t>
            </a:r>
            <a:r>
              <a:rPr lang="es-PE" altLang="en-US" sz="2200" b="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).</a:t>
            </a:r>
            <a:endParaRPr lang="es-PE" altLang="en-US" sz="2000" b="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7414" name="Rectangle 7"/>
          <p:cNvSpPr>
            <a:spLocks noGrp="1"/>
          </p:cNvSpPr>
          <p:nvPr>
            <p:ph type="title"/>
          </p:nvPr>
        </p:nvSpPr>
        <p:spPr/>
        <p:txBody>
          <a:bodyPr vert="horz" wrap="square" lIns="91440" tIns="548640" rIns="91440" bIns="457200" anchor="ctr"/>
          <a:lstStyle/>
          <a:p>
            <a:pPr eaLnBrk="1" hangingPunct="1"/>
            <a:r>
              <a:rPr lang="es-PE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La curva de </a:t>
            </a:r>
            <a:r>
              <a:rPr lang="en-US" altLang="es-PE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Phillips</a:t>
            </a:r>
            <a:endParaRPr lang="en-US" altLang="es-PE" dirty="0"/>
          </a:p>
        </p:txBody>
      </p:sp>
      <p:sp>
        <p:nvSpPr>
          <p:cNvPr id="17415" name="Rectangle 8"/>
          <p:cNvSpPr/>
          <p:nvPr/>
        </p:nvSpPr>
        <p:spPr>
          <a:xfrm>
            <a:off x="533400" y="838200"/>
            <a:ext cx="8229600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defRPr sz="2400" b="1" kern="1200">
                <a:solidFill>
                  <a:srgbClr val="00808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C0066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/>
            <a:r>
              <a:rPr lang="es-PE" altLang="en-US" dirty="0">
                <a:sym typeface="+mn-ea"/>
              </a:rPr>
              <a:t>Formación de expectativas</a:t>
            </a:r>
            <a:endParaRPr lang="en-US" altLang="es-PE" dirty="0"/>
          </a:p>
        </p:txBody>
      </p:sp>
    </p:spTree>
    <p:extLst>
      <p:ext uri="{BB962C8B-B14F-4D97-AF65-F5344CB8AC3E}">
        <p14:creationId xmlns:p14="http://schemas.microsoft.com/office/powerpoint/2010/main" val="39860504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1" name="Rectangle 3"/>
          <p:cNvSpPr/>
          <p:nvPr/>
        </p:nvSpPr>
        <p:spPr>
          <a:xfrm>
            <a:off x="598825" y="1447800"/>
            <a:ext cx="8229600" cy="483850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defRPr sz="2400" b="1" kern="1200">
                <a:solidFill>
                  <a:srgbClr val="00808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C0066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Clr>
                <a:srgbClr val="C40075"/>
              </a:buClr>
            </a:pPr>
            <a:r>
              <a:rPr lang="es-PE" altLang="en-US" sz="2200" b="0" dirty="0">
                <a:solidFill>
                  <a:schemeClr val="tx1"/>
                </a:solidFill>
              </a:rPr>
              <a:t>Las expectativas se forman según:</a:t>
            </a:r>
          </a:p>
          <a:p>
            <a:pPr marL="0" lvl="0" indent="0" algn="ctr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Clr>
                <a:srgbClr val="C40075"/>
              </a:buClr>
            </a:pPr>
            <a:r>
              <a:rPr lang="es-PE" altLang="en-US" sz="22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π</a:t>
            </a:r>
            <a:r>
              <a:rPr lang="es-PE" altLang="en-US" sz="2200" i="1" baseline="-25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</a:t>
            </a:r>
            <a:r>
              <a:rPr lang="es-PE" altLang="en-US" sz="22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s-PE" altLang="en-US" sz="2200" i="1" baseline="30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e </a:t>
            </a:r>
            <a:r>
              <a:rPr lang="es-PE" altLang="en-US" sz="22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= (1-</a:t>
            </a:r>
            <a:r>
              <a:rPr lang="el-GR" altLang="en-US" sz="22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θ</a:t>
            </a:r>
            <a:r>
              <a:rPr lang="es-PE" altLang="en-US" sz="22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  ͞</a:t>
            </a:r>
            <a:r>
              <a:rPr lang="es-PE" altLang="en-US" sz="22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s-PE" altLang="en-US" sz="2200" i="1" baseline="-25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</a:t>
            </a:r>
            <a:r>
              <a:rPr lang="es-PE" altLang="en-US" sz="22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+ </a:t>
            </a:r>
            <a:r>
              <a:rPr lang="el-GR" altLang="en-US" sz="22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θ</a:t>
            </a:r>
            <a:r>
              <a:rPr lang="el-GR" altLang="en-US" sz="22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s-PE" altLang="en-US" sz="2200" i="1" baseline="-25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t-1		</a:t>
            </a:r>
            <a:r>
              <a:rPr lang="es-PE" altLang="en-US" sz="22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0&lt; </a:t>
            </a:r>
            <a:r>
              <a:rPr lang="el-GR" altLang="en-US" sz="22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θ</a:t>
            </a:r>
            <a:r>
              <a:rPr lang="es-PE" altLang="en-US" sz="22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&lt; 1</a:t>
            </a:r>
            <a:endParaRPr lang="en-US" altLang="es-PE" sz="2200" b="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Clr>
                <a:srgbClr val="C40075"/>
              </a:buClr>
            </a:pPr>
            <a:endParaRPr lang="es-PE" altLang="en-US" sz="800" b="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Clr>
                <a:srgbClr val="C40075"/>
              </a:buClr>
              <a:buFont typeface="Wingdings" panose="05000000000000000000" pitchFamily="2" charset="2"/>
              <a:buChar char="§"/>
            </a:pPr>
            <a:r>
              <a:rPr lang="es-PE" altLang="en-US" sz="2200" b="0" dirty="0">
                <a:solidFill>
                  <a:schemeClr val="tx1"/>
                </a:solidFill>
                <a:sym typeface="Symbol" panose="05050102010706020507" pitchFamily="18" charset="2"/>
              </a:rPr>
              <a:t>En los años 60s, cuando la inflación </a:t>
            </a:r>
            <a:r>
              <a:rPr lang="es-PE" altLang="en-US" sz="22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π</a:t>
            </a:r>
            <a:r>
              <a:rPr lang="es-PE" altLang="en-US" sz="2200" b="0" i="1" baseline="-25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  </a:t>
            </a:r>
            <a:r>
              <a:rPr lang="es-PE" altLang="en-US" sz="2200" b="0" dirty="0">
                <a:solidFill>
                  <a:schemeClr val="tx1"/>
                </a:solidFill>
              </a:rPr>
              <a:t>fue baja se tenía una inflación promedio casi nula (</a:t>
            </a:r>
            <a:r>
              <a:rPr lang="el-GR" altLang="en-US" sz="22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θ</a:t>
            </a:r>
            <a:r>
              <a:rPr lang="es-PE" altLang="en-US" sz="2200" b="0" dirty="0">
                <a:solidFill>
                  <a:schemeClr val="tx1"/>
                </a:solidFill>
              </a:rPr>
              <a:t> es casi cero). </a:t>
            </a:r>
            <a:endParaRPr lang="es-PE" altLang="en-US" sz="2200" b="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Clr>
                <a:srgbClr val="C40075"/>
              </a:buClr>
              <a:buFont typeface="Wingdings" panose="05000000000000000000" pitchFamily="2" charset="2"/>
              <a:buChar char="§"/>
            </a:pPr>
            <a:r>
              <a:rPr lang="es-PE" altLang="en-US" sz="2200" b="0" dirty="0">
                <a:solidFill>
                  <a:schemeClr val="tx1"/>
                </a:solidFill>
                <a:sym typeface="Symbol" panose="05050102010706020507" pitchFamily="18" charset="2"/>
              </a:rPr>
              <a:t>Si  </a:t>
            </a:r>
            <a:r>
              <a:rPr lang="el-GR" altLang="en-US" sz="2200" i="1" dirty="0">
                <a:solidFill>
                  <a:srgbClr val="0066CC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θ</a:t>
            </a:r>
            <a:r>
              <a:rPr lang="es-PE" altLang="en-US" sz="2200" i="1" dirty="0">
                <a:solidFill>
                  <a:srgbClr val="0066CC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 = 0  </a:t>
            </a:r>
            <a:r>
              <a:rPr lang="es-PE" altLang="en-US" sz="2200" b="0" dirty="0">
                <a:solidFill>
                  <a:schemeClr val="tx1"/>
                </a:solidFill>
                <a:sym typeface="Symbol" panose="05050102010706020507" pitchFamily="18" charset="2"/>
              </a:rPr>
              <a:t>y </a:t>
            </a:r>
            <a:r>
              <a:rPr lang="es-PE" altLang="en-US" sz="22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π</a:t>
            </a:r>
            <a:r>
              <a:rPr lang="es-PE" altLang="en-US" sz="2200" b="0" i="1" baseline="-25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</a:t>
            </a:r>
            <a:r>
              <a:rPr lang="es-PE" altLang="en-US" sz="22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s-PE" altLang="en-US" sz="2200" b="0" i="1" baseline="30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e </a:t>
            </a:r>
            <a:r>
              <a:rPr lang="es-PE" altLang="en-US" sz="22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= ͞</a:t>
            </a:r>
            <a:r>
              <a:rPr lang="es-PE" altLang="en-US" sz="22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s-PE" altLang="en-US" sz="2200" b="0" i="1" baseline="-25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</a:t>
            </a:r>
            <a:r>
              <a:rPr lang="es-PE" altLang="en-US" sz="22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s-PE" altLang="en-US" sz="22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</a:p>
          <a:p>
            <a:pPr marL="800100" lvl="2" indent="0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Clr>
                <a:srgbClr val="C40075"/>
              </a:buClr>
              <a:buNone/>
            </a:pPr>
            <a:r>
              <a:rPr lang="es-PE" altLang="en-US" sz="24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π = π </a:t>
            </a:r>
            <a:r>
              <a:rPr lang="es-PE" altLang="en-US" sz="2400" i="1" baseline="30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e</a:t>
            </a:r>
            <a:r>
              <a:rPr lang="es-PE" altLang="en-US" sz="24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+ (m + z) – </a:t>
            </a:r>
            <a:r>
              <a:rPr lang="el-GR" altLang="en-US" sz="24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α</a:t>
            </a:r>
            <a:r>
              <a:rPr lang="es-PE" altLang="en-US" sz="24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u  </a:t>
            </a:r>
            <a:r>
              <a:rPr lang="es-PE" altLang="en-US" sz="24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endParaRPr lang="es-PE" altLang="en-US" sz="2800" b="0" i="1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800100" lvl="2" indent="0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Clr>
                <a:srgbClr val="C40075"/>
              </a:buClr>
              <a:buNone/>
            </a:pPr>
            <a:r>
              <a:rPr lang="es-PE" altLang="en-US" sz="24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π</a:t>
            </a:r>
            <a:r>
              <a:rPr lang="es-PE" altLang="en-US" sz="2400" b="0" i="1" baseline="-25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  </a:t>
            </a:r>
            <a:r>
              <a:rPr lang="es-PE" altLang="en-US" sz="24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=(m + z) – </a:t>
            </a:r>
            <a:r>
              <a:rPr lang="el-GR" altLang="en-US" sz="24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α</a:t>
            </a:r>
            <a:r>
              <a:rPr lang="es-PE" altLang="en-US" sz="24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u</a:t>
            </a:r>
            <a:r>
              <a:rPr lang="es-PE" altLang="en-US" sz="2400" b="0" i="1" baseline="-25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</a:t>
            </a:r>
            <a:r>
              <a:rPr lang="es-PE" altLang="en-US" sz="2400" b="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Clr>
                <a:srgbClr val="C40075"/>
              </a:buClr>
              <a:buFont typeface="Wingdings" panose="05000000000000000000" pitchFamily="2" charset="2"/>
              <a:buChar char="§"/>
            </a:pPr>
            <a:r>
              <a:rPr lang="es-PE" altLang="en-US" sz="2200" b="0" dirty="0">
                <a:solidFill>
                  <a:schemeClr val="tx1"/>
                </a:solidFill>
              </a:rPr>
              <a:t>Se tiene la </a:t>
            </a:r>
            <a:r>
              <a:rPr lang="es-PE" altLang="en-US" sz="2200" u="sng" dirty="0">
                <a:solidFill>
                  <a:schemeClr val="tx1"/>
                </a:solidFill>
              </a:rPr>
              <a:t>Curva de Phillips original</a:t>
            </a:r>
          </a:p>
          <a:p>
            <a:pPr marL="0" indent="0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Clr>
                <a:srgbClr val="C40075"/>
              </a:buClr>
            </a:pPr>
            <a:endParaRPr lang="es-PE" altLang="en-US" sz="800" b="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14" name="Rectangle 7"/>
          <p:cNvSpPr>
            <a:spLocks noGrp="1"/>
          </p:cNvSpPr>
          <p:nvPr>
            <p:ph type="title"/>
          </p:nvPr>
        </p:nvSpPr>
        <p:spPr/>
        <p:txBody>
          <a:bodyPr vert="horz" wrap="square" lIns="91440" tIns="548640" rIns="91440" bIns="457200" anchor="ctr"/>
          <a:lstStyle/>
          <a:p>
            <a:pPr eaLnBrk="1" hangingPunct="1"/>
            <a:r>
              <a:rPr lang="es-PE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La curva de </a:t>
            </a:r>
            <a:r>
              <a:rPr lang="en-US" altLang="es-PE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Phillips</a:t>
            </a:r>
            <a:endParaRPr lang="en-US" altLang="es-PE" dirty="0"/>
          </a:p>
        </p:txBody>
      </p:sp>
      <p:sp>
        <p:nvSpPr>
          <p:cNvPr id="17415" name="Rectangle 8"/>
          <p:cNvSpPr/>
          <p:nvPr/>
        </p:nvSpPr>
        <p:spPr>
          <a:xfrm>
            <a:off x="533400" y="838200"/>
            <a:ext cx="8229600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defRPr sz="2400" b="1" kern="1200">
                <a:solidFill>
                  <a:srgbClr val="00808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C0066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/>
            <a:r>
              <a:rPr lang="es-PE" altLang="en-US" dirty="0">
                <a:sym typeface="+mn-ea"/>
              </a:rPr>
              <a:t>Formación de expectativas</a:t>
            </a:r>
            <a:endParaRPr lang="en-US" altLang="es-PE" dirty="0"/>
          </a:p>
        </p:txBody>
      </p:sp>
    </p:spTree>
    <p:extLst>
      <p:ext uri="{BB962C8B-B14F-4D97-AF65-F5344CB8AC3E}">
        <p14:creationId xmlns:p14="http://schemas.microsoft.com/office/powerpoint/2010/main" val="9556691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9" name="Rectangle 3"/>
          <p:cNvSpPr>
            <a:spLocks noGrp="1"/>
          </p:cNvSpPr>
          <p:nvPr>
            <p:ph idx="1" hasCustomPrompt="1"/>
          </p:nvPr>
        </p:nvSpPr>
        <p:spPr>
          <a:xfrm>
            <a:off x="609600" y="1371600"/>
            <a:ext cx="8153400" cy="5257800"/>
          </a:xfrm>
        </p:spPr>
        <p:txBody>
          <a:bodyPr vert="horz" wrap="square" lIns="91440" tIns="45720" rIns="91440" bIns="45720" anchor="t"/>
          <a:lstStyle/>
          <a:p>
            <a:pPr marL="114300" lvl="1" indent="0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Clr>
                <a:srgbClr val="C40075"/>
              </a:buClr>
              <a:buNone/>
            </a:pPr>
            <a:r>
              <a:rPr lang="es-PE" altLang="en-US" sz="2000" b="1" u="sng" dirty="0"/>
              <a:t>Curva de Phillips Modificada</a:t>
            </a:r>
            <a:endParaRPr lang="es-PE" altLang="en-US" sz="2000" b="1" dirty="0">
              <a:sym typeface="Symbol" panose="05050102010706020507" pitchFamily="18" charset="2"/>
            </a:endParaRPr>
          </a:p>
          <a:p>
            <a:pPr marL="395605" lvl="1" indent="-281305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Clr>
                <a:srgbClr val="C40075"/>
              </a:buClr>
            </a:pPr>
            <a:r>
              <a:rPr lang="es-PE" altLang="en-US" sz="2000" dirty="0">
                <a:sym typeface="Symbol" panose="05050102010706020507" pitchFamily="18" charset="2"/>
              </a:rPr>
              <a:t>En la medida que la </a:t>
            </a:r>
            <a:r>
              <a:rPr lang="es-PE" altLang="en-US" sz="2000" dirty="0">
                <a:solidFill>
                  <a:srgbClr val="0066CC"/>
                </a:solidFill>
                <a:sym typeface="Symbol" panose="05050102010706020507" pitchFamily="18" charset="2"/>
              </a:rPr>
              <a:t>inflación era baja y no persistente</a:t>
            </a:r>
            <a:r>
              <a:rPr lang="es-PE" altLang="en-US" sz="2000" dirty="0">
                <a:sym typeface="Symbol" panose="05050102010706020507" pitchFamily="18" charset="2"/>
              </a:rPr>
              <a:t>, fue razonable pensar que trabajadores y empresas:</a:t>
            </a:r>
          </a:p>
          <a:p>
            <a:pPr marL="895350" lvl="1" indent="-176213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Clr>
                <a:srgbClr val="C40075"/>
              </a:buClr>
              <a:buFont typeface="Wingdings" panose="05000000000000000000" pitchFamily="2" charset="2"/>
              <a:buChar char="ü"/>
            </a:pPr>
            <a:r>
              <a:rPr lang="es-PE" altLang="en-US" sz="2000" dirty="0">
                <a:sym typeface="Symbol" panose="05050102010706020507" pitchFamily="18" charset="2"/>
              </a:rPr>
              <a:t> ignoraron la inflación pasada y </a:t>
            </a:r>
          </a:p>
          <a:p>
            <a:pPr marL="895350" lvl="1" indent="-176213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Clr>
                <a:srgbClr val="C40075"/>
              </a:buClr>
              <a:buFont typeface="Wingdings" panose="05000000000000000000" pitchFamily="2" charset="2"/>
              <a:buChar char="ü"/>
            </a:pPr>
            <a:r>
              <a:rPr lang="es-PE" altLang="en-US" sz="2000" dirty="0">
                <a:sym typeface="Symbol" panose="05050102010706020507" pitchFamily="18" charset="2"/>
              </a:rPr>
              <a:t> asumieron que el nivel de precios este año sería a grosso 	modo el mismo nivel de precios del año previo.</a:t>
            </a:r>
          </a:p>
          <a:p>
            <a:pPr marL="395605" lvl="1" indent="-281305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Clr>
                <a:srgbClr val="C40075"/>
              </a:buClr>
            </a:pPr>
            <a:r>
              <a:rPr lang="es-PE" altLang="en-US" sz="2000" dirty="0">
                <a:sym typeface="Symbol" panose="05050102010706020507" pitchFamily="18" charset="2"/>
              </a:rPr>
              <a:t>Sin embargo, en la medida que la </a:t>
            </a:r>
            <a:r>
              <a:rPr lang="es-PE" altLang="en-US" sz="2000" dirty="0">
                <a:solidFill>
                  <a:srgbClr val="0066CC"/>
                </a:solidFill>
                <a:sym typeface="Symbol" panose="05050102010706020507" pitchFamily="18" charset="2"/>
              </a:rPr>
              <a:t>inflación se hizo más persistente</a:t>
            </a:r>
            <a:r>
              <a:rPr lang="es-PE" altLang="en-US" sz="2000" dirty="0">
                <a:sym typeface="Symbol" panose="05050102010706020507" pitchFamily="18" charset="2"/>
              </a:rPr>
              <a:t>, trabajadores y empresas empezaron a cambiar la manera que formaban sus expectativas.</a:t>
            </a:r>
          </a:p>
          <a:p>
            <a:pPr marL="395605" lvl="1" indent="-281305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Clr>
                <a:srgbClr val="C40075"/>
              </a:buClr>
            </a:pPr>
            <a:r>
              <a:rPr lang="es-PE" altLang="en-US" sz="2000" dirty="0"/>
              <a:t>Lo que se puede pensar que ocurrió en los 1970s fue un aumento en el valor de </a:t>
            </a:r>
            <a:r>
              <a:rPr lang="en-US" altLang="es-PE" sz="2000" i="1" dirty="0">
                <a:sym typeface="Symbol" panose="05050102010706020507" pitchFamily="18" charset="2"/>
              </a:rPr>
              <a:t></a:t>
            </a:r>
            <a:r>
              <a:rPr lang="en-US" altLang="es-PE" sz="2000" dirty="0">
                <a:sym typeface="Symbol" panose="05050102010706020507" pitchFamily="18" charset="2"/>
              </a:rPr>
              <a:t> </a:t>
            </a:r>
            <a:r>
              <a:rPr lang="es-PE" altLang="es-PE" sz="2000" dirty="0">
                <a:sym typeface="Symbol" panose="05050102010706020507" pitchFamily="18" charset="2"/>
              </a:rPr>
              <a:t>.</a:t>
            </a:r>
            <a:endParaRPr lang="en-US" altLang="es-PE" sz="2000" dirty="0">
              <a:sym typeface="Symbol" panose="05050102010706020507" pitchFamily="18" charset="2"/>
            </a:endParaRPr>
          </a:p>
        </p:txBody>
      </p:sp>
      <p:sp>
        <p:nvSpPr>
          <p:cNvPr id="29700" name="Rectangle 5"/>
          <p:cNvSpPr>
            <a:spLocks noGrp="1"/>
          </p:cNvSpPr>
          <p:nvPr>
            <p:ph type="title"/>
          </p:nvPr>
        </p:nvSpPr>
        <p:spPr/>
        <p:txBody>
          <a:bodyPr vert="horz" wrap="square" lIns="91440" tIns="548640" rIns="91440" bIns="457200" anchor="ctr"/>
          <a:lstStyle/>
          <a:p>
            <a:pPr eaLnBrk="1" hangingPunct="1"/>
            <a:r>
              <a:rPr lang="es-PE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La curva de </a:t>
            </a:r>
            <a:r>
              <a:rPr lang="en-US" altLang="es-PE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Phillips</a:t>
            </a:r>
            <a:endParaRPr lang="en-US" altLang="es-PE" dirty="0"/>
          </a:p>
        </p:txBody>
      </p:sp>
      <p:sp>
        <p:nvSpPr>
          <p:cNvPr id="29701" name="Rectangle 6"/>
          <p:cNvSpPr/>
          <p:nvPr/>
        </p:nvSpPr>
        <p:spPr>
          <a:xfrm>
            <a:off x="533400" y="838200"/>
            <a:ext cx="8229600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defRPr sz="2400" b="1" kern="1200">
                <a:solidFill>
                  <a:srgbClr val="00808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C0066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/>
            <a:r>
              <a:rPr lang="es-PE" altLang="en-US" dirty="0">
                <a:sym typeface="+mn-ea"/>
              </a:rPr>
              <a:t>Formación de expectativas</a:t>
            </a:r>
            <a:endParaRPr lang="en-US" altLang="es-P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Par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2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72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72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72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72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2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2739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1" name="Rectangle 3"/>
          <p:cNvSpPr/>
          <p:nvPr/>
        </p:nvSpPr>
        <p:spPr>
          <a:xfrm>
            <a:off x="533400" y="1219200"/>
            <a:ext cx="8229601" cy="409964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defRPr sz="2400" b="1" kern="1200">
                <a:solidFill>
                  <a:srgbClr val="00808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C0066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Clr>
                <a:srgbClr val="C40075"/>
              </a:buClr>
            </a:pPr>
            <a:endParaRPr lang="es-PE" altLang="en-US" sz="700" b="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Clr>
                <a:srgbClr val="C40075"/>
              </a:buClr>
            </a:pPr>
            <a:r>
              <a:rPr lang="es-PE" altLang="en-US" sz="2000" b="1" u="sng" dirty="0">
                <a:solidFill>
                  <a:schemeClr val="tx1"/>
                </a:solidFill>
              </a:rPr>
              <a:t>Curva de Phillips Modificada</a:t>
            </a:r>
            <a:endParaRPr lang="es-PE" altLang="en-US" sz="2000" b="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Clr>
                <a:srgbClr val="C40075"/>
              </a:buClr>
              <a:buFont typeface="Wingdings" panose="05000000000000000000" pitchFamily="2" charset="2"/>
              <a:buChar char="§"/>
            </a:pPr>
            <a:r>
              <a:rPr lang="es-PE" altLang="en-US" sz="2000" b="0" dirty="0">
                <a:solidFill>
                  <a:schemeClr val="tx1"/>
                </a:solidFill>
                <a:sym typeface="Symbol" panose="05050102010706020507" pitchFamily="18" charset="2"/>
              </a:rPr>
              <a:t>En la medida que la inflación se hace persistente, trabajadores y empresas empiezan a cambiar su manera cómo forman sus expectativas. </a:t>
            </a:r>
          </a:p>
          <a:p>
            <a:pPr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Clr>
                <a:srgbClr val="C40075"/>
              </a:buClr>
              <a:buFont typeface="Wingdings" panose="05000000000000000000" pitchFamily="2" charset="2"/>
              <a:buChar char="§"/>
            </a:pPr>
            <a:r>
              <a:rPr lang="es-PE" altLang="en-US" sz="2000" b="0" dirty="0">
                <a:solidFill>
                  <a:schemeClr val="tx1"/>
                </a:solidFill>
                <a:sym typeface="Symbol" panose="05050102010706020507" pitchFamily="18" charset="2"/>
              </a:rPr>
              <a:t>Así, </a:t>
            </a:r>
            <a:r>
              <a:rPr lang="el-GR" altLang="en-US" sz="20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θ</a:t>
            </a:r>
            <a:r>
              <a:rPr lang="es-PE" altLang="en-US" sz="18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s-PE" altLang="en-US" sz="2000" b="0" dirty="0">
                <a:solidFill>
                  <a:schemeClr val="tx1"/>
                </a:solidFill>
              </a:rPr>
              <a:t>aumenta</a:t>
            </a:r>
            <a:r>
              <a:rPr lang="es-PE" altLang="en-US" sz="2000" i="1" baseline="-25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s-PE" altLang="en-US" sz="2000" i="1" dirty="0">
                <a:solidFill>
                  <a:schemeClr val="accent2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0&lt; </a:t>
            </a:r>
            <a:r>
              <a:rPr lang="el-GR" altLang="en-US" sz="2000" i="1" dirty="0">
                <a:solidFill>
                  <a:schemeClr val="accent2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θ</a:t>
            </a:r>
            <a:r>
              <a:rPr lang="es-PE" altLang="en-US" sz="2000" i="1" dirty="0">
                <a:solidFill>
                  <a:schemeClr val="accent2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&lt; 1</a:t>
            </a:r>
            <a:endParaRPr lang="es-PE" altLang="en-US" sz="2000" b="0" dirty="0">
              <a:solidFill>
                <a:schemeClr val="tx1"/>
              </a:solidFill>
            </a:endParaRPr>
          </a:p>
          <a:p>
            <a:pPr eaLnBrk="1" hangingPunct="1">
              <a:lnSpc>
                <a:spcPct val="200000"/>
              </a:lnSpc>
              <a:spcBef>
                <a:spcPct val="5000"/>
              </a:spcBef>
              <a:spcAft>
                <a:spcPct val="5000"/>
              </a:spcAft>
              <a:buClr>
                <a:srgbClr val="C40075"/>
              </a:buClr>
              <a:buFont typeface="Wingdings" panose="05000000000000000000" pitchFamily="2" charset="2"/>
              <a:buChar char="§"/>
            </a:pPr>
            <a:r>
              <a:rPr lang="es-PE" altLang="en-US" sz="2000" b="0" dirty="0">
                <a:solidFill>
                  <a:schemeClr val="tx1"/>
                </a:solidFill>
                <a:sym typeface="Symbol" panose="05050102010706020507" pitchFamily="18" charset="2"/>
              </a:rPr>
              <a:t>Si </a:t>
            </a:r>
            <a:r>
              <a:rPr lang="es-PE" altLang="en-US" sz="2000" i="1" dirty="0">
                <a:solidFill>
                  <a:srgbClr val="0066CC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0&lt; </a:t>
            </a:r>
            <a:r>
              <a:rPr lang="el-GR" altLang="en-US" sz="2000" i="1" dirty="0">
                <a:solidFill>
                  <a:srgbClr val="0066CC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θ</a:t>
            </a:r>
            <a:r>
              <a:rPr lang="es-PE" altLang="en-US" sz="2000" i="1" dirty="0">
                <a:solidFill>
                  <a:srgbClr val="0066CC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&lt; 1  </a:t>
            </a:r>
            <a:r>
              <a:rPr lang="es-PE" altLang="en-US" sz="2000" b="0" dirty="0">
                <a:solidFill>
                  <a:schemeClr val="tx1"/>
                </a:solidFill>
                <a:sym typeface="Symbol" panose="05050102010706020507" pitchFamily="18" charset="2"/>
              </a:rPr>
              <a:t>y </a:t>
            </a:r>
            <a:r>
              <a:rPr lang="es-PE" altLang="en-US" sz="20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π</a:t>
            </a:r>
            <a:r>
              <a:rPr lang="es-PE" altLang="en-US" sz="2000" b="0" i="1" baseline="-25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</a:t>
            </a:r>
            <a:r>
              <a:rPr lang="es-PE" altLang="en-US" sz="20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s-PE" altLang="en-US" sz="2000" b="0" i="1" baseline="30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e </a:t>
            </a:r>
            <a:r>
              <a:rPr lang="es-PE" altLang="en-US" sz="20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= (1-</a:t>
            </a:r>
            <a:r>
              <a:rPr lang="el-GR" altLang="en-US" sz="20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θ</a:t>
            </a:r>
            <a:r>
              <a:rPr lang="es-PE" altLang="en-US" sz="20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  ͞</a:t>
            </a:r>
            <a:r>
              <a:rPr lang="es-PE" altLang="en-US" sz="20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s-PE" altLang="en-US" sz="2000" b="0" i="1" baseline="-25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</a:t>
            </a:r>
            <a:r>
              <a:rPr lang="es-PE" altLang="en-US" sz="20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+ </a:t>
            </a:r>
            <a:r>
              <a:rPr lang="el-GR" altLang="en-US" sz="20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θ</a:t>
            </a:r>
            <a:r>
              <a:rPr lang="el-GR" altLang="en-US" sz="20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s-PE" altLang="en-US" sz="2000" b="0" i="1" baseline="-25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t-1 </a:t>
            </a:r>
            <a:r>
              <a:rPr lang="es-PE" altLang="en-US" sz="20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</a:t>
            </a:r>
          </a:p>
          <a:p>
            <a:pPr marL="1071563" indent="0" eaLnBrk="1" hangingPunct="1">
              <a:lnSpc>
                <a:spcPct val="200000"/>
              </a:lnSpc>
              <a:spcBef>
                <a:spcPct val="5000"/>
              </a:spcBef>
              <a:spcAft>
                <a:spcPct val="5000"/>
              </a:spcAft>
              <a:buClr>
                <a:srgbClr val="C40075"/>
              </a:buClr>
            </a:pPr>
            <a:r>
              <a:rPr lang="es-PE" altLang="en-US" sz="20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π</a:t>
            </a:r>
            <a:r>
              <a:rPr lang="es-PE" altLang="en-US" sz="2000" b="0" i="1" baseline="-25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</a:t>
            </a:r>
            <a:r>
              <a:rPr lang="es-PE" altLang="en-US" sz="20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= (1-</a:t>
            </a:r>
            <a:r>
              <a:rPr lang="el-GR" altLang="en-US" sz="20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θ</a:t>
            </a:r>
            <a:r>
              <a:rPr lang="es-PE" altLang="en-US" sz="20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  ͞</a:t>
            </a:r>
            <a:r>
              <a:rPr lang="es-PE" altLang="en-US" sz="20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s-PE" altLang="en-US" sz="2000" b="0" i="1" baseline="-25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 </a:t>
            </a:r>
            <a:r>
              <a:rPr lang="es-PE" altLang="en-US" sz="20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+ </a:t>
            </a:r>
            <a:r>
              <a:rPr lang="el-GR" altLang="en-US" sz="20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θ</a:t>
            </a:r>
            <a:r>
              <a:rPr lang="el-GR" altLang="en-US" sz="20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s-PE" altLang="en-US" sz="2000" b="0" i="1" baseline="-25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t-1  </a:t>
            </a:r>
            <a:r>
              <a:rPr lang="es-PE" altLang="en-US" sz="20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 </a:t>
            </a:r>
            <a:r>
              <a:rPr lang="es-PE" altLang="en-US" sz="2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 + z) - </a:t>
            </a:r>
            <a:r>
              <a:rPr lang="el-GR" altLang="en-US" sz="2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s-PE" altLang="en-US" sz="2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s-PE" altLang="en-US" sz="2000" b="1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s-PE" altLang="en-US" sz="2000" b="0" i="1" baseline="-250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Clr>
                <a:srgbClr val="C40075"/>
              </a:buClr>
            </a:pPr>
            <a:endParaRPr lang="es-PE" altLang="en-US" sz="700" b="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17414" name="Rectangle 7"/>
          <p:cNvSpPr>
            <a:spLocks noGrp="1"/>
          </p:cNvSpPr>
          <p:nvPr>
            <p:ph type="title"/>
          </p:nvPr>
        </p:nvSpPr>
        <p:spPr/>
        <p:txBody>
          <a:bodyPr vert="horz" wrap="square" lIns="91440" tIns="548640" rIns="91440" bIns="457200" anchor="ctr"/>
          <a:lstStyle/>
          <a:p>
            <a:pPr eaLnBrk="1" hangingPunct="1"/>
            <a:r>
              <a:rPr lang="es-PE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La curva de </a:t>
            </a:r>
            <a:r>
              <a:rPr lang="en-US" altLang="es-PE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Phillips</a:t>
            </a:r>
            <a:endParaRPr lang="en-US" altLang="es-PE" dirty="0"/>
          </a:p>
        </p:txBody>
      </p:sp>
      <p:sp>
        <p:nvSpPr>
          <p:cNvPr id="17415" name="Rectangle 8"/>
          <p:cNvSpPr/>
          <p:nvPr/>
        </p:nvSpPr>
        <p:spPr>
          <a:xfrm>
            <a:off x="533400" y="838200"/>
            <a:ext cx="8229600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defRPr sz="2400" b="1" kern="1200">
                <a:solidFill>
                  <a:srgbClr val="00808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C0066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/>
            <a:r>
              <a:rPr lang="es-PE" altLang="en-US" dirty="0">
                <a:sym typeface="+mn-ea"/>
              </a:rPr>
              <a:t>Formación de expectativas</a:t>
            </a:r>
            <a:endParaRPr lang="en-US" altLang="es-PE" dirty="0"/>
          </a:p>
        </p:txBody>
      </p:sp>
    </p:spTree>
    <p:extLst>
      <p:ext uri="{BB962C8B-B14F-4D97-AF65-F5344CB8AC3E}">
        <p14:creationId xmlns:p14="http://schemas.microsoft.com/office/powerpoint/2010/main" val="31447436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1" name="Rectangle 3"/>
          <p:cNvSpPr/>
          <p:nvPr/>
        </p:nvSpPr>
        <p:spPr>
          <a:xfrm>
            <a:off x="605155" y="1399162"/>
            <a:ext cx="8086090" cy="48712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defRPr sz="2400" b="1" kern="1200">
                <a:solidFill>
                  <a:srgbClr val="00808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C0066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Clr>
                <a:srgbClr val="C40075"/>
              </a:buClr>
            </a:pPr>
            <a:endParaRPr lang="es-PE" altLang="en-US" sz="700" b="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Clr>
                <a:srgbClr val="C40075"/>
              </a:buClr>
            </a:pPr>
            <a:r>
              <a:rPr lang="es-PE" altLang="en-US" sz="2000" u="sng" dirty="0">
                <a:solidFill>
                  <a:schemeClr val="tx1"/>
                </a:solidFill>
                <a:sym typeface="Symbol" panose="05050102010706020507" pitchFamily="18" charset="2"/>
              </a:rPr>
              <a:t>Curva de Phillips </a:t>
            </a:r>
            <a:r>
              <a:rPr lang="es-PE" altLang="en-US" sz="2000" u="sng" dirty="0" err="1">
                <a:solidFill>
                  <a:schemeClr val="tx1"/>
                </a:solidFill>
                <a:sym typeface="Symbol" panose="05050102010706020507" pitchFamily="18" charset="2"/>
              </a:rPr>
              <a:t>Aceleracionista</a:t>
            </a:r>
            <a:endParaRPr lang="es-PE" altLang="en-US" sz="2000" u="sng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Clr>
                <a:srgbClr val="C40075"/>
              </a:buClr>
              <a:buFont typeface="Wingdings" panose="05000000000000000000" pitchFamily="2" charset="2"/>
              <a:buChar char="§"/>
            </a:pPr>
            <a:r>
              <a:rPr lang="es-PE" altLang="en-US" sz="2000" b="0" dirty="0">
                <a:solidFill>
                  <a:schemeClr val="tx1"/>
                </a:solidFill>
                <a:sym typeface="Symbol" panose="05050102010706020507" pitchFamily="18" charset="2"/>
              </a:rPr>
              <a:t>El caso extremo es cuando se traslada por completo el efecto del período previo </a:t>
            </a:r>
            <a:r>
              <a:rPr lang="es-PE" altLang="en-US" sz="2000" dirty="0">
                <a:solidFill>
                  <a:srgbClr val="0070C0"/>
                </a:solidFill>
                <a:sym typeface="Symbol" panose="05050102010706020507" pitchFamily="18" charset="2"/>
              </a:rPr>
              <a:t>(</a:t>
            </a:r>
            <a:r>
              <a:rPr lang="el-GR" altLang="en-US" sz="2000" i="1" dirty="0">
                <a:solidFill>
                  <a:srgbClr val="0070C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θ</a:t>
            </a:r>
            <a:r>
              <a:rPr lang="es-PE" altLang="en-US" sz="2000" i="1" dirty="0">
                <a:solidFill>
                  <a:srgbClr val="0070C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 = 1 ).</a:t>
            </a:r>
            <a:endParaRPr lang="es-PE" altLang="en-US" sz="2000" i="1" dirty="0">
              <a:solidFill>
                <a:srgbClr val="0070C0"/>
              </a:solidFill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Clr>
                <a:srgbClr val="C40075"/>
              </a:buClr>
            </a:pPr>
            <a:endParaRPr lang="es-PE" altLang="en-US" sz="700" b="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marL="342900" lvl="0" indent="-342900" eaLnBrk="1" hangingPunct="1">
              <a:lnSpc>
                <a:spcPct val="200000"/>
              </a:lnSpc>
              <a:spcBef>
                <a:spcPct val="5000"/>
              </a:spcBef>
              <a:spcAft>
                <a:spcPct val="5000"/>
              </a:spcAft>
              <a:buClr>
                <a:srgbClr val="C40075"/>
              </a:buClr>
              <a:buFont typeface="Wingdings" panose="05000000000000000000" pitchFamily="2" charset="2"/>
              <a:buChar char="§"/>
            </a:pPr>
            <a:r>
              <a:rPr lang="es-PE" altLang="en-US" sz="2000" b="0" dirty="0">
                <a:solidFill>
                  <a:schemeClr val="tx1"/>
                </a:solidFill>
                <a:sym typeface="Symbol" panose="05050102010706020507" pitchFamily="18" charset="2"/>
              </a:rPr>
              <a:t>Si </a:t>
            </a:r>
            <a:r>
              <a:rPr lang="el-GR" altLang="en-US" sz="20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θ</a:t>
            </a:r>
            <a:r>
              <a:rPr lang="es-PE" altLang="en-US" sz="20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 = 1 y </a:t>
            </a:r>
            <a:r>
              <a:rPr lang="es-PE" altLang="en-US" sz="20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π</a:t>
            </a:r>
            <a:r>
              <a:rPr lang="es-PE" altLang="en-US" sz="2000" b="0" i="1" baseline="-25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</a:t>
            </a:r>
            <a:r>
              <a:rPr lang="es-PE" altLang="en-US" sz="2000" b="0" i="1" baseline="30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e </a:t>
            </a:r>
            <a:r>
              <a:rPr lang="es-PE" altLang="en-US" sz="20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=</a:t>
            </a:r>
            <a:r>
              <a:rPr lang="es-PE" altLang="en-US" sz="20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s-PE" altLang="en-US" sz="2000" b="0" i="1" baseline="-25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t-1</a:t>
            </a:r>
            <a:r>
              <a:rPr lang="es-PE" altLang="en-US" sz="20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s-PE" altLang="en-US" sz="20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 </a:t>
            </a:r>
            <a:r>
              <a:rPr lang="es-PE" altLang="en-US" sz="2000" b="0" dirty="0">
                <a:solidFill>
                  <a:schemeClr val="tx1"/>
                </a:solidFill>
                <a:sym typeface="Wingdings" panose="05000000000000000000" pitchFamily="2" charset="2"/>
              </a:rPr>
              <a:t>en </a:t>
            </a:r>
            <a:r>
              <a:rPr lang="es-PE" altLang="en-US" sz="20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π</a:t>
            </a:r>
            <a:r>
              <a:rPr lang="es-PE" altLang="en-US" sz="2000" i="1" baseline="-25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</a:t>
            </a:r>
            <a:r>
              <a:rPr lang="es-PE" altLang="en-US" sz="20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s-PE" altLang="en-US" sz="2000" i="1" baseline="30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e </a:t>
            </a:r>
            <a:r>
              <a:rPr lang="es-PE" altLang="en-US" sz="20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= (1-</a:t>
            </a:r>
            <a:r>
              <a:rPr lang="el-GR" altLang="en-US" sz="20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θ</a:t>
            </a:r>
            <a:r>
              <a:rPr lang="es-PE" altLang="en-US" sz="20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  ͞</a:t>
            </a:r>
            <a:r>
              <a:rPr lang="es-PE" altLang="en-US" sz="20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s-PE" altLang="en-US" sz="2000" i="1" baseline="-25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</a:t>
            </a:r>
            <a:r>
              <a:rPr lang="es-PE" altLang="en-US" sz="20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+ </a:t>
            </a:r>
            <a:r>
              <a:rPr lang="el-GR" altLang="en-US" sz="20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θ</a:t>
            </a:r>
            <a:r>
              <a:rPr lang="el-GR" altLang="en-US" sz="20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s-PE" altLang="en-US" sz="2000" i="1" baseline="-25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t-1</a:t>
            </a:r>
          </a:p>
          <a:p>
            <a:pPr marL="0" lvl="0" indent="0" eaLnBrk="1" hangingPunct="1">
              <a:lnSpc>
                <a:spcPct val="200000"/>
              </a:lnSpc>
              <a:spcBef>
                <a:spcPct val="5000"/>
              </a:spcBef>
              <a:spcAft>
                <a:spcPct val="5000"/>
              </a:spcAft>
              <a:buClr>
                <a:srgbClr val="C40075"/>
              </a:buClr>
            </a:pPr>
            <a:r>
              <a:rPr lang="es-PE" altLang="en-US" sz="2000" b="0" i="1" baseline="-25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s-PE" altLang="en-US" sz="20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π</a:t>
            </a:r>
            <a:r>
              <a:rPr lang="es-PE" altLang="en-US" sz="2000" b="0" i="1" baseline="-25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 </a:t>
            </a:r>
            <a:r>
              <a:rPr lang="es-PE" altLang="en-US" sz="20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=</a:t>
            </a:r>
            <a:r>
              <a:rPr lang="es-PE" altLang="en-US" sz="2000" b="0" i="1" baseline="-25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l-GR" altLang="en-US" sz="20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s-PE" altLang="en-US" sz="2000" b="0" i="1" baseline="-25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t-1</a:t>
            </a:r>
            <a:r>
              <a:rPr lang="es-PE" altLang="en-US" sz="20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-  u</a:t>
            </a:r>
            <a:r>
              <a:rPr lang="es-PE" altLang="en-US" sz="2000" b="0" i="1" baseline="-25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es-PE" altLang="en-US" sz="20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 (</a:t>
            </a:r>
            <a:r>
              <a:rPr lang="es-PE" altLang="en-US" sz="2000" b="0" i="1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z+m</a:t>
            </a:r>
            <a:r>
              <a:rPr lang="es-PE" altLang="en-US" sz="20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s-PE" altLang="en-US" sz="2000" b="0" i="1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982663" lvl="0" indent="0" eaLnBrk="1" hangingPunct="1">
              <a:lnSpc>
                <a:spcPct val="200000"/>
              </a:lnSpc>
              <a:spcBef>
                <a:spcPct val="5000"/>
              </a:spcBef>
              <a:spcAft>
                <a:spcPct val="5000"/>
              </a:spcAft>
              <a:buClr>
                <a:srgbClr val="C40075"/>
              </a:buClr>
            </a:pPr>
            <a:r>
              <a:rPr lang="es-PE" altLang="en-US" sz="20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π</a:t>
            </a:r>
            <a:r>
              <a:rPr lang="es-PE" altLang="en-US" sz="2000" b="0" i="1" baseline="-25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 </a:t>
            </a:r>
            <a:r>
              <a:rPr lang="es-PE" altLang="en-US" sz="20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-</a:t>
            </a:r>
            <a:r>
              <a:rPr lang="es-PE" altLang="en-US" sz="2000" b="0" i="1" baseline="-25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l-GR" altLang="en-US" sz="20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s-PE" altLang="en-US" sz="2000" b="0" i="1" baseline="-25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t-1</a:t>
            </a:r>
            <a:r>
              <a:rPr lang="es-PE" altLang="en-US" sz="20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 -  u</a:t>
            </a:r>
            <a:r>
              <a:rPr lang="es-PE" altLang="en-US" sz="2000" b="0" i="1" baseline="-25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es-PE" altLang="en-US" sz="20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 (</a:t>
            </a:r>
            <a:r>
              <a:rPr lang="es-PE" altLang="en-US" sz="2000" b="0" i="1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z+m</a:t>
            </a:r>
            <a:r>
              <a:rPr lang="es-PE" altLang="en-US" sz="2000" b="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 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Clr>
                <a:srgbClr val="C40075"/>
              </a:buClr>
            </a:pPr>
            <a:endParaRPr lang="es-PE" altLang="en-US" sz="700" b="0" i="1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342900" lvl="0" indent="-342900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Clr>
                <a:srgbClr val="C40075"/>
              </a:buClr>
              <a:buFont typeface="Wingdings" panose="05000000000000000000" pitchFamily="2" charset="2"/>
              <a:buChar char="§"/>
            </a:pPr>
            <a:r>
              <a:rPr lang="es-PE" altLang="en-US" sz="2000" b="0" dirty="0">
                <a:solidFill>
                  <a:schemeClr val="tx1"/>
                </a:solidFill>
                <a:sym typeface="Symbol" panose="05050102010706020507" pitchFamily="18" charset="2"/>
              </a:rPr>
              <a:t>Curva de </a:t>
            </a:r>
            <a:r>
              <a:rPr lang="es-PE" altLang="en-US" sz="2000" u="sng" dirty="0">
                <a:solidFill>
                  <a:schemeClr val="tx1"/>
                </a:solidFill>
                <a:sym typeface="Symbol" panose="05050102010706020507" pitchFamily="18" charset="2"/>
              </a:rPr>
              <a:t>Phillips </a:t>
            </a:r>
            <a:r>
              <a:rPr lang="es-PE" altLang="en-US" sz="2000" u="sng" dirty="0" err="1">
                <a:solidFill>
                  <a:schemeClr val="tx1"/>
                </a:solidFill>
                <a:sym typeface="Symbol" panose="05050102010706020507" pitchFamily="18" charset="2"/>
              </a:rPr>
              <a:t>aceleracionista</a:t>
            </a:r>
            <a:r>
              <a:rPr lang="es-PE" altLang="en-US" sz="2000" b="0" dirty="0">
                <a:solidFill>
                  <a:schemeClr val="tx1"/>
                </a:solidFill>
                <a:sym typeface="Symbol" panose="05050102010706020507" pitchFamily="18" charset="2"/>
              </a:rPr>
              <a:t> o curva de </a:t>
            </a:r>
            <a:r>
              <a:rPr lang="es-PE" altLang="en-US" sz="2000" u="sng" dirty="0">
                <a:solidFill>
                  <a:schemeClr val="tx1"/>
                </a:solidFill>
                <a:sym typeface="Symbol" panose="05050102010706020507" pitchFamily="18" charset="2"/>
              </a:rPr>
              <a:t>Phillips con Expectativas adaptativas</a:t>
            </a:r>
            <a:r>
              <a:rPr lang="es-PE" altLang="en-US" sz="2000" b="0" dirty="0">
                <a:solidFill>
                  <a:schemeClr val="tx1"/>
                </a:solidFill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7414" name="Rectangle 7"/>
          <p:cNvSpPr>
            <a:spLocks noGrp="1"/>
          </p:cNvSpPr>
          <p:nvPr>
            <p:ph type="title"/>
          </p:nvPr>
        </p:nvSpPr>
        <p:spPr/>
        <p:txBody>
          <a:bodyPr vert="horz" wrap="square" lIns="91440" tIns="548640" rIns="91440" bIns="457200" anchor="ctr"/>
          <a:lstStyle/>
          <a:p>
            <a:pPr eaLnBrk="1" hangingPunct="1"/>
            <a:r>
              <a:rPr lang="es-PE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La curva de </a:t>
            </a:r>
            <a:r>
              <a:rPr lang="en-US" altLang="es-PE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Phillips</a:t>
            </a:r>
            <a:endParaRPr lang="en-US" altLang="es-PE" dirty="0"/>
          </a:p>
        </p:txBody>
      </p:sp>
      <p:sp>
        <p:nvSpPr>
          <p:cNvPr id="17415" name="Rectangle 8"/>
          <p:cNvSpPr/>
          <p:nvPr/>
        </p:nvSpPr>
        <p:spPr>
          <a:xfrm>
            <a:off x="533400" y="838200"/>
            <a:ext cx="8229600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defRPr sz="2400" b="1" kern="1200">
                <a:solidFill>
                  <a:srgbClr val="00808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C0066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/>
            <a:r>
              <a:rPr lang="es-PE" altLang="en-US" dirty="0">
                <a:sym typeface="+mn-ea"/>
              </a:rPr>
              <a:t>Formación de expectativas</a:t>
            </a:r>
            <a:endParaRPr lang="en-US" altLang="es-PE" dirty="0"/>
          </a:p>
        </p:txBody>
      </p:sp>
    </p:spTree>
    <p:extLst>
      <p:ext uri="{BB962C8B-B14F-4D97-AF65-F5344CB8AC3E}">
        <p14:creationId xmlns:p14="http://schemas.microsoft.com/office/powerpoint/2010/main" val="21536341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Marcador de número de diapositiva 3"/>
          <p:cNvSpPr txBox="1">
            <a:spLocks noGrp="1"/>
          </p:cNvSpPr>
          <p:nvPr>
            <p:ph type="sldNum" sz="quarter" idx="4294967295"/>
          </p:nvPr>
        </p:nvSpPr>
        <p:spPr>
          <a:xfrm>
            <a:off x="8001000" y="6581775"/>
            <a:ext cx="1143000" cy="304800"/>
          </a:xfrm>
          <a:prstGeom prst="rect">
            <a:avLst/>
          </a:prstGeom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Font typeface="Wingdings" panose="05000000000000000000" pitchFamily="2" charset="2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en-US" altLang="es-PE" sz="1400" dirty="0">
                <a:solidFill>
                  <a:srgbClr val="008080"/>
                </a:solidFill>
              </a:rPr>
              <a:t>28</a:t>
            </a:fld>
            <a:r>
              <a:rPr lang="en-US" altLang="es-PE" sz="1400" dirty="0">
                <a:solidFill>
                  <a:srgbClr val="008080"/>
                </a:solidFill>
              </a:rPr>
              <a:t> of 33</a:t>
            </a:r>
          </a:p>
        </p:txBody>
      </p:sp>
      <p:sp>
        <p:nvSpPr>
          <p:cNvPr id="376835" name="Rectangle 3"/>
          <p:cNvSpPr>
            <a:spLocks noGrp="1"/>
          </p:cNvSpPr>
          <p:nvPr>
            <p:ph idx="1" hasCustomPrompt="1"/>
          </p:nvPr>
        </p:nvSpPr>
        <p:spPr>
          <a:xfrm>
            <a:off x="1219200" y="4191000"/>
            <a:ext cx="6858000" cy="2860040"/>
          </a:xfrm>
        </p:spPr>
        <p:txBody>
          <a:bodyPr vert="horz" wrap="square" lIns="91440" tIns="45720" rIns="91440" bIns="45720" anchor="t"/>
          <a:lstStyle/>
          <a:p>
            <a:pPr marL="0" indent="0" eaLnBrk="1" hangingPunct="1">
              <a:lnSpc>
                <a:spcPct val="90000"/>
              </a:lnSpc>
            </a:pPr>
            <a:endParaRPr lang="en-US" altLang="es-PE" sz="2000" b="0" dirty="0">
              <a:solidFill>
                <a:schemeClr val="tx1"/>
              </a:solidFill>
            </a:endParaRPr>
          </a:p>
          <a:p>
            <a:pPr marL="0" indent="0" eaLnBrk="1" hangingPunct="1">
              <a:lnSpc>
                <a:spcPct val="90000"/>
              </a:lnSpc>
            </a:pPr>
            <a:endParaRPr lang="en-US" altLang="es-PE" sz="2000" b="0" dirty="0">
              <a:solidFill>
                <a:schemeClr val="tx1"/>
              </a:solidFill>
            </a:endParaRPr>
          </a:p>
        </p:txBody>
      </p:sp>
      <p:sp>
        <p:nvSpPr>
          <p:cNvPr id="376837" name="Rectangle 5"/>
          <p:cNvSpPr/>
          <p:nvPr/>
        </p:nvSpPr>
        <p:spPr>
          <a:xfrm>
            <a:off x="533400" y="1371282"/>
            <a:ext cx="8229600" cy="441991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>
                <a:srgbClr val="C40075"/>
              </a:buClr>
            </a:pPr>
            <a:r>
              <a:rPr lang="es-PE" altLang="en-US" sz="2000" b="1" u="sng" dirty="0">
                <a:solidFill>
                  <a:schemeClr val="tx1"/>
                </a:solidFill>
                <a:sym typeface="Symbol" panose="05050102010706020507" pitchFamily="18" charset="2"/>
              </a:rPr>
              <a:t>Curva de Phillips </a:t>
            </a:r>
            <a:r>
              <a:rPr lang="es-PE" altLang="en-US" sz="2000" b="1" u="sng" dirty="0" err="1">
                <a:solidFill>
                  <a:schemeClr val="tx1"/>
                </a:solidFill>
                <a:sym typeface="Symbol" panose="05050102010706020507" pitchFamily="18" charset="2"/>
              </a:rPr>
              <a:t>Aceleracionista</a:t>
            </a:r>
            <a:endParaRPr lang="es-PE" altLang="en-US" b="1" dirty="0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marL="339725" indent="-339725" eaLnBrk="1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>
                <a:srgbClr val="C40075"/>
              </a:buClr>
              <a:buFont typeface="Wingdings" panose="05000000000000000000" pitchFamily="2" charset="2"/>
              <a:buChar char="§"/>
            </a:pPr>
            <a:r>
              <a:rPr lang="es-PE" altLang="en-US" dirty="0">
                <a:latin typeface="Arial" panose="020B0604020202020204" pitchFamily="34" charset="0"/>
                <a:sym typeface="Symbol" panose="05050102010706020507" pitchFamily="18" charset="2"/>
              </a:rPr>
              <a:t>Cuando </a:t>
            </a:r>
            <a:r>
              <a:rPr lang="en-US" altLang="es-PE" b="1" i="1" dirty="0">
                <a:solidFill>
                  <a:srgbClr val="0070C0"/>
                </a:solidFill>
                <a:sym typeface="Symbol" panose="05050102010706020507" pitchFamily="18" charset="2"/>
              </a:rPr>
              <a:t></a:t>
            </a:r>
            <a:r>
              <a:rPr lang="en-US" altLang="es-PE" b="1" dirty="0">
                <a:solidFill>
                  <a:srgbClr val="0070C0"/>
                </a:solidFill>
                <a:sym typeface="Symbol" panose="05050102010706020507" pitchFamily="18" charset="2"/>
              </a:rPr>
              <a:t> </a:t>
            </a:r>
            <a:r>
              <a:rPr lang="es-PE" altLang="es-PE" b="1" dirty="0">
                <a:solidFill>
                  <a:srgbClr val="0070C0"/>
                </a:solidFill>
                <a:sym typeface="Symbol" panose="05050102010706020507" pitchFamily="18" charset="2"/>
              </a:rPr>
              <a:t> =</a:t>
            </a:r>
            <a:r>
              <a:rPr lang="es-PE" altLang="en-US" b="1" dirty="0">
                <a:solidFill>
                  <a:srgbClr val="0070C0"/>
                </a:solidFill>
                <a:sym typeface="Symbol" panose="05050102010706020507" pitchFamily="18" charset="2"/>
              </a:rPr>
              <a:t> 1</a:t>
            </a:r>
            <a:r>
              <a:rPr lang="es-PE" altLang="en-US" dirty="0">
                <a:sym typeface="Symbol" panose="05050102010706020507" pitchFamily="18" charset="2"/>
              </a:rPr>
              <a:t>, la relación se convierte en (trasladando la inflación del año previo a la izquierda):</a:t>
            </a:r>
          </a:p>
          <a:p>
            <a:pPr algn="ctr" eaLnBrk="1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>
                <a:srgbClr val="C40075"/>
              </a:buClr>
            </a:pPr>
            <a:r>
              <a:rPr lang="es-PE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s-PE" altLang="en-US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s-PE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π</a:t>
            </a:r>
            <a:r>
              <a:rPr lang="es-PE" altLang="en-US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-1</a:t>
            </a:r>
            <a:r>
              <a:rPr lang="es-PE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(m + z) – </a:t>
            </a:r>
            <a:r>
              <a:rPr lang="el-GR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s-PE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s-PE" altLang="en-US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  <a:p>
            <a:pPr marL="357188" algn="just" eaLnBrk="1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>
                <a:srgbClr val="C40075"/>
              </a:buClr>
            </a:pPr>
            <a:r>
              <a:rPr lang="es-PE" altLang="en-US" dirty="0"/>
              <a:t>Cuando </a:t>
            </a:r>
            <a:r>
              <a:rPr lang="en-US" altLang="es-PE" i="1" dirty="0">
                <a:sym typeface="Symbol" panose="05050102010706020507" pitchFamily="18" charset="2"/>
              </a:rPr>
              <a:t></a:t>
            </a:r>
            <a:r>
              <a:rPr lang="en-US" altLang="es-PE" dirty="0"/>
              <a:t> =1, </a:t>
            </a:r>
            <a:r>
              <a:rPr lang="es-PE" altLang="en-US" dirty="0"/>
              <a:t>la </a:t>
            </a:r>
            <a:r>
              <a:rPr lang="es-PE" altLang="en-US" u="sng" dirty="0"/>
              <a:t>tasa de desempleo</a:t>
            </a:r>
            <a:r>
              <a:rPr lang="es-PE" altLang="en-US" dirty="0"/>
              <a:t> afecta no la tasa de inflación, sino el </a:t>
            </a:r>
            <a:r>
              <a:rPr lang="es-PE" altLang="en-US" u="sng" dirty="0"/>
              <a:t>cambio en la tasa de inflación</a:t>
            </a:r>
            <a:r>
              <a:rPr lang="es-PE" altLang="en-US" dirty="0"/>
              <a:t>.</a:t>
            </a:r>
          </a:p>
          <a:p>
            <a:pPr marL="342900" indent="-342900" algn="just" eaLnBrk="1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>
                <a:srgbClr val="C40075"/>
              </a:buClr>
              <a:buFont typeface="Wingdings" panose="05000000000000000000" pitchFamily="2" charset="2"/>
              <a:buChar char="§"/>
            </a:pPr>
            <a:r>
              <a:rPr lang="es-PE" altLang="en-US" dirty="0"/>
              <a:t>Desde 1970, una clara relación negativa surgió entre la tasa de desempleo y el cambio en la tasa de inflación.</a:t>
            </a:r>
          </a:p>
        </p:txBody>
      </p:sp>
      <p:sp>
        <p:nvSpPr>
          <p:cNvPr id="33797" name="Rectangle 8"/>
          <p:cNvSpPr>
            <a:spLocks noGrp="1"/>
          </p:cNvSpPr>
          <p:nvPr>
            <p:ph type="title"/>
          </p:nvPr>
        </p:nvSpPr>
        <p:spPr/>
        <p:txBody>
          <a:bodyPr vert="horz" wrap="square" lIns="91440" tIns="548640" rIns="91440" bIns="457200" anchor="ctr"/>
          <a:lstStyle/>
          <a:p>
            <a:pPr defTabSz="739775" eaLnBrk="1" hangingPunct="1"/>
            <a:r>
              <a:rPr lang="es-PE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La curva de </a:t>
            </a:r>
            <a:r>
              <a:rPr lang="en-US" altLang="es-PE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Phillips</a:t>
            </a:r>
            <a:endParaRPr lang="en-US" altLang="es-PE" dirty="0"/>
          </a:p>
        </p:txBody>
      </p:sp>
      <p:sp>
        <p:nvSpPr>
          <p:cNvPr id="33798" name="Rectangle 9"/>
          <p:cNvSpPr/>
          <p:nvPr/>
        </p:nvSpPr>
        <p:spPr>
          <a:xfrm>
            <a:off x="533400" y="838200"/>
            <a:ext cx="8229600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defRPr sz="2400" b="1" kern="1200">
                <a:solidFill>
                  <a:srgbClr val="00808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C0066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/>
            <a:r>
              <a:rPr lang="es-PE" altLang="en-US" dirty="0">
                <a:sym typeface="+mn-ea"/>
              </a:rPr>
              <a:t>Formación de expectativas</a:t>
            </a:r>
            <a:endParaRPr lang="en-US" altLang="es-PE" dirty="0"/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Marcador de número de diapositiva 3"/>
          <p:cNvSpPr txBox="1">
            <a:spLocks noGrp="1"/>
          </p:cNvSpPr>
          <p:nvPr>
            <p:ph type="sldNum" sz="quarter" idx="4294967295"/>
          </p:nvPr>
        </p:nvSpPr>
        <p:spPr>
          <a:xfrm>
            <a:off x="8001000" y="6581775"/>
            <a:ext cx="1143000" cy="304800"/>
          </a:xfrm>
          <a:prstGeom prst="rect">
            <a:avLst/>
          </a:prstGeom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Font typeface="Wingdings" panose="05000000000000000000" pitchFamily="2" charset="2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en-US" altLang="es-PE" sz="1400" smtClean="0">
                <a:solidFill>
                  <a:srgbClr val="008080"/>
                </a:solidFill>
              </a:rPr>
              <a:t>29</a:t>
            </a:fld>
            <a:endParaRPr lang="en-US" altLang="es-PE" sz="1400" dirty="0">
              <a:solidFill>
                <a:srgbClr val="008080"/>
              </a:solidFill>
            </a:endParaRPr>
          </a:p>
        </p:txBody>
      </p:sp>
      <p:sp>
        <p:nvSpPr>
          <p:cNvPr id="35843" name="Rectangle 10"/>
          <p:cNvSpPr>
            <a:spLocks noGrp="1"/>
          </p:cNvSpPr>
          <p:nvPr>
            <p:ph type="title"/>
          </p:nvPr>
        </p:nvSpPr>
        <p:spPr/>
        <p:txBody>
          <a:bodyPr vert="horz" wrap="square" lIns="91440" tIns="548640" rIns="91440" bIns="457200" anchor="ctr"/>
          <a:lstStyle/>
          <a:p>
            <a:pPr defTabSz="739775" eaLnBrk="1" hangingPunct="1">
              <a:tabLst>
                <a:tab pos="798830" algn="l"/>
              </a:tabLst>
            </a:pPr>
            <a:r>
              <a:rPr lang="es-PE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La curva de </a:t>
            </a:r>
            <a:r>
              <a:rPr lang="en-US" altLang="es-PE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Phillips</a:t>
            </a:r>
            <a:endParaRPr lang="en-US" altLang="es-PE" dirty="0"/>
          </a:p>
        </p:txBody>
      </p:sp>
      <p:sp>
        <p:nvSpPr>
          <p:cNvPr id="35845" name="Rectangle 11"/>
          <p:cNvSpPr/>
          <p:nvPr/>
        </p:nvSpPr>
        <p:spPr>
          <a:xfrm>
            <a:off x="533400" y="838200"/>
            <a:ext cx="8229600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defRPr sz="2400" b="1" kern="1200">
                <a:solidFill>
                  <a:srgbClr val="00808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C0066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/>
            <a:r>
              <a:rPr lang="es-PE" altLang="en-US" dirty="0">
                <a:sym typeface="+mn-ea"/>
              </a:rPr>
              <a:t>Formación de expectativas</a:t>
            </a:r>
            <a:endParaRPr lang="en-US" altLang="es-PE" dirty="0"/>
          </a:p>
        </p:txBody>
      </p:sp>
      <p:sp>
        <p:nvSpPr>
          <p:cNvPr id="378896" name="Rectangle 16"/>
          <p:cNvSpPr/>
          <p:nvPr/>
        </p:nvSpPr>
        <p:spPr>
          <a:xfrm>
            <a:off x="533400" y="2916172"/>
            <a:ext cx="2202815" cy="342988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es-PE" dirty="0">
                <a:latin typeface="Arial Narrow" panose="020B0606020202030204" pitchFamily="34" charset="0"/>
              </a:rPr>
              <a:t>Desde 1970, ha habido una relación negativa entre la tasa de desempleo y el cambio en la tasa de inflación en los Estados Unidos.</a:t>
            </a:r>
          </a:p>
        </p:txBody>
      </p:sp>
      <p:sp>
        <p:nvSpPr>
          <p:cNvPr id="35851" name="Text Box 18"/>
          <p:cNvSpPr txBox="1"/>
          <p:nvPr/>
        </p:nvSpPr>
        <p:spPr>
          <a:xfrm>
            <a:off x="496111" y="2086227"/>
            <a:ext cx="2349347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es-PE" altLang="en-US" sz="1600" b="1" i="1" dirty="0">
                <a:latin typeface="Arial" panose="020B0604020202020204" pitchFamily="34" charset="0"/>
              </a:rPr>
              <a:t>Cambio en la inflación vs</a:t>
            </a:r>
            <a:r>
              <a:rPr lang="en-US" altLang="es-PE" sz="1600" b="1" i="1" dirty="0">
                <a:latin typeface="Arial" panose="020B0604020202020204" pitchFamily="34" charset="0"/>
              </a:rPr>
              <a:t>  </a:t>
            </a:r>
            <a:r>
              <a:rPr lang="es-PE" altLang="en-US" sz="1600" b="1" i="1" dirty="0">
                <a:latin typeface="Arial" panose="020B0604020202020204" pitchFamily="34" charset="0"/>
              </a:rPr>
              <a:t>Desempleo en EEUU desde</a:t>
            </a:r>
            <a:r>
              <a:rPr lang="en-US" altLang="es-PE" sz="1600" b="1" i="1" dirty="0">
                <a:latin typeface="Arial" panose="020B0604020202020204" pitchFamily="34" charset="0"/>
              </a:rPr>
              <a:t> 1970  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9E36FBB-67DD-4376-8E6C-0BC555146E3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3523" t="17762" r="8316" b="16524"/>
          <a:stretch/>
        </p:blipFill>
        <p:spPr>
          <a:xfrm>
            <a:off x="2942926" y="1981200"/>
            <a:ext cx="6031858" cy="446988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DE0A75DA-8818-78E9-FE68-B19247910936}"/>
              </a:ext>
            </a:extLst>
          </p:cNvPr>
          <p:cNvSpPr txBox="1"/>
          <p:nvPr/>
        </p:nvSpPr>
        <p:spPr>
          <a:xfrm>
            <a:off x="488005" y="1282062"/>
            <a:ext cx="4581726" cy="496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>
                <a:srgbClr val="C40075"/>
              </a:buClr>
            </a:pPr>
            <a:r>
              <a:rPr lang="es-PE" altLang="en-US" sz="2000" b="1" u="sng" dirty="0">
                <a:solidFill>
                  <a:schemeClr val="tx1"/>
                </a:solidFill>
                <a:sym typeface="Symbol" panose="05050102010706020507" pitchFamily="18" charset="2"/>
              </a:rPr>
              <a:t>Curva de Phillips </a:t>
            </a:r>
            <a:r>
              <a:rPr lang="es-PE" altLang="en-US" sz="2000" b="1" u="sng" dirty="0" err="1">
                <a:solidFill>
                  <a:schemeClr val="tx1"/>
                </a:solidFill>
                <a:sym typeface="Symbol" panose="05050102010706020507" pitchFamily="18" charset="2"/>
              </a:rPr>
              <a:t>Aceleracionista</a:t>
            </a:r>
            <a:endParaRPr lang="es-PE" altLang="en-US" b="1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5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78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5" grpId="0"/>
      <p:bldP spid="378896" grpId="1"/>
      <p:bldP spid="3585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291ED8-87EC-2BF0-EF84-58EAC5A3E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7270609-DA9C-D8EC-8C28-439558E83F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/>
            <a:r>
              <a:rPr lang="es-PE" dirty="0"/>
              <a:t>La curva de Phillips y la Tasa Natural de Desempleo</a:t>
            </a:r>
          </a:p>
        </p:txBody>
      </p:sp>
    </p:spTree>
    <p:extLst>
      <p:ext uri="{BB962C8B-B14F-4D97-AF65-F5344CB8AC3E}">
        <p14:creationId xmlns:p14="http://schemas.microsoft.com/office/powerpoint/2010/main" val="28916309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9" name="Rectangle 3"/>
          <p:cNvSpPr>
            <a:spLocks noGrp="1"/>
          </p:cNvSpPr>
          <p:nvPr>
            <p:ph idx="1" hasCustomPrompt="1"/>
          </p:nvPr>
        </p:nvSpPr>
        <p:spPr>
          <a:xfrm>
            <a:off x="652780" y="1371600"/>
            <a:ext cx="7957820" cy="5029200"/>
          </a:xfrm>
        </p:spPr>
        <p:txBody>
          <a:bodyPr vert="horz" wrap="square" lIns="91440" tIns="45720" rIns="91440" bIns="45720" anchor="t"/>
          <a:lstStyle/>
          <a:p>
            <a:pPr marL="354013" indent="-354013" algn="just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s-PE" sz="2200" b="0" dirty="0">
                <a:solidFill>
                  <a:srgbClr val="0066CC"/>
                </a:solidFill>
              </a:rPr>
              <a:t>Milton Friedman </a:t>
            </a:r>
            <a:r>
              <a:rPr lang="es-PE" altLang="en-US" sz="2200" b="0" dirty="0">
                <a:solidFill>
                  <a:srgbClr val="0066CC"/>
                </a:solidFill>
              </a:rPr>
              <a:t>y Edmund </a:t>
            </a:r>
            <a:r>
              <a:rPr lang="en-US" altLang="es-PE" sz="2200" b="0" dirty="0">
                <a:solidFill>
                  <a:srgbClr val="0066CC"/>
                </a:solidFill>
              </a:rPr>
              <a:t>Phelps </a:t>
            </a:r>
            <a:r>
              <a:rPr lang="es-PE" altLang="en-US" sz="2200" b="0" dirty="0">
                <a:solidFill>
                  <a:schemeClr val="tx1"/>
                </a:solidFill>
              </a:rPr>
              <a:t>cuestionaron el </a:t>
            </a:r>
            <a:r>
              <a:rPr lang="en-US" altLang="es-PE" sz="2200" b="0" dirty="0">
                <a:solidFill>
                  <a:schemeClr val="tx1"/>
                </a:solidFill>
              </a:rPr>
              <a:t>trade-off </a:t>
            </a:r>
            <a:r>
              <a:rPr lang="es-PE" altLang="en-US" sz="2200" b="0" dirty="0">
                <a:solidFill>
                  <a:schemeClr val="tx1"/>
                </a:solidFill>
              </a:rPr>
              <a:t>entre desempleo e inflación. </a:t>
            </a:r>
          </a:p>
          <a:p>
            <a:pPr marL="354013" indent="-354013" algn="just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altLang="en-US" sz="2200" b="0" dirty="0">
                <a:solidFill>
                  <a:schemeClr val="tx1"/>
                </a:solidFill>
              </a:rPr>
              <a:t>Ellos a</a:t>
            </a:r>
            <a:r>
              <a:rPr lang="en-US" altLang="es-PE" sz="2200" b="0" dirty="0" err="1">
                <a:solidFill>
                  <a:schemeClr val="tx1"/>
                </a:solidFill>
              </a:rPr>
              <a:t>rgumentaron</a:t>
            </a:r>
            <a:r>
              <a:rPr lang="en-US" altLang="es-PE" sz="2200" b="0" dirty="0">
                <a:solidFill>
                  <a:schemeClr val="tx1"/>
                </a:solidFill>
              </a:rPr>
              <a:t> que la tasa de desempleo no podía mantenerse por debajo de un cierto nivel, un nivel al que llamaron la "tasa natural de desempleo".</a:t>
            </a:r>
          </a:p>
          <a:p>
            <a:pPr marL="354013" indent="-354013" algn="just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altLang="en-US" sz="2200" b="0" dirty="0">
                <a:solidFill>
                  <a:schemeClr val="tx1"/>
                </a:solidFill>
              </a:rPr>
              <a:t>La </a:t>
            </a:r>
            <a:r>
              <a:rPr lang="es-PE" altLang="en-US" sz="2200" u="sng" dirty="0">
                <a:solidFill>
                  <a:schemeClr val="tx1"/>
                </a:solidFill>
              </a:rPr>
              <a:t>tasa natural de desempleo</a:t>
            </a:r>
            <a:r>
              <a:rPr lang="es-PE" altLang="en-US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</a:t>
            </a:r>
            <a:r>
              <a:rPr lang="es-PE" altLang="en-US" sz="22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s-PE" altLang="en-US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altLang="en-US" sz="2200" b="0" dirty="0">
                <a:solidFill>
                  <a:schemeClr val="tx1"/>
                </a:solidFill>
              </a:rPr>
              <a:t>es la tasa de desempleo </a:t>
            </a:r>
            <a:r>
              <a:rPr lang="es-PE" altLang="en-US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s-PE" altLang="en-US" sz="22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s-PE" altLang="en-US" sz="2200" b="0" dirty="0">
                <a:solidFill>
                  <a:schemeClr val="tx1"/>
                </a:solidFill>
              </a:rPr>
              <a:t> tal que la inflación actual </a:t>
            </a:r>
            <a:r>
              <a:rPr lang="en-US" altLang="es-PE" sz="2200" i="1" dirty="0">
                <a:solidFill>
                  <a:schemeClr val="tx1"/>
                </a:solidFill>
                <a:sym typeface="Symbol" panose="05050102010706020507" pitchFamily="18" charset="2"/>
              </a:rPr>
              <a:t></a:t>
            </a:r>
            <a:r>
              <a:rPr lang="en-US" altLang="es-PE" sz="2200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t</a:t>
            </a:r>
            <a:r>
              <a:rPr lang="en-US" altLang="es-PE" sz="2200" i="1" dirty="0">
                <a:sym typeface="Symbol" panose="05050102010706020507" pitchFamily="18" charset="2"/>
              </a:rPr>
              <a:t> </a:t>
            </a:r>
            <a:r>
              <a:rPr lang="es-PE" altLang="en-US" sz="2200" b="0" dirty="0">
                <a:solidFill>
                  <a:schemeClr val="tx1"/>
                </a:solidFill>
                <a:sym typeface="Symbol" panose="05050102010706020507" pitchFamily="18" charset="2"/>
              </a:rPr>
              <a:t>e</a:t>
            </a:r>
            <a:r>
              <a:rPr lang="es-PE" altLang="en-US" sz="2200" b="0" dirty="0">
                <a:solidFill>
                  <a:schemeClr val="tx1"/>
                </a:solidFill>
              </a:rPr>
              <a:t>s igual a la inflación esperada</a:t>
            </a:r>
            <a:r>
              <a:rPr lang="en-US" altLang="es-PE" sz="2200" b="0" dirty="0">
                <a:solidFill>
                  <a:schemeClr val="tx1"/>
                </a:solidFill>
              </a:rPr>
              <a:t> </a:t>
            </a:r>
            <a:r>
              <a:rPr lang="en-US" altLang="es-PE" sz="2200" i="1" dirty="0">
                <a:solidFill>
                  <a:schemeClr val="tx1"/>
                </a:solidFill>
                <a:sym typeface="Symbol" panose="05050102010706020507" pitchFamily="18" charset="2"/>
              </a:rPr>
              <a:t></a:t>
            </a:r>
            <a:r>
              <a:rPr lang="en-US" altLang="es-PE" sz="2200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t</a:t>
            </a:r>
            <a:r>
              <a:rPr lang="es-PE" altLang="en-US" sz="2200" i="1" baseline="30000" dirty="0">
                <a:solidFill>
                  <a:schemeClr val="tx1"/>
                </a:solidFill>
                <a:sym typeface="Symbol" panose="05050102010706020507" pitchFamily="18" charset="2"/>
              </a:rPr>
              <a:t>e </a:t>
            </a:r>
            <a:r>
              <a:rPr lang="es-PE" altLang="en-US" sz="2200" i="1" dirty="0">
                <a:solidFill>
                  <a:schemeClr val="tx1"/>
                </a:solidFill>
                <a:sym typeface="Symbol" panose="05050102010706020507" pitchFamily="18" charset="2"/>
              </a:rPr>
              <a:t>.</a:t>
            </a:r>
          </a:p>
          <a:p>
            <a:pPr marL="0" indent="0" algn="just" eaLnBrk="1" hangingPunct="1">
              <a:lnSpc>
                <a:spcPct val="150000"/>
              </a:lnSpc>
            </a:pPr>
            <a:endParaRPr lang="es-PE" altLang="en-US" sz="2000" i="1" dirty="0">
              <a:solidFill>
                <a:schemeClr val="tx1"/>
              </a:solidFill>
            </a:endParaRPr>
          </a:p>
          <a:p>
            <a:pPr marL="0" indent="0" algn="just" eaLnBrk="1" hangingPunct="1">
              <a:lnSpc>
                <a:spcPct val="150000"/>
              </a:lnSpc>
            </a:pPr>
            <a:endParaRPr lang="es-PE" altLang="en-US" sz="2000" b="0" i="1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39942" name="Rectangle 9"/>
          <p:cNvSpPr>
            <a:spLocks noGrp="1"/>
          </p:cNvSpPr>
          <p:nvPr>
            <p:ph type="title"/>
          </p:nvPr>
        </p:nvSpPr>
        <p:spPr/>
        <p:txBody>
          <a:bodyPr vert="horz" wrap="square" lIns="91440" tIns="548640" rIns="91440" bIns="457200" anchor="ctr"/>
          <a:lstStyle/>
          <a:p>
            <a:pPr defTabSz="739775" eaLnBrk="1" hangingPunct="1"/>
            <a:r>
              <a:rPr lang="es-PE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La curva de </a:t>
            </a:r>
            <a:r>
              <a:rPr lang="en-US" altLang="es-PE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Phillips y Tasa Natural de </a:t>
            </a:r>
            <a:r>
              <a:rPr lang="en-US" altLang="es-PE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Desempleo</a:t>
            </a:r>
            <a:endParaRPr lang="en-US" altLang="es-PE" dirty="0"/>
          </a:p>
        </p:txBody>
      </p:sp>
      <p:sp>
        <p:nvSpPr>
          <p:cNvPr id="382986" name="Rectangle 10"/>
          <p:cNvSpPr/>
          <p:nvPr/>
        </p:nvSpPr>
        <p:spPr>
          <a:xfrm>
            <a:off x="533400" y="838200"/>
            <a:ext cx="8229600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defRPr sz="2400" b="1" kern="1200">
                <a:solidFill>
                  <a:srgbClr val="00808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C0066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/>
            <a:r>
              <a:rPr lang="es-PE" altLang="en-US" dirty="0"/>
              <a:t>De regreso a la Tasa </a:t>
            </a:r>
            <a:r>
              <a:rPr lang="en-US" altLang="es-PE" dirty="0"/>
              <a:t>Natural </a:t>
            </a:r>
            <a:r>
              <a:rPr lang="es-PE" altLang="en-US" dirty="0"/>
              <a:t>de Desempleo</a:t>
            </a:r>
            <a:endParaRPr lang="en-US" altLang="es-PE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2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Par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2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clickPar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82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82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2979" grpId="0" uiExpand="1" build="p" bldLvl="2" advAuto="1000"/>
      <p:bldP spid="38298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82979" name="Rectangle 3"/>
              <p:cNvSpPr>
                <a:spLocks noGrp="1"/>
              </p:cNvSpPr>
              <p:nvPr>
                <p:ph idx="1" hasCustomPrompt="1"/>
              </p:nvPr>
            </p:nvSpPr>
            <p:spPr>
              <a:xfrm>
                <a:off x="304800" y="838200"/>
                <a:ext cx="8686800" cy="6019800"/>
              </a:xfrm>
            </p:spPr>
            <p:txBody>
              <a:bodyPr vert="horz" wrap="square" lIns="91440" tIns="45720" rIns="91440" bIns="45720" anchor="t"/>
              <a:lstStyle/>
              <a:p>
                <a:pPr marL="176213" indent="-176213" algn="just" eaLnBrk="1" hangingPunct="1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s-PE" altLang="en-US" sz="1800" b="0" dirty="0">
                    <a:solidFill>
                      <a:schemeClr val="tx1"/>
                    </a:solidFill>
                  </a:rPr>
                  <a:t>Considerando esa definición (</a:t>
                </a:r>
                <a:r>
                  <a:rPr lang="es-PE" altLang="en-US" sz="18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π</a:t>
                </a:r>
                <a:r>
                  <a:rPr lang="es-PE" altLang="en-US" sz="1800" b="0" i="1" baseline="-25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s-PE" altLang="en-US" sz="18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= π</a:t>
                </a:r>
                <a:r>
                  <a:rPr lang="es-PE" altLang="en-US" sz="1800" b="0" i="1" baseline="-25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s-PE" altLang="en-US" sz="18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PE" altLang="en-US" sz="1800" b="0" i="1" baseline="30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e </a:t>
                </a:r>
                <a:r>
                  <a:rPr lang="es-PE" altLang="en-US" sz="18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s-PE" altLang="en-US" sz="1800" b="0" dirty="0">
                    <a:solidFill>
                      <a:schemeClr val="tx1"/>
                    </a:solidFill>
                  </a:rPr>
                  <a:t>se tiene:</a:t>
                </a:r>
              </a:p>
              <a:p>
                <a:pPr marL="174625" indent="0" algn="just" eaLnBrk="1" hangingPunct="1">
                  <a:lnSpc>
                    <a:spcPct val="150000"/>
                  </a:lnSpc>
                </a:pPr>
                <a:r>
                  <a:rPr lang="es-PE" altLang="en-US" sz="1800" b="0" dirty="0">
                    <a:solidFill>
                      <a:schemeClr val="tx1"/>
                    </a:solidFill>
                  </a:rPr>
                  <a:t>De : </a:t>
                </a:r>
                <a:r>
                  <a:rPr lang="es-PE" altLang="en-US" sz="2000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s-PE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π</a:t>
                </a:r>
                <a:r>
                  <a:rPr lang="es-PE" altLang="en-US" sz="2000" b="0" i="1" baseline="-25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s-PE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- π</a:t>
                </a:r>
                <a:r>
                  <a:rPr lang="es-PE" altLang="en-US" sz="2000" b="0" i="1" baseline="-25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s-PE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PE" altLang="en-US" sz="2000" b="0" i="1" baseline="30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e </a:t>
                </a:r>
                <a:r>
                  <a:rPr lang="es-PE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 (m + z) – </a:t>
                </a:r>
                <a:r>
                  <a:rPr lang="el-GR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s-PE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s-PE" altLang="en-US" sz="2000" b="0" i="1" baseline="-25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</a:t>
                </a:r>
              </a:p>
              <a:p>
                <a:pPr marL="0" indent="0" algn="just">
                  <a:lnSpc>
                    <a:spcPct val="150000"/>
                  </a:lnSpc>
                </a:pPr>
                <a:r>
                  <a:rPr lang="es-PE" altLang="en-US" sz="2000" b="0" i="1" baseline="-25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s-PE" altLang="en-US" sz="2000" b="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PE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0= (m + z) – </a:t>
                </a:r>
                <a:r>
                  <a:rPr lang="el-GR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s-PE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s-PE" altLang="en-US" sz="2000" b="0" i="1" baseline="-25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</a:t>
                </a:r>
                <a:endParaRPr lang="es-PE" altLang="en-US" sz="2000" b="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895350" indent="-895350"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alt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alt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s-PE" alt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PE" alt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alt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alt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s-PE" alt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PE" alt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es-PE" alt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</m:oMath>
                  </m:oMathPara>
                </a14:m>
                <a:endParaRPr lang="es-PE" altLang="en-US" sz="2000" b="0" i="1" dirty="0">
                  <a:solidFill>
                    <a:schemeClr val="tx1"/>
                  </a:solidFill>
                </a:endParaRPr>
              </a:p>
              <a:p>
                <a:pPr marL="176213" indent="-176213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s-PE" altLang="en-US" sz="2000" b="0" dirty="0">
                    <a:solidFill>
                      <a:schemeClr val="tx1"/>
                    </a:solidFill>
                  </a:rPr>
                  <a:t>Así : </a:t>
                </a:r>
                <a:r>
                  <a:rPr lang="es-PE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π</a:t>
                </a:r>
                <a:r>
                  <a:rPr lang="es-PE" altLang="en-US" sz="2000" b="0" i="1" baseline="-25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s-PE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- π</a:t>
                </a:r>
                <a:r>
                  <a:rPr lang="es-PE" altLang="en-US" sz="2000" b="0" i="1" baseline="-25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s-PE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PE" altLang="en-US" sz="2000" b="0" i="1" baseline="30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e  </a:t>
                </a:r>
                <a:r>
                  <a:rPr lang="es-PE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 – </a:t>
                </a:r>
                <a:r>
                  <a:rPr lang="el-GR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s-PE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s-PE" altLang="en-US" sz="2000" b="0" i="1" baseline="-25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 </a:t>
                </a:r>
                <a:r>
                  <a:rPr lang="es-PE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+ (m + z) </a:t>
                </a:r>
                <a:endParaRPr lang="es-PE" altLang="en-US" sz="2000" b="0" i="1" dirty="0">
                  <a:solidFill>
                    <a:schemeClr val="tx1"/>
                  </a:solidFill>
                </a:endParaRPr>
              </a:p>
              <a:p>
                <a:pPr marL="717550" indent="0" algn="just" eaLnBrk="1" hangingPunct="1">
                  <a:lnSpc>
                    <a:spcPct val="150000"/>
                  </a:lnSpc>
                </a:pPr>
                <a:r>
                  <a:rPr lang="es-PE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π</a:t>
                </a:r>
                <a:r>
                  <a:rPr lang="es-PE" altLang="en-US" sz="2000" b="0" i="1" baseline="-25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s-PE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- π</a:t>
                </a:r>
                <a:r>
                  <a:rPr lang="es-PE" altLang="en-US" sz="2000" b="0" i="1" baseline="-25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s-PE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PE" altLang="en-US" sz="2000" b="0" i="1" baseline="30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e  </a:t>
                </a:r>
                <a:r>
                  <a:rPr lang="es-PE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 – </a:t>
                </a:r>
                <a:r>
                  <a:rPr lang="el-GR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s-PE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s-PE" altLang="en-US" sz="2000" b="0" i="1" baseline="-25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 </a:t>
                </a:r>
                <a:r>
                  <a:rPr lang="es-PE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l-GR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s-PE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(m + z)/</a:t>
                </a:r>
                <a:r>
                  <a:rPr lang="el-GR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α</a:t>
                </a:r>
                <a:endParaRPr lang="es-PE" altLang="en-US" sz="20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717550" indent="0" algn="just">
                  <a:lnSpc>
                    <a:spcPct val="150000"/>
                  </a:lnSpc>
                </a:pPr>
                <a:r>
                  <a:rPr lang="es-PE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π</a:t>
                </a:r>
                <a:r>
                  <a:rPr lang="es-PE" altLang="en-US" sz="2000" b="0" i="1" baseline="-25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s-PE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- π</a:t>
                </a:r>
                <a:r>
                  <a:rPr lang="es-PE" altLang="en-US" sz="2000" b="0" i="1" baseline="-25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s-PE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PE" altLang="en-US" sz="2000" b="0" i="1" baseline="30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e  </a:t>
                </a:r>
                <a:r>
                  <a:rPr lang="es-PE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 – </a:t>
                </a:r>
                <a:r>
                  <a:rPr lang="el-GR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s-PE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[u</a:t>
                </a:r>
                <a:r>
                  <a:rPr lang="es-PE" altLang="en-US" sz="2000" b="0" i="1" baseline="-25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 </a:t>
                </a:r>
                <a:r>
                  <a:rPr lang="es-PE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- (m + z)/</a:t>
                </a:r>
                <a:r>
                  <a:rPr lang="el-GR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α</a:t>
                </a:r>
                <a:r>
                  <a:rPr lang="es-PE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]</a:t>
                </a:r>
              </a:p>
              <a:p>
                <a:pPr marL="717550" indent="0" algn="just" eaLnBrk="1" hangingPunct="1">
                  <a:lnSpc>
                    <a:spcPct val="150000"/>
                  </a:lnSpc>
                </a:pPr>
                <a:r>
                  <a:rPr lang="es-PE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π</a:t>
                </a:r>
                <a:r>
                  <a:rPr lang="es-PE" altLang="en-US" sz="2000" b="0" i="1" baseline="-25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s-PE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- π</a:t>
                </a:r>
                <a:r>
                  <a:rPr lang="es-PE" altLang="en-US" sz="2000" b="0" i="1" baseline="-25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s-PE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PE" altLang="en-US" sz="2000" b="0" i="1" baseline="30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e  </a:t>
                </a:r>
                <a:r>
                  <a:rPr lang="es-PE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 – </a:t>
                </a:r>
                <a:r>
                  <a:rPr lang="el-GR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s-PE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[u</a:t>
                </a:r>
                <a:r>
                  <a:rPr lang="es-PE" altLang="en-US" sz="2000" b="0" i="1" baseline="-25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 </a:t>
                </a:r>
                <a:r>
                  <a:rPr lang="es-PE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- u</a:t>
                </a:r>
                <a:r>
                  <a:rPr lang="es-PE" altLang="en-US" sz="2000" b="0" i="1" baseline="-25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s-PE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]</a:t>
                </a:r>
              </a:p>
              <a:p>
                <a:pPr marL="717550" indent="0" algn="just" eaLnBrk="1" hangingPunct="1">
                  <a:lnSpc>
                    <a:spcPct val="150000"/>
                  </a:lnSpc>
                </a:pPr>
                <a:endParaRPr lang="es-PE" altLang="en-US" sz="8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176213" indent="-176213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s-PE" altLang="en-US" sz="2000" b="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Si la inflación esperada recoge bastante la inflación del año anterior :</a:t>
                </a:r>
              </a:p>
              <a:p>
                <a:pPr marL="0" indent="0" algn="just">
                  <a:lnSpc>
                    <a:spcPct val="150000"/>
                  </a:lnSpc>
                </a:pPr>
                <a:r>
                  <a:rPr lang="es-PE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	π</a:t>
                </a:r>
                <a:r>
                  <a:rPr lang="es-PE" altLang="en-US" sz="2000" b="0" i="1" baseline="-25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s-PE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PE" altLang="en-US" sz="2000" b="0" i="1" baseline="30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e = </a:t>
                </a:r>
                <a:r>
                  <a:rPr lang="es-PE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π</a:t>
                </a:r>
                <a:r>
                  <a:rPr lang="es-PE" altLang="en-US" sz="2000" b="0" i="1" baseline="-25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t-1</a:t>
                </a:r>
                <a:r>
                  <a:rPr lang="es-PE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s-PE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 </a:t>
                </a:r>
                <a:r>
                  <a:rPr lang="es-PE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π</a:t>
                </a:r>
                <a:r>
                  <a:rPr lang="es-PE" altLang="en-US" sz="2000" b="0" i="1" baseline="-25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s-PE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- π</a:t>
                </a:r>
                <a:r>
                  <a:rPr lang="es-PE" altLang="en-US" sz="2000" b="0" i="1" baseline="-25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t-1</a:t>
                </a:r>
                <a:r>
                  <a:rPr lang="es-PE" altLang="en-US" sz="2000" b="0" i="1" baseline="30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s-PE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 – </a:t>
                </a:r>
                <a:r>
                  <a:rPr lang="el-GR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s-PE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[u</a:t>
                </a:r>
                <a:r>
                  <a:rPr lang="es-PE" altLang="en-US" sz="2000" b="0" i="1" baseline="-25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 </a:t>
                </a:r>
                <a:r>
                  <a:rPr lang="es-PE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- u</a:t>
                </a:r>
                <a:r>
                  <a:rPr lang="es-PE" altLang="en-US" sz="2000" b="0" i="1" baseline="-25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s-PE" alt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] </a:t>
                </a:r>
                <a:r>
                  <a:rPr lang="es-PE" altLang="en-US" sz="18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	</a:t>
                </a:r>
              </a:p>
            </p:txBody>
          </p:sp>
        </mc:Choice>
        <mc:Fallback xmlns="">
          <p:sp>
            <p:nvSpPr>
              <p:cNvPr id="38297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xfrm>
                <a:off x="304800" y="838200"/>
                <a:ext cx="8686800" cy="6019800"/>
              </a:xfrm>
              <a:blipFill>
                <a:blip r:embed="rId3"/>
                <a:stretch>
                  <a:fillRect l="-632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942" name="Rectangle 9"/>
          <p:cNvSpPr>
            <a:spLocks noGrp="1"/>
          </p:cNvSpPr>
          <p:nvPr>
            <p:ph type="title"/>
          </p:nvPr>
        </p:nvSpPr>
        <p:spPr/>
        <p:txBody>
          <a:bodyPr vert="horz" wrap="square" lIns="91440" tIns="548640" rIns="91440" bIns="457200" anchor="ctr"/>
          <a:lstStyle/>
          <a:p>
            <a:pPr defTabSz="739775" eaLnBrk="1" hangingPunct="1"/>
            <a:r>
              <a:rPr lang="es-PE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La curva de </a:t>
            </a:r>
            <a:r>
              <a:rPr lang="en-US" altLang="es-PE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Phillips y Tasa Natural de </a:t>
            </a:r>
            <a:r>
              <a:rPr lang="en-US" altLang="es-PE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Desempleo</a:t>
            </a:r>
            <a:endParaRPr lang="en-US" altLang="es-PE" dirty="0"/>
          </a:p>
        </p:txBody>
      </p:sp>
    </p:spTree>
    <p:extLst>
      <p:ext uri="{BB962C8B-B14F-4D97-AF65-F5344CB8AC3E}">
        <p14:creationId xmlns:p14="http://schemas.microsoft.com/office/powerpoint/2010/main" val="218368015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Par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2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82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82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82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82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82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82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9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829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4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829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2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829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2979" grpId="0" uiExpand="1" build="p" bldLvl="2" advAuto="100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87075" name="Rectangle 3"/>
              <p:cNvSpPr>
                <a:spLocks noGrp="1"/>
              </p:cNvSpPr>
              <p:nvPr>
                <p:ph type="body" sz="half" idx="1" hasCustomPrompt="1"/>
              </p:nvPr>
            </p:nvSpPr>
            <p:spPr>
              <a:xfrm>
                <a:off x="457200" y="2514600"/>
                <a:ext cx="8458200" cy="4191000"/>
              </a:xfrm>
            </p:spPr>
            <p:txBody>
              <a:bodyPr vert="horz" wrap="square" lIns="91440" tIns="45720" rIns="91440" bIns="45720" anchor="t"/>
              <a:lstStyle/>
              <a:p>
                <a:pPr marL="285750" indent="-285750" eaLnBrk="1" hangingPunct="1">
                  <a:lnSpc>
                    <a:spcPct val="150000"/>
                  </a:lnSpc>
                  <a:buClr>
                    <a:srgbClr val="C40075"/>
                  </a:buClr>
                  <a:buFont typeface="Arial" panose="020B0604020202020204" pitchFamily="34" charset="0"/>
                  <a:buChar char="•"/>
                </a:pPr>
                <a:r>
                  <a:rPr lang="es-PE" altLang="en-US" sz="2000" b="0" dirty="0">
                    <a:solidFill>
                      <a:schemeClr val="tx1"/>
                    </a:solidFill>
                  </a:rPr>
                  <a:t>Luego se desprende que:</a:t>
                </a:r>
                <a:endParaRPr lang="en-US" altLang="es-PE" sz="2000" b="0" dirty="0">
                  <a:solidFill>
                    <a:schemeClr val="tx1"/>
                  </a:solidFill>
                </a:endParaRPr>
              </a:p>
              <a:p>
                <a:pPr marL="0" indent="0" algn="ctr">
                  <a:spcBef>
                    <a:spcPts val="525"/>
                  </a:spcBef>
                  <a:buNone/>
                </a:pPr>
                <a:r>
                  <a:rPr lang="en-US" sz="28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u</a:t>
                </a:r>
                <a:r>
                  <a:rPr lang="en-US" sz="2800" i="1" baseline="-25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t</a:t>
                </a:r>
                <a:r>
                  <a:rPr lang="en-US" sz="28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 &lt; u</a:t>
                </a:r>
                <a:r>
                  <a:rPr lang="en-US" sz="2800" i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n</a:t>
                </a:r>
                <a:r>
                  <a:rPr lang="en-US" sz="28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en-US" sz="2800" i="1" dirty="0">
                            <a:latin typeface="Cambria Math" panose="02040503050406030204" pitchFamily="18" charset="0"/>
                            <a:ea typeface="ヒラギノ角ゴ Pro W3" pitchFamily="-84" charset="-128"/>
                            <a:sym typeface="Wingdings" panose="05000000000000000000" pitchFamily="2" charset="2"/>
                          </a:rPr>
                        </m:ctrlPr>
                      </m:groupChrPr>
                      <m:e>
                        <m:r>
                          <a:rPr lang="en-US" sz="28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ヒラギノ角ゴ Pro W3" pitchFamily="-84" charset="-128"/>
                            <a:sym typeface="Wingdings" panose="05000000000000000000" pitchFamily="2" charset="2"/>
                          </a:rPr>
                          <m:t>𝑥</m:t>
                        </m:r>
                      </m:e>
                    </m:groupChr>
                  </m:oMath>
                </a14:m>
                <a:r>
                  <a:rPr lang="en-US" sz="2800" dirty="0">
                    <a:ea typeface="ヒラギノ角ゴ Pro W3" pitchFamily="-84" charset="-128"/>
                    <a:sym typeface="Wingdings" panose="05000000000000000000" pitchFamily="2" charset="2"/>
                  </a:rPr>
                  <a:t> </a:t>
                </a:r>
                <a:r>
                  <a:rPr lang="el-GR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π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 &gt; </a:t>
                </a:r>
                <a:r>
                  <a:rPr lang="el-GR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π</a:t>
                </a:r>
                <a:r>
                  <a:rPr lang="en-US" sz="2800" i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t-</a:t>
                </a:r>
                <a:r>
                  <a:rPr lang="en-US" sz="28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1</a:t>
                </a:r>
              </a:p>
              <a:p>
                <a:pPr marL="0" indent="0" algn="ctr">
                  <a:spcBef>
                    <a:spcPts val="525"/>
                  </a:spcBef>
                  <a:buNone/>
                </a:pPr>
                <a:r>
                  <a:rPr lang="en-US" sz="2800" i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u</a:t>
                </a:r>
                <a:r>
                  <a:rPr lang="en-US" sz="2800" i="1" baseline="-25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t</a:t>
                </a:r>
                <a:r>
                  <a:rPr lang="en-US" sz="28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 &gt; u</a:t>
                </a:r>
                <a:r>
                  <a:rPr lang="en-US" sz="2800" i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n</a:t>
                </a:r>
                <a:r>
                  <a:rPr lang="en-US" sz="28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en-US" sz="2800" i="1" dirty="0">
                            <a:latin typeface="Cambria Math" panose="02040503050406030204" pitchFamily="18" charset="0"/>
                            <a:ea typeface="ヒラギノ角ゴ Pro W3" pitchFamily="-84" charset="-128"/>
                            <a:sym typeface="Wingdings" panose="05000000000000000000" pitchFamily="2" charset="2"/>
                          </a:rPr>
                        </m:ctrlPr>
                      </m:groupChrPr>
                      <m:e>
                        <m:r>
                          <a:rPr lang="en-US" sz="28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ヒラギノ角ゴ Pro W3" pitchFamily="-84" charset="-128"/>
                            <a:sym typeface="Wingdings" panose="05000000000000000000" pitchFamily="2" charset="2"/>
                          </a:rPr>
                          <m:t>𝑥</m:t>
                        </m:r>
                      </m:e>
                    </m:groupChr>
                  </m:oMath>
                </a14:m>
                <a:r>
                  <a:rPr lang="en-US" sz="2800" dirty="0">
                    <a:ea typeface="ヒラギノ角ゴ Pro W3" pitchFamily="-84" charset="-128"/>
                    <a:sym typeface="Wingdings" panose="05000000000000000000" pitchFamily="2" charset="2"/>
                  </a:rPr>
                  <a:t> </a:t>
                </a:r>
                <a:r>
                  <a:rPr lang="el-GR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π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 &lt; </a:t>
                </a:r>
                <a:r>
                  <a:rPr lang="el-GR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π</a:t>
                </a:r>
                <a:r>
                  <a:rPr lang="en-US" sz="2800" i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t-</a:t>
                </a:r>
                <a:r>
                  <a:rPr lang="en-US" sz="28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1</a:t>
                </a:r>
              </a:p>
            </p:txBody>
          </p:sp>
        </mc:Choice>
        <mc:Fallback xmlns="">
          <p:sp>
            <p:nvSpPr>
              <p:cNvPr id="387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 hasCustomPrompt="1"/>
              </p:nvPr>
            </p:nvSpPr>
            <p:spPr>
              <a:xfrm>
                <a:off x="457200" y="2514600"/>
                <a:ext cx="8458200" cy="4191000"/>
              </a:xfrm>
              <a:blipFill>
                <a:blip r:embed="rId3"/>
                <a:stretch>
                  <a:fillRect l="-64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037" name="Rectangle 7"/>
          <p:cNvSpPr>
            <a:spLocks noGrp="1"/>
          </p:cNvSpPr>
          <p:nvPr>
            <p:ph type="title"/>
          </p:nvPr>
        </p:nvSpPr>
        <p:spPr/>
        <p:txBody>
          <a:bodyPr vert="horz" wrap="square" lIns="91440" tIns="548640" rIns="91440" bIns="457200" anchor="ctr"/>
          <a:lstStyle/>
          <a:p>
            <a:pPr defTabSz="739775" eaLnBrk="1" hangingPunct="1"/>
            <a:r>
              <a:rPr lang="es-PE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La curva de </a:t>
            </a:r>
            <a:r>
              <a:rPr lang="en-US" altLang="es-PE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Phillips y Tasa Natural de </a:t>
            </a:r>
            <a:r>
              <a:rPr lang="en-US" altLang="es-PE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Desempleo</a:t>
            </a:r>
            <a:endParaRPr lang="en-US" altLang="es-PE" dirty="0"/>
          </a:p>
        </p:txBody>
      </p:sp>
      <p:sp>
        <p:nvSpPr>
          <p:cNvPr id="44038" name="Rectangle 8"/>
          <p:cNvSpPr/>
          <p:nvPr/>
        </p:nvSpPr>
        <p:spPr>
          <a:xfrm>
            <a:off x="440987" y="1125537"/>
            <a:ext cx="8229600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defRPr sz="2400" b="1" kern="1200">
                <a:solidFill>
                  <a:srgbClr val="00808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C0066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 eaLnBrk="1" hangingPunct="1">
              <a:buFont typeface="Arial" panose="020B0604020202020204" pitchFamily="34" charset="0"/>
              <a:buChar char="•"/>
            </a:pPr>
            <a:r>
              <a:rPr lang="es-PE" altLang="en-US" dirty="0">
                <a:sym typeface="+mn-ea"/>
              </a:rPr>
              <a:t>De regreso a la Tasa </a:t>
            </a:r>
            <a:r>
              <a:rPr lang="en-US" altLang="es-PE" dirty="0">
                <a:sym typeface="+mn-ea"/>
              </a:rPr>
              <a:t>Natural </a:t>
            </a:r>
            <a:r>
              <a:rPr lang="es-PE" altLang="en-US" dirty="0">
                <a:sym typeface="+mn-ea"/>
              </a:rPr>
              <a:t>de Desempleo</a:t>
            </a:r>
            <a:endParaRPr lang="en-US" altLang="es-PE" dirty="0"/>
          </a:p>
        </p:txBody>
      </p:sp>
      <p:graphicFrame>
        <p:nvGraphicFramePr>
          <p:cNvPr id="3870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5169972"/>
              </p:ext>
            </p:extLst>
          </p:nvPr>
        </p:nvGraphicFramePr>
        <p:xfrm>
          <a:off x="2819400" y="1828800"/>
          <a:ext cx="3835400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511300" imgH="203200" progId="Equation.COEE2">
                  <p:embed/>
                </p:oleObj>
              </mc:Choice>
              <mc:Fallback>
                <p:oleObj r:id="rId4" imgW="1511300" imgH="203200" progId="Equation.COEE2">
                  <p:embed/>
                  <p:pic>
                    <p:nvPicPr>
                      <p:cNvPr id="0" name="Picture 308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19400" y="1828800"/>
                        <a:ext cx="3835400" cy="5159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87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87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87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7075" grpId="0" uiExpand="1" build="p" bldLvl="2" advAuto="100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5" name="Rectangle 3"/>
          <p:cNvSpPr>
            <a:spLocks noGrp="1"/>
          </p:cNvSpPr>
          <p:nvPr>
            <p:ph type="body" sz="half" idx="1" hasCustomPrompt="1"/>
          </p:nvPr>
        </p:nvSpPr>
        <p:spPr>
          <a:xfrm>
            <a:off x="457200" y="1907538"/>
            <a:ext cx="8458200" cy="4798062"/>
          </a:xfrm>
        </p:spPr>
        <p:txBody>
          <a:bodyPr vert="horz" wrap="square" lIns="91440" tIns="45720" rIns="91440" bIns="45720" anchor="t"/>
          <a:lstStyle/>
          <a:p>
            <a:pPr marL="285750" indent="-285750" eaLnBrk="1" hangingPunct="1">
              <a:lnSpc>
                <a:spcPct val="150000"/>
              </a:lnSpc>
              <a:buClr>
                <a:srgbClr val="C40075"/>
              </a:buClr>
              <a:buFont typeface="Arial" panose="020B0604020202020204" pitchFamily="34" charset="0"/>
              <a:buChar char="•"/>
            </a:pPr>
            <a:r>
              <a:rPr lang="es-PE" altLang="en-US" sz="2000" b="0" dirty="0">
                <a:solidFill>
                  <a:schemeClr val="tx1"/>
                </a:solidFill>
              </a:rPr>
              <a:t>La importancia de la relación es por dos motivos:</a:t>
            </a:r>
            <a:endParaRPr lang="en-US" altLang="es-PE" sz="2000" b="0" dirty="0">
              <a:solidFill>
                <a:schemeClr val="tx1"/>
              </a:solidFill>
            </a:endParaRPr>
          </a:p>
          <a:p>
            <a:pPr marL="623887" lvl="2" indent="-342900" algn="just">
              <a:lnSpc>
                <a:spcPct val="150000"/>
              </a:lnSpc>
              <a:buClr>
                <a:srgbClr val="C40075"/>
              </a:buClr>
              <a:buFont typeface="Wingdings" panose="05000000000000000000" pitchFamily="2" charset="2"/>
              <a:buChar char="ü"/>
            </a:pPr>
            <a:r>
              <a:rPr lang="es-PE" altLang="en-US" dirty="0">
                <a:sym typeface="+mn-ea"/>
              </a:rPr>
              <a:t>Otorga otra forma de abordar la curva de Phillips en términos de la tasa actual </a:t>
            </a:r>
            <a:r>
              <a:rPr lang="en-US" altLang="es-PE" b="1" i="1" dirty="0" err="1">
                <a:latin typeface="Cambria Math" panose="02040503050406030204" pitchFamily="18" charset="0"/>
                <a:ea typeface="Cambria Math" panose="02040503050406030204" pitchFamily="18" charset="0"/>
                <a:sym typeface="+mn-ea"/>
              </a:rPr>
              <a:t>u</a:t>
            </a:r>
            <a:r>
              <a:rPr lang="en-US" altLang="es-PE" b="1" i="1" baseline="-25000" dirty="0" err="1">
                <a:latin typeface="Cambria Math" panose="02040503050406030204" pitchFamily="18" charset="0"/>
                <a:ea typeface="Cambria Math" panose="02040503050406030204" pitchFamily="18" charset="0"/>
                <a:sym typeface="+mn-ea"/>
              </a:rPr>
              <a:t>t</a:t>
            </a:r>
            <a:r>
              <a:rPr lang="en-US" altLang="es-PE" i="1" dirty="0">
                <a:sym typeface="+mn-ea"/>
              </a:rPr>
              <a:t> </a:t>
            </a:r>
            <a:r>
              <a:rPr lang="es-PE" altLang="es-PE" dirty="0">
                <a:sym typeface="+mn-ea"/>
              </a:rPr>
              <a:t>:</a:t>
            </a:r>
            <a:r>
              <a:rPr lang="es-PE" altLang="en-US" dirty="0">
                <a:sym typeface="+mn-ea"/>
              </a:rPr>
              <a:t> la tasa natural de desempleo </a:t>
            </a:r>
            <a:r>
              <a:rPr lang="en-US" altLang="es-PE" b="1" i="1" dirty="0">
                <a:latin typeface="Cambria Math" panose="02040503050406030204" pitchFamily="18" charset="0"/>
                <a:ea typeface="Cambria Math" panose="02040503050406030204" pitchFamily="18" charset="0"/>
                <a:sym typeface="+mn-ea"/>
              </a:rPr>
              <a:t>u</a:t>
            </a:r>
            <a:r>
              <a:rPr lang="en-US" altLang="es-PE" b="1" i="1" baseline="-25000" dirty="0">
                <a:latin typeface="Cambria Math" panose="02040503050406030204" pitchFamily="18" charset="0"/>
                <a:ea typeface="Cambria Math" panose="02040503050406030204" pitchFamily="18" charset="0"/>
                <a:sym typeface="+mn-ea"/>
              </a:rPr>
              <a:t>n</a:t>
            </a:r>
            <a:r>
              <a:rPr lang="es-PE" altLang="en-US" dirty="0">
                <a:sym typeface="+mn-ea"/>
              </a:rPr>
              <a:t> y el cambio en la tasa de inflación</a:t>
            </a:r>
            <a:r>
              <a:rPr lang="en-US" altLang="es-PE" dirty="0"/>
              <a:t> </a:t>
            </a:r>
            <a:r>
              <a:rPr lang="es-PE" altLang="en-US" b="1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π</a:t>
            </a:r>
            <a:r>
              <a:rPr lang="es-PE" altLang="en-US" b="1" i="1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</a:t>
            </a:r>
            <a:r>
              <a:rPr lang="es-PE" altLang="en-US" b="1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- π</a:t>
            </a:r>
            <a:r>
              <a:rPr lang="es-PE" altLang="en-US" b="1" i="1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t-1</a:t>
            </a:r>
            <a:r>
              <a:rPr lang="es-PE" altLang="en-US" b="1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</a:t>
            </a:r>
          </a:p>
          <a:p>
            <a:pPr marL="628650" lvl="2" indent="0" algn="just">
              <a:lnSpc>
                <a:spcPct val="150000"/>
              </a:lnSpc>
              <a:buClr>
                <a:srgbClr val="C40075"/>
              </a:buClr>
              <a:buNone/>
              <a:tabLst>
                <a:tab pos="628650" algn="l"/>
              </a:tabLst>
            </a:pPr>
            <a:r>
              <a:rPr lang="es-PE" altLang="en-US" dirty="0"/>
              <a:t>La variación de la tasa de inflación depende de la diferencia entre la tasa efectiva de desempleo y la tasa natural de desempleo.</a:t>
            </a:r>
            <a:endParaRPr lang="en-US" altLang="en-US" dirty="0"/>
          </a:p>
          <a:p>
            <a:pPr marL="623887" lvl="2" indent="-342900" algn="just">
              <a:lnSpc>
                <a:spcPct val="150000"/>
              </a:lnSpc>
              <a:buClr>
                <a:srgbClr val="C40075"/>
              </a:buClr>
              <a:buFont typeface="Wingdings" panose="05000000000000000000" pitchFamily="2" charset="2"/>
              <a:buChar char="ü"/>
            </a:pPr>
            <a:r>
              <a:rPr lang="es-PE" altLang="en-US" dirty="0"/>
              <a:t>Permite definir la tasa de desempleo como aquella necesaria para mantener la tasa de inflación constante (</a:t>
            </a:r>
            <a:r>
              <a:rPr lang="es-PE" altLang="en-US" b="1" u="sng" dirty="0"/>
              <a:t>la tasa de desempleo no aceleradora de inflación</a:t>
            </a:r>
            <a:r>
              <a:rPr lang="es-PE" altLang="en-US" dirty="0"/>
              <a:t> (</a:t>
            </a:r>
            <a:r>
              <a:rPr lang="en-US" altLang="es-PE" i="1" dirty="0"/>
              <a:t>non-accelerating-inflation rate of unemployment </a:t>
            </a:r>
            <a:r>
              <a:rPr lang="es-PE" altLang="en-US" i="1" dirty="0"/>
              <a:t>- </a:t>
            </a:r>
            <a:r>
              <a:rPr lang="en-US" altLang="es-PE" i="1" dirty="0"/>
              <a:t>NAIRU)</a:t>
            </a:r>
            <a:r>
              <a:rPr lang="en-US" altLang="es-PE" dirty="0"/>
              <a:t>.</a:t>
            </a:r>
          </a:p>
        </p:txBody>
      </p:sp>
      <p:sp>
        <p:nvSpPr>
          <p:cNvPr id="44037" name="Rectangle 7"/>
          <p:cNvSpPr>
            <a:spLocks noGrp="1"/>
          </p:cNvSpPr>
          <p:nvPr>
            <p:ph type="title"/>
          </p:nvPr>
        </p:nvSpPr>
        <p:spPr/>
        <p:txBody>
          <a:bodyPr vert="horz" wrap="square" lIns="91440" tIns="548640" rIns="91440" bIns="457200" anchor="ctr"/>
          <a:lstStyle/>
          <a:p>
            <a:pPr defTabSz="739775" eaLnBrk="1" hangingPunct="1"/>
            <a:r>
              <a:rPr lang="es-PE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La curva de </a:t>
            </a:r>
            <a:r>
              <a:rPr lang="en-US" altLang="es-PE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Phillips y Tasa Natural de </a:t>
            </a:r>
            <a:r>
              <a:rPr lang="en-US" altLang="es-PE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Desempleo</a:t>
            </a:r>
            <a:endParaRPr lang="en-US" altLang="es-PE" dirty="0"/>
          </a:p>
        </p:txBody>
      </p:sp>
      <p:sp>
        <p:nvSpPr>
          <p:cNvPr id="44038" name="Rectangle 8"/>
          <p:cNvSpPr/>
          <p:nvPr/>
        </p:nvSpPr>
        <p:spPr>
          <a:xfrm>
            <a:off x="533400" y="838200"/>
            <a:ext cx="8229600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defRPr sz="2400" b="1" kern="1200">
                <a:solidFill>
                  <a:srgbClr val="00808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C0066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 eaLnBrk="1" hangingPunct="1">
              <a:buFont typeface="Arial" panose="020B0604020202020204" pitchFamily="34" charset="0"/>
              <a:buChar char="•"/>
            </a:pPr>
            <a:r>
              <a:rPr lang="es-PE" altLang="en-US" dirty="0">
                <a:sym typeface="+mn-ea"/>
              </a:rPr>
              <a:t>De regreso a la Tasa </a:t>
            </a:r>
            <a:r>
              <a:rPr lang="en-US" altLang="es-PE" dirty="0">
                <a:sym typeface="+mn-ea"/>
              </a:rPr>
              <a:t>Natural </a:t>
            </a:r>
            <a:r>
              <a:rPr lang="es-PE" altLang="en-US" dirty="0">
                <a:sym typeface="+mn-ea"/>
              </a:rPr>
              <a:t>de Desempleo</a:t>
            </a:r>
            <a:endParaRPr lang="en-US" altLang="es-PE" dirty="0"/>
          </a:p>
        </p:txBody>
      </p:sp>
      <p:graphicFrame>
        <p:nvGraphicFramePr>
          <p:cNvPr id="387076" name="Object 4"/>
          <p:cNvGraphicFramePr>
            <a:graphicFrameLocks noChangeAspect="1"/>
          </p:cNvGraphicFramePr>
          <p:nvPr/>
        </p:nvGraphicFramePr>
        <p:xfrm>
          <a:off x="2730500" y="1391601"/>
          <a:ext cx="3835400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511300" imgH="203200" progId="Equation.COEE2">
                  <p:embed/>
                </p:oleObj>
              </mc:Choice>
              <mc:Fallback>
                <p:oleObj r:id="rId3" imgW="1511300" imgH="203200" progId="Equation.COEE2">
                  <p:embed/>
                  <p:pic>
                    <p:nvPicPr>
                      <p:cNvPr id="387076" name="Object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30500" y="1391601"/>
                        <a:ext cx="3835400" cy="5159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3630040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87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87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87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87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87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87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7075" grpId="0" uiExpand="1" build="p" bldLvl="2" advAuto="100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87075" name="Rectangle 3"/>
              <p:cNvSpPr>
                <a:spLocks noGrp="1"/>
              </p:cNvSpPr>
              <p:nvPr>
                <p:ph type="body" sz="half" idx="1" hasCustomPrompt="1"/>
              </p:nvPr>
            </p:nvSpPr>
            <p:spPr>
              <a:xfrm>
                <a:off x="666135" y="1371600"/>
                <a:ext cx="8229600" cy="4159885"/>
              </a:xfrm>
            </p:spPr>
            <p:txBody>
              <a:bodyPr vert="horz" wrap="square" lIns="91440" tIns="45720" rIns="91440" bIns="45720" anchor="t"/>
              <a:lstStyle/>
              <a:p>
                <a:pPr marL="285750" indent="-285750" eaLnBrk="1" hangingPunct="1">
                  <a:lnSpc>
                    <a:spcPct val="150000"/>
                  </a:lnSpc>
                  <a:buClr>
                    <a:srgbClr val="C40075"/>
                  </a:buClr>
                  <a:buFont typeface="Arial" panose="020B0604020202020204" pitchFamily="34" charset="0"/>
                  <a:buChar char="•"/>
                </a:pPr>
                <a:r>
                  <a:rPr lang="es-PE" altLang="en-US" sz="2200" b="0" dirty="0">
                    <a:solidFill>
                      <a:schemeClr val="tx1"/>
                    </a:solidFill>
                  </a:rPr>
                  <a:t>La </a:t>
                </a:r>
                <a:r>
                  <a:rPr lang="es-PE" altLang="en-US" sz="2200" u="sng" dirty="0">
                    <a:solidFill>
                      <a:schemeClr val="tx1"/>
                    </a:solidFill>
                  </a:rPr>
                  <a:t>tasa de sacrificio</a:t>
                </a:r>
                <a:r>
                  <a:rPr lang="es-PE" alt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s-PE" altLang="en-US" sz="2200" b="0" dirty="0">
                    <a:solidFill>
                      <a:schemeClr val="tx1"/>
                    </a:solidFill>
                  </a:rPr>
                  <a:t>es una métrica de la relación entre desviación de la tasa de desempleo respecto a la tasa natural de desempleo y el cambio en la tasa de inflación:</a:t>
                </a:r>
              </a:p>
              <a:p>
                <a:pPr marL="285750" indent="-285750" eaLnBrk="1" hangingPunct="1">
                  <a:lnSpc>
                    <a:spcPct val="150000"/>
                  </a:lnSpc>
                  <a:buClr>
                    <a:srgbClr val="C40075"/>
                  </a:buClr>
                  <a:buFont typeface="Arial" panose="020B0604020202020204" pitchFamily="34" charset="0"/>
                  <a:buChar char="•"/>
                </a:pPr>
                <a:r>
                  <a:rPr lang="en-US" altLang="es-PE" sz="2200" b="0" dirty="0">
                    <a:solidFill>
                      <a:schemeClr val="tx1"/>
                    </a:solidFill>
                  </a:rPr>
                  <a:t>De: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es-PE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es-PE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s-PE" altLang="es-PE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s-PE" altLang="es-PE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l-GR" altLang="es-PE" sz="2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es-PE" sz="2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s-PE" altLang="es-PE" sz="2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PE" altLang="es-PE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PE" altLang="es-PE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PE" altLang="es-PE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s-PE" altLang="es-PE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s-PE" altLang="es-PE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PE" altLang="es-PE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PE" altLang="es-PE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s-PE" altLang="es-PE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s-PE" altLang="es-PE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s-PE" altLang="es-PE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PE" altLang="es-PE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s-PE" altLang="es-PE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PE" altLang="es-PE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es-PE" sz="2200" b="0" dirty="0">
                  <a:solidFill>
                    <a:schemeClr val="tx1"/>
                  </a:solidFill>
                </a:endParaRPr>
              </a:p>
              <a:p>
                <a:pPr marL="717550" indent="-717550" eaLnBrk="1" hangingPunct="1">
                  <a:lnSpc>
                    <a:spcPct val="150000"/>
                  </a:lnSpc>
                  <a:buClr>
                    <a:srgbClr val="C40075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es-PE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altLang="es-PE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altLang="es-PE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s-PE" altLang="es-PE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s-PE" altLang="es-PE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PE" altLang="es-PE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altLang="es-PE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s-PE" altLang="es-PE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l-GR" altLang="es-PE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altLang="es-PE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s-PE" altLang="es-PE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s-PE" altLang="es-PE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l-GR" altLang="es-PE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altLang="es-PE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s-PE" altLang="es-PE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s-PE" altLang="es-PE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PE" altLang="es-PE" sz="2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s-PE" altLang="es-PE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s-PE" altLang="es-PE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altLang="es-PE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PE" altLang="es-PE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</m:oMath>
                  </m:oMathPara>
                </a14:m>
                <a:endParaRPr lang="en-US" altLang="es-PE" sz="22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7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 hasCustomPrompt="1"/>
              </p:nvPr>
            </p:nvSpPr>
            <p:spPr>
              <a:xfrm>
                <a:off x="666135" y="1371600"/>
                <a:ext cx="8229600" cy="4159885"/>
              </a:xfrm>
              <a:blipFill>
                <a:blip r:embed="rId3"/>
                <a:stretch>
                  <a:fillRect l="-815" r="-741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037" name="Rectangle 7"/>
          <p:cNvSpPr>
            <a:spLocks noGrp="1"/>
          </p:cNvSpPr>
          <p:nvPr>
            <p:ph type="title"/>
          </p:nvPr>
        </p:nvSpPr>
        <p:spPr/>
        <p:txBody>
          <a:bodyPr vert="horz" wrap="square" lIns="91440" tIns="548640" rIns="91440" bIns="457200" anchor="ctr"/>
          <a:lstStyle/>
          <a:p>
            <a:pPr defTabSz="739775" eaLnBrk="1" hangingPunct="1"/>
            <a:r>
              <a:rPr lang="es-PE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La curva de </a:t>
            </a:r>
            <a:r>
              <a:rPr lang="en-US" altLang="es-PE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Phillips y Tasa Natural de </a:t>
            </a:r>
            <a:r>
              <a:rPr lang="en-US" altLang="es-PE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Desempleo</a:t>
            </a:r>
            <a:endParaRPr lang="en-US" altLang="es-PE" dirty="0"/>
          </a:p>
        </p:txBody>
      </p:sp>
      <p:sp>
        <p:nvSpPr>
          <p:cNvPr id="44038" name="Rectangle 8"/>
          <p:cNvSpPr/>
          <p:nvPr/>
        </p:nvSpPr>
        <p:spPr>
          <a:xfrm>
            <a:off x="533400" y="838200"/>
            <a:ext cx="8229600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defRPr sz="2400" b="1" kern="1200">
                <a:solidFill>
                  <a:srgbClr val="00808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C0066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/>
            <a:r>
              <a:rPr lang="es-PE" altLang="en-US" dirty="0">
                <a:sym typeface="+mn-ea"/>
              </a:rPr>
              <a:t>De regreso a la Tasa </a:t>
            </a:r>
            <a:r>
              <a:rPr lang="en-US" altLang="es-PE" dirty="0">
                <a:sym typeface="+mn-ea"/>
              </a:rPr>
              <a:t>Natural </a:t>
            </a:r>
            <a:r>
              <a:rPr lang="es-PE" altLang="en-US" dirty="0">
                <a:sym typeface="+mn-ea"/>
              </a:rPr>
              <a:t>de Desempleo</a:t>
            </a:r>
            <a:endParaRPr lang="en-US" altLang="es-PE" dirty="0"/>
          </a:p>
        </p:txBody>
      </p:sp>
    </p:spTree>
    <p:extLst>
      <p:ext uri="{BB962C8B-B14F-4D97-AF65-F5344CB8AC3E}">
        <p14:creationId xmlns:p14="http://schemas.microsoft.com/office/powerpoint/2010/main" val="283774145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7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7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7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7075" grpId="0" uiExpand="1" build="p" bldLvl="2" advAuto="100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7" name="Rectangle 3"/>
          <p:cNvSpPr>
            <a:spLocks noGrp="1"/>
          </p:cNvSpPr>
          <p:nvPr>
            <p:ph idx="1" hasCustomPrompt="1"/>
          </p:nvPr>
        </p:nvSpPr>
        <p:spPr>
          <a:xfrm>
            <a:off x="533400" y="1524000"/>
            <a:ext cx="8229600" cy="45720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Font typeface="Arial" panose="020B0604020202020204" pitchFamily="34" charset="0"/>
              <a:buChar char="•"/>
            </a:pPr>
            <a:r>
              <a:rPr lang="en-US" altLang="es-PE" sz="2200" b="0" dirty="0">
                <a:solidFill>
                  <a:schemeClr val="tx1"/>
                </a:solidFill>
              </a:rPr>
              <a:t>La relación entre el desempleo y la inflación es probable que cambie con el nivel y la persistencia de la inflación.</a:t>
            </a:r>
          </a:p>
          <a:p>
            <a:pPr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Font typeface="Arial" panose="020B0604020202020204" pitchFamily="34" charset="0"/>
              <a:buChar char="•"/>
            </a:pPr>
            <a:r>
              <a:rPr lang="en-US" altLang="es-PE" sz="2200" b="0" dirty="0" err="1">
                <a:solidFill>
                  <a:schemeClr val="tx1"/>
                </a:solidFill>
              </a:rPr>
              <a:t>Cuando</a:t>
            </a:r>
            <a:r>
              <a:rPr lang="en-US" altLang="es-PE" sz="2200" b="0" dirty="0">
                <a:solidFill>
                  <a:schemeClr val="tx1"/>
                </a:solidFill>
              </a:rPr>
              <a:t> la inflación es alta, la </a:t>
            </a:r>
            <a:r>
              <a:rPr lang="en-US" altLang="es-PE" sz="2200" b="0" dirty="0" err="1">
                <a:solidFill>
                  <a:schemeClr val="tx1"/>
                </a:solidFill>
              </a:rPr>
              <a:t>inflación</a:t>
            </a:r>
            <a:r>
              <a:rPr lang="en-US" altLang="es-PE" sz="2200" b="0" dirty="0">
                <a:solidFill>
                  <a:schemeClr val="tx1"/>
                </a:solidFill>
              </a:rPr>
              <a:t> </a:t>
            </a:r>
            <a:r>
              <a:rPr lang="en-US" altLang="es-PE" sz="2200" b="0" dirty="0" err="1">
                <a:solidFill>
                  <a:schemeClr val="tx1"/>
                </a:solidFill>
              </a:rPr>
              <a:t>también</a:t>
            </a:r>
            <a:r>
              <a:rPr lang="en-US" altLang="es-PE" sz="2200" b="0" dirty="0">
                <a:solidFill>
                  <a:schemeClr val="tx1"/>
                </a:solidFill>
              </a:rPr>
              <a:t> es </a:t>
            </a:r>
            <a:r>
              <a:rPr lang="en-US" altLang="es-PE" sz="2200" b="0" dirty="0" err="1">
                <a:solidFill>
                  <a:schemeClr val="tx1"/>
                </a:solidFill>
              </a:rPr>
              <a:t>más</a:t>
            </a:r>
            <a:r>
              <a:rPr lang="en-US" altLang="es-PE" sz="2200" b="0" dirty="0">
                <a:solidFill>
                  <a:schemeClr val="tx1"/>
                </a:solidFill>
              </a:rPr>
              <a:t> </a:t>
            </a:r>
            <a:r>
              <a:rPr lang="en-US" altLang="es-PE" sz="2200" b="0" dirty="0" err="1">
                <a:solidFill>
                  <a:schemeClr val="tx1"/>
                </a:solidFill>
              </a:rPr>
              <a:t>volátil</a:t>
            </a:r>
            <a:r>
              <a:rPr lang="en-US" altLang="es-PE" sz="2200" b="0" dirty="0">
                <a:solidFill>
                  <a:schemeClr val="tx1"/>
                </a:solidFill>
              </a:rPr>
              <a:t>.</a:t>
            </a:r>
          </a:p>
          <a:p>
            <a:pPr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Font typeface="Arial" panose="020B0604020202020204" pitchFamily="34" charset="0"/>
              <a:buChar char="•"/>
            </a:pPr>
            <a:r>
              <a:rPr lang="en-US" altLang="es-PE" sz="2200" b="0" dirty="0">
                <a:solidFill>
                  <a:schemeClr val="tx1"/>
                </a:solidFill>
              </a:rPr>
              <a:t>La forma de los acuerdos salariales también cambia con el nivel de inflación. </a:t>
            </a:r>
          </a:p>
          <a:p>
            <a:pPr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Font typeface="Arial" panose="020B0604020202020204" pitchFamily="34" charset="0"/>
              <a:buChar char="•"/>
            </a:pPr>
            <a:r>
              <a:rPr lang="en-US" altLang="es-PE" sz="2200" b="0" dirty="0">
                <a:solidFill>
                  <a:schemeClr val="tx1"/>
                </a:solidFill>
              </a:rPr>
              <a:t>La </a:t>
            </a:r>
            <a:r>
              <a:rPr lang="en-US" altLang="es-PE" sz="2200" b="0" dirty="0">
                <a:solidFill>
                  <a:srgbClr val="0066CC"/>
                </a:solidFill>
              </a:rPr>
              <a:t>indexación de salarios</a:t>
            </a:r>
            <a:r>
              <a:rPr lang="en-US" altLang="es-PE" sz="2200" b="0" dirty="0">
                <a:solidFill>
                  <a:schemeClr val="tx1"/>
                </a:solidFill>
              </a:rPr>
              <a:t>, una regla que automáticamente aumenta los salarios en línea con la inflación, se vuelve más prevalente cuando la inflación es alta.</a:t>
            </a:r>
          </a:p>
        </p:txBody>
      </p:sp>
      <p:sp>
        <p:nvSpPr>
          <p:cNvPr id="60420" name="Rectangle 6"/>
          <p:cNvSpPr>
            <a:spLocks noGrp="1"/>
          </p:cNvSpPr>
          <p:nvPr>
            <p:ph type="title"/>
          </p:nvPr>
        </p:nvSpPr>
        <p:spPr/>
        <p:txBody>
          <a:bodyPr vert="horz" wrap="square" lIns="91440" tIns="548640" rIns="91440" bIns="457200" anchor="ctr"/>
          <a:lstStyle/>
          <a:p>
            <a:pPr defTabSz="739775" eaLnBrk="1" hangingPunct="1"/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A</a:t>
            </a:r>
            <a:r>
              <a:rPr lang="es-PE" altLang="en-US" dirty="0" err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lgunas</a:t>
            </a:r>
            <a:r>
              <a:rPr lang="es-PE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advertencias</a:t>
            </a:r>
            <a:endParaRPr lang="en-US" altLang="es-PE" dirty="0"/>
          </a:p>
        </p:txBody>
      </p:sp>
      <p:sp>
        <p:nvSpPr>
          <p:cNvPr id="405511" name="Rectangle 7"/>
          <p:cNvSpPr/>
          <p:nvPr/>
        </p:nvSpPr>
        <p:spPr>
          <a:xfrm>
            <a:off x="533400" y="838200"/>
            <a:ext cx="8229600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defRPr sz="2400" b="1" kern="1200">
                <a:solidFill>
                  <a:srgbClr val="00808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C0066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/>
            <a:r>
              <a:rPr lang="es-PE" altLang="en-US" dirty="0"/>
              <a:t>Alta</a:t>
            </a:r>
            <a:r>
              <a:rPr lang="en-US" altLang="es-PE" dirty="0"/>
              <a:t> Infla</a:t>
            </a:r>
            <a:r>
              <a:rPr lang="es-PE" altLang="en-US" dirty="0"/>
              <a:t>c</a:t>
            </a:r>
            <a:r>
              <a:rPr lang="en-US" altLang="es-PE" dirty="0"/>
              <a:t>i</a:t>
            </a:r>
            <a:r>
              <a:rPr lang="es-PE" altLang="en-US" dirty="0"/>
              <a:t>ó</a:t>
            </a:r>
            <a:r>
              <a:rPr lang="en-US" altLang="es-PE" dirty="0"/>
              <a:t>n </a:t>
            </a:r>
            <a:r>
              <a:rPr lang="es-PE" altLang="en-US" dirty="0"/>
              <a:t>y la curva de </a:t>
            </a:r>
            <a:r>
              <a:rPr lang="en-US" altLang="es-PE" dirty="0"/>
              <a:t>Phillips</a:t>
            </a:r>
          </a:p>
        </p:txBody>
      </p:sp>
    </p:spTree>
    <p:extLst>
      <p:ext uri="{BB962C8B-B14F-4D97-AF65-F5344CB8AC3E}">
        <p14:creationId xmlns:p14="http://schemas.microsoft.com/office/powerpoint/2010/main" val="10067254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5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05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05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05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05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5507" grpId="0" build="p"/>
      <p:bldP spid="40551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5" name="Rectangle 3"/>
          <p:cNvSpPr>
            <a:spLocks noGrp="1"/>
          </p:cNvSpPr>
          <p:nvPr>
            <p:ph idx="1" hasCustomPrompt="1"/>
          </p:nvPr>
        </p:nvSpPr>
        <p:spPr>
          <a:xfrm>
            <a:off x="381000" y="1267777"/>
            <a:ext cx="8229601" cy="1000734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altLang="en-US" sz="2000" b="0" dirty="0">
                <a:solidFill>
                  <a:schemeClr val="tx1"/>
                </a:solidFill>
              </a:rPr>
              <a:t>Sea</a:t>
            </a:r>
            <a:r>
              <a:rPr lang="en-US" altLang="es-PE" sz="2000" b="0" dirty="0">
                <a:solidFill>
                  <a:schemeClr val="tx1"/>
                </a:solidFill>
              </a:rPr>
              <a:t> </a:t>
            </a:r>
            <a:r>
              <a:rPr lang="en-US" altLang="es-PE" sz="2000" dirty="0">
                <a:solidFill>
                  <a:srgbClr val="0066CC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</a:t>
            </a:r>
            <a:r>
              <a:rPr lang="en-US" altLang="es-PE" sz="2000" b="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s-PE" altLang="en-US" sz="2000" b="0" dirty="0">
                <a:solidFill>
                  <a:schemeClr val="tx1"/>
                </a:solidFill>
                <a:sym typeface="Symbol" panose="05050102010706020507" pitchFamily="18" charset="2"/>
              </a:rPr>
              <a:t>la proporción de contratos laborales </a:t>
            </a:r>
            <a:r>
              <a:rPr lang="es-PE" altLang="en-US" sz="2000" u="sng" dirty="0">
                <a:solidFill>
                  <a:srgbClr val="0066CC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indexados</a:t>
            </a:r>
            <a:r>
              <a:rPr lang="en-US" altLang="es-PE" sz="2000" b="0" dirty="0">
                <a:solidFill>
                  <a:schemeClr val="tx1"/>
                </a:solidFill>
                <a:sym typeface="Symbol" panose="05050102010706020507" pitchFamily="18" charset="2"/>
              </a:rPr>
              <a:t>, </a:t>
            </a:r>
            <a:r>
              <a:rPr lang="es-PE" altLang="en-US" sz="2000" b="0" dirty="0">
                <a:solidFill>
                  <a:schemeClr val="tx1"/>
                </a:solidFill>
                <a:sym typeface="Symbol" panose="05050102010706020507" pitchFamily="18" charset="2"/>
              </a:rPr>
              <a:t>y </a:t>
            </a:r>
            <a:r>
              <a:rPr lang="en-US" altLang="es-PE" sz="2000" b="0" i="1" dirty="0">
                <a:solidFill>
                  <a:schemeClr val="tx1"/>
                </a:solidFill>
                <a:sym typeface="Symbol" panose="05050102010706020507" pitchFamily="18" charset="2"/>
              </a:rPr>
              <a:t>(1 ) </a:t>
            </a:r>
            <a:r>
              <a:rPr lang="es-PE" altLang="en-US" sz="2000" b="0" dirty="0">
                <a:solidFill>
                  <a:schemeClr val="tx1"/>
                </a:solidFill>
                <a:sym typeface="Symbol" panose="05050102010706020507" pitchFamily="18" charset="2"/>
              </a:rPr>
              <a:t>la propoción que no está indexada</a:t>
            </a:r>
            <a:r>
              <a:rPr lang="en-US" altLang="es-PE" sz="2000" b="0" dirty="0">
                <a:solidFill>
                  <a:schemeClr val="tx1"/>
                </a:solidFill>
                <a:sym typeface="Symbol" panose="05050102010706020507" pitchFamily="18" charset="2"/>
              </a:rPr>
              <a:t>. </a:t>
            </a:r>
            <a:r>
              <a:rPr lang="es-PE" altLang="en-US" sz="2000" b="0" dirty="0">
                <a:solidFill>
                  <a:schemeClr val="tx1"/>
                </a:solidFill>
                <a:sym typeface="Symbol" panose="05050102010706020507" pitchFamily="18" charset="2"/>
              </a:rPr>
              <a:t>Luego, </a:t>
            </a:r>
            <a:endParaRPr lang="en-US" altLang="es-PE" sz="2000" b="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4075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8555077"/>
              </p:ext>
            </p:extLst>
          </p:nvPr>
        </p:nvGraphicFramePr>
        <p:xfrm>
          <a:off x="2725420" y="2269490"/>
          <a:ext cx="3768725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485900" imgH="228600" progId="Equation.DSMT4">
                  <p:embed/>
                </p:oleObj>
              </mc:Choice>
              <mc:Fallback>
                <p:oleObj r:id="rId3" imgW="14859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25420" y="2269490"/>
                        <a:ext cx="3768725" cy="579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75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6223407"/>
              </p:ext>
            </p:extLst>
          </p:nvPr>
        </p:nvGraphicFramePr>
        <p:xfrm>
          <a:off x="1887537" y="2994024"/>
          <a:ext cx="5673725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235200" imgH="228600" progId="Equation.COEE2">
                  <p:embed/>
                </p:oleObj>
              </mc:Choice>
              <mc:Fallback>
                <p:oleObj r:id="rId5" imgW="2235200" imgH="228600" progId="Equation.COEE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87537" y="2994024"/>
                        <a:ext cx="5673725" cy="579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7558" name="Rectangle 6"/>
          <p:cNvSpPr/>
          <p:nvPr/>
        </p:nvSpPr>
        <p:spPr>
          <a:xfrm>
            <a:off x="304801" y="3718560"/>
            <a:ext cx="8609964" cy="207264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Clr>
                <a:srgbClr val="003300"/>
              </a:buClr>
              <a:buFont typeface="Arial" panose="020B0604020202020204" pitchFamily="34" charset="0"/>
              <a:buChar char="•"/>
            </a:pPr>
            <a:r>
              <a:rPr lang="es-PE" altLang="en-US" dirty="0">
                <a:latin typeface="Arial" panose="020B0604020202020204" pitchFamily="34" charset="0"/>
              </a:rPr>
              <a:t>La proporción de contratos </a:t>
            </a:r>
            <a:r>
              <a:rPr lang="en-US" altLang="es-PE" i="1" u="sng" dirty="0">
                <a:sym typeface="Symbol" panose="05050102010706020507" pitchFamily="18" charset="2"/>
              </a:rPr>
              <a:t> </a:t>
            </a:r>
            <a:r>
              <a:rPr lang="es-PE" altLang="en-US" dirty="0">
                <a:latin typeface="Arial" panose="020B0604020202020204" pitchFamily="34" charset="0"/>
              </a:rPr>
              <a:t>que esta indexada responde a la inflación efectiva </a:t>
            </a:r>
            <a:r>
              <a:rPr lang="en-US" altLang="es-PE" sz="2400" i="1" dirty="0">
                <a:latin typeface="Arial" panose="020B0604020202020204" pitchFamily="34" charset="0"/>
                <a:sym typeface="Symbol" panose="05050102010706020507" pitchFamily="18" charset="2"/>
              </a:rPr>
              <a:t></a:t>
            </a:r>
            <a:r>
              <a:rPr lang="en-US" altLang="es-PE" sz="2400" i="1" baseline="-25000" dirty="0">
                <a:latin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n-US" altLang="es-PE" sz="2400" dirty="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PE" altLang="en-US" dirty="0">
                <a:latin typeface="Arial" panose="020B0604020202020204" pitchFamily="34" charset="0"/>
                <a:sym typeface="Symbol" panose="05050102010706020507" pitchFamily="18" charset="2"/>
              </a:rPr>
              <a:t>en tanto que la proporción que no lo está responde a</a:t>
            </a:r>
            <a:r>
              <a:rPr lang="en-US" altLang="es-PE" dirty="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s-PE" sz="2400" i="1" dirty="0">
                <a:latin typeface="Arial" panose="020B0604020202020204" pitchFamily="34" charset="0"/>
                <a:sym typeface="Symbol" panose="05050102010706020507" pitchFamily="18" charset="2"/>
              </a:rPr>
              <a:t></a:t>
            </a:r>
            <a:r>
              <a:rPr lang="en-US" altLang="es-PE" sz="2400" i="1" baseline="30000" dirty="0"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n-US" altLang="es-PE" sz="2400" i="1" baseline="-25000" dirty="0">
                <a:latin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s-PE" altLang="es-PE" i="1" dirty="0">
                <a:sym typeface="Symbol" panose="05050102010706020507" pitchFamily="18" charset="2"/>
              </a:rPr>
              <a:t>  </a:t>
            </a:r>
            <a:r>
              <a:rPr lang="es-PE" altLang="es-PE" dirty="0">
                <a:sym typeface="Symbol" panose="05050102010706020507" pitchFamily="18" charset="2"/>
              </a:rPr>
              <a:t>:</a:t>
            </a:r>
            <a:endParaRPr lang="es-PE" altLang="en-US" dirty="0">
              <a:sym typeface="Symbol" panose="05050102010706020507" pitchFamily="18" charset="2"/>
            </a:endParaRPr>
          </a:p>
          <a:p>
            <a:pPr marL="342900" indent="-342900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Clr>
                <a:srgbClr val="003300"/>
              </a:buClr>
              <a:buFont typeface="Arial" panose="020B0604020202020204" pitchFamily="34" charset="0"/>
              <a:buChar char="•"/>
            </a:pPr>
            <a:r>
              <a:rPr lang="es-PE" altLang="en-US" dirty="0">
                <a:latin typeface="Arial" panose="020B0604020202020204" pitchFamily="34" charset="0"/>
                <a:sym typeface="Symbol" panose="05050102010706020507" pitchFamily="18" charset="2"/>
              </a:rPr>
              <a:t>Cuando </a:t>
            </a:r>
            <a:r>
              <a:rPr lang="en-US" altLang="es-PE" b="1" i="1" dirty="0">
                <a:solidFill>
                  <a:srgbClr val="0066CC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</a:t>
            </a:r>
            <a:r>
              <a:rPr lang="en-US" altLang="es-PE" b="1" dirty="0">
                <a:solidFill>
                  <a:srgbClr val="0066CC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=0</a:t>
            </a:r>
            <a:r>
              <a:rPr lang="en-US" altLang="es-PE" dirty="0">
                <a:latin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s-PE" altLang="en-US" dirty="0">
                <a:latin typeface="Arial" panose="020B0604020202020204" pitchFamily="34" charset="0"/>
                <a:sym typeface="Symbol" panose="05050102010706020507" pitchFamily="18" charset="2"/>
              </a:rPr>
              <a:t>los salarios son establecidos sobre la base de la inflación esperada </a:t>
            </a:r>
            <a:r>
              <a:rPr lang="en-US" altLang="es-PE" dirty="0">
                <a:latin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s-PE" altLang="en-US" dirty="0">
                <a:latin typeface="Arial" panose="020B0604020202020204" pitchFamily="34" charset="0"/>
                <a:sym typeface="Symbol" panose="05050102010706020507" pitchFamily="18" charset="2"/>
              </a:rPr>
              <a:t>igual a la inflación del año previo</a:t>
            </a:r>
            <a:r>
              <a:rPr lang="en-US" altLang="es-PE" dirty="0">
                <a:latin typeface="Arial" panose="020B0604020202020204" pitchFamily="34" charset="0"/>
                <a:sym typeface="Symbol" panose="05050102010706020507" pitchFamily="18" charset="2"/>
              </a:rPr>
              <a:t>), </a:t>
            </a:r>
            <a:r>
              <a:rPr lang="es-PE" altLang="en-US" dirty="0">
                <a:latin typeface="Arial" panose="020B0604020202020204" pitchFamily="34" charset="0"/>
                <a:sym typeface="Symbol" panose="05050102010706020507" pitchFamily="18" charset="2"/>
              </a:rPr>
              <a:t>luego:</a:t>
            </a:r>
          </a:p>
        </p:txBody>
      </p:sp>
      <p:graphicFrame>
        <p:nvGraphicFramePr>
          <p:cNvPr id="4075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1341777"/>
              </p:ext>
            </p:extLst>
          </p:nvPr>
        </p:nvGraphicFramePr>
        <p:xfrm>
          <a:off x="2747543" y="5920422"/>
          <a:ext cx="3835400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511300" imgH="203200" progId="Equation.COEE2">
                  <p:embed/>
                </p:oleObj>
              </mc:Choice>
              <mc:Fallback>
                <p:oleObj r:id="rId7" imgW="1511300" imgH="203200" progId="Equation.COEE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47543" y="5920422"/>
                        <a:ext cx="3835400" cy="515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2" name="Rectangle 10"/>
          <p:cNvSpPr>
            <a:spLocks noGrp="1"/>
          </p:cNvSpPr>
          <p:nvPr>
            <p:ph type="title"/>
          </p:nvPr>
        </p:nvSpPr>
        <p:spPr/>
        <p:txBody>
          <a:bodyPr vert="horz" wrap="square" lIns="91440" tIns="548640" rIns="91440" bIns="457200" anchor="ctr"/>
          <a:lstStyle/>
          <a:p>
            <a:pPr defTabSz="739775" eaLnBrk="1" hangingPunct="1"/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A</a:t>
            </a:r>
            <a:r>
              <a:rPr lang="es-PE" altLang="en-US" dirty="0" err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lgunas</a:t>
            </a:r>
            <a:r>
              <a:rPr lang="es-PE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advertencias</a:t>
            </a:r>
            <a:endParaRPr lang="en-US" altLang="es-PE" dirty="0"/>
          </a:p>
        </p:txBody>
      </p:sp>
      <p:sp>
        <p:nvSpPr>
          <p:cNvPr id="62473" name="Rectangle 11"/>
          <p:cNvSpPr/>
          <p:nvPr/>
        </p:nvSpPr>
        <p:spPr>
          <a:xfrm>
            <a:off x="533400" y="838200"/>
            <a:ext cx="8229600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defRPr sz="2400" b="1" kern="1200">
                <a:solidFill>
                  <a:srgbClr val="00808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C0066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/>
            <a:r>
              <a:rPr lang="es-PE" altLang="en-US" dirty="0">
                <a:sym typeface="+mn-ea"/>
              </a:rPr>
              <a:t>Alta</a:t>
            </a:r>
            <a:r>
              <a:rPr lang="en-US" altLang="es-PE" dirty="0">
                <a:sym typeface="+mn-ea"/>
              </a:rPr>
              <a:t> Infla</a:t>
            </a:r>
            <a:r>
              <a:rPr lang="es-PE" altLang="en-US" dirty="0">
                <a:sym typeface="+mn-ea"/>
              </a:rPr>
              <a:t>c</a:t>
            </a:r>
            <a:r>
              <a:rPr lang="en-US" altLang="es-PE" dirty="0">
                <a:sym typeface="+mn-ea"/>
              </a:rPr>
              <a:t>i</a:t>
            </a:r>
            <a:r>
              <a:rPr lang="es-PE" altLang="en-US" dirty="0">
                <a:sym typeface="+mn-ea"/>
              </a:rPr>
              <a:t>ó</a:t>
            </a:r>
            <a:r>
              <a:rPr lang="en-US" altLang="es-PE" dirty="0">
                <a:sym typeface="+mn-ea"/>
              </a:rPr>
              <a:t>n </a:t>
            </a:r>
            <a:r>
              <a:rPr lang="es-PE" altLang="en-US" dirty="0">
                <a:sym typeface="+mn-ea"/>
              </a:rPr>
              <a:t>y la curva de </a:t>
            </a:r>
            <a:r>
              <a:rPr lang="en-US" altLang="es-PE" dirty="0">
                <a:sym typeface="+mn-ea"/>
              </a:rPr>
              <a:t>Phillips</a:t>
            </a:r>
            <a:endParaRPr lang="en-US" altLang="es-PE" dirty="0"/>
          </a:p>
        </p:txBody>
      </p:sp>
    </p:spTree>
    <p:extLst>
      <p:ext uri="{BB962C8B-B14F-4D97-AF65-F5344CB8AC3E}">
        <p14:creationId xmlns:p14="http://schemas.microsoft.com/office/powerpoint/2010/main" val="41258733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7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07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075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075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07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075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075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075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7555" grpId="0" build="p" bldLvl="2" advAuto="1000"/>
      <p:bldP spid="407558" grpId="0" build="p" advAuto="100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3" name="Rectangle 3"/>
          <p:cNvSpPr>
            <a:spLocks noGrp="1"/>
          </p:cNvSpPr>
          <p:nvPr>
            <p:ph idx="1" hasCustomPrompt="1"/>
          </p:nvPr>
        </p:nvSpPr>
        <p:spPr>
          <a:xfrm>
            <a:off x="609600" y="1371600"/>
            <a:ext cx="6172200" cy="529590"/>
          </a:xfrm>
        </p:spPr>
        <p:txBody>
          <a:bodyPr vert="horz" wrap="square" lIns="91440" tIns="45720" rIns="91440" bIns="45720" anchor="t"/>
          <a:lstStyle/>
          <a:p>
            <a:pPr eaLnBrk="1" hangingPunct="1">
              <a:buFont typeface="Arial" panose="020B0604020202020204" pitchFamily="34" charset="0"/>
              <a:buChar char="•"/>
            </a:pPr>
            <a:r>
              <a:rPr lang="es-PE" altLang="en-US" sz="2200" b="0" dirty="0">
                <a:solidFill>
                  <a:schemeClr val="tx1"/>
                </a:solidFill>
              </a:rPr>
              <a:t>Cuando </a:t>
            </a:r>
            <a:r>
              <a:rPr lang="en-US" altLang="es-PE" sz="2200" b="0" i="1" dirty="0">
                <a:solidFill>
                  <a:schemeClr val="tx1"/>
                </a:solidFill>
                <a:sym typeface="Symbol" panose="05050102010706020507" pitchFamily="18" charset="2"/>
              </a:rPr>
              <a:t></a:t>
            </a:r>
            <a:r>
              <a:rPr lang="en-US" altLang="es-PE" sz="2200" b="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s-PE" altLang="en-US" sz="2200" b="0" dirty="0">
                <a:solidFill>
                  <a:schemeClr val="tx1"/>
                </a:solidFill>
                <a:sym typeface="Symbol" panose="05050102010706020507" pitchFamily="18" charset="2"/>
              </a:rPr>
              <a:t>e</a:t>
            </a:r>
            <a:r>
              <a:rPr lang="en-US" altLang="es-PE" sz="2200" b="0" dirty="0">
                <a:solidFill>
                  <a:schemeClr val="tx1"/>
                </a:solidFill>
                <a:sym typeface="Symbol" panose="05050102010706020507" pitchFamily="18" charset="2"/>
              </a:rPr>
              <a:t>s </a:t>
            </a:r>
            <a:r>
              <a:rPr lang="en-US" altLang="es-PE" sz="2200" b="0" dirty="0" err="1">
                <a:solidFill>
                  <a:schemeClr val="tx1"/>
                </a:solidFill>
                <a:sym typeface="Symbol" panose="05050102010706020507" pitchFamily="18" charset="2"/>
              </a:rPr>
              <a:t>positiv</a:t>
            </a:r>
            <a:r>
              <a:rPr lang="es-PE" altLang="es-PE" sz="2200" b="0" dirty="0">
                <a:solidFill>
                  <a:schemeClr val="tx1"/>
                </a:solidFill>
                <a:sym typeface="Symbol" panose="05050102010706020507" pitchFamily="18" charset="2"/>
              </a:rPr>
              <a:t>o y </a:t>
            </a:r>
            <a:r>
              <a:rPr lang="en-US" altLang="es-PE" b="0" i="1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</a:t>
            </a:r>
            <a:r>
              <a:rPr lang="en-US" altLang="es-PE" b="0" i="1" baseline="30000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n-US" altLang="es-PE" b="0" i="1" baseline="-25000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s-PE" altLang="es-PE" b="0" i="1" dirty="0">
                <a:solidFill>
                  <a:schemeClr val="tx1"/>
                </a:solidFill>
                <a:sym typeface="Symbol" panose="05050102010706020507" pitchFamily="18" charset="2"/>
              </a:rPr>
              <a:t> = </a:t>
            </a:r>
            <a:r>
              <a:rPr lang="en-US" altLang="es-PE" b="0" i="1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</a:t>
            </a:r>
            <a:r>
              <a:rPr lang="en-US" altLang="es-PE" b="0" i="1" baseline="-25000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t-1</a:t>
            </a:r>
            <a:r>
              <a:rPr lang="es-PE" altLang="es-PE" sz="2000" i="1" dirty="0">
                <a:sym typeface="Symbol" panose="05050102010706020507" pitchFamily="18" charset="2"/>
              </a:rPr>
              <a:t> </a:t>
            </a:r>
            <a:endParaRPr lang="en-US" altLang="es-PE" sz="2200" b="0" i="1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40960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355169"/>
              </p:ext>
            </p:extLst>
          </p:nvPr>
        </p:nvGraphicFramePr>
        <p:xfrm>
          <a:off x="2535238" y="2061931"/>
          <a:ext cx="4073524" cy="932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828800" imgH="419100" progId="Equation.COEE2">
                  <p:embed/>
                </p:oleObj>
              </mc:Choice>
              <mc:Fallback>
                <p:oleObj r:id="rId3" imgW="1828800" imgH="419100" progId="Equation.COEE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35238" y="2061931"/>
                        <a:ext cx="4073524" cy="93200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05" name="Rectangle 5"/>
          <p:cNvSpPr/>
          <p:nvPr/>
        </p:nvSpPr>
        <p:spPr>
          <a:xfrm>
            <a:off x="533400" y="3169920"/>
            <a:ext cx="8229600" cy="254508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Font typeface="Arial" panose="020B0604020202020204" pitchFamily="34" charset="0"/>
              <a:buChar char="•"/>
            </a:pPr>
            <a:r>
              <a:rPr lang="es-PE" altLang="en-US" dirty="0">
                <a:latin typeface="Arial" panose="020B0604020202020204" pitchFamily="34" charset="0"/>
              </a:rPr>
              <a:t>Asi, mayor la proporción de contratos salariales indexados -un </a:t>
            </a:r>
            <a:r>
              <a:rPr lang="en-US" altLang="es-PE" i="1" dirty="0">
                <a:latin typeface="Arial" panose="020B0604020202020204" pitchFamily="34" charset="0"/>
                <a:sym typeface="Symbol" panose="05050102010706020507" pitchFamily="18" charset="2"/>
              </a:rPr>
              <a:t> </a:t>
            </a:r>
            <a:r>
              <a:rPr lang="es-PE" altLang="en-US" i="1" dirty="0">
                <a:latin typeface="Arial" panose="020B0604020202020204" pitchFamily="34" charset="0"/>
                <a:sym typeface="Symbol" panose="05050102010706020507" pitchFamily="18" charset="2"/>
              </a:rPr>
              <a:t>mayor</a:t>
            </a:r>
            <a:r>
              <a:rPr lang="en-US" altLang="es-PE" dirty="0">
                <a:latin typeface="Arial" panose="020B0604020202020204" pitchFamily="34" charset="0"/>
                <a:sym typeface="Symbol" panose="05050102010706020507" pitchFamily="18" charset="2"/>
              </a:rPr>
              <a:t>-- </a:t>
            </a:r>
            <a:r>
              <a:rPr lang="es-PE" altLang="en-US" dirty="0">
                <a:latin typeface="Arial" panose="020B0604020202020204" pitchFamily="34" charset="0"/>
                <a:sym typeface="Symbol" panose="05050102010706020507" pitchFamily="18" charset="2"/>
              </a:rPr>
              <a:t>mayor es el efecto de la tasa de desempleo en el cambio de la inflación.</a:t>
            </a:r>
            <a:endParaRPr lang="en-US" altLang="es-PE" dirty="0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marL="342900" indent="-342900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Font typeface="Arial" panose="020B0604020202020204" pitchFamily="34" charset="0"/>
              <a:buChar char="•"/>
            </a:pPr>
            <a:r>
              <a:rPr lang="es-PE" altLang="en-US" dirty="0">
                <a:latin typeface="Arial" panose="020B0604020202020204" pitchFamily="34" charset="0"/>
                <a:sym typeface="Symbol" panose="05050102010706020507" pitchFamily="18" charset="2"/>
              </a:rPr>
              <a:t>Cuando </a:t>
            </a:r>
            <a:r>
              <a:rPr lang="en-US" altLang="es-PE" i="1" dirty="0">
                <a:latin typeface="Arial" panose="020B0604020202020204" pitchFamily="34" charset="0"/>
                <a:sym typeface="Symbol" panose="05050102010706020507" pitchFamily="18" charset="2"/>
              </a:rPr>
              <a:t></a:t>
            </a:r>
            <a:r>
              <a:rPr lang="en-US" altLang="es-PE" dirty="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PE" altLang="en-US" dirty="0"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n-US" altLang="es-PE" dirty="0">
                <a:latin typeface="Arial" panose="020B0604020202020204" pitchFamily="34" charset="0"/>
                <a:sym typeface="Symbol" panose="05050102010706020507" pitchFamily="18" charset="2"/>
              </a:rPr>
              <a:t>s </a:t>
            </a:r>
            <a:r>
              <a:rPr lang="es-PE" altLang="en-US" dirty="0">
                <a:latin typeface="Arial" panose="020B0604020202020204" pitchFamily="34" charset="0"/>
                <a:sym typeface="Symbol" panose="05050102010706020507" pitchFamily="18" charset="2"/>
              </a:rPr>
              <a:t>cercano a </a:t>
            </a:r>
            <a:r>
              <a:rPr lang="en-US" altLang="es-PE" dirty="0">
                <a:latin typeface="Arial" panose="020B0604020202020204" pitchFamily="34" charset="0"/>
                <a:sym typeface="Symbol" panose="05050102010706020507" pitchFamily="18" charset="2"/>
              </a:rPr>
              <a:t>1, </a:t>
            </a:r>
            <a:r>
              <a:rPr lang="es-PE" altLang="en-US" dirty="0">
                <a:latin typeface="Arial" panose="020B0604020202020204" pitchFamily="34" charset="0"/>
                <a:sym typeface="Symbol" panose="05050102010706020507" pitchFamily="18" charset="2"/>
              </a:rPr>
              <a:t>cambios pequeños en el desempleo pueden conducir a cambios muy grandes en la inflación.</a:t>
            </a:r>
            <a:endParaRPr lang="en-US" altLang="es-PE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64518" name="Rectangle 8"/>
          <p:cNvSpPr>
            <a:spLocks noGrp="1"/>
          </p:cNvSpPr>
          <p:nvPr>
            <p:ph type="title"/>
          </p:nvPr>
        </p:nvSpPr>
        <p:spPr/>
        <p:txBody>
          <a:bodyPr vert="horz" wrap="square" lIns="91440" tIns="548640" rIns="91440" bIns="457200" anchor="ctr"/>
          <a:lstStyle/>
          <a:p>
            <a:pPr defTabSz="739775" eaLnBrk="1" hangingPunct="1"/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A</a:t>
            </a:r>
            <a:r>
              <a:rPr lang="es-PE" altLang="en-US" dirty="0" err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lgunas</a:t>
            </a:r>
            <a:r>
              <a:rPr lang="es-PE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advertencias</a:t>
            </a:r>
            <a:endParaRPr lang="en-US" altLang="es-PE" dirty="0"/>
          </a:p>
        </p:txBody>
      </p:sp>
      <p:sp>
        <p:nvSpPr>
          <p:cNvPr id="64519" name="Rectangle 9"/>
          <p:cNvSpPr/>
          <p:nvPr/>
        </p:nvSpPr>
        <p:spPr>
          <a:xfrm>
            <a:off x="533400" y="838200"/>
            <a:ext cx="8229600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defRPr sz="2400" b="1" kern="1200">
                <a:solidFill>
                  <a:srgbClr val="00808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C0066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/>
            <a:r>
              <a:rPr lang="es-PE" altLang="en-US" dirty="0">
                <a:sym typeface="+mn-ea"/>
              </a:rPr>
              <a:t>Alta</a:t>
            </a:r>
            <a:r>
              <a:rPr lang="en-US" altLang="es-PE" dirty="0">
                <a:sym typeface="+mn-ea"/>
              </a:rPr>
              <a:t> Infla</a:t>
            </a:r>
            <a:r>
              <a:rPr lang="es-PE" altLang="en-US" dirty="0">
                <a:sym typeface="+mn-ea"/>
              </a:rPr>
              <a:t>c</a:t>
            </a:r>
            <a:r>
              <a:rPr lang="en-US" altLang="es-PE" dirty="0">
                <a:sym typeface="+mn-ea"/>
              </a:rPr>
              <a:t>i</a:t>
            </a:r>
            <a:r>
              <a:rPr lang="es-PE" altLang="en-US" dirty="0">
                <a:sym typeface="+mn-ea"/>
              </a:rPr>
              <a:t>ó</a:t>
            </a:r>
            <a:r>
              <a:rPr lang="en-US" altLang="es-PE" dirty="0">
                <a:sym typeface="+mn-ea"/>
              </a:rPr>
              <a:t>n </a:t>
            </a:r>
            <a:r>
              <a:rPr lang="es-PE" altLang="en-US" dirty="0">
                <a:sym typeface="+mn-ea"/>
              </a:rPr>
              <a:t>y la curva de </a:t>
            </a:r>
            <a:r>
              <a:rPr lang="en-US" altLang="es-PE" dirty="0">
                <a:sym typeface="+mn-ea"/>
              </a:rPr>
              <a:t>Phillips</a:t>
            </a:r>
            <a:endParaRPr lang="en-US" altLang="es-PE" dirty="0"/>
          </a:p>
        </p:txBody>
      </p:sp>
    </p:spTree>
    <p:extLst>
      <p:ext uri="{BB962C8B-B14F-4D97-AF65-F5344CB8AC3E}">
        <p14:creationId xmlns:p14="http://schemas.microsoft.com/office/powerpoint/2010/main" val="167120741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096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096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6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096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03" grpId="0" build="p" bldLvl="2" advAuto="1000"/>
      <p:bldP spid="409605" grpId="0" build="p" advAuto="100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291ED8-87EC-2BF0-EF84-58EAC5A3E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7270609-DA9C-D8EC-8C28-439558E83F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/>
            <a:r>
              <a:rPr lang="es-PE" dirty="0"/>
              <a:t>El Modelo IS LM PC</a:t>
            </a:r>
          </a:p>
        </p:txBody>
      </p:sp>
    </p:spTree>
    <p:extLst>
      <p:ext uri="{BB962C8B-B14F-4D97-AF65-F5344CB8AC3E}">
        <p14:creationId xmlns:p14="http://schemas.microsoft.com/office/powerpoint/2010/main" val="4472038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Marcador de número de diapositiva 3"/>
          <p:cNvSpPr txBox="1">
            <a:spLocks noGrp="1"/>
          </p:cNvSpPr>
          <p:nvPr>
            <p:ph type="sldNum" sz="quarter" idx="4294967295"/>
          </p:nvPr>
        </p:nvSpPr>
        <p:spPr>
          <a:xfrm>
            <a:off x="8001000" y="6581775"/>
            <a:ext cx="1143000" cy="304800"/>
          </a:xfrm>
          <a:prstGeom prst="rect">
            <a:avLst/>
          </a:prstGeom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Font typeface="Wingdings" panose="05000000000000000000" pitchFamily="2" charset="2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en-US" altLang="es-PE" sz="1400" smtClean="0">
                <a:solidFill>
                  <a:srgbClr val="008080"/>
                </a:solidFill>
              </a:rPr>
              <a:t>40</a:t>
            </a:fld>
            <a:endParaRPr lang="en-US" altLang="es-PE" sz="1400" dirty="0">
              <a:solidFill>
                <a:srgbClr val="00808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1651" name="Rectangle 3"/>
              <p:cNvSpPr>
                <a:spLocks noGrp="1"/>
              </p:cNvSpPr>
              <p:nvPr>
                <p:ph idx="1" hasCustomPrompt="1"/>
              </p:nvPr>
            </p:nvSpPr>
            <p:spPr>
              <a:xfrm>
                <a:off x="567812" y="1559795"/>
                <a:ext cx="8229599" cy="4612405"/>
              </a:xfrm>
            </p:spPr>
            <p:txBody>
              <a:bodyPr vert="horz" wrap="square" lIns="91440" tIns="45720" rIns="91440" bIns="45720" anchor="t"/>
              <a:lstStyle/>
              <a:p>
                <a:pPr marL="0" indent="0">
                  <a:lnSpc>
                    <a:spcPct val="150000"/>
                  </a:lnSpc>
                  <a:spcBef>
                    <a:spcPct val="5000"/>
                  </a:spcBef>
                  <a:spcAft>
                    <a:spcPct val="5000"/>
                  </a:spcAft>
                </a:pPr>
                <a:r>
                  <a:rPr lang="es-PE" altLang="es-PE" sz="2000" b="0" dirty="0">
                    <a:solidFill>
                      <a:schemeClr val="tx1"/>
                    </a:solidFill>
                  </a:rPr>
                  <a:t>Recordando:</a:t>
                </a:r>
              </a:p>
              <a:p>
                <a:pPr>
                  <a:lnSpc>
                    <a:spcPct val="150000"/>
                  </a:lnSpc>
                  <a:spcBef>
                    <a:spcPct val="5000"/>
                  </a:spcBef>
                  <a:spcAft>
                    <a:spcPct val="5000"/>
                  </a:spcAft>
                  <a:buFont typeface="Arial" panose="020B0604020202020204" pitchFamily="34" charset="0"/>
                  <a:buChar char="•"/>
                </a:pPr>
                <a:r>
                  <a:rPr lang="es-PE" altLang="es-PE" sz="2000" b="0" dirty="0">
                    <a:solidFill>
                      <a:schemeClr val="tx1"/>
                    </a:solidFill>
                  </a:rPr>
                  <a:t>De : </a:t>
                </a:r>
                <a14:m>
                  <m:oMath xmlns:m="http://schemas.openxmlformats.org/officeDocument/2006/math">
                    <m:r>
                      <a:rPr lang="es-PE" altLang="es-PE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s-PE" altLang="es-PE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PE" altLang="es-P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PE" altLang="es-P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num>
                      <m:den>
                        <m:r>
                          <a:rPr lang="es-PE" altLang="es-P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s-PE" altLang="es-PE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s-PE" altLang="es-PE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s-PE" altLang="es-PE" sz="2000" b="0" dirty="0">
                        <a:solidFill>
                          <a:schemeClr val="tx1"/>
                        </a:solidFill>
                      </a:rPr>
                      <m:t> </m:t>
                    </m:r>
                    <m:r>
                      <a:rPr lang="es-PE" altLang="es-PE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s-PE" altLang="es-PE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PE" altLang="es-P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PE" altLang="es-P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  <m:r>
                          <a:rPr lang="es-PE" altLang="es-P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s-PE" altLang="es-P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s-PE" altLang="es-P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s-PE" altLang="es-PE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s-PE" altLang="es-PE" sz="2000" b="0" dirty="0">
                        <a:solidFill>
                          <a:schemeClr val="tx1"/>
                        </a:solidFill>
                      </a:rPr>
                      <m:t> </m:t>
                    </m:r>
                    <m:r>
                      <a:rPr lang="es-PE" altLang="es-PE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s-PE" altLang="es-PE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PE" altLang="es-PE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s-PE" altLang="es-PE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 </m:t>
                    </m:r>
                    <m:f>
                      <m:fPr>
                        <m:ctrlPr>
                          <a:rPr lang="es-PE" altLang="es-P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PE" altLang="es-P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s-PE" altLang="es-P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endParaRPr lang="es-PE" altLang="es-PE" sz="2000" b="0" dirty="0">
                  <a:solidFill>
                    <a:schemeClr val="tx1"/>
                  </a:solidFill>
                </a:endParaRPr>
              </a:p>
              <a:p>
                <a:pPr marL="354013" indent="0">
                  <a:lnSpc>
                    <a:spcPct val="150000"/>
                  </a:lnSpc>
                  <a:spcBef>
                    <a:spcPct val="5000"/>
                  </a:spcBef>
                  <a:spcAft>
                    <a:spcPct val="5000"/>
                  </a:spcAft>
                </a:pPr>
                <a:r>
                  <a:rPr lang="es-PE" altLang="es-PE" sz="2000" b="0" dirty="0">
                    <a:solidFill>
                      <a:schemeClr val="tx1"/>
                    </a:solidFill>
                  </a:rPr>
                  <a:t>	entonces   	</a:t>
                </a:r>
                <a:r>
                  <a:rPr lang="es-PE" altLang="es-PE" sz="2000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 </a:t>
                </a:r>
                <a:r>
                  <a:rPr lang="en-US" altLang="es-PE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L (1- u) </a:t>
                </a:r>
                <a:endParaRPr lang="en-US" altLang="es-PE" sz="2000" b="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 eaLnBrk="1" hangingPunct="1">
                  <a:lnSpc>
                    <a:spcPct val="150000"/>
                  </a:lnSpc>
                  <a:spcBef>
                    <a:spcPct val="5000"/>
                  </a:spcBef>
                  <a:spcAft>
                    <a:spcPct val="5000"/>
                  </a:spcAft>
                </a:pPr>
                <a:endParaRPr lang="es-PE" altLang="es-PE" sz="1200" b="0" dirty="0">
                  <a:solidFill>
                    <a:schemeClr val="tx1"/>
                  </a:solidFill>
                </a:endParaRPr>
              </a:p>
              <a:p>
                <a:pPr algn="just" eaLnBrk="1" hangingPunct="1">
                  <a:lnSpc>
                    <a:spcPct val="150000"/>
                  </a:lnSpc>
                  <a:spcBef>
                    <a:spcPct val="5000"/>
                  </a:spcBef>
                  <a:spcAft>
                    <a:spcPct val="5000"/>
                  </a:spcAft>
                  <a:buFont typeface="Arial" panose="020B0604020202020204" pitchFamily="34" charset="0"/>
                  <a:buChar char="•"/>
                </a:pPr>
                <a:r>
                  <a:rPr lang="es-PE" altLang="es-PE" sz="2000" b="0" dirty="0">
                    <a:solidFill>
                      <a:schemeClr val="tx1"/>
                    </a:solidFill>
                  </a:rPr>
                  <a:t>Si	</a:t>
                </a:r>
                <a:r>
                  <a:rPr lang="es-PE" altLang="es-PE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		</a:t>
                </a:r>
                <a:r>
                  <a:rPr lang="en-US" altLang="es-PE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 = u</a:t>
                </a:r>
                <a:r>
                  <a:rPr lang="en-US" altLang="es-PE" b="0" i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 </a:t>
                </a:r>
                <a:r>
                  <a:rPr lang="en-US" altLang="es-PE" sz="20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s-PE" sz="20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 </a:t>
                </a:r>
                <a:r>
                  <a:rPr lang="es-PE" altLang="es-PE" b="0" i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s-PE" altLang="es-PE" b="0" i="1" baseline="-25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s-PE" altLang="es-PE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altLang="es-PE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L (1- u</a:t>
                </a:r>
                <a:r>
                  <a:rPr lang="en-US" altLang="es-PE" b="0" i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es-PE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 algn="just">
                  <a:lnSpc>
                    <a:spcPct val="150000"/>
                  </a:lnSpc>
                  <a:spcBef>
                    <a:spcPct val="5000"/>
                  </a:spcBef>
                  <a:spcAft>
                    <a:spcPct val="5000"/>
                  </a:spcAft>
                </a:pPr>
                <a:r>
                  <a:rPr lang="en-US" altLang="es-PE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	</a:t>
                </a:r>
                <a:r>
                  <a:rPr lang="en-US" altLang="es-PE" sz="20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</a:t>
                </a:r>
                <a:r>
                  <a:rPr lang="en-US" altLang="es-PE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s-PE" i="1" dirty="0" err="1">
                    <a:solidFill>
                      <a:srgbClr val="0066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es-PE" i="1" baseline="-25000" dirty="0" err="1">
                    <a:solidFill>
                      <a:srgbClr val="0066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es-PE" i="1" dirty="0">
                    <a:solidFill>
                      <a:srgbClr val="0066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L (1- u</a:t>
                </a:r>
                <a:r>
                  <a:rPr lang="en-US" altLang="es-PE" i="1" baseline="-25000" dirty="0">
                    <a:solidFill>
                      <a:srgbClr val="0066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es-PE" i="1" dirty="0">
                    <a:solidFill>
                      <a:srgbClr val="0066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es-PE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</a:p>
              <a:p>
                <a:pPr marL="722313" indent="-368300" algn="just">
                  <a:lnSpc>
                    <a:spcPct val="150000"/>
                  </a:lnSpc>
                  <a:spcBef>
                    <a:spcPct val="5000"/>
                  </a:spcBef>
                  <a:spcAft>
                    <a:spcPct val="5000"/>
                  </a:spcAft>
                  <a:buFontTx/>
                  <a:buChar char="-"/>
                </a:pPr>
                <a:r>
                  <a:rPr lang="es-PE" altLang="es-PE" sz="2200" b="0" i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s-PE" altLang="es-PE" sz="2200" b="0" i="1" baseline="-25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s-PE" altLang="es-PE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</a:t>
                </a:r>
                <a:r>
                  <a:rPr lang="es-PE" altLang="es-PE" sz="2000" b="0" dirty="0">
                    <a:solidFill>
                      <a:schemeClr val="tx1"/>
                    </a:solidFill>
                  </a:rPr>
                  <a:t>nivel </a:t>
                </a:r>
                <a:r>
                  <a:rPr lang="es-PE" altLang="es-PE" sz="2000" b="0" i="1" u="sng" dirty="0">
                    <a:solidFill>
                      <a:schemeClr val="tx1"/>
                    </a:solidFill>
                  </a:rPr>
                  <a:t>natural</a:t>
                </a:r>
                <a:r>
                  <a:rPr lang="es-PE" altLang="es-PE" sz="2000" b="0" u="sng" dirty="0">
                    <a:solidFill>
                      <a:schemeClr val="tx1"/>
                    </a:solidFill>
                  </a:rPr>
                  <a:t> de empleo</a:t>
                </a:r>
              </a:p>
              <a:p>
                <a:pPr marL="722313" indent="-368300" algn="just">
                  <a:lnSpc>
                    <a:spcPct val="150000"/>
                  </a:lnSpc>
                  <a:spcBef>
                    <a:spcPct val="5000"/>
                  </a:spcBef>
                  <a:spcAft>
                    <a:spcPct val="5000"/>
                  </a:spcAft>
                  <a:buFontTx/>
                  <a:buChar char="-"/>
                </a:pPr>
                <a:r>
                  <a:rPr lang="en-US" altLang="es-PE" sz="2200" b="0" i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es-PE" sz="2200" b="0" i="1" baseline="-25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es-PE" b="0" i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s-PE" sz="2000" b="0" dirty="0">
                    <a:solidFill>
                      <a:schemeClr val="tx1"/>
                    </a:solidFill>
                  </a:rPr>
                  <a:t>: </a:t>
                </a:r>
                <a:r>
                  <a:rPr lang="en-US" altLang="es-PE" sz="2000" b="0" dirty="0" err="1">
                    <a:solidFill>
                      <a:schemeClr val="tx1"/>
                    </a:solidFill>
                  </a:rPr>
                  <a:t>nivel</a:t>
                </a:r>
                <a:r>
                  <a:rPr lang="en-US" altLang="es-PE" sz="2000" b="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es-PE" sz="2000" b="0" i="1" dirty="0">
                    <a:solidFill>
                      <a:schemeClr val="tx1"/>
                    </a:solidFill>
                  </a:rPr>
                  <a:t>natural</a:t>
                </a:r>
                <a:r>
                  <a:rPr lang="en-US" altLang="es-PE" sz="2000" b="0" dirty="0">
                    <a:solidFill>
                      <a:schemeClr val="tx1"/>
                    </a:solidFill>
                  </a:rPr>
                  <a:t> de </a:t>
                </a:r>
                <a:r>
                  <a:rPr lang="en-US" altLang="es-PE" sz="2000" b="0" dirty="0" err="1">
                    <a:solidFill>
                      <a:schemeClr val="tx1"/>
                    </a:solidFill>
                  </a:rPr>
                  <a:t>producción</a:t>
                </a:r>
                <a:r>
                  <a:rPr lang="en-US" altLang="es-PE" sz="2000" b="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es-PE" sz="2000" b="0" dirty="0">
                    <a:solidFill>
                      <a:srgbClr val="0066CC"/>
                    </a:solidFill>
                  </a:rPr>
                  <a:t>(</a:t>
                </a:r>
                <a:r>
                  <a:rPr lang="en-US" altLang="es-PE" sz="2000" u="sng" dirty="0">
                    <a:solidFill>
                      <a:srgbClr val="0066CC"/>
                    </a:solidFill>
                  </a:rPr>
                  <a:t>PBI </a:t>
                </a:r>
                <a:r>
                  <a:rPr lang="en-US" altLang="es-PE" sz="2000" u="sng" dirty="0" err="1">
                    <a:solidFill>
                      <a:srgbClr val="0066CC"/>
                    </a:solidFill>
                  </a:rPr>
                  <a:t>potencial</a:t>
                </a:r>
                <a:r>
                  <a:rPr lang="en-US" altLang="es-PE" sz="2000" b="0" dirty="0">
                    <a:solidFill>
                      <a:srgbClr val="0066CC"/>
                    </a:solidFill>
                  </a:rPr>
                  <a:t>)</a:t>
                </a:r>
              </a:p>
              <a:p>
                <a:pPr marL="0" indent="0" algn="just" eaLnBrk="1" hangingPunct="1">
                  <a:lnSpc>
                    <a:spcPct val="150000"/>
                  </a:lnSpc>
                  <a:spcBef>
                    <a:spcPct val="5000"/>
                  </a:spcBef>
                  <a:spcAft>
                    <a:spcPct val="5000"/>
                  </a:spcAft>
                </a:pPr>
                <a:endParaRPr lang="en-US" altLang="es-PE" b="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lnSpc>
                    <a:spcPct val="150000"/>
                  </a:lnSpc>
                  <a:spcBef>
                    <a:spcPct val="5000"/>
                  </a:spcBef>
                  <a:spcAft>
                    <a:spcPct val="5000"/>
                  </a:spcAft>
                </a:pPr>
                <a:endParaRPr lang="en-US" altLang="es-PE" sz="2000" b="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165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xfrm>
                <a:off x="567812" y="1559795"/>
                <a:ext cx="8229599" cy="4612405"/>
              </a:xfrm>
              <a:blipFill>
                <a:blip r:embed="rId3"/>
                <a:stretch>
                  <a:fillRect l="-741" b="-132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564" name="Rectangle 5"/>
          <p:cNvSpPr>
            <a:spLocks noGrp="1"/>
          </p:cNvSpPr>
          <p:nvPr>
            <p:ph type="title"/>
          </p:nvPr>
        </p:nvSpPr>
        <p:spPr/>
        <p:txBody>
          <a:bodyPr vert="horz" wrap="square" lIns="91440" tIns="548640" rIns="91440" bIns="457200" anchor="ctr"/>
          <a:lstStyle/>
          <a:p>
            <a:pPr defTabSz="739775" eaLnBrk="1" hangingPunct="1"/>
            <a:r>
              <a:rPr lang="es-PE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Modelo IS LM PC</a:t>
            </a:r>
            <a:endParaRPr lang="en-US" altLang="es-P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1654" name="Rectangle 6"/>
          <p:cNvSpPr/>
          <p:nvPr/>
        </p:nvSpPr>
        <p:spPr>
          <a:xfrm>
            <a:off x="533400" y="838200"/>
            <a:ext cx="8229600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defRPr sz="2400" b="1" kern="1200">
                <a:solidFill>
                  <a:srgbClr val="00808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C0066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/>
            <a:r>
              <a:rPr lang="en-US" altLang="es-PE" dirty="0" err="1"/>
              <a:t>Curva</a:t>
            </a:r>
            <a:r>
              <a:rPr lang="en-US" altLang="es-PE" dirty="0"/>
              <a:t> de Phillips</a:t>
            </a:r>
          </a:p>
        </p:txBody>
      </p:sp>
    </p:spTree>
    <p:extLst>
      <p:ext uri="{BB962C8B-B14F-4D97-AF65-F5344CB8AC3E}">
        <p14:creationId xmlns:p14="http://schemas.microsoft.com/office/powerpoint/2010/main" val="16221993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1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1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1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1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1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1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1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11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51" grpId="0" uiExpand="1" build="p"/>
      <p:bldP spid="41165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11651" name="Rectangle 3"/>
              <p:cNvSpPr>
                <a:spLocks noGrp="1"/>
              </p:cNvSpPr>
              <p:nvPr>
                <p:ph idx="1" hasCustomPrompt="1"/>
              </p:nvPr>
            </p:nvSpPr>
            <p:spPr>
              <a:xfrm>
                <a:off x="550606" y="1371600"/>
                <a:ext cx="8364794" cy="5181600"/>
              </a:xfrm>
            </p:spPr>
            <p:txBody>
              <a:bodyPr vert="horz" wrap="square" lIns="91440" tIns="45720" rIns="91440" bIns="45720" anchor="t"/>
              <a:lstStyle/>
              <a:p>
                <a:pPr algn="just" eaLnBrk="1" hangingPunct="1">
                  <a:lnSpc>
                    <a:spcPct val="150000"/>
                  </a:lnSpc>
                  <a:spcBef>
                    <a:spcPct val="5000"/>
                  </a:spcBef>
                  <a:spcAft>
                    <a:spcPct val="5000"/>
                  </a:spcAft>
                  <a:buFont typeface="Arial" panose="020B0604020202020204" pitchFamily="34" charset="0"/>
                  <a:buChar char="•"/>
                </a:pPr>
                <a:r>
                  <a:rPr lang="es-PE" altLang="es-PE" sz="2000" b="0" dirty="0">
                    <a:solidFill>
                      <a:schemeClr val="tx1"/>
                    </a:solidFill>
                  </a:rPr>
                  <a:t>Se define la </a:t>
                </a:r>
                <a:r>
                  <a:rPr lang="es-PE" altLang="es-PE" sz="2000" dirty="0">
                    <a:solidFill>
                      <a:srgbClr val="0066CC"/>
                    </a:solidFill>
                  </a:rPr>
                  <a:t>Brecha Producto </a:t>
                </a:r>
                <a:r>
                  <a:rPr lang="es-PE" altLang="es-PE" sz="2000" b="0" dirty="0">
                    <a:solidFill>
                      <a:schemeClr val="tx1"/>
                    </a:solidFill>
                  </a:rPr>
                  <a:t>como :</a:t>
                </a:r>
                <a:r>
                  <a:rPr lang="en-US" altLang="es-PE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 – </a:t>
                </a:r>
                <a:r>
                  <a:rPr lang="en-US" altLang="es-PE" b="0" i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es-PE" b="0" i="1" baseline="-25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endParaRPr lang="en-US" altLang="es-PE" b="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 eaLnBrk="1" hangingPunct="1">
                  <a:lnSpc>
                    <a:spcPct val="150000"/>
                  </a:lnSpc>
                  <a:spcBef>
                    <a:spcPct val="5000"/>
                  </a:spcBef>
                  <a:spcAft>
                    <a:spcPct val="5000"/>
                  </a:spcAft>
                </a:pPr>
                <a:endParaRPr lang="es-PE" altLang="es-PE" sz="800" b="0" dirty="0">
                  <a:solidFill>
                    <a:schemeClr val="tx1"/>
                  </a:solidFill>
                </a:endParaRPr>
              </a:p>
              <a:p>
                <a:pPr marL="354013" indent="0" algn="just" eaLnBrk="1" hangingPunct="1">
                  <a:spcBef>
                    <a:spcPct val="5000"/>
                  </a:spcBef>
                  <a:spcAft>
                    <a:spcPct val="5000"/>
                  </a:spcAft>
                </a:pPr>
                <a:r>
                  <a:rPr lang="es-PE" altLang="es-PE" sz="2000" b="0" dirty="0">
                    <a:solidFill>
                      <a:schemeClr val="tx1"/>
                    </a:solidFill>
                  </a:rPr>
                  <a:t>Reemplazando:</a:t>
                </a:r>
              </a:p>
              <a:p>
                <a:pPr marL="354013" indent="0" algn="just" eaLnBrk="1" hangingPunct="1">
                  <a:spcBef>
                    <a:spcPct val="5000"/>
                  </a:spcBef>
                  <a:spcAft>
                    <a:spcPct val="5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altLang="es-PE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s-PE" altLang="es-PE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es-PE" altLang="es-PE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altLang="es-PE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s-PE" altLang="es-PE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PE" altLang="es-PE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s-PE" altLang="es-PE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s-PE" altLang="es-PE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s-PE" altLang="es-PE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groupChr>
                        </m:e>
                        <m:lim>
                          <m:r>
                            <a:rPr lang="es-PE" altLang="es-PE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s-PE" altLang="es-PE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PE" altLang="es-PE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PE" altLang="es-PE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PE" altLang="es-PE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s-PE" altLang="es-PE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lim>
                      </m:limLow>
                      <m:r>
                        <a:rPr lang="es-PE" altLang="es-PE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limUpp>
                        <m:limUppPr>
                          <m:ctrlPr>
                            <a:rPr lang="es-PE" altLang="es-PE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groupChr>
                            <m:groupChrPr>
                              <m:chr m:val="⏞"/>
                              <m:pos m:val="top"/>
                              <m:vertJc m:val="bot"/>
                              <m:ctrlPr>
                                <a:rPr lang="es-PE" altLang="es-PE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/>
                                </m:rPr>
                                <a:rPr lang="es-PE" altLang="es-PE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s-PE" altLang="es-PE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s-PE" altLang="es-PE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/>
                                    </m:rPr>
                                    <a:rPr lang="es-PE" altLang="es-PE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s-PE" altLang="es-PE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PE" altLang="es-PE" b="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PE" altLang="es-PE" b="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s-PE" altLang="es-PE" b="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m:rPr>
                                  <m:brk/>
                                </m:rPr>
                                <a:rPr lang="es-PE" altLang="es-PE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groupChr>
                        </m:e>
                        <m:lim>
                          <m:sSub>
                            <m:sSubPr>
                              <m:ctrlPr>
                                <a:rPr lang="es-PE" altLang="es-PE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altLang="es-PE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s-PE" altLang="es-PE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lim>
                      </m:limUpp>
                    </m:oMath>
                  </m:oMathPara>
                </a14:m>
                <a:endParaRPr lang="es-PE" altLang="es-PE" sz="2800" b="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54013" indent="0" algn="just" eaLnBrk="1" hangingPunct="1">
                  <a:spcBef>
                    <a:spcPct val="5000"/>
                  </a:spcBef>
                  <a:spcAft>
                    <a:spcPct val="5000"/>
                  </a:spcAft>
                </a:pPr>
                <a:endParaRPr lang="es-PE" altLang="es-PE" sz="800" b="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798638" indent="0" algn="just">
                  <a:lnSpc>
                    <a:spcPct val="150000"/>
                  </a:lnSpc>
                  <a:spcBef>
                    <a:spcPct val="5000"/>
                  </a:spcBef>
                  <a:spcAft>
                    <a:spcPct val="5000"/>
                  </a:spcAft>
                </a:pPr>
                <a:r>
                  <a:rPr lang="en-US" altLang="es-PE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Y – </a:t>
                </a:r>
                <a:r>
                  <a:rPr lang="en-US" altLang="es-PE" b="0" i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es-PE" b="0" i="1" baseline="-25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es-PE" b="0" i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s-PE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- L (u – u</a:t>
                </a:r>
                <a:r>
                  <a:rPr lang="en-US" altLang="es-PE" b="0" i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es-PE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 algn="ctr" eaLnBrk="1" hangingPunct="1">
                  <a:lnSpc>
                    <a:spcPct val="150000"/>
                  </a:lnSpc>
                  <a:spcBef>
                    <a:spcPct val="5000"/>
                  </a:spcBef>
                  <a:spcAft>
                    <a:spcPct val="5000"/>
                  </a:spcAft>
                </a:pPr>
                <a:endParaRPr lang="en-US" altLang="es-PE" sz="2000" b="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165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xfrm>
                <a:off x="550606" y="1371600"/>
                <a:ext cx="8364794" cy="5181600"/>
              </a:xfrm>
              <a:blipFill>
                <a:blip r:embed="rId3"/>
                <a:stretch>
                  <a:fillRect l="-655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564" name="Rectangle 5"/>
          <p:cNvSpPr>
            <a:spLocks noGrp="1"/>
          </p:cNvSpPr>
          <p:nvPr>
            <p:ph type="title"/>
          </p:nvPr>
        </p:nvSpPr>
        <p:spPr/>
        <p:txBody>
          <a:bodyPr vert="horz" wrap="square" lIns="91440" tIns="548640" rIns="91440" bIns="457200" anchor="ctr"/>
          <a:lstStyle/>
          <a:p>
            <a:pPr defTabSz="739775" eaLnBrk="1" hangingPunct="1"/>
            <a:r>
              <a:rPr lang="es-PE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Modelo IS LM PC</a:t>
            </a:r>
            <a:endParaRPr lang="en-US" altLang="es-P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1654" name="Rectangle 6"/>
          <p:cNvSpPr/>
          <p:nvPr/>
        </p:nvSpPr>
        <p:spPr>
          <a:xfrm>
            <a:off x="533400" y="838200"/>
            <a:ext cx="8229600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defRPr sz="2400" b="1" kern="1200">
                <a:solidFill>
                  <a:srgbClr val="00808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C0066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/>
            <a:r>
              <a:rPr lang="en-US" altLang="es-PE" dirty="0" err="1"/>
              <a:t>Curva</a:t>
            </a:r>
            <a:r>
              <a:rPr lang="en-US" altLang="es-PE" dirty="0"/>
              <a:t> de Phillips</a:t>
            </a:r>
          </a:p>
        </p:txBody>
      </p:sp>
    </p:spTree>
    <p:extLst>
      <p:ext uri="{BB962C8B-B14F-4D97-AF65-F5344CB8AC3E}">
        <p14:creationId xmlns:p14="http://schemas.microsoft.com/office/powerpoint/2010/main" val="1566883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1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1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11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11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11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51" grpId="0" build="p"/>
      <p:bldP spid="41165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1" name="Rectangle 3"/>
          <p:cNvSpPr>
            <a:spLocks noGrp="1"/>
          </p:cNvSpPr>
          <p:nvPr>
            <p:ph idx="1" hasCustomPrompt="1"/>
          </p:nvPr>
        </p:nvSpPr>
        <p:spPr>
          <a:xfrm>
            <a:off x="457200" y="1749220"/>
            <a:ext cx="3657600" cy="434678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Font typeface="Arial" panose="020B0604020202020204" pitchFamily="34" charset="0"/>
              <a:buChar char="•"/>
            </a:pPr>
            <a:r>
              <a:rPr lang="es-PE" altLang="es-PE" sz="2000" b="0" dirty="0">
                <a:solidFill>
                  <a:schemeClr val="tx1"/>
                </a:solidFill>
              </a:rPr>
              <a:t>Se define como la relación (inversa) entre el </a:t>
            </a:r>
            <a:r>
              <a:rPr lang="es-PE" altLang="es-PE" sz="2000" b="0" dirty="0">
                <a:solidFill>
                  <a:srgbClr val="0066CC"/>
                </a:solidFill>
              </a:rPr>
              <a:t>crecimiento del PBI </a:t>
            </a:r>
            <a:r>
              <a:rPr lang="es-PE" altLang="es-PE" sz="2000" b="0" dirty="0">
                <a:solidFill>
                  <a:schemeClr val="tx1"/>
                </a:solidFill>
              </a:rPr>
              <a:t>y la tasa de </a:t>
            </a:r>
            <a:r>
              <a:rPr lang="es-PE" altLang="es-PE" sz="2000" b="0" dirty="0">
                <a:solidFill>
                  <a:srgbClr val="0066CC"/>
                </a:solidFill>
              </a:rPr>
              <a:t>desempleo</a:t>
            </a:r>
            <a:r>
              <a:rPr lang="es-PE" altLang="es-PE" sz="2000" b="0" dirty="0">
                <a:solidFill>
                  <a:schemeClr val="tx1"/>
                </a:solidFill>
              </a:rPr>
              <a:t>.</a:t>
            </a:r>
          </a:p>
          <a:p>
            <a:pPr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Font typeface="Arial" panose="020B0604020202020204" pitchFamily="34" charset="0"/>
              <a:buChar char="•"/>
            </a:pPr>
            <a:r>
              <a:rPr lang="en-US" altLang="es-PE" sz="2000" b="0" dirty="0">
                <a:solidFill>
                  <a:schemeClr val="tx1"/>
                </a:solidFill>
              </a:rPr>
              <a:t>De : </a:t>
            </a:r>
            <a:r>
              <a:rPr lang="en-US" altLang="es-PE" sz="20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– </a:t>
            </a:r>
            <a:r>
              <a:rPr lang="en-US" altLang="es-PE" sz="2000" b="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s-PE" sz="2000" b="0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s-PE" sz="2000" b="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s-PE" sz="20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- L (u – u</a:t>
            </a:r>
            <a:r>
              <a:rPr lang="en-US" altLang="es-PE" sz="2000" b="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s-PE" sz="20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895350" indent="0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altLang="es-PE" sz="20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(u – u</a:t>
            </a:r>
            <a:r>
              <a:rPr lang="en-US" altLang="es-PE" sz="2000" b="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s-PE" sz="20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 -(1/L)[Y – Y</a:t>
            </a:r>
            <a:r>
              <a:rPr lang="en-US" altLang="es-PE" sz="2000" b="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s-PE" sz="20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]</a:t>
            </a:r>
          </a:p>
          <a:p>
            <a:pPr marL="360363" indent="0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altLang="es-PE" sz="2000" b="0" dirty="0" err="1">
                <a:solidFill>
                  <a:schemeClr val="tx1"/>
                </a:solidFill>
              </a:rPr>
              <a:t>entonces</a:t>
            </a:r>
            <a:r>
              <a:rPr lang="en-US" altLang="es-PE" sz="2000" b="0" dirty="0">
                <a:solidFill>
                  <a:schemeClr val="tx1"/>
                </a:solidFill>
              </a:rPr>
              <a:t>…:</a:t>
            </a:r>
          </a:p>
          <a:p>
            <a:pPr marL="0" indent="0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lang="en-US" altLang="es-PE" sz="2000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lang="es-PE" altLang="es-PE" sz="2000" b="0" dirty="0">
              <a:solidFill>
                <a:schemeClr val="tx1"/>
              </a:solidFill>
            </a:endParaRPr>
          </a:p>
        </p:txBody>
      </p:sp>
      <p:sp>
        <p:nvSpPr>
          <p:cNvPr id="66564" name="Rectangle 5"/>
          <p:cNvSpPr>
            <a:spLocks noGrp="1"/>
          </p:cNvSpPr>
          <p:nvPr>
            <p:ph type="title"/>
          </p:nvPr>
        </p:nvSpPr>
        <p:spPr/>
        <p:txBody>
          <a:bodyPr vert="horz" wrap="square" lIns="91440" tIns="548640" rIns="91440" bIns="457200" anchor="ctr"/>
          <a:lstStyle/>
          <a:p>
            <a:pPr defTabSz="739775" eaLnBrk="1" hangingPunct="1"/>
            <a:r>
              <a:rPr lang="es-PE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Modelo IS LM PC</a:t>
            </a:r>
            <a:endParaRPr lang="en-US" altLang="es-P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1654" name="Rectangle 6"/>
          <p:cNvSpPr/>
          <p:nvPr/>
        </p:nvSpPr>
        <p:spPr>
          <a:xfrm>
            <a:off x="513735" y="986912"/>
            <a:ext cx="3143865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defRPr sz="2400" b="1" kern="1200">
                <a:solidFill>
                  <a:srgbClr val="00808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C0066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/>
            <a:r>
              <a:rPr lang="en-US" altLang="es-PE" dirty="0"/>
              <a:t>Ley de Okun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7B66ABD-2A41-4524-AEBA-956601E66DA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326"/>
          <a:stretch/>
        </p:blipFill>
        <p:spPr>
          <a:xfrm>
            <a:off x="4296697" y="1584222"/>
            <a:ext cx="4876800" cy="452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0337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1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1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1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1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1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51" grpId="0" build="p"/>
      <p:bldP spid="41165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1" name="Rectangle 3"/>
          <p:cNvSpPr>
            <a:spLocks noGrp="1"/>
          </p:cNvSpPr>
          <p:nvPr>
            <p:ph idx="1" hasCustomPrompt="1"/>
          </p:nvPr>
        </p:nvSpPr>
        <p:spPr>
          <a:xfrm>
            <a:off x="952500" y="1371600"/>
            <a:ext cx="7810500" cy="4953000"/>
          </a:xfrm>
        </p:spPr>
        <p:txBody>
          <a:bodyPr vert="horz" wrap="square" lIns="91440" tIns="45720" rIns="91440" bIns="45720" anchor="t"/>
          <a:lstStyle/>
          <a:p>
            <a:pPr algn="just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Font typeface="Arial" panose="020B0604020202020204" pitchFamily="34" charset="0"/>
              <a:buChar char="•"/>
            </a:pPr>
            <a:r>
              <a:rPr lang="es-PE" altLang="es-PE" b="0" dirty="0">
                <a:solidFill>
                  <a:schemeClr val="tx1"/>
                </a:solidFill>
              </a:rPr>
              <a:t>…entonces: </a:t>
            </a:r>
            <a:endParaRPr lang="es-PE" altLang="es-PE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98638" indent="0" algn="just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– </a:t>
            </a:r>
            <a:r>
              <a:rPr lang="en-US" altLang="es-PE" b="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s-PE" b="0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s-PE" b="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-L (u – u</a:t>
            </a:r>
            <a:r>
              <a:rPr lang="en-US" altLang="es-PE" b="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798638" indent="0" algn="just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(1/L )</a:t>
            </a:r>
            <a:r>
              <a:rPr lang="en-US" altLang="es-PE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 </a:t>
            </a:r>
            <a:r>
              <a:rPr lang="en-US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– </a:t>
            </a:r>
            <a:r>
              <a:rPr lang="en-US" altLang="es-PE" b="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s-PE" b="0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s-PE" b="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s-PE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u – u</a:t>
            </a:r>
            <a:r>
              <a:rPr lang="en-US" altLang="es-PE" b="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altLang="es-PE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98638" indent="0" algn="just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lang="es-PE" altLang="es-PE" sz="1100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Font typeface="Arial" panose="020B0604020202020204" pitchFamily="34" charset="0"/>
              <a:buChar char="•"/>
            </a:pPr>
            <a:r>
              <a:rPr lang="es-PE" altLang="es-PE" b="0" dirty="0">
                <a:solidFill>
                  <a:schemeClr val="tx1"/>
                </a:solidFill>
              </a:rPr>
              <a:t>En la curva de Phillips: </a:t>
            </a:r>
            <a:r>
              <a:rPr lang="es-PE" altLang="es-PE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1706563" indent="0" algn="just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l-GR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s-PE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l-GR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s-PE" altLang="es-PE" b="0" i="1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-</a:t>
            </a:r>
            <a:r>
              <a:rPr lang="el-GR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s-PE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(u – u</a:t>
            </a:r>
            <a:r>
              <a:rPr lang="en-US" altLang="es-PE" b="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1706563" indent="0" algn="just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l-GR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s-PE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l-GR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s-PE" altLang="es-PE" b="0" i="1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-</a:t>
            </a:r>
            <a:r>
              <a:rPr lang="el-GR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s-PE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altLang="es-PE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[-(</a:t>
            </a:r>
            <a:r>
              <a:rPr lang="en-US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1/L) </a:t>
            </a:r>
            <a:r>
              <a:rPr lang="en-US" altLang="es-PE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– </a:t>
            </a:r>
            <a:r>
              <a:rPr lang="en-US" altLang="es-PE" b="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s-PE" b="0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s-PE" b="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s-PE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)]</a:t>
            </a:r>
            <a:r>
              <a:rPr lang="en-US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s-PE" b="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1706563" indent="0" algn="just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l-GR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s-PE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l-GR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s-PE" altLang="es-PE" b="0" i="1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l-GR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s-PE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/L </a:t>
            </a:r>
            <a:r>
              <a:rPr lang="en-US" altLang="es-PE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– </a:t>
            </a:r>
            <a:r>
              <a:rPr lang="en-US" altLang="es-PE" b="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s-PE" b="0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s-PE" b="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s-PE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s-PE" b="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1706563" indent="0" algn="just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lang="en-US" altLang="es-PE" sz="2200" b="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1706563" indent="0" algn="just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lang="en-US" altLang="es-PE" sz="2200" b="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66564" name="Rectangle 5"/>
          <p:cNvSpPr>
            <a:spLocks noGrp="1"/>
          </p:cNvSpPr>
          <p:nvPr>
            <p:ph type="title"/>
          </p:nvPr>
        </p:nvSpPr>
        <p:spPr/>
        <p:txBody>
          <a:bodyPr vert="horz" wrap="square" lIns="91440" tIns="548640" rIns="91440" bIns="457200" anchor="ctr"/>
          <a:lstStyle/>
          <a:p>
            <a:pPr defTabSz="739775" eaLnBrk="1" hangingPunct="1"/>
            <a:r>
              <a:rPr lang="es-PE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Modelo IS LM PC</a:t>
            </a:r>
            <a:endParaRPr lang="en-US" altLang="es-P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1654" name="Rectangle 6"/>
          <p:cNvSpPr/>
          <p:nvPr/>
        </p:nvSpPr>
        <p:spPr>
          <a:xfrm>
            <a:off x="533400" y="838200"/>
            <a:ext cx="8229600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defRPr sz="2400" b="1" kern="1200">
                <a:solidFill>
                  <a:srgbClr val="00808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C0066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/>
            <a:r>
              <a:rPr lang="en-US" altLang="es-PE" dirty="0" err="1"/>
              <a:t>Curva</a:t>
            </a:r>
            <a:r>
              <a:rPr lang="en-US" altLang="es-PE" dirty="0"/>
              <a:t> de Phillips</a:t>
            </a:r>
          </a:p>
        </p:txBody>
      </p:sp>
    </p:spTree>
    <p:extLst>
      <p:ext uri="{BB962C8B-B14F-4D97-AF65-F5344CB8AC3E}">
        <p14:creationId xmlns:p14="http://schemas.microsoft.com/office/powerpoint/2010/main" val="372517160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1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1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11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11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11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11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11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11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51" grpId="0" build="p"/>
      <p:bldP spid="41165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Marcador de número de diapositiva 3"/>
          <p:cNvSpPr txBox="1">
            <a:spLocks noGrp="1"/>
          </p:cNvSpPr>
          <p:nvPr>
            <p:ph type="sldNum" sz="quarter" idx="4294967295"/>
          </p:nvPr>
        </p:nvSpPr>
        <p:spPr>
          <a:xfrm>
            <a:off x="8001000" y="6581775"/>
            <a:ext cx="1143000" cy="304800"/>
          </a:xfrm>
          <a:prstGeom prst="rect">
            <a:avLst/>
          </a:prstGeom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Font typeface="Wingdings" panose="05000000000000000000" pitchFamily="2" charset="2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en-US" altLang="es-PE" sz="1400" dirty="0">
                <a:solidFill>
                  <a:srgbClr val="008080"/>
                </a:solidFill>
              </a:rPr>
              <a:t>44</a:t>
            </a:fld>
            <a:r>
              <a:rPr lang="en-US" altLang="es-PE" sz="1400" dirty="0">
                <a:solidFill>
                  <a:srgbClr val="008080"/>
                </a:solidFill>
              </a:rPr>
              <a:t> of 33</a:t>
            </a:r>
          </a:p>
        </p:txBody>
      </p:sp>
      <p:sp>
        <p:nvSpPr>
          <p:cNvPr id="411651" name="Rectangle 3"/>
          <p:cNvSpPr>
            <a:spLocks noGrp="1"/>
          </p:cNvSpPr>
          <p:nvPr>
            <p:ph idx="1" hasCustomPrompt="1"/>
          </p:nvPr>
        </p:nvSpPr>
        <p:spPr>
          <a:xfrm>
            <a:off x="533400" y="1371600"/>
            <a:ext cx="8229600" cy="4953000"/>
          </a:xfrm>
        </p:spPr>
        <p:txBody>
          <a:bodyPr vert="horz" wrap="square" lIns="91440" tIns="45720" rIns="91440" bIns="45720" anchor="t"/>
          <a:lstStyle/>
          <a:p>
            <a:pPr algn="just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Font typeface="Arial" panose="020B0604020202020204" pitchFamily="34" charset="0"/>
              <a:buChar char="•"/>
            </a:pPr>
            <a:r>
              <a:rPr lang="es-PE" altLang="es-PE" sz="2000" b="0" dirty="0">
                <a:solidFill>
                  <a:schemeClr val="tx1"/>
                </a:solidFill>
              </a:rPr>
              <a:t>Si	</a:t>
            </a:r>
            <a:r>
              <a:rPr lang="es-PE" altLang="es-PE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altLang="es-PE" sz="22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 = u</a:t>
            </a:r>
            <a:r>
              <a:rPr lang="en-US" altLang="es-PE" sz="2200" b="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es-PE" sz="2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es-PE" sz="2200" b="0" dirty="0">
                <a:solidFill>
                  <a:schemeClr val="tx1"/>
                </a:solidFill>
                <a:cs typeface="Times New Roman" panose="02020603050405020304" pitchFamily="18" charset="0"/>
              </a:rPr>
              <a:t>y</a:t>
            </a:r>
            <a:r>
              <a:rPr lang="en-US" altLang="es-PE" sz="2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es-PE" sz="2200" b="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s-PE" sz="22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s-PE" sz="2200" b="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s-PE" sz="2200" b="0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s-PE" sz="2000" b="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es-PE" sz="2000" b="0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en-US" altLang="es-PE" sz="2000" b="0" dirty="0" err="1">
                <a:solidFill>
                  <a:schemeClr val="tx1"/>
                </a:solidFill>
                <a:sym typeface="Wingdings" panose="05000000000000000000" pitchFamily="2" charset="2"/>
              </a:rPr>
              <a:t>Brecha</a:t>
            </a:r>
            <a:r>
              <a:rPr lang="en-US" altLang="es-PE" sz="2000" b="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altLang="es-PE" sz="2000" b="0" dirty="0" err="1">
                <a:solidFill>
                  <a:schemeClr val="tx1"/>
                </a:solidFill>
                <a:sym typeface="Wingdings" panose="05000000000000000000" pitchFamily="2" charset="2"/>
              </a:rPr>
              <a:t>Producto</a:t>
            </a:r>
            <a:r>
              <a:rPr lang="en-US" altLang="es-PE" sz="2000" b="0" dirty="0">
                <a:solidFill>
                  <a:schemeClr val="tx1"/>
                </a:solidFill>
                <a:sym typeface="Wingdings" panose="05000000000000000000" pitchFamily="2" charset="2"/>
              </a:rPr>
              <a:t> = 0</a:t>
            </a:r>
          </a:p>
          <a:p>
            <a:pPr marL="0" indent="0" algn="just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altLang="es-PE" sz="22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u &gt; u</a:t>
            </a:r>
            <a:r>
              <a:rPr lang="en-US" altLang="es-PE" sz="2200" b="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es-PE" sz="2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es-PE" sz="2200" b="0" dirty="0">
                <a:solidFill>
                  <a:schemeClr val="tx1"/>
                </a:solidFill>
                <a:cs typeface="Times New Roman" panose="02020603050405020304" pitchFamily="18" charset="0"/>
              </a:rPr>
              <a:t>y</a:t>
            </a:r>
            <a:r>
              <a:rPr lang="en-US" altLang="es-PE" sz="2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es-PE" sz="2200" b="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s-PE" sz="22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altLang="es-PE" sz="2200" b="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s-PE" sz="2200" b="0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s-PE" sz="2000" b="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es-PE" sz="2000" b="0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en-US" altLang="es-PE" sz="2000" b="0" dirty="0" err="1">
                <a:solidFill>
                  <a:schemeClr val="tx1"/>
                </a:solidFill>
                <a:sym typeface="Wingdings" panose="05000000000000000000" pitchFamily="2" charset="2"/>
              </a:rPr>
              <a:t>Brecha</a:t>
            </a:r>
            <a:r>
              <a:rPr lang="en-US" altLang="es-PE" sz="2000" b="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altLang="es-PE" sz="2000" b="0" dirty="0" err="1">
                <a:solidFill>
                  <a:schemeClr val="tx1"/>
                </a:solidFill>
                <a:sym typeface="Wingdings" panose="05000000000000000000" pitchFamily="2" charset="2"/>
              </a:rPr>
              <a:t>Producto</a:t>
            </a:r>
            <a:r>
              <a:rPr lang="en-US" altLang="es-PE" sz="2000" b="0" dirty="0">
                <a:solidFill>
                  <a:schemeClr val="tx1"/>
                </a:solidFill>
                <a:sym typeface="Wingdings" panose="05000000000000000000" pitchFamily="2" charset="2"/>
              </a:rPr>
              <a:t> &lt; 0</a:t>
            </a:r>
          </a:p>
          <a:p>
            <a:pPr marL="0" indent="0" algn="just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altLang="es-PE" sz="22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u &lt; u</a:t>
            </a:r>
            <a:r>
              <a:rPr lang="en-US" altLang="es-PE" sz="2200" b="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es-PE" sz="2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es-PE" sz="2200" b="0" dirty="0">
                <a:solidFill>
                  <a:schemeClr val="tx1"/>
                </a:solidFill>
                <a:cs typeface="Times New Roman" panose="02020603050405020304" pitchFamily="18" charset="0"/>
              </a:rPr>
              <a:t>y</a:t>
            </a:r>
            <a:r>
              <a:rPr lang="en-US" altLang="es-PE" sz="2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es-PE" sz="2200" b="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s-PE" sz="22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&gt; Y</a:t>
            </a:r>
            <a:r>
              <a:rPr lang="en-US" altLang="es-PE" sz="2200" b="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s-PE" sz="2000" b="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es-PE" sz="2000" b="0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en-US" altLang="es-PE" sz="2000" b="0" dirty="0" err="1">
                <a:solidFill>
                  <a:schemeClr val="tx1"/>
                </a:solidFill>
                <a:sym typeface="Wingdings" panose="05000000000000000000" pitchFamily="2" charset="2"/>
              </a:rPr>
              <a:t>Brecha</a:t>
            </a:r>
            <a:r>
              <a:rPr lang="en-US" altLang="es-PE" sz="2000" b="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altLang="es-PE" sz="2000" b="0" dirty="0" err="1">
                <a:solidFill>
                  <a:schemeClr val="tx1"/>
                </a:solidFill>
                <a:sym typeface="Wingdings" panose="05000000000000000000" pitchFamily="2" charset="2"/>
              </a:rPr>
              <a:t>Producto</a:t>
            </a:r>
            <a:r>
              <a:rPr lang="en-US" altLang="es-PE" sz="2000" b="0" dirty="0">
                <a:solidFill>
                  <a:schemeClr val="tx1"/>
                </a:solidFill>
                <a:sym typeface="Wingdings" panose="05000000000000000000" pitchFamily="2" charset="2"/>
              </a:rPr>
              <a:t> &gt; 0 </a:t>
            </a:r>
          </a:p>
          <a:p>
            <a:pPr marL="0" indent="0" algn="just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lang="en-US" altLang="es-PE" sz="2000" b="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Font typeface="Arial" panose="020B0604020202020204" pitchFamily="34" charset="0"/>
              <a:buChar char="•"/>
            </a:pPr>
            <a:r>
              <a:rPr lang="es-PE" altLang="es-PE" sz="1600" b="0" dirty="0">
                <a:solidFill>
                  <a:schemeClr val="tx1"/>
                </a:solidFill>
              </a:rPr>
              <a:t>De :	</a:t>
            </a:r>
            <a:r>
              <a:rPr lang="es-PE" altLang="es-PE" sz="16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s-PE" altLang="es-PE" sz="18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l-GR" altLang="es-PE" sz="20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s-PE" altLang="es-PE" sz="20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s-PE" sz="20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l-GR" altLang="es-PE" sz="20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s-PE" altLang="es-PE" sz="2000" b="0" i="1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es-PE" sz="20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-</a:t>
            </a:r>
            <a:r>
              <a:rPr lang="el-GR" altLang="es-PE" sz="20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es-PE" sz="20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(u – u</a:t>
            </a:r>
            <a:r>
              <a:rPr lang="en-US" altLang="es-PE" sz="2000" b="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s-PE" sz="20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354013" indent="0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altLang="es-PE" sz="2000" b="0" dirty="0">
                <a:solidFill>
                  <a:schemeClr val="tx1"/>
                </a:solidFill>
              </a:rPr>
              <a:t>se deduce que, </a:t>
            </a:r>
            <a:r>
              <a:rPr lang="en-US" altLang="es-PE" sz="2000" b="0" dirty="0" err="1">
                <a:solidFill>
                  <a:schemeClr val="tx1"/>
                </a:solidFill>
              </a:rPr>
              <a:t>si</a:t>
            </a:r>
            <a:endParaRPr lang="en-US" altLang="es-PE" sz="2000" b="0" dirty="0">
              <a:solidFill>
                <a:schemeClr val="tx1"/>
              </a:solidFill>
            </a:endParaRPr>
          </a:p>
          <a:p>
            <a:pPr marL="265113" indent="0" algn="ctr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altLang="es-PE" sz="20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 &gt; u</a:t>
            </a:r>
            <a:r>
              <a:rPr lang="en-US" altLang="es-PE" sz="2000" b="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es-PE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s-PE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</a:t>
            </a:r>
            <a:r>
              <a:rPr lang="el-GR" altLang="es-PE" sz="20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s-PE" altLang="es-PE" sz="20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s-PE" sz="20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</a:t>
            </a:r>
            <a:r>
              <a:rPr lang="el-GR" altLang="es-PE" sz="20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s-PE" altLang="es-PE" sz="2000" b="0" i="1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es-PE" sz="20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ctr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altLang="es-PE" sz="20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 &lt; u</a:t>
            </a:r>
            <a:r>
              <a:rPr lang="en-US" altLang="es-PE" sz="2000" b="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es-PE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s-PE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</a:t>
            </a:r>
            <a:r>
              <a:rPr lang="el-GR" altLang="es-PE" sz="20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s-PE" altLang="es-PE" sz="20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s-PE" sz="20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l-GR" altLang="es-PE" sz="20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s-PE" altLang="es-PE" sz="2000" b="0" i="1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s-PE" altLang="es-PE" sz="2000" b="0" dirty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endParaRPr lang="en-US" altLang="es-PE" sz="2000" b="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66564" name="Rectangle 5"/>
          <p:cNvSpPr>
            <a:spLocks noGrp="1"/>
          </p:cNvSpPr>
          <p:nvPr>
            <p:ph type="title"/>
          </p:nvPr>
        </p:nvSpPr>
        <p:spPr/>
        <p:txBody>
          <a:bodyPr vert="horz" wrap="square" lIns="91440" tIns="548640" rIns="91440" bIns="457200" anchor="ctr"/>
          <a:lstStyle/>
          <a:p>
            <a:pPr defTabSz="739775" eaLnBrk="1" hangingPunct="1"/>
            <a:r>
              <a:rPr lang="es-PE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Modelo IS LM PC</a:t>
            </a:r>
            <a:endParaRPr lang="en-US" altLang="es-P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1654" name="Rectangle 6"/>
          <p:cNvSpPr/>
          <p:nvPr/>
        </p:nvSpPr>
        <p:spPr>
          <a:xfrm>
            <a:off x="533400" y="838200"/>
            <a:ext cx="8229600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defRPr sz="2400" b="1" kern="1200">
                <a:solidFill>
                  <a:srgbClr val="00808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C0066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/>
            <a:r>
              <a:rPr lang="en-US" altLang="es-PE" dirty="0" err="1"/>
              <a:t>Curva</a:t>
            </a:r>
            <a:r>
              <a:rPr lang="en-US" altLang="es-PE" dirty="0"/>
              <a:t> de Phillips</a:t>
            </a:r>
          </a:p>
        </p:txBody>
      </p:sp>
    </p:spTree>
    <p:extLst>
      <p:ext uri="{BB962C8B-B14F-4D97-AF65-F5344CB8AC3E}">
        <p14:creationId xmlns:p14="http://schemas.microsoft.com/office/powerpoint/2010/main" val="7966071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1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11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11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11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11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11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11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11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51" grpId="0" uiExpand="1" build="p"/>
      <p:bldP spid="41165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1" name="Rectangle 3"/>
          <p:cNvSpPr>
            <a:spLocks noGrp="1"/>
          </p:cNvSpPr>
          <p:nvPr>
            <p:ph idx="1" hasCustomPrompt="1"/>
          </p:nvPr>
        </p:nvSpPr>
        <p:spPr>
          <a:xfrm>
            <a:off x="533400" y="1371600"/>
            <a:ext cx="8229600" cy="4953000"/>
          </a:xfrm>
        </p:spPr>
        <p:txBody>
          <a:bodyPr vert="horz" wrap="square" lIns="91440" tIns="45720" rIns="91440" bIns="45720" anchor="t"/>
          <a:lstStyle/>
          <a:p>
            <a:pPr algn="just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Font typeface="Arial" panose="020B0604020202020204" pitchFamily="34" charset="0"/>
              <a:buChar char="•"/>
            </a:pPr>
            <a:r>
              <a:rPr lang="es-PE" altLang="es-PE" b="0" dirty="0">
                <a:solidFill>
                  <a:schemeClr val="tx1"/>
                </a:solidFill>
              </a:rPr>
              <a:t>Considerando que los agentes asumen que la </a:t>
            </a:r>
            <a:r>
              <a:rPr lang="el-GR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 </a:t>
            </a:r>
            <a:r>
              <a:rPr lang="es-PE" altLang="es-PE" b="0" dirty="0">
                <a:solidFill>
                  <a:schemeClr val="tx1"/>
                </a:solidFill>
              </a:rPr>
              <a:t>este año será la misma </a:t>
            </a:r>
            <a:r>
              <a:rPr lang="el-GR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 </a:t>
            </a:r>
            <a:r>
              <a:rPr lang="es-PE" altLang="es-PE" b="0" dirty="0">
                <a:solidFill>
                  <a:schemeClr val="tx1"/>
                </a:solidFill>
              </a:rPr>
              <a:t>que la del año pasado : </a:t>
            </a:r>
            <a:endParaRPr lang="es-PE" altLang="es-PE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98638" indent="0" algn="just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l-GR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s-PE" altLang="es-PE" b="0" i="1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s-PE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l-GR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s-PE" altLang="es-PE" b="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t- 1</a:t>
            </a:r>
          </a:p>
          <a:p>
            <a:pPr marL="355600" indent="0" algn="just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s-PE" altLang="es-PE" b="0" dirty="0">
                <a:solidFill>
                  <a:schemeClr val="tx1"/>
                </a:solidFill>
              </a:rPr>
              <a:t>entonces:</a:t>
            </a:r>
          </a:p>
          <a:p>
            <a:pPr marL="1798638" indent="0" algn="just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l-GR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s-PE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l-GR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s-PE" altLang="es-PE" b="0" i="1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l-GR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s-PE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/L </a:t>
            </a:r>
            <a:r>
              <a:rPr lang="en-US" altLang="es-PE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– </a:t>
            </a:r>
            <a:r>
              <a:rPr lang="en-US" altLang="es-PE" b="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s-PE" b="0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s-PE" b="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s-PE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798638" indent="0" algn="just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l-GR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s-PE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l-GR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s-PE" altLang="es-PE" b="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t- 1</a:t>
            </a:r>
            <a:r>
              <a:rPr lang="en-US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l-GR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s-PE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/L </a:t>
            </a:r>
            <a:r>
              <a:rPr lang="en-US" altLang="es-PE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– </a:t>
            </a:r>
            <a:r>
              <a:rPr lang="en-US" altLang="es-PE" b="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s-PE" b="0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s-PE" b="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s-PE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s-PE" b="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66564" name="Rectangle 5"/>
          <p:cNvSpPr>
            <a:spLocks noGrp="1"/>
          </p:cNvSpPr>
          <p:nvPr>
            <p:ph type="title"/>
          </p:nvPr>
        </p:nvSpPr>
        <p:spPr/>
        <p:txBody>
          <a:bodyPr vert="horz" wrap="square" lIns="91440" tIns="548640" rIns="91440" bIns="457200" anchor="ctr"/>
          <a:lstStyle/>
          <a:p>
            <a:pPr defTabSz="739775" eaLnBrk="1" hangingPunct="1"/>
            <a:r>
              <a:rPr lang="es-PE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Modelo IS LM PC</a:t>
            </a:r>
            <a:endParaRPr lang="en-US" altLang="es-P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1654" name="Rectangle 6"/>
          <p:cNvSpPr/>
          <p:nvPr/>
        </p:nvSpPr>
        <p:spPr>
          <a:xfrm>
            <a:off x="533400" y="838200"/>
            <a:ext cx="8229600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defRPr sz="2400" b="1" kern="1200">
                <a:solidFill>
                  <a:srgbClr val="00808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C0066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/>
            <a:r>
              <a:rPr lang="en-US" altLang="es-PE" dirty="0" err="1"/>
              <a:t>Curva</a:t>
            </a:r>
            <a:r>
              <a:rPr lang="en-US" altLang="es-PE" dirty="0"/>
              <a:t> de Phillips</a:t>
            </a:r>
          </a:p>
        </p:txBody>
      </p:sp>
    </p:spTree>
    <p:extLst>
      <p:ext uri="{BB962C8B-B14F-4D97-AF65-F5344CB8AC3E}">
        <p14:creationId xmlns:p14="http://schemas.microsoft.com/office/powerpoint/2010/main" val="635807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1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1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11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11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11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11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51" grpId="0" build="p"/>
      <p:bldP spid="41165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1" name="Rectangle 3"/>
          <p:cNvSpPr>
            <a:spLocks noGrp="1"/>
          </p:cNvSpPr>
          <p:nvPr>
            <p:ph idx="1" hasCustomPrompt="1"/>
          </p:nvPr>
        </p:nvSpPr>
        <p:spPr>
          <a:xfrm>
            <a:off x="952500" y="1371600"/>
            <a:ext cx="7810500" cy="4953000"/>
          </a:xfrm>
        </p:spPr>
        <p:txBody>
          <a:bodyPr vert="horz" wrap="square" lIns="91440" tIns="45720" rIns="91440" bIns="45720" anchor="t"/>
          <a:lstStyle/>
          <a:p>
            <a:pPr marL="0" indent="0" algn="just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s-PE" altLang="es-PE" b="0" dirty="0">
                <a:solidFill>
                  <a:schemeClr val="tx1"/>
                </a:solidFill>
              </a:rPr>
              <a:t>En conclusión:</a:t>
            </a:r>
          </a:p>
          <a:p>
            <a:pPr algn="just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Font typeface="Arial" panose="020B0604020202020204" pitchFamily="34" charset="0"/>
              <a:buChar char="•"/>
            </a:pPr>
            <a:r>
              <a:rPr lang="es-PE" altLang="es-PE" b="0" dirty="0">
                <a:solidFill>
                  <a:schemeClr val="tx1"/>
                </a:solidFill>
              </a:rPr>
              <a:t>Si 	</a:t>
            </a:r>
            <a:r>
              <a:rPr lang="en-US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 &gt; </a:t>
            </a:r>
            <a:r>
              <a:rPr lang="en-US" altLang="es-PE" b="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s-PE" b="0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s-PE" b="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s-PE" altLang="es-PE" b="0" dirty="0">
                <a:solidFill>
                  <a:schemeClr val="tx1"/>
                </a:solidFill>
              </a:rPr>
              <a:t>(brecha producto es + )</a:t>
            </a:r>
            <a:endParaRPr lang="en-US" altLang="es-PE" b="0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altLang="es-PE" b="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l-GR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π</a:t>
            </a:r>
            <a:r>
              <a:rPr lang="es-PE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altLang="es-PE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</a:t>
            </a:r>
          </a:p>
          <a:p>
            <a:pPr algn="just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Font typeface="Arial" panose="020B0604020202020204" pitchFamily="34" charset="0"/>
              <a:buChar char="•"/>
            </a:pPr>
            <a:r>
              <a:rPr lang="es-PE" altLang="es-PE" b="0" dirty="0">
                <a:solidFill>
                  <a:schemeClr val="tx1"/>
                </a:solidFill>
              </a:rPr>
              <a:t>Si 	</a:t>
            </a:r>
            <a:r>
              <a:rPr lang="en-US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&lt; </a:t>
            </a:r>
            <a:r>
              <a:rPr lang="en-US" altLang="es-PE" b="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s-PE" b="0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s-PE" b="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s-PE" altLang="es-PE" b="0" dirty="0">
                <a:solidFill>
                  <a:schemeClr val="tx1"/>
                </a:solidFill>
              </a:rPr>
              <a:t>(brecha producto es - )</a:t>
            </a:r>
            <a:endParaRPr lang="en-US" altLang="es-PE" b="0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s-PE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l-GR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s-PE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altLang="es-PE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</a:t>
            </a:r>
            <a:endParaRPr lang="en-US" altLang="es-PE" b="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Font typeface="Arial" panose="020B0604020202020204" pitchFamily="34" charset="0"/>
              <a:buChar char="•"/>
            </a:pPr>
            <a:r>
              <a:rPr lang="es-PE" altLang="es-PE" b="0" dirty="0">
                <a:solidFill>
                  <a:schemeClr val="tx1"/>
                </a:solidFill>
              </a:rPr>
              <a:t>Si 	</a:t>
            </a:r>
            <a:r>
              <a:rPr lang="en-US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es-PE" b="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s-PE" b="0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s-PE" b="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s-PE" altLang="es-PE" b="0" dirty="0">
                <a:solidFill>
                  <a:schemeClr val="tx1"/>
                </a:solidFill>
              </a:rPr>
              <a:t>(brecha producto es 0 )</a:t>
            </a:r>
            <a:endParaRPr lang="en-US" altLang="es-PE" b="0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altLang="es-PE" b="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s-PE" b="0" dirty="0">
                <a:solidFill>
                  <a:schemeClr val="tx1"/>
                </a:solidFill>
              </a:rPr>
              <a:t>la </a:t>
            </a:r>
            <a:r>
              <a:rPr lang="en-US" altLang="es-PE" b="0" dirty="0" err="1">
                <a:solidFill>
                  <a:schemeClr val="tx1"/>
                </a:solidFill>
              </a:rPr>
              <a:t>variación</a:t>
            </a:r>
            <a:r>
              <a:rPr lang="en-US" altLang="es-PE" b="0" dirty="0">
                <a:solidFill>
                  <a:schemeClr val="tx1"/>
                </a:solidFill>
              </a:rPr>
              <a:t> de la </a:t>
            </a:r>
            <a:r>
              <a:rPr lang="en-US" altLang="es-PE" b="0" dirty="0" err="1">
                <a:solidFill>
                  <a:schemeClr val="tx1"/>
                </a:solidFill>
              </a:rPr>
              <a:t>inflación</a:t>
            </a:r>
            <a:r>
              <a:rPr lang="en-US" altLang="es-PE" b="0" dirty="0">
                <a:solidFill>
                  <a:schemeClr val="tx1"/>
                </a:solidFill>
              </a:rPr>
              <a:t> es 0</a:t>
            </a:r>
          </a:p>
        </p:txBody>
      </p:sp>
      <p:sp>
        <p:nvSpPr>
          <p:cNvPr id="66564" name="Rectangle 5"/>
          <p:cNvSpPr>
            <a:spLocks noGrp="1"/>
          </p:cNvSpPr>
          <p:nvPr>
            <p:ph type="title"/>
          </p:nvPr>
        </p:nvSpPr>
        <p:spPr/>
        <p:txBody>
          <a:bodyPr vert="horz" wrap="square" lIns="91440" tIns="548640" rIns="91440" bIns="457200" anchor="ctr"/>
          <a:lstStyle/>
          <a:p>
            <a:pPr defTabSz="739775" eaLnBrk="1" hangingPunct="1"/>
            <a:r>
              <a:rPr lang="es-PE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Modelo IS LM PC</a:t>
            </a:r>
            <a:endParaRPr lang="en-US" altLang="es-P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1654" name="Rectangle 6"/>
          <p:cNvSpPr/>
          <p:nvPr/>
        </p:nvSpPr>
        <p:spPr>
          <a:xfrm>
            <a:off x="533400" y="838200"/>
            <a:ext cx="8229600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defRPr sz="2400" b="1" kern="1200">
                <a:solidFill>
                  <a:srgbClr val="00808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C0066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/>
            <a:r>
              <a:rPr lang="en-US" altLang="es-PE" dirty="0" err="1"/>
              <a:t>Curva</a:t>
            </a:r>
            <a:r>
              <a:rPr lang="en-US" altLang="es-PE" dirty="0"/>
              <a:t> de Phillips</a:t>
            </a:r>
          </a:p>
        </p:txBody>
      </p:sp>
    </p:spTree>
    <p:extLst>
      <p:ext uri="{BB962C8B-B14F-4D97-AF65-F5344CB8AC3E}">
        <p14:creationId xmlns:p14="http://schemas.microsoft.com/office/powerpoint/2010/main" val="4990931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1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1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11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11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11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11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11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11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51" grpId="0" build="p"/>
      <p:bldP spid="41165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1" name="Rectangle 3"/>
          <p:cNvSpPr>
            <a:spLocks noGrp="1"/>
          </p:cNvSpPr>
          <p:nvPr>
            <p:ph idx="1" hasCustomPrompt="1"/>
          </p:nvPr>
        </p:nvSpPr>
        <p:spPr>
          <a:xfrm>
            <a:off x="503903" y="1447800"/>
            <a:ext cx="3991898" cy="2895600"/>
          </a:xfrm>
        </p:spPr>
        <p:txBody>
          <a:bodyPr vert="horz" wrap="square" lIns="91440" tIns="45720" rIns="91440" bIns="45720" anchor="t"/>
          <a:lstStyle/>
          <a:p>
            <a:pPr marL="280988" indent="-280988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Font typeface="Arial" panose="020B0604020202020204" pitchFamily="34" charset="0"/>
              <a:buChar char="•"/>
            </a:pPr>
            <a:r>
              <a:rPr lang="en-US" altLang="es-PE" sz="2000" b="0" dirty="0">
                <a:solidFill>
                  <a:schemeClr val="tx1"/>
                </a:solidFill>
              </a:rPr>
              <a:t>A </a:t>
            </a:r>
            <a:r>
              <a:rPr lang="en-US" altLang="es-PE" sz="2000" b="0" dirty="0" err="1">
                <a:solidFill>
                  <a:schemeClr val="tx1"/>
                </a:solidFill>
              </a:rPr>
              <a:t>corto</a:t>
            </a:r>
            <a:r>
              <a:rPr lang="en-US" altLang="es-PE" sz="2000" b="0" dirty="0">
                <a:solidFill>
                  <a:schemeClr val="tx1"/>
                </a:solidFill>
              </a:rPr>
              <a:t> </a:t>
            </a:r>
            <a:r>
              <a:rPr lang="en-US" altLang="es-PE" sz="2000" b="0" dirty="0" err="1">
                <a:solidFill>
                  <a:schemeClr val="tx1"/>
                </a:solidFill>
              </a:rPr>
              <a:t>plazo</a:t>
            </a:r>
            <a:r>
              <a:rPr lang="en-US" altLang="es-PE" sz="2000" b="0" dirty="0">
                <a:solidFill>
                  <a:schemeClr val="tx1"/>
                </a:solidFill>
              </a:rPr>
              <a:t>:</a:t>
            </a:r>
          </a:p>
          <a:p>
            <a:pPr marL="236538" indent="0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altLang="es-PE" sz="20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IS: Y = C(Y-T) + I(Y, r + x) + G</a:t>
            </a:r>
          </a:p>
          <a:p>
            <a:pPr marL="236538" indent="0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altLang="es-PE" sz="20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LM : r = ͞r</a:t>
            </a:r>
          </a:p>
          <a:p>
            <a:pPr marL="236538" indent="-236538" algn="just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Font typeface="Arial" panose="020B0604020202020204" pitchFamily="34" charset="0"/>
              <a:buChar char="•"/>
            </a:pPr>
            <a:r>
              <a:rPr lang="en-US" altLang="es-PE" sz="2000" b="0" dirty="0" err="1">
                <a:solidFill>
                  <a:schemeClr val="tx1"/>
                </a:solidFill>
              </a:rPr>
              <a:t>Gráficamente</a:t>
            </a:r>
            <a:r>
              <a:rPr lang="en-US" altLang="es-PE" sz="2000" b="0" dirty="0">
                <a:solidFill>
                  <a:schemeClr val="tx1"/>
                </a:solidFill>
              </a:rPr>
              <a:t>: </a:t>
            </a:r>
          </a:p>
        </p:txBody>
      </p:sp>
      <p:sp>
        <p:nvSpPr>
          <p:cNvPr id="66564" name="Rectangle 5"/>
          <p:cNvSpPr>
            <a:spLocks noGrp="1"/>
          </p:cNvSpPr>
          <p:nvPr>
            <p:ph type="title"/>
          </p:nvPr>
        </p:nvSpPr>
        <p:spPr/>
        <p:txBody>
          <a:bodyPr vert="horz" wrap="square" lIns="91440" tIns="548640" rIns="91440" bIns="457200" anchor="ctr"/>
          <a:lstStyle/>
          <a:p>
            <a:pPr defTabSz="739775" eaLnBrk="1" hangingPunct="1"/>
            <a:r>
              <a:rPr lang="es-PE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Modelo IS LM PC</a:t>
            </a:r>
            <a:endParaRPr lang="en-US" altLang="es-P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1654" name="Rectangle 6"/>
          <p:cNvSpPr/>
          <p:nvPr/>
        </p:nvSpPr>
        <p:spPr>
          <a:xfrm>
            <a:off x="533400" y="838200"/>
            <a:ext cx="8229600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defRPr sz="2400" b="1" kern="1200">
                <a:solidFill>
                  <a:srgbClr val="00808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C0066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/>
            <a:r>
              <a:rPr lang="en-US" altLang="es-PE" dirty="0" err="1"/>
              <a:t>Equilibrio</a:t>
            </a:r>
            <a:r>
              <a:rPr lang="en-US" altLang="es-PE" dirty="0"/>
              <a:t> </a:t>
            </a:r>
            <a:r>
              <a:rPr lang="en-US" altLang="es-PE" dirty="0" err="1"/>
              <a:t>en</a:t>
            </a:r>
            <a:r>
              <a:rPr lang="en-US" altLang="es-PE" dirty="0"/>
              <a:t> </a:t>
            </a:r>
            <a:r>
              <a:rPr lang="en-US" altLang="es-PE" dirty="0" err="1"/>
              <a:t>mercados</a:t>
            </a:r>
            <a:r>
              <a:rPr lang="en-US" altLang="es-PE" dirty="0"/>
              <a:t> de </a:t>
            </a:r>
            <a:r>
              <a:rPr lang="en-US" altLang="es-PE" dirty="0" err="1"/>
              <a:t>Bienes</a:t>
            </a:r>
            <a:r>
              <a:rPr lang="en-US" altLang="es-PE" dirty="0"/>
              <a:t> y </a:t>
            </a:r>
            <a:r>
              <a:rPr lang="en-US" altLang="es-PE" dirty="0" err="1"/>
              <a:t>Dinero</a:t>
            </a:r>
            <a:endParaRPr lang="en-US" altLang="es-P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657E039-34F7-48F0-BD81-21F844169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2057400"/>
            <a:ext cx="4561847" cy="3872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58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1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1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11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11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11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51" grpId="0" uiExpand="1" build="p"/>
      <p:bldP spid="41165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1" name="Rectangle 3"/>
          <p:cNvSpPr>
            <a:spLocks noGrp="1"/>
          </p:cNvSpPr>
          <p:nvPr>
            <p:ph idx="1" hasCustomPrompt="1"/>
          </p:nvPr>
        </p:nvSpPr>
        <p:spPr>
          <a:xfrm>
            <a:off x="565355" y="1493503"/>
            <a:ext cx="3778045" cy="1685926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Font typeface="Arial" panose="020B0604020202020204" pitchFamily="34" charset="0"/>
              <a:buChar char="•"/>
            </a:pPr>
            <a:r>
              <a:rPr lang="en-US" altLang="es-PE" sz="2000" b="0" dirty="0">
                <a:solidFill>
                  <a:schemeClr val="tx1"/>
                </a:solidFill>
              </a:rPr>
              <a:t>A </a:t>
            </a:r>
            <a:r>
              <a:rPr lang="en-US" altLang="es-PE" sz="2000" b="0" dirty="0" err="1">
                <a:solidFill>
                  <a:schemeClr val="tx1"/>
                </a:solidFill>
              </a:rPr>
              <a:t>corto</a:t>
            </a:r>
            <a:r>
              <a:rPr lang="en-US" altLang="es-PE" sz="2000" b="0" dirty="0">
                <a:solidFill>
                  <a:schemeClr val="tx1"/>
                </a:solidFill>
              </a:rPr>
              <a:t> </a:t>
            </a:r>
            <a:r>
              <a:rPr lang="en-US" altLang="es-PE" sz="2000" b="0" dirty="0" err="1">
                <a:solidFill>
                  <a:schemeClr val="tx1"/>
                </a:solidFill>
              </a:rPr>
              <a:t>plazo</a:t>
            </a:r>
            <a:r>
              <a:rPr lang="en-US" altLang="es-PE" sz="2000" b="0" dirty="0">
                <a:solidFill>
                  <a:schemeClr val="tx1"/>
                </a:solidFill>
              </a:rPr>
              <a:t>:</a:t>
            </a:r>
          </a:p>
          <a:p>
            <a:pPr marL="0" indent="0" algn="ctr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l-GR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s-PE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l-GR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s-PE" altLang="es-PE" b="0" i="1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-</a:t>
            </a:r>
            <a:r>
              <a:rPr lang="el-GR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(u – u</a:t>
            </a:r>
            <a:r>
              <a:rPr lang="en-US" altLang="es-PE" b="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s-PE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algn="just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Font typeface="Arial" panose="020B0604020202020204" pitchFamily="34" charset="0"/>
              <a:buChar char="•"/>
            </a:pPr>
            <a:r>
              <a:rPr lang="en-US" altLang="es-PE" sz="2000" b="0" dirty="0" err="1">
                <a:solidFill>
                  <a:schemeClr val="tx1"/>
                </a:solidFill>
              </a:rPr>
              <a:t>Gráficamente</a:t>
            </a:r>
            <a:r>
              <a:rPr lang="en-US" altLang="es-PE" sz="2000" b="0" dirty="0">
                <a:solidFill>
                  <a:schemeClr val="tx1"/>
                </a:solidFill>
              </a:rPr>
              <a:t>: </a:t>
            </a:r>
          </a:p>
        </p:txBody>
      </p:sp>
      <p:sp>
        <p:nvSpPr>
          <p:cNvPr id="66564" name="Rectangle 5"/>
          <p:cNvSpPr>
            <a:spLocks noGrp="1"/>
          </p:cNvSpPr>
          <p:nvPr>
            <p:ph type="title"/>
          </p:nvPr>
        </p:nvSpPr>
        <p:spPr/>
        <p:txBody>
          <a:bodyPr vert="horz" wrap="square" lIns="91440" tIns="548640" rIns="91440" bIns="457200" anchor="ctr"/>
          <a:lstStyle/>
          <a:p>
            <a:pPr defTabSz="739775" eaLnBrk="1" hangingPunct="1"/>
            <a:r>
              <a:rPr lang="es-PE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Modelo IS LM PC</a:t>
            </a:r>
            <a:endParaRPr lang="en-US" altLang="es-P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1654" name="Rectangle 6"/>
          <p:cNvSpPr/>
          <p:nvPr/>
        </p:nvSpPr>
        <p:spPr>
          <a:xfrm>
            <a:off x="533400" y="838200"/>
            <a:ext cx="8229600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defRPr sz="2400" b="1" kern="1200">
                <a:solidFill>
                  <a:srgbClr val="00808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C0066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/>
            <a:r>
              <a:rPr lang="en-US" altLang="es-PE" dirty="0" err="1"/>
              <a:t>Curva</a:t>
            </a:r>
            <a:r>
              <a:rPr lang="en-US" altLang="es-PE" dirty="0"/>
              <a:t> de Phillips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A16BB36-43DA-4FB5-B260-5DC00B86E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0" y="849339"/>
            <a:ext cx="4444181" cy="581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5247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1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1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11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11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51" grpId="0" uiExpand="1" build="p"/>
      <p:bldP spid="41165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1" name="Rectangle 3"/>
          <p:cNvSpPr>
            <a:spLocks noGrp="1"/>
          </p:cNvSpPr>
          <p:nvPr>
            <p:ph idx="1" hasCustomPrompt="1"/>
          </p:nvPr>
        </p:nvSpPr>
        <p:spPr>
          <a:xfrm>
            <a:off x="381000" y="1447800"/>
            <a:ext cx="3733800" cy="51054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Font typeface="Arial" panose="020B0604020202020204" pitchFamily="34" charset="0"/>
              <a:buChar char="•"/>
            </a:pPr>
            <a:r>
              <a:rPr lang="es-PE" altLang="es-PE" sz="2000" b="0" dirty="0">
                <a:solidFill>
                  <a:schemeClr val="tx1"/>
                </a:solidFill>
              </a:rPr>
              <a:t>Iniciando en el punto A (Y&gt;</a:t>
            </a:r>
            <a:r>
              <a:rPr lang="es-PE" altLang="es-PE" sz="2000" b="0" dirty="0" err="1">
                <a:solidFill>
                  <a:schemeClr val="tx1"/>
                </a:solidFill>
              </a:rPr>
              <a:t>Y</a:t>
            </a:r>
            <a:r>
              <a:rPr lang="es-PE" altLang="es-PE" sz="2000" b="0" baseline="-25000" dirty="0" err="1">
                <a:solidFill>
                  <a:schemeClr val="tx1"/>
                </a:solidFill>
              </a:rPr>
              <a:t>n</a:t>
            </a:r>
            <a:r>
              <a:rPr lang="es-PE" altLang="es-PE" sz="2000" b="0" dirty="0">
                <a:solidFill>
                  <a:schemeClr val="tx1"/>
                </a:solidFill>
              </a:rPr>
              <a:t> brecha producto +)</a:t>
            </a:r>
          </a:p>
          <a:p>
            <a:pPr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Font typeface="Arial" panose="020B0604020202020204" pitchFamily="34" charset="0"/>
              <a:buChar char="•"/>
            </a:pPr>
            <a:r>
              <a:rPr lang="es-PE" altLang="es-PE" sz="2000" b="0" dirty="0">
                <a:solidFill>
                  <a:schemeClr val="tx1"/>
                </a:solidFill>
              </a:rPr>
              <a:t>El banco central elevará la tasa de interés para reducir la producción hasta el PBI potencial y que cesen las presiones inflacionarias.</a:t>
            </a:r>
          </a:p>
        </p:txBody>
      </p:sp>
      <p:sp>
        <p:nvSpPr>
          <p:cNvPr id="66564" name="Rectangle 5"/>
          <p:cNvSpPr>
            <a:spLocks noGrp="1"/>
          </p:cNvSpPr>
          <p:nvPr>
            <p:ph type="title"/>
          </p:nvPr>
        </p:nvSpPr>
        <p:spPr/>
        <p:txBody>
          <a:bodyPr vert="horz" wrap="square" lIns="91440" tIns="548640" rIns="91440" bIns="457200" anchor="ctr"/>
          <a:lstStyle/>
          <a:p>
            <a:pPr defTabSz="739775" eaLnBrk="1" hangingPunct="1"/>
            <a:r>
              <a:rPr lang="es-PE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Modelo IS LM PC</a:t>
            </a:r>
            <a:endParaRPr lang="en-US" altLang="es-P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1654" name="Rectangle 6"/>
          <p:cNvSpPr/>
          <p:nvPr/>
        </p:nvSpPr>
        <p:spPr>
          <a:xfrm>
            <a:off x="381000" y="838200"/>
            <a:ext cx="3733800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defRPr sz="2400" b="1" kern="1200">
                <a:solidFill>
                  <a:srgbClr val="00808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C0066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/>
            <a:r>
              <a:rPr lang="en-US" altLang="es-PE" dirty="0" err="1"/>
              <a:t>Curva</a:t>
            </a:r>
            <a:r>
              <a:rPr lang="en-US" altLang="es-PE" dirty="0"/>
              <a:t> de Phillips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9ADF1EF-367D-4FA4-B48E-211FD287550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62" r="1587"/>
          <a:stretch/>
        </p:blipFill>
        <p:spPr>
          <a:xfrm>
            <a:off x="4572000" y="762000"/>
            <a:ext cx="4495800" cy="6007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64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1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1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1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51" grpId="0" build="p"/>
      <p:bldP spid="411654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Marcador de número de diapositiva 3"/>
          <p:cNvSpPr txBox="1">
            <a:spLocks noGrp="1"/>
          </p:cNvSpPr>
          <p:nvPr>
            <p:ph type="sldNum" sz="quarter" idx="4294967295"/>
          </p:nvPr>
        </p:nvSpPr>
        <p:spPr>
          <a:xfrm>
            <a:off x="8001000" y="6581775"/>
            <a:ext cx="1143000" cy="304800"/>
          </a:xfrm>
          <a:prstGeom prst="rect">
            <a:avLst/>
          </a:prstGeom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Font typeface="Wingdings" panose="05000000000000000000" pitchFamily="2" charset="2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en-US" altLang="es-PE" sz="1400" dirty="0">
                <a:solidFill>
                  <a:srgbClr val="008080"/>
                </a:solidFill>
              </a:rPr>
              <a:t>50</a:t>
            </a:fld>
            <a:r>
              <a:rPr lang="en-US" altLang="es-PE" sz="1400" dirty="0">
                <a:solidFill>
                  <a:srgbClr val="008080"/>
                </a:solidFill>
              </a:rPr>
              <a:t> of 33</a:t>
            </a:r>
          </a:p>
        </p:txBody>
      </p:sp>
      <p:sp>
        <p:nvSpPr>
          <p:cNvPr id="411651" name="Rectangle 3"/>
          <p:cNvSpPr>
            <a:spLocks noGrp="1"/>
          </p:cNvSpPr>
          <p:nvPr>
            <p:ph idx="1" hasCustomPrompt="1"/>
          </p:nvPr>
        </p:nvSpPr>
        <p:spPr>
          <a:xfrm>
            <a:off x="562896" y="1371599"/>
            <a:ext cx="3669891" cy="5210175"/>
          </a:xfrm>
        </p:spPr>
        <p:txBody>
          <a:bodyPr vert="horz" wrap="square" lIns="91440" tIns="45720" rIns="91440" bIns="45720" anchor="t"/>
          <a:lstStyle/>
          <a:p>
            <a:pPr marL="176213" indent="-176213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Font typeface="Arial" panose="020B0604020202020204" pitchFamily="34" charset="0"/>
              <a:buChar char="•"/>
            </a:pPr>
            <a:r>
              <a:rPr lang="es-PE" altLang="es-PE" sz="1800" b="0" dirty="0">
                <a:solidFill>
                  <a:schemeClr val="tx1"/>
                </a:solidFill>
              </a:rPr>
              <a:t>El banco central eleva la tasa de interés a lo largo del tiempo tal que la economía se desplaza hacia arriba a lo largo de la IS (de A </a:t>
            </a:r>
            <a:r>
              <a:rPr lang="es-PE" altLang="es-PE" sz="1800" b="0" dirty="0" err="1">
                <a:solidFill>
                  <a:schemeClr val="tx1"/>
                </a:solidFill>
              </a:rPr>
              <a:t>a</a:t>
            </a:r>
            <a:r>
              <a:rPr lang="es-PE" altLang="es-PE" sz="1800" b="0" dirty="0">
                <a:solidFill>
                  <a:schemeClr val="tx1"/>
                </a:solidFill>
              </a:rPr>
              <a:t> A’).</a:t>
            </a:r>
          </a:p>
          <a:p>
            <a:pPr marL="176213" indent="-176213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Font typeface="Arial" panose="020B0604020202020204" pitchFamily="34" charset="0"/>
              <a:buChar char="•"/>
            </a:pPr>
            <a:r>
              <a:rPr lang="es-PE" altLang="es-PE" sz="1800" b="0" dirty="0">
                <a:solidFill>
                  <a:schemeClr val="tx1"/>
                </a:solidFill>
              </a:rPr>
              <a:t>En el punto A’:</a:t>
            </a:r>
          </a:p>
          <a:p>
            <a:pPr marL="339725" indent="-103188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FontTx/>
              <a:buChar char="-"/>
            </a:pPr>
            <a:r>
              <a:rPr lang="es-PE" altLang="es-PE" sz="1800" b="0" dirty="0">
                <a:solidFill>
                  <a:schemeClr val="tx1"/>
                </a:solidFill>
              </a:rPr>
              <a:t>la tasa de interés es </a:t>
            </a:r>
            <a:r>
              <a:rPr lang="es-PE" altLang="es-PE" sz="1800" b="0" i="1" dirty="0" err="1">
                <a:solidFill>
                  <a:schemeClr val="tx1"/>
                </a:solidFill>
              </a:rPr>
              <a:t>r</a:t>
            </a:r>
            <a:r>
              <a:rPr lang="es-PE" altLang="es-PE" sz="1800" b="0" i="1" baseline="-25000" dirty="0" err="1">
                <a:solidFill>
                  <a:schemeClr val="tx1"/>
                </a:solidFill>
              </a:rPr>
              <a:t>n</a:t>
            </a:r>
            <a:r>
              <a:rPr lang="es-PE" altLang="es-PE" sz="1800" b="0" baseline="-25000" dirty="0">
                <a:solidFill>
                  <a:schemeClr val="tx1"/>
                </a:solidFill>
              </a:rPr>
              <a:t> </a:t>
            </a:r>
          </a:p>
          <a:p>
            <a:pPr marL="339725" indent="-103188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FontTx/>
              <a:buChar char="-"/>
            </a:pPr>
            <a:r>
              <a:rPr lang="es-PE" altLang="es-PE" sz="1800" b="0" dirty="0">
                <a:solidFill>
                  <a:schemeClr val="tx1"/>
                </a:solidFill>
              </a:rPr>
              <a:t>la producción es igual a </a:t>
            </a:r>
            <a:r>
              <a:rPr lang="en-US" altLang="es-PE" sz="1800" b="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s-PE" sz="1800" b="0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s-PE" altLang="es-PE" sz="1800" b="0" dirty="0">
                <a:solidFill>
                  <a:schemeClr val="tx1"/>
                </a:solidFill>
              </a:rPr>
              <a:t> y</a:t>
            </a:r>
          </a:p>
          <a:p>
            <a:pPr marL="339725" indent="-103188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FontTx/>
              <a:buChar char="-"/>
            </a:pPr>
            <a:r>
              <a:rPr lang="es-PE" altLang="es-PE" sz="1800" b="0" dirty="0">
                <a:solidFill>
                  <a:schemeClr val="tx1"/>
                </a:solidFill>
              </a:rPr>
              <a:t>como consecuencia la inflación </a:t>
            </a:r>
            <a:r>
              <a:rPr lang="el-GR" altLang="es-PE" sz="20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π</a:t>
            </a:r>
            <a:r>
              <a:rPr lang="es-PE" altLang="es-PE" sz="20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altLang="es-PE" sz="1800" b="0" dirty="0">
                <a:solidFill>
                  <a:schemeClr val="tx1"/>
                </a:solidFill>
              </a:rPr>
              <a:t>es constante.</a:t>
            </a:r>
          </a:p>
          <a:p>
            <a:pPr marL="176213" indent="-176213" eaLnBrk="1" hangingPunct="1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Font typeface="Arial" panose="020B0604020202020204" pitchFamily="34" charset="0"/>
              <a:buChar char="•"/>
            </a:pPr>
            <a:r>
              <a:rPr lang="es-PE" altLang="es-PE" sz="1800" b="0" dirty="0">
                <a:solidFill>
                  <a:schemeClr val="tx1"/>
                </a:solidFill>
              </a:rPr>
              <a:t>Es el </a:t>
            </a:r>
            <a:r>
              <a:rPr lang="es-PE" altLang="es-PE" sz="1800" b="0" u="sng" dirty="0">
                <a:solidFill>
                  <a:schemeClr val="tx1"/>
                </a:solidFill>
              </a:rPr>
              <a:t>equilibrio de mediano plazo</a:t>
            </a:r>
            <a:r>
              <a:rPr lang="es-PE" altLang="es-PE" sz="1800" b="0" dirty="0">
                <a:solidFill>
                  <a:schemeClr val="tx1"/>
                </a:solidFill>
              </a:rPr>
              <a:t>.</a:t>
            </a:r>
            <a:endParaRPr lang="en-US" altLang="es-PE" sz="1800" b="0" dirty="0">
              <a:solidFill>
                <a:schemeClr val="tx1"/>
              </a:solidFill>
            </a:endParaRPr>
          </a:p>
        </p:txBody>
      </p:sp>
      <p:sp>
        <p:nvSpPr>
          <p:cNvPr id="66564" name="Rectangle 5"/>
          <p:cNvSpPr>
            <a:spLocks noGrp="1"/>
          </p:cNvSpPr>
          <p:nvPr>
            <p:ph type="title"/>
          </p:nvPr>
        </p:nvSpPr>
        <p:spPr/>
        <p:txBody>
          <a:bodyPr vert="horz" wrap="square" lIns="91440" tIns="548640" rIns="91440" bIns="457200" anchor="ctr"/>
          <a:lstStyle/>
          <a:p>
            <a:pPr defTabSz="739775" eaLnBrk="1" hangingPunct="1"/>
            <a:r>
              <a:rPr lang="es-PE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Modelo IS LM PC</a:t>
            </a:r>
            <a:endParaRPr lang="en-US" altLang="es-P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1654" name="Rectangle 6"/>
          <p:cNvSpPr/>
          <p:nvPr/>
        </p:nvSpPr>
        <p:spPr>
          <a:xfrm>
            <a:off x="533400" y="838200"/>
            <a:ext cx="8229600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defRPr sz="2400" b="1" kern="1200">
                <a:solidFill>
                  <a:srgbClr val="00808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C0066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/>
            <a:r>
              <a:rPr lang="en-US" altLang="es-PE" dirty="0" err="1"/>
              <a:t>Curva</a:t>
            </a:r>
            <a:r>
              <a:rPr lang="en-US" altLang="es-PE" dirty="0"/>
              <a:t> de Phillips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9E5CACA-6125-43DC-8821-B1E34A8EA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2787" y="793955"/>
            <a:ext cx="4800600" cy="6007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9066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1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1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1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1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1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1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1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51" grpId="0" uiExpand="1" build="p"/>
      <p:bldP spid="411654" grpId="0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10000"/>
          </a:spcBef>
          <a:spcAft>
            <a:spcPct val="10000"/>
          </a:spcAft>
          <a:buClrTx/>
          <a:buSzTx/>
          <a:buFont typeface="Wingdings" panose="05000000000000000000" pitchFamily="2" charset="2"/>
          <a:buNone/>
          <a:defRPr kumimoji="0" lang="en-US" altLang="es-PE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10000"/>
          </a:spcBef>
          <a:spcAft>
            <a:spcPct val="10000"/>
          </a:spcAft>
          <a:buClrTx/>
          <a:buSzTx/>
          <a:buFont typeface="Wingdings" panose="05000000000000000000" pitchFamily="2" charset="2"/>
          <a:buNone/>
          <a:defRPr kumimoji="0" lang="en-US" altLang="es-PE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5865</TotalTime>
  <Words>3314</Words>
  <Application>Microsoft Office PowerPoint</Application>
  <PresentationFormat>Presentación en pantalla (4:3)</PresentationFormat>
  <Paragraphs>363</Paragraphs>
  <Slides>50</Slides>
  <Notes>38</Notes>
  <HiddenSlides>0</HiddenSlides>
  <MMClips>0</MMClips>
  <ScaleCrop>false</ScaleCrop>
  <HeadingPairs>
    <vt:vector size="8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2</vt:i4>
      </vt:variant>
      <vt:variant>
        <vt:lpstr>Títulos de diapositiva</vt:lpstr>
      </vt:variant>
      <vt:variant>
        <vt:i4>50</vt:i4>
      </vt:variant>
    </vt:vector>
  </HeadingPairs>
  <TitlesOfParts>
    <vt:vector size="63" baseType="lpstr">
      <vt:lpstr>Arial</vt:lpstr>
      <vt:lpstr>Arial Black</vt:lpstr>
      <vt:lpstr>Arial Narrow</vt:lpstr>
      <vt:lpstr>Avenir 55 Roman</vt:lpstr>
      <vt:lpstr>Cambria Math</vt:lpstr>
      <vt:lpstr>Futura Lt BT</vt:lpstr>
      <vt:lpstr>Symbol</vt:lpstr>
      <vt:lpstr>Times New Roman</vt:lpstr>
      <vt:lpstr>Wingdings</vt:lpstr>
      <vt:lpstr>ヒラギノ角ゴ Pro W3</vt:lpstr>
      <vt:lpstr>Default Design</vt:lpstr>
      <vt:lpstr>Equation.COEE2</vt:lpstr>
      <vt:lpstr>Equation.DSMT4</vt:lpstr>
      <vt:lpstr>Presentación de PowerPoint</vt:lpstr>
      <vt:lpstr>Presentación de PowerPoint</vt:lpstr>
      <vt:lpstr>La Tasa Natural de Desempleo y la Curva de  Phillips</vt:lpstr>
      <vt:lpstr>La Tasa Natural de Desempleo y la Curva de  Phillips</vt:lpstr>
      <vt:lpstr>La Tasa Natural de Desempleo y la Curva de  Phillips</vt:lpstr>
      <vt:lpstr>Inflación, Inflación Esperada y Desempleo </vt:lpstr>
      <vt:lpstr>Inflación, Inflación Esperada y Desempleo </vt:lpstr>
      <vt:lpstr>Inflación, Inflación Esperada y Desempleo </vt:lpstr>
      <vt:lpstr>Inflación, Inflación Esperada y Desempleo </vt:lpstr>
      <vt:lpstr>Inflación, Inflación Esperada y Desempleo </vt:lpstr>
      <vt:lpstr>Inflación, Inflación Esperada y Desempleo </vt:lpstr>
      <vt:lpstr>Inflación, Inflación Esperada y Desempleo </vt:lpstr>
      <vt:lpstr>Inflación, Inflación Esperada y Desempleo </vt:lpstr>
      <vt:lpstr>Inflación, Inflación Esperada y Desempleo </vt:lpstr>
      <vt:lpstr>Inflación, Inflación Esperada y Desempleo </vt:lpstr>
      <vt:lpstr>Presentación de PowerPoint</vt:lpstr>
      <vt:lpstr>La curva de Phillips</vt:lpstr>
      <vt:lpstr>La curva de Phillips</vt:lpstr>
      <vt:lpstr>La curva de Phillips</vt:lpstr>
      <vt:lpstr>La curva de Phillips</vt:lpstr>
      <vt:lpstr>La curva de Phillips</vt:lpstr>
      <vt:lpstr>La curva de Phillips</vt:lpstr>
      <vt:lpstr>La curva de Phillips</vt:lpstr>
      <vt:lpstr>La curva de Phillips</vt:lpstr>
      <vt:lpstr>La curva de Phillips</vt:lpstr>
      <vt:lpstr>La curva de Phillips</vt:lpstr>
      <vt:lpstr>La curva de Phillips</vt:lpstr>
      <vt:lpstr>La curva de Phillips</vt:lpstr>
      <vt:lpstr>La curva de Phillips</vt:lpstr>
      <vt:lpstr>Presentación de PowerPoint</vt:lpstr>
      <vt:lpstr>La curva de Phillips y Tasa Natural de Desempleo</vt:lpstr>
      <vt:lpstr>La curva de Phillips y Tasa Natural de Desempleo</vt:lpstr>
      <vt:lpstr>La curva de Phillips y Tasa Natural de Desempleo</vt:lpstr>
      <vt:lpstr>La curva de Phillips y Tasa Natural de Desempleo</vt:lpstr>
      <vt:lpstr>La curva de Phillips y Tasa Natural de Desempleo</vt:lpstr>
      <vt:lpstr>Algunas advertencias</vt:lpstr>
      <vt:lpstr>Algunas advertencias</vt:lpstr>
      <vt:lpstr>Algunas advertencias</vt:lpstr>
      <vt:lpstr>Presentación de PowerPoint</vt:lpstr>
      <vt:lpstr>Modelo IS LM PC</vt:lpstr>
      <vt:lpstr>Modelo IS LM PC</vt:lpstr>
      <vt:lpstr>Modelo IS LM PC</vt:lpstr>
      <vt:lpstr>Modelo IS LM PC</vt:lpstr>
      <vt:lpstr>Modelo IS LM PC</vt:lpstr>
      <vt:lpstr>Modelo IS LM PC</vt:lpstr>
      <vt:lpstr>Modelo IS LM PC</vt:lpstr>
      <vt:lpstr>Modelo IS LM PC</vt:lpstr>
      <vt:lpstr>Modelo IS LM PC</vt:lpstr>
      <vt:lpstr>Modelo IS LM PC</vt:lpstr>
      <vt:lpstr>Modelo IS LM PC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Yvonn Quijano</dc:creator>
  <cp:lastModifiedBy>Azanero Saona, Jose  Manuel</cp:lastModifiedBy>
  <cp:revision>247</cp:revision>
  <dcterms:created xsi:type="dcterms:W3CDTF">2005-05-11T00:59:00Z</dcterms:created>
  <dcterms:modified xsi:type="dcterms:W3CDTF">2025-06-23T03:03:02Z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1033-10.2.0.6020</vt:lpwstr>
  </property>
</Properties>
</file>