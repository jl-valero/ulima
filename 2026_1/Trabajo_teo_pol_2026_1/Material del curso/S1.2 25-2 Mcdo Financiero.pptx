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99" r:id="rId3"/>
    <p:sldId id="271" r:id="rId4"/>
    <p:sldId id="400" r:id="rId5"/>
    <p:sldId id="422" r:id="rId6"/>
    <p:sldId id="408" r:id="rId7"/>
    <p:sldId id="423" r:id="rId8"/>
    <p:sldId id="424" r:id="rId9"/>
    <p:sldId id="425" r:id="rId10"/>
    <p:sldId id="426" r:id="rId11"/>
    <p:sldId id="437" r:id="rId12"/>
    <p:sldId id="438" r:id="rId13"/>
    <p:sldId id="439" r:id="rId14"/>
    <p:sldId id="427" r:id="rId15"/>
    <p:sldId id="441" r:id="rId16"/>
    <p:sldId id="442" r:id="rId17"/>
    <p:sldId id="443" r:id="rId18"/>
    <p:sldId id="444" r:id="rId19"/>
    <p:sldId id="428" r:id="rId20"/>
    <p:sldId id="429" r:id="rId21"/>
    <p:sldId id="430" r:id="rId22"/>
    <p:sldId id="431" r:id="rId23"/>
    <p:sldId id="433" r:id="rId24"/>
    <p:sldId id="440" r:id="rId25"/>
    <p:sldId id="434" r:id="rId26"/>
    <p:sldId id="435" r:id="rId27"/>
    <p:sldId id="436" r:id="rId28"/>
    <p:sldId id="401" r:id="rId29"/>
    <p:sldId id="280" r:id="rId30"/>
    <p:sldId id="281" r:id="rId31"/>
    <p:sldId id="266" r:id="rId3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D579219-F782-42AC-A477-BA221662149A}">
          <p14:sldIdLst>
            <p14:sldId id="256"/>
          </p14:sldIdLst>
        </p14:section>
        <p14:section name="IMPACTO" id="{23CB7071-C227-455F-BA2D-F9607F5DA9DD}">
          <p14:sldIdLst>
            <p14:sldId id="399"/>
            <p14:sldId id="271"/>
            <p14:sldId id="400"/>
            <p14:sldId id="422"/>
            <p14:sldId id="408"/>
            <p14:sldId id="423"/>
          </p14:sldIdLst>
        </p14:section>
        <p14:section name="Intermediarios Financ" id="{C55749C2-0CB1-4BB9-9544-D57C1D29A27E}">
          <p14:sldIdLst>
            <p14:sldId id="424"/>
            <p14:sldId id="425"/>
            <p14:sldId id="426"/>
            <p14:sldId id="437"/>
            <p14:sldId id="438"/>
            <p14:sldId id="439"/>
            <p14:sldId id="427"/>
            <p14:sldId id="441"/>
            <p14:sldId id="442"/>
            <p14:sldId id="443"/>
            <p14:sldId id="444"/>
            <p14:sldId id="428"/>
          </p14:sldIdLst>
        </p14:section>
        <p14:section name="Peru Intermediarios Financieros" id="{E5987B0A-96EC-4F04-833B-DB41EFBB4C37}">
          <p14:sldIdLst>
            <p14:sldId id="429"/>
            <p14:sldId id="430"/>
            <p14:sldId id="431"/>
            <p14:sldId id="433"/>
            <p14:sldId id="440"/>
          </p14:sldIdLst>
        </p14:section>
        <p14:section name="Peru Mcdo Ks" id="{B0CC7414-18CA-4B8B-BE26-FAB1F2D9E1B1}">
          <p14:sldIdLst>
            <p14:sldId id="434"/>
            <p14:sldId id="435"/>
            <p14:sldId id="436"/>
          </p14:sldIdLst>
        </p14:section>
        <p14:section name="MIU" id="{7383AC1F-B93C-49FE-9D1F-31315D241D47}">
          <p14:sldIdLst>
            <p14:sldId id="401"/>
            <p14:sldId id="280"/>
            <p14:sldId id="281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 snapToObjects="1">
      <p:cViewPr varScale="1">
        <p:scale>
          <a:sx n="79" d="100"/>
          <a:sy n="79" d="100"/>
        </p:scale>
        <p:origin x="773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2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689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14348" y="472063"/>
            <a:ext cx="11287125" cy="725488"/>
          </a:xfrm>
        </p:spPr>
        <p:txBody>
          <a:bodyPr>
            <a:normAutofit/>
          </a:bodyPr>
          <a:lstStyle>
            <a:lvl1pPr>
              <a:defRPr sz="3200" b="1">
                <a:ln>
                  <a:noFill/>
                </a:ln>
                <a:solidFill>
                  <a:srgbClr val="E85428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4349" y="1283276"/>
            <a:ext cx="11287125" cy="4245987"/>
          </a:xfrm>
        </p:spPr>
        <p:txBody>
          <a:bodyPr/>
          <a:lstStyle>
            <a:lvl1pPr marL="0" indent="0">
              <a:buFontTx/>
              <a:buNone/>
              <a:defRPr>
                <a:latin typeface="Verdana" charset="0"/>
                <a:ea typeface="Verdana" charset="0"/>
                <a:cs typeface="Verdana" charset="0"/>
              </a:defRPr>
            </a:lvl1pPr>
            <a:lvl2pPr marL="457200" indent="0">
              <a:buFontTx/>
              <a:buNone/>
              <a:defRPr>
                <a:latin typeface="Verdana" charset="0"/>
                <a:ea typeface="Verdana" charset="0"/>
                <a:cs typeface="Verdana" charset="0"/>
              </a:defRPr>
            </a:lvl2pPr>
            <a:lvl3pPr marL="914400" indent="0">
              <a:buFontTx/>
              <a:buNone/>
              <a:defRPr>
                <a:latin typeface="Verdana" charset="0"/>
                <a:ea typeface="Verdana" charset="0"/>
                <a:cs typeface="Verdana" charset="0"/>
              </a:defRPr>
            </a:lvl3pPr>
            <a:lvl4pPr marL="1371600" indent="0">
              <a:buFontTx/>
              <a:buNone/>
              <a:defRPr>
                <a:latin typeface="Verdana" charset="0"/>
                <a:ea typeface="Verdana" charset="0"/>
                <a:cs typeface="Verdana" charset="0"/>
              </a:defRPr>
            </a:lvl4pPr>
            <a:lvl5pPr marL="1828800" indent="0">
              <a:buFontTx/>
              <a:buNone/>
              <a:defRPr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3581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14348" y="472063"/>
            <a:ext cx="11287125" cy="725488"/>
          </a:xfrm>
        </p:spPr>
        <p:txBody>
          <a:bodyPr>
            <a:normAutofit/>
          </a:bodyPr>
          <a:lstStyle>
            <a:lvl1pPr>
              <a:defRPr sz="3200" b="1">
                <a:ln>
                  <a:noFill/>
                </a:ln>
                <a:solidFill>
                  <a:srgbClr val="E85428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4349" y="1283276"/>
            <a:ext cx="11287125" cy="4245987"/>
          </a:xfr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  <a:lvl2pPr>
              <a:defRPr>
                <a:latin typeface="Verdana" charset="0"/>
                <a:ea typeface="Verdana" charset="0"/>
                <a:cs typeface="Verdana" charset="0"/>
              </a:defRPr>
            </a:lvl2pPr>
            <a:lvl3pPr>
              <a:defRPr>
                <a:latin typeface="Verdana" charset="0"/>
                <a:ea typeface="Verdana" charset="0"/>
                <a:cs typeface="Verdana" charset="0"/>
              </a:defRPr>
            </a:lvl3pPr>
            <a:lvl4pPr>
              <a:defRPr>
                <a:latin typeface="Verdana" charset="0"/>
                <a:ea typeface="Verdana" charset="0"/>
                <a:cs typeface="Verdana" charset="0"/>
              </a:defRPr>
            </a:lvl4pPr>
            <a:lvl5pPr>
              <a:defRPr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474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 hasCustomPrompt="1"/>
          </p:nvPr>
        </p:nvSpPr>
        <p:spPr>
          <a:xfrm>
            <a:off x="514348" y="586363"/>
            <a:ext cx="11287125" cy="72548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E85428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514349" y="1397576"/>
            <a:ext cx="11287125" cy="3943349"/>
          </a:xfr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  <a:lvl2pPr>
              <a:defRPr>
                <a:latin typeface="Verdana" charset="0"/>
                <a:ea typeface="Verdana" charset="0"/>
                <a:cs typeface="Verdana" charset="0"/>
              </a:defRPr>
            </a:lvl2pPr>
            <a:lvl3pPr>
              <a:defRPr>
                <a:latin typeface="Verdana" charset="0"/>
                <a:ea typeface="Verdana" charset="0"/>
                <a:cs typeface="Verdana" charset="0"/>
              </a:defRPr>
            </a:lvl3pPr>
            <a:lvl4pPr>
              <a:defRPr>
                <a:latin typeface="Verdana" charset="0"/>
                <a:ea typeface="Verdana" charset="0"/>
                <a:cs typeface="Verdana" charset="0"/>
              </a:defRPr>
            </a:lvl4pPr>
            <a:lvl5pPr>
              <a:defRPr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3961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85776" y="357187"/>
            <a:ext cx="11229974" cy="91916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85776" y="1354137"/>
            <a:ext cx="5429250" cy="423227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>
              <a:defRPr sz="18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>
              <a:defRPr sz="16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>
              <a:defRPr sz="16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43626" y="1354137"/>
            <a:ext cx="5572124" cy="423227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>
              <a:defRPr sz="18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>
              <a:defRPr sz="16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>
              <a:defRPr sz="16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2671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485776" y="1628775"/>
            <a:ext cx="11229974" cy="919163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E85428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11" name="Marcador de contenido 2"/>
          <p:cNvSpPr>
            <a:spLocks noGrp="1"/>
          </p:cNvSpPr>
          <p:nvPr>
            <p:ph sz="half" idx="1"/>
          </p:nvPr>
        </p:nvSpPr>
        <p:spPr>
          <a:xfrm>
            <a:off x="485776" y="2625726"/>
            <a:ext cx="5429250" cy="36322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2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>
              <a:defRPr sz="18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>
              <a:defRPr sz="16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>
              <a:defRPr sz="16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2" name="Marcador de contenido 3"/>
          <p:cNvSpPr>
            <a:spLocks noGrp="1"/>
          </p:cNvSpPr>
          <p:nvPr>
            <p:ph sz="half" idx="2"/>
          </p:nvPr>
        </p:nvSpPr>
        <p:spPr>
          <a:xfrm>
            <a:off x="6143626" y="2625726"/>
            <a:ext cx="5572124" cy="36322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defRPr sz="2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>
              <a:defRPr sz="18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>
              <a:defRPr sz="16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>
              <a:defRPr sz="16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6021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81000" y="1628775"/>
            <a:ext cx="11391900" cy="74771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E85428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78283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772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45B7A-124A-2440-B855-8AD09298A361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BB804-8CF5-A44B-9844-AC8F6ABDCA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309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fVZU35HsGeU?si=BYSN7lA8tJhR0Irn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214434" y="2539655"/>
            <a:ext cx="9872661" cy="1826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0" kern="120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s-PE" sz="4800" b="1"/>
              <a:t>Mercados Financieros</a:t>
            </a:r>
            <a:endParaRPr lang="es-ES_tradnl" sz="4800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97221" y="6274001"/>
            <a:ext cx="1783080" cy="426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0" kern="1200" baseline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s-ES_tradnl" sz="800" dirty="0">
                <a:latin typeface="Verdana" charset="0"/>
                <a:ea typeface="Verdana" charset="0"/>
                <a:cs typeface="Verdana" charset="0"/>
              </a:rPr>
              <a:t>CICLO</a:t>
            </a:r>
            <a:r>
              <a:rPr lang="es-ES_tradnl" sz="800" baseline="0" dirty="0">
                <a:latin typeface="Verdana" charset="0"/>
                <a:ea typeface="Verdana" charset="0"/>
                <a:cs typeface="Verdana" charset="0"/>
              </a:rPr>
              <a:t> | SEMANA LECTIVA</a:t>
            </a:r>
            <a:endParaRPr lang="es-ES_tradnl" sz="8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FC1D3C-DBF4-CC48-91B3-E557E2A9D540}"/>
              </a:ext>
            </a:extLst>
          </p:cNvPr>
          <p:cNvSpPr txBox="1"/>
          <p:nvPr/>
        </p:nvSpPr>
        <p:spPr>
          <a:xfrm>
            <a:off x="297221" y="535097"/>
            <a:ext cx="4808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s-ES_tradn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>
              <a:lnSpc>
                <a:spcPct val="100000"/>
              </a:lnSpc>
            </a:pPr>
            <a:r>
              <a:rPr lang="es-ES_tradnl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B6133-F28D-0D42-BEC7-0F386FD40E89}"/>
              </a:ext>
            </a:extLst>
          </p:cNvPr>
          <p:cNvSpPr txBox="1"/>
          <p:nvPr/>
        </p:nvSpPr>
        <p:spPr>
          <a:xfrm>
            <a:off x="297221" y="6021705"/>
            <a:ext cx="75939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s-ES_tradnl" sz="1050" dirty="0">
                <a:solidFill>
                  <a:schemeClr val="bg1"/>
                </a:solidFill>
                <a:latin typeface="Times" pitchFamily="2" charset="0"/>
                <a:ea typeface="Verdana" panose="020B0604030504040204" pitchFamily="34" charset="0"/>
                <a:cs typeface="Verdana" panose="020B0604030504040204" pitchFamily="34" charset="0"/>
              </a:rPr>
              <a:t>NOMBRE DEL CURSO </a:t>
            </a:r>
          </a:p>
          <a:p>
            <a:pPr>
              <a:lnSpc>
                <a:spcPct val="100000"/>
              </a:lnSpc>
            </a:pPr>
            <a:r>
              <a:rPr lang="es-ES_tradnl" sz="1050" dirty="0">
                <a:solidFill>
                  <a:schemeClr val="bg1"/>
                </a:solidFill>
                <a:latin typeface="Times" pitchFamily="2" charset="0"/>
                <a:ea typeface="Verdana" panose="020B0604030504040204" pitchFamily="34" charset="0"/>
                <a:cs typeface="Verdana" panose="020B0604030504040204" pitchFamily="34" charset="0"/>
              </a:rPr>
              <a:t>HASTA EN 2 LÍNEAS</a:t>
            </a:r>
            <a:endParaRPr lang="en-US" sz="1050" dirty="0">
              <a:latin typeface="Times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58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A388-AA71-AEDE-F723-421DFBA6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2DE751-955B-E48C-E2A8-6DCAB5CE5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1354" y="1354137"/>
            <a:ext cx="11434396" cy="4232275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s-PE" sz="5400" b="1" dirty="0"/>
              <a:t>IMPACTO</a:t>
            </a:r>
          </a:p>
        </p:txBody>
      </p:sp>
    </p:spTree>
    <p:extLst>
      <p:ext uri="{BB962C8B-B14F-4D97-AF65-F5344CB8AC3E}">
        <p14:creationId xmlns:p14="http://schemas.microsoft.com/office/powerpoint/2010/main" val="1666487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37C39-377C-40F1-9B99-C31C4B46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77B70-793B-CE00-E4C6-31725377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FUNCIÓN del BCRP: Política Monetaria y Estabilidad Financiera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798A0A-BFED-BDB1-58BF-9C974E37F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PE" sz="1800" b="1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https://youtu.be/fVZU35HsGeU?si=BYSN7lA8tJhR0Irn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39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B487-FCFB-C3F8-F7DC-EB792E6A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D666B8-7919-7DA5-1F1A-FA505D704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1354" y="1354137"/>
            <a:ext cx="11434396" cy="4232275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s-PE" sz="5400" b="1" dirty="0"/>
              <a:t>ASIMILACIÓN</a:t>
            </a:r>
          </a:p>
        </p:txBody>
      </p:sp>
    </p:spTree>
    <p:extLst>
      <p:ext uri="{BB962C8B-B14F-4D97-AF65-F5344CB8AC3E}">
        <p14:creationId xmlns:p14="http://schemas.microsoft.com/office/powerpoint/2010/main" val="228897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F0F23-1E6D-767D-B3D7-D3AF47EF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55575"/>
            <a:ext cx="11391900" cy="747713"/>
          </a:xfrm>
        </p:spPr>
        <p:txBody>
          <a:bodyPr/>
          <a:lstStyle/>
          <a:p>
            <a:r>
              <a:rPr lang="es-PE" dirty="0"/>
              <a:t>Diagrama de flujos fondos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8B3AA2-A778-869C-7C7D-0D51205A3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73"/>
          <a:stretch/>
        </p:blipFill>
        <p:spPr>
          <a:xfrm>
            <a:off x="2182791" y="1081087"/>
            <a:ext cx="7826418" cy="507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D8F95-7F9A-55EE-B7B1-AEEDCEF8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EB295-F0E2-126F-6C28-2F768799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FUNCIÓN DE LOS MERCADOS</a:t>
            </a:r>
            <a:br>
              <a:rPr lang="es-ES" dirty="0"/>
            </a:br>
            <a:r>
              <a:rPr lang="es-ES" dirty="0"/>
              <a:t>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C7386-8424-5C1C-7381-96949556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lnSpc>
                <a:spcPct val="15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Permiten la canalización de fondos de agentes que carecen de oportunidades de inversión hacia agentes que tienen dichas oportunidades (función económica esencial).</a:t>
            </a:r>
          </a:p>
          <a:p>
            <a:pPr algn="l">
              <a:lnSpc>
                <a:spcPct val="15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Contribuyen al incremento de la producción y la eficiencia en la economía en su conjunto.</a:t>
            </a:r>
          </a:p>
          <a:p>
            <a:pPr algn="l">
              <a:lnSpc>
                <a:spcPct val="15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Mejoran el bienestar de los consumidores, permitiéndoles optimizar sus decisiones </a:t>
            </a:r>
            <a:r>
              <a:rPr lang="es-ES" sz="3200" b="0" i="0" u="none" strike="noStrike" baseline="0" dirty="0" err="1">
                <a:latin typeface="Arial" panose="020B0604020202020204" pitchFamily="34" charset="0"/>
              </a:rPr>
              <a:t>intertemporales</a:t>
            </a:r>
            <a:r>
              <a:rPr lang="es-ES" sz="3200" b="0" i="0" u="none" strike="noStrike" baseline="0" dirty="0">
                <a:latin typeface="Arial" panose="020B0604020202020204" pitchFamily="34" charset="0"/>
              </a:rPr>
              <a:t> de consumo presente/futuro.</a:t>
            </a:r>
          </a:p>
          <a:p>
            <a:pPr algn="l">
              <a:lnSpc>
                <a:spcPct val="15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Afecta la riqueza personal y el comportamiento de las empresas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279387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9A80-66F7-AD06-692E-5E64F3D1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3F6F6-5BC4-92A6-2F11-F09B2D0C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CLASIFICACIÓN DE LOS MERCADOS</a:t>
            </a:r>
            <a:br>
              <a:rPr lang="es-ES" dirty="0"/>
            </a:br>
            <a:r>
              <a:rPr lang="es-ES" dirty="0"/>
              <a:t>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57312B-C049-9A78-8D8B-617DA9DC1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MERCADOS DE DEUDA (derechos sobre </a:t>
            </a:r>
            <a:r>
              <a:rPr lang="es-ES" sz="3200" b="0" i="0" u="none" strike="noStrike" baseline="0" dirty="0" err="1">
                <a:latin typeface="Arial" panose="020B0604020202020204" pitchFamily="34" charset="0"/>
              </a:rPr>
              <a:t>ingresosfuturos</a:t>
            </a:r>
            <a:r>
              <a:rPr lang="es-ES" sz="3200" b="0" i="0" u="none" strike="noStrike" baseline="0" dirty="0">
                <a:latin typeface="Arial" panose="020B0604020202020204" pitchFamily="34" charset="0"/>
              </a:rPr>
              <a:t>/repago en cierto monto y tasa de interés)</a:t>
            </a:r>
          </a:p>
          <a:p>
            <a:pPr lvl="1">
              <a:lnSpc>
                <a:spcPct val="170000"/>
              </a:lnSpc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Corto Plazo (vencimiento&lt; 1 año). Mercado de Dinero (mercado interbancario mayorista), importante para una política monetaria eficiente (profundidad e integración)</a:t>
            </a:r>
          </a:p>
          <a:p>
            <a:pPr lvl="1">
              <a:lnSpc>
                <a:spcPct val="170000"/>
              </a:lnSpc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Largo Plazo (vencimiento &gt; 1 año) Mercado de Capitales</a:t>
            </a:r>
          </a:p>
          <a:p>
            <a:pPr algn="l"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MERCADOS DE ACCIONES (derechos sobre los activos-propiedad/no repago) Mercado de Capitales</a:t>
            </a:r>
          </a:p>
          <a:p>
            <a:pPr lvl="1">
              <a:lnSpc>
                <a:spcPct val="170000"/>
              </a:lnSpc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Mercado primario/ mercado secundario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73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6A34-8FA2-9C8B-ECB1-D544C400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0692F-F035-87CA-FB6C-94303158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20CCD-0FD8-8DA1-FA17-A0F4A6B99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Involucrados en el proceso de financiamiento indirecto</a:t>
            </a:r>
          </a:p>
          <a:p>
            <a:pPr algn="l"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Son necesarios debido a los costos de transacción y la información asimétrica, asimismo permiten redistribuir el riesgo.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8895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F1322-AA10-9E79-1C45-B113BA17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6913F-9E57-44F6-8525-B9598C8D6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9535FC-10E8-9AB4-8AB9-45F4F50CE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Costos de Transacción</a:t>
            </a:r>
          </a:p>
          <a:p>
            <a:pPr>
              <a:lnSpc>
                <a:spcPct val="170000"/>
              </a:lnSpc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Intermediarios Financieros obtienen beneficios reduciendo los costos de transacción.</a:t>
            </a:r>
          </a:p>
          <a:p>
            <a:pPr>
              <a:lnSpc>
                <a:spcPct val="170000"/>
              </a:lnSpc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Reducen los costos de transacción desarrollando técnicas y tomando ventajas de las economías de escala.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606869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257B-5690-F79F-9570-68F9058B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C8EDD-FE64-931D-B0A2-A834539F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9F2CA-7D51-2181-0FCF-12488BA9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Información Asimétrica</a:t>
            </a:r>
          </a:p>
          <a:p>
            <a:pPr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Selección Adversa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1.Ocurre antes de la operación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2.Deudores potenciales con mayor probabilidad de pérdidas son los que tienen la mayor probabilidad de buscar financiamiento y ser escogidos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6087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5581-286B-64AE-359A-51B82CED0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91290-2D95-E686-4367-56C551DC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69D97F-F2F6-512F-DFB4-D856A183F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Información Asimétrica: Selección Adversa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En el contexto de los intermediarios financieros (como bancos, compañías de seguros o fondos de inversión), la selección adversa surge cuando </a:t>
            </a:r>
          </a:p>
          <a:p>
            <a:pPr lvl="2">
              <a:lnSpc>
                <a:spcPct val="170000"/>
              </a:lnSpc>
            </a:pPr>
            <a:r>
              <a:rPr lang="es-ES" sz="2400" dirty="0">
                <a:latin typeface="Arial" panose="020B0604020202020204" pitchFamily="34" charset="0"/>
              </a:rPr>
              <a:t>U</a:t>
            </a:r>
            <a:r>
              <a:rPr lang="es-ES" sz="2400" b="0" i="0" u="none" strike="noStrike" baseline="0" dirty="0">
                <a:latin typeface="Arial" panose="020B0604020202020204" pitchFamily="34" charset="0"/>
              </a:rPr>
              <a:t>na de las partes (generalmente el prestatario o el asegurado) tiene información privilegiada sobre su riesgo real, </a:t>
            </a:r>
          </a:p>
          <a:p>
            <a:pPr lvl="2">
              <a:lnSpc>
                <a:spcPct val="170000"/>
              </a:lnSpc>
            </a:pPr>
            <a:r>
              <a:rPr lang="es-ES" sz="2400" b="0" i="0" u="none" strike="noStrike" baseline="0" dirty="0">
                <a:latin typeface="Arial" panose="020B0604020202020204" pitchFamily="34" charset="0"/>
              </a:rPr>
              <a:t>Ello lleva a que los intermediarios atraigan o seleccionen involuntariamente a los clientes más riesgosos.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930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16B3-A06E-BA16-D151-8D6EDDC9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2C302-42AB-9183-329D-E72F5888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80525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7B4352-39A7-A058-8C74-06AC9FD1E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613" y="806012"/>
            <a:ext cx="11287125" cy="5079221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Información Asimétrica: Selección Adversa</a:t>
            </a:r>
          </a:p>
          <a:p>
            <a:pPr marL="457200" lvl="1" indent="0">
              <a:lnSpc>
                <a:spcPct val="170000"/>
              </a:lnSpc>
              <a:buNone/>
              <a:tabLst>
                <a:tab pos="6907213" algn="l"/>
              </a:tabLst>
            </a:pPr>
            <a:r>
              <a:rPr lang="es-ES" sz="3400" b="0" i="0" u="none" strike="noStrike" baseline="0" dirty="0">
                <a:latin typeface="Arial" panose="020B0604020202020204" pitchFamily="34" charset="0"/>
              </a:rPr>
              <a:t>Cómo funciona la selección adversa en los intermediarios financieros:</a:t>
            </a:r>
          </a:p>
          <a:p>
            <a:pPr lvl="1">
              <a:lnSpc>
                <a:spcPct val="170000"/>
              </a:lnSpc>
              <a:tabLst>
                <a:tab pos="6907213" algn="l"/>
              </a:tabLst>
            </a:pPr>
            <a:r>
              <a:rPr lang="es-ES" sz="3400" b="0" i="0" u="none" strike="noStrike" baseline="0" dirty="0">
                <a:latin typeface="Arial" panose="020B0604020202020204" pitchFamily="34" charset="0"/>
              </a:rPr>
              <a:t>En el mercado de crédito (bancos):</a:t>
            </a:r>
          </a:p>
          <a:p>
            <a:pPr lvl="2">
              <a:lnSpc>
                <a:spcPct val="170000"/>
              </a:lnSpc>
              <a:tabLst>
                <a:tab pos="6907213" algn="l"/>
              </a:tabLst>
            </a:pPr>
            <a:r>
              <a:rPr lang="es-ES" sz="2900" b="0" i="0" u="none" strike="noStrike" baseline="0" dirty="0">
                <a:latin typeface="Arial" panose="020B0604020202020204" pitchFamily="34" charset="0"/>
              </a:rPr>
              <a:t>Los prestatarios con mayor riesgo de incumplimiento (</a:t>
            </a:r>
            <a:r>
              <a:rPr lang="es-ES" sz="2900" b="0" i="0" u="none" strike="noStrike" baseline="0" dirty="0" err="1">
                <a:latin typeface="Arial" panose="020B0604020202020204" pitchFamily="34" charset="0"/>
              </a:rPr>
              <a:t>p.e</a:t>
            </a:r>
            <a:r>
              <a:rPr lang="es-ES" sz="2900" b="0" i="0" u="none" strike="noStrike" baseline="0" dirty="0">
                <a:latin typeface="Arial" panose="020B0604020202020204" pitchFamily="34" charset="0"/>
              </a:rPr>
              <a:t>, empresas o personas con mal historial crediticio) son los más interesados en solicitar préstamos.</a:t>
            </a:r>
          </a:p>
          <a:p>
            <a:pPr lvl="2">
              <a:lnSpc>
                <a:spcPct val="170000"/>
              </a:lnSpc>
              <a:tabLst>
                <a:tab pos="6907213" algn="l"/>
              </a:tabLst>
            </a:pPr>
            <a:r>
              <a:rPr lang="es-ES" sz="2900" b="0" i="0" u="none" strike="noStrike" baseline="0" dirty="0">
                <a:latin typeface="Arial" panose="020B0604020202020204" pitchFamily="34" charset="0"/>
              </a:rPr>
              <a:t>Los prestatarios menos riesgosos, al percibir tasas de interés altas (para compensar el riesgo), pueden abandonar el mercado.</a:t>
            </a:r>
          </a:p>
          <a:p>
            <a:pPr lvl="2">
              <a:lnSpc>
                <a:spcPct val="170000"/>
              </a:lnSpc>
              <a:tabLst>
                <a:tab pos="6907213" algn="l"/>
              </a:tabLst>
            </a:pPr>
            <a:r>
              <a:rPr lang="es-ES" sz="2900" b="0" i="0" u="none" strike="noStrike" baseline="0" dirty="0">
                <a:latin typeface="Arial" panose="020B0604020202020204" pitchFamily="34" charset="0"/>
              </a:rPr>
              <a:t>Esto deja al banco con una cartera de clientes de alto riesgo, aumentando la probabilidad de impagos.</a:t>
            </a:r>
          </a:p>
          <a:p>
            <a:pPr lvl="1">
              <a:lnSpc>
                <a:spcPct val="170000"/>
              </a:lnSpc>
              <a:tabLst>
                <a:tab pos="6907213" algn="l"/>
              </a:tabLst>
            </a:pPr>
            <a:r>
              <a:rPr lang="es-ES" sz="3400" b="0" i="0" u="none" strike="noStrike" baseline="0" dirty="0">
                <a:latin typeface="Arial" panose="020B0604020202020204" pitchFamily="34" charset="0"/>
              </a:rPr>
              <a:t>En el mercado de seguros:</a:t>
            </a:r>
          </a:p>
          <a:p>
            <a:pPr lvl="2">
              <a:lnSpc>
                <a:spcPct val="170000"/>
              </a:lnSpc>
              <a:tabLst>
                <a:tab pos="6907213" algn="l"/>
              </a:tabLst>
            </a:pPr>
            <a:r>
              <a:rPr lang="es-ES" sz="2900" b="0" i="0" u="none" strike="noStrike" baseline="0" dirty="0">
                <a:latin typeface="Arial" panose="020B0604020202020204" pitchFamily="34" charset="0"/>
              </a:rPr>
              <a:t>Las personas con mayor probabilidad de sufrir un siniestro (por ejemplo, enfermos crónicos en seguros de salud) son las más incentivadas a contratar pólizas.</a:t>
            </a:r>
          </a:p>
          <a:p>
            <a:pPr lvl="2">
              <a:lnSpc>
                <a:spcPct val="170000"/>
              </a:lnSpc>
              <a:tabLst>
                <a:tab pos="6907213" algn="l"/>
              </a:tabLst>
            </a:pPr>
            <a:r>
              <a:rPr lang="es-ES" sz="2900" b="0" i="0" u="none" strike="noStrike" baseline="0" dirty="0">
                <a:latin typeface="Arial" panose="020B0604020202020204" pitchFamily="34" charset="0"/>
              </a:rPr>
              <a:t>Las personas más sanas pueden optar por no asegurarse si las primas son altas.</a:t>
            </a:r>
          </a:p>
          <a:p>
            <a:pPr lvl="2">
              <a:lnSpc>
                <a:spcPct val="170000"/>
              </a:lnSpc>
              <a:tabLst>
                <a:tab pos="6907213" algn="l"/>
              </a:tabLst>
            </a:pPr>
            <a:r>
              <a:rPr lang="es-ES" sz="2900" b="0" i="0" u="none" strike="noStrike" baseline="0" dirty="0">
                <a:latin typeface="Arial" panose="020B0604020202020204" pitchFamily="34" charset="0"/>
              </a:rPr>
              <a:t>Esto eleva el riesgo promedio de la cartera de la aseguradora, llevando a pérdidas potenciales.</a:t>
            </a:r>
            <a:endParaRPr lang="es-PE" sz="2300" dirty="0"/>
          </a:p>
        </p:txBody>
      </p:sp>
    </p:spTree>
    <p:extLst>
      <p:ext uri="{BB962C8B-B14F-4D97-AF65-F5344CB8AC3E}">
        <p14:creationId xmlns:p14="http://schemas.microsoft.com/office/powerpoint/2010/main" val="731381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9CF4E-936B-D689-F8C6-5479601E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E8E22-12EF-1E16-5B71-ABBC0305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80525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AF1266-7788-4BCC-98EC-34CC4C85A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613" y="806012"/>
            <a:ext cx="11287125" cy="507922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Información Asimétrica: Selección Adversa</a:t>
            </a:r>
          </a:p>
          <a:p>
            <a:pPr marL="457200" lvl="1" indent="0">
              <a:lnSpc>
                <a:spcPct val="170000"/>
              </a:lnSpc>
              <a:buNone/>
              <a:tabLst>
                <a:tab pos="6907213" algn="l"/>
              </a:tabLst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Consecuencias para los intermediarios:</a:t>
            </a:r>
          </a:p>
          <a:p>
            <a:pPr lvl="1">
              <a:lnSpc>
                <a:spcPct val="170000"/>
              </a:lnSpc>
              <a:tabLst>
                <a:tab pos="6907213" algn="l"/>
              </a:tabLst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Mayores costos:</a:t>
            </a:r>
          </a:p>
          <a:p>
            <a:pPr marL="719138" lvl="1" indent="0">
              <a:lnSpc>
                <a:spcPct val="170000"/>
              </a:lnSpc>
              <a:buNone/>
              <a:tabLst>
                <a:tab pos="6907213" algn="l"/>
              </a:tabLst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Deben aumentar tasas de interés o primas para cubrir el riesgo, lo que puede ahuyentar aún más a los clientes de bajo riesgo (empeorando el problema).</a:t>
            </a:r>
          </a:p>
          <a:p>
            <a:pPr lvl="1">
              <a:lnSpc>
                <a:spcPct val="170000"/>
              </a:lnSpc>
              <a:tabLst>
                <a:tab pos="6907213" algn="l"/>
              </a:tabLst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Fallos de mercado: </a:t>
            </a:r>
          </a:p>
          <a:p>
            <a:pPr marL="719138" lvl="1" indent="0">
              <a:lnSpc>
                <a:spcPct val="170000"/>
              </a:lnSpc>
              <a:buNone/>
              <a:tabLst>
                <a:tab pos="6907213" algn="l"/>
              </a:tabLst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En casos extremos, el mercado puede colapsar si los intermediarios no pueden distinguir entre buenos y malos riesgos.</a:t>
            </a:r>
            <a:endParaRPr lang="es-PE" sz="1900" dirty="0"/>
          </a:p>
        </p:txBody>
      </p:sp>
    </p:spTree>
    <p:extLst>
      <p:ext uri="{BB962C8B-B14F-4D97-AF65-F5344CB8AC3E}">
        <p14:creationId xmlns:p14="http://schemas.microsoft.com/office/powerpoint/2010/main" val="135578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55F1-4B6A-DE83-A1ED-14C3A369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C1A25-B91F-C846-A2D9-9A31C16A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492A86-B7B1-A24B-A1C3-BC66437BC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Riesgo Moral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1.Ocurre después de la operación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2.Riesgo que el deudor tenga incentivo de involucrarse en actividades “inmorales” haciendo más probable que no pague su deuda.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7666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24F9-ABF2-F76C-B054-4AF64417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71315-9514-CA40-1314-CEDC0E41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ABB3CA-7C27-1B20-2F45-9AAC5782A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Información asimétrica: Riesgo Moral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Riesgo moral (moral </a:t>
            </a:r>
            <a:r>
              <a:rPr lang="es-ES" sz="2800" b="0" i="0" u="none" strike="noStrike" baseline="0" dirty="0" err="1">
                <a:latin typeface="Arial" panose="020B0604020202020204" pitchFamily="34" charset="0"/>
              </a:rPr>
              <a:t>hazard</a:t>
            </a:r>
            <a:r>
              <a:rPr lang="es-ES" sz="2800" b="0" i="0" u="none" strike="noStrike" baseline="0" dirty="0">
                <a:latin typeface="Arial" panose="020B0604020202020204" pitchFamily="34" charset="0"/>
              </a:rPr>
              <a:t>), que es otro problema derivado de la información asimétrica, surge después de que se formaliza un acuerdo financiero. 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sz="2800" b="0" i="0" u="none" strike="noStrike" baseline="0" dirty="0">
                <a:latin typeface="Arial" panose="020B0604020202020204" pitchFamily="34" charset="0"/>
              </a:rPr>
              <a:t>Se refiere a la posibilidad de que una de las partes involucradas cambie su comportamiento de manera oportunista o menos responsable una vez que el contrato está en vigor, aumentando el riesgo para la otra parte.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7334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F847A-8550-ECA4-BC45-C762587F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6DDFE-D379-9E0A-0502-0ABC4E23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126342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4E8B03-A8CE-989A-B570-CFDAD23C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40" y="868078"/>
            <a:ext cx="11752230" cy="495879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1800" b="1" i="0" u="none" strike="noStrike" baseline="0" dirty="0">
                <a:latin typeface="Arial" panose="020B0604020202020204" pitchFamily="34" charset="0"/>
              </a:rPr>
              <a:t>Información asimétrica: Riesgo Moral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s-ES" sz="1800" b="0" i="0" u="none" strike="noStrike" baseline="0" dirty="0">
                <a:latin typeface="Arial" panose="020B0604020202020204" pitchFamily="34" charset="0"/>
              </a:rPr>
              <a:t>Cómo funciona el riesgo moral en los intermediarios financieros: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ES" sz="1800" b="0" i="0" u="none" strike="noStrike" baseline="0" dirty="0">
                <a:latin typeface="Arial" panose="020B0604020202020204" pitchFamily="34" charset="0"/>
              </a:rPr>
              <a:t>En el mercado de </a:t>
            </a:r>
            <a:r>
              <a:rPr lang="es-ES" sz="1800" b="1" i="0" u="none" strike="noStrike" baseline="0" dirty="0">
                <a:latin typeface="Arial" panose="020B0604020202020204" pitchFamily="34" charset="0"/>
              </a:rPr>
              <a:t>crédito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(bancos y préstamos):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sz="1800" b="0" i="0" u="none" strike="noStrike" baseline="0" dirty="0">
                <a:latin typeface="Arial" panose="020B0604020202020204" pitchFamily="34" charset="0"/>
              </a:rPr>
              <a:t>Un prestatario puede tomar decisiones más riesgosas (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ej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: invertir en proyectos especulativos) sabiendo que, si fracasa, el banco asumirá la mayor parte de la pérdida.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sz="1800" b="0" i="0" u="none" strike="noStrike" baseline="0" dirty="0">
                <a:latin typeface="Arial" panose="020B0604020202020204" pitchFamily="34" charset="0"/>
              </a:rPr>
              <a:t>Ej.: Una empresa que obtiene un préstamo para un proyecto "seguro" pero luego lo destina a operaciones de alto riesgo sin informar al banco.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ES" sz="1800" b="0" i="0" u="none" strike="noStrike" baseline="0" dirty="0">
                <a:latin typeface="Arial" panose="020B0604020202020204" pitchFamily="34" charset="0"/>
              </a:rPr>
              <a:t>En el mercado de </a:t>
            </a:r>
            <a:r>
              <a:rPr lang="es-ES" sz="1800" b="1" i="0" u="none" strike="noStrike" baseline="0" dirty="0">
                <a:latin typeface="Arial" panose="020B0604020202020204" pitchFamily="34" charset="0"/>
              </a:rPr>
              <a:t>seguros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: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sz="1800" b="0" i="0" u="none" strike="noStrike" baseline="0" dirty="0">
                <a:latin typeface="Arial" panose="020B0604020202020204" pitchFamily="34" charset="0"/>
              </a:rPr>
              <a:t>El asegurado puede volverse menos cuidadoso porque sabe que la aseguradora cubrirá los daños.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Ej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: Un conductor con seguro total podría manejar de manera más imprudente que alguien sin cobertura.</a:t>
            </a: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1581166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22E7-3DB7-0BB8-E80C-EA385F410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E070B-44B7-624B-DA8A-CEA7BC51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126342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F7396A-B7C3-44D9-159E-1273D33A2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40" y="868078"/>
            <a:ext cx="11752230" cy="4958790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2000" b="1" i="0" u="none" strike="noStrike" baseline="0" dirty="0">
                <a:latin typeface="Arial" panose="020B0604020202020204" pitchFamily="34" charset="0"/>
              </a:rPr>
              <a:t>Información asimétrica: Riesgo Moral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s-ES" sz="2000" b="0" i="0" u="none" strike="noStrike" baseline="0" dirty="0">
                <a:latin typeface="Arial" panose="020B0604020202020204" pitchFamily="34" charset="0"/>
              </a:rPr>
              <a:t>Consecuencias para los intermediarios:</a:t>
            </a:r>
          </a:p>
          <a:p>
            <a:pPr lvl="1">
              <a:lnSpc>
                <a:spcPct val="170000"/>
              </a:lnSpc>
            </a:pPr>
            <a:r>
              <a:rPr lang="es-ES" sz="2000" b="0" i="0" u="none" strike="noStrike" baseline="0" dirty="0">
                <a:latin typeface="Arial" panose="020B0604020202020204" pitchFamily="34" charset="0"/>
              </a:rPr>
              <a:t>Pérdidas imprevistas: </a:t>
            </a:r>
          </a:p>
          <a:p>
            <a:pPr marL="719138" lvl="1" indent="0">
              <a:lnSpc>
                <a:spcPct val="170000"/>
              </a:lnSpc>
              <a:buNone/>
            </a:pPr>
            <a:r>
              <a:rPr lang="es-ES" sz="2000" b="0" i="0" u="none" strike="noStrike" baseline="0" dirty="0">
                <a:latin typeface="Arial" panose="020B0604020202020204" pitchFamily="34" charset="0"/>
              </a:rPr>
              <a:t>Si los prestatarios o asegurados actúan con menor prudencia, aumentan las probabilidades de impagos o siniestros.</a:t>
            </a:r>
          </a:p>
          <a:p>
            <a:pPr lvl="1">
              <a:lnSpc>
                <a:spcPct val="170000"/>
              </a:lnSpc>
            </a:pPr>
            <a:r>
              <a:rPr lang="es-ES" sz="2000" b="0" i="0" u="none" strike="noStrike" baseline="0" dirty="0">
                <a:latin typeface="Arial" panose="020B0604020202020204" pitchFamily="34" charset="0"/>
              </a:rPr>
              <a:t>Aumento de costos: </a:t>
            </a:r>
          </a:p>
          <a:p>
            <a:pPr marL="719138" lvl="1" indent="0">
              <a:lnSpc>
                <a:spcPct val="170000"/>
              </a:lnSpc>
              <a:buNone/>
            </a:pPr>
            <a:r>
              <a:rPr lang="es-ES" sz="2000" b="0" i="0" u="none" strike="noStrike" baseline="0" dirty="0">
                <a:latin typeface="Arial" panose="020B0604020202020204" pitchFamily="34" charset="0"/>
              </a:rPr>
              <a:t>Los intermediarios deben elevar primas, tasas de interés o implementar controles, lo que puede reducir la eficiencia del mercado.</a:t>
            </a: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4171735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57714-99E5-09BC-E67C-CB54CA17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C8ADC-E6A4-D9AD-FA01-1A00C27B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126342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077002-09B8-F5D3-D55B-B8CF289B4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40" y="868078"/>
            <a:ext cx="11752230" cy="725488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2000" b="1" i="0" u="none" strike="noStrike" baseline="0" dirty="0">
                <a:latin typeface="Arial" panose="020B0604020202020204" pitchFamily="34" charset="0"/>
              </a:rPr>
              <a:t>Información asimétrica:</a:t>
            </a:r>
            <a:endParaRPr lang="es-PE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667A57-7E99-76F9-8987-EA44ACA1D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3" y="1609814"/>
            <a:ext cx="10741392" cy="353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1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765B-0202-4520-079C-084538E5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F5ABB-440A-7598-9F44-3E6042DB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DB063E-DD30-C701-C291-DD9792981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Reducción de riesgos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Creación de activos para el público de menor riesgo que sus inversiones (Transformación de riesgo)</a:t>
            </a:r>
          </a:p>
          <a:p>
            <a:pPr marL="895350" lvl="1" indent="-438150">
              <a:lnSpc>
                <a:spcPct val="170000"/>
              </a:lnSpc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Activos no perfectamente correlacionados (Diversificación de riesgos).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224818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789F-FBF2-6F69-996C-E88030EB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E7FD6-2992-9AE5-65A4-6C014372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PERÚ: INTERMEDIARIOS FINANCIEROS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AC3936-DA60-E2AF-F335-4CBD8220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Empresas del Sistema Financiero</a:t>
            </a:r>
          </a:p>
          <a:p>
            <a:pPr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Compañías de seguros</a:t>
            </a:r>
          </a:p>
          <a:p>
            <a:pPr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Fondos de pensiones</a:t>
            </a:r>
          </a:p>
          <a:p>
            <a:pPr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Fondos mutuos</a:t>
            </a:r>
          </a:p>
          <a:p>
            <a:pPr>
              <a:lnSpc>
                <a:spcPct val="170000"/>
              </a:lnSpc>
            </a:pPr>
            <a:r>
              <a:rPr lang="es-ES" sz="3200" b="0" i="0" u="none" strike="noStrike" baseline="0" dirty="0">
                <a:latin typeface="Arial" panose="020B0604020202020204" pitchFamily="34" charset="0"/>
              </a:rPr>
              <a:t>Fondos de inversión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42935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71F9-1FD6-2ABF-6554-F7C5CEE4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64D03-4E71-2DB6-FA49-06E73783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223619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Empresas de Operaciones Múltiples: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80C848-62FD-B5BA-DACC-6D7784EEA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6" y="946508"/>
            <a:ext cx="11287125" cy="4854217"/>
          </a:xfrm>
        </p:spPr>
        <p:txBody>
          <a:bodyPr>
            <a:noAutofit/>
          </a:bodyPr>
          <a:lstStyle/>
          <a:p>
            <a:pPr marL="360363" indent="-360363">
              <a:lnSpc>
                <a:spcPct val="170000"/>
              </a:lnSpc>
            </a:pPr>
            <a:r>
              <a:rPr lang="es-ES" sz="2200" b="0" i="0" u="none" strike="noStrike" baseline="0" dirty="0">
                <a:latin typeface="Arial" panose="020B0604020202020204" pitchFamily="34" charset="0"/>
              </a:rPr>
              <a:t>Empresa Bancaria.</a:t>
            </a:r>
          </a:p>
          <a:p>
            <a:pPr marL="360363" indent="-360363">
              <a:lnSpc>
                <a:spcPct val="170000"/>
              </a:lnSpc>
            </a:pPr>
            <a:r>
              <a:rPr lang="es-ES" sz="2200" b="0" i="0" u="none" strike="noStrike" baseline="0" dirty="0">
                <a:latin typeface="Arial" panose="020B0604020202020204" pitchFamily="34" charset="0"/>
              </a:rPr>
              <a:t>Empresa Financiera.</a:t>
            </a:r>
          </a:p>
          <a:p>
            <a:pPr marL="360363" indent="-360363">
              <a:lnSpc>
                <a:spcPct val="170000"/>
              </a:lnSpc>
            </a:pPr>
            <a:r>
              <a:rPr lang="es-ES" sz="2200" b="0" i="0" u="none" strike="noStrike" baseline="0" dirty="0">
                <a:latin typeface="Arial" panose="020B0604020202020204" pitchFamily="34" charset="0"/>
              </a:rPr>
              <a:t>Caja Municipal de Ahorro y Crédito.</a:t>
            </a:r>
          </a:p>
          <a:p>
            <a:pPr marL="360363" indent="-360363">
              <a:lnSpc>
                <a:spcPct val="170000"/>
              </a:lnSpc>
            </a:pPr>
            <a:r>
              <a:rPr lang="es-ES" sz="2200" b="0" i="0" u="none" strike="noStrike" baseline="0" dirty="0">
                <a:latin typeface="Arial" panose="020B0604020202020204" pitchFamily="34" charset="0"/>
              </a:rPr>
              <a:t>Caja Municipal de Crédito Popular.</a:t>
            </a:r>
          </a:p>
          <a:p>
            <a:pPr marL="360363" indent="-360363">
              <a:lnSpc>
                <a:spcPct val="170000"/>
              </a:lnSpc>
            </a:pPr>
            <a:r>
              <a:rPr lang="es-ES" sz="2200" b="0" i="0" u="none" strike="noStrike" baseline="0" dirty="0">
                <a:latin typeface="Arial" panose="020B0604020202020204" pitchFamily="34" charset="0"/>
              </a:rPr>
              <a:t>Caja Rural de Ahorro y Crédito.</a:t>
            </a:r>
          </a:p>
          <a:p>
            <a:pPr marL="360363" indent="-360363">
              <a:lnSpc>
                <a:spcPct val="170000"/>
              </a:lnSpc>
            </a:pPr>
            <a:r>
              <a:rPr lang="es-ES" sz="2200" b="0" i="0" u="none" strike="noStrike" baseline="0" dirty="0">
                <a:latin typeface="Arial" panose="020B0604020202020204" pitchFamily="34" charset="0"/>
              </a:rPr>
              <a:t>Entidad de Desarrollo de la Pequeña y Micro Empresa.</a:t>
            </a:r>
          </a:p>
          <a:p>
            <a:pPr marL="360363" indent="-360363">
              <a:lnSpc>
                <a:spcPct val="170000"/>
              </a:lnSpc>
            </a:pPr>
            <a:r>
              <a:rPr lang="es-ES" sz="2200" b="0" i="0" u="none" strike="noStrike" baseline="0" dirty="0">
                <a:latin typeface="Arial" panose="020B0604020202020204" pitchFamily="34" charset="0"/>
              </a:rPr>
              <a:t>Cooperativas de Ahorro y Crédito autorizadas a captar recursos del público.</a:t>
            </a:r>
            <a:endParaRPr lang="es-PE" sz="2200" dirty="0"/>
          </a:p>
        </p:txBody>
      </p:sp>
    </p:spTree>
    <p:extLst>
      <p:ext uri="{BB962C8B-B14F-4D97-AF65-F5344CB8AC3E}">
        <p14:creationId xmlns:p14="http://schemas.microsoft.com/office/powerpoint/2010/main" val="399154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8BCC-6D1B-DD62-551A-3EDD03F9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1E557-83A6-1CAA-0189-06D2C6ED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223619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Empresas de Operaciones Múltiples: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215D34-A34B-409D-D91E-0466124D6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6" y="946508"/>
            <a:ext cx="11287125" cy="4854217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2400" b="0" i="0" u="none" strike="noStrike" baseline="0" dirty="0">
                <a:latin typeface="Arial" panose="020B0604020202020204" pitchFamily="34" charset="0"/>
              </a:rPr>
              <a:t>Casos especiales: </a:t>
            </a:r>
          </a:p>
          <a:p>
            <a:pPr lvl="1">
              <a:lnSpc>
                <a:spcPct val="170000"/>
              </a:lnSpc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BCRP, </a:t>
            </a:r>
          </a:p>
          <a:p>
            <a:pPr lvl="1">
              <a:lnSpc>
                <a:spcPct val="170000"/>
              </a:lnSpc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BN y </a:t>
            </a:r>
          </a:p>
          <a:p>
            <a:pPr lvl="1">
              <a:lnSpc>
                <a:spcPct val="170000"/>
              </a:lnSpc>
            </a:pPr>
            <a:r>
              <a:rPr lang="es-ES" b="0" i="0" u="none" strike="noStrike" baseline="0" dirty="0">
                <a:latin typeface="Arial" panose="020B0604020202020204" pitchFamily="34" charset="0"/>
              </a:rPr>
              <a:t>COFIDE.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56906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C00B-B2B4-3CEF-1DE6-3589DF11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A1C01-FA4C-09BC-3343-99337DD1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223619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Mercados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6144C-EB26-54CC-4285-7777DB84F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4" y="946508"/>
            <a:ext cx="11778342" cy="4854217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Activos más conocidos: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1. Acciones: </a:t>
            </a:r>
          </a:p>
          <a:p>
            <a:pPr marL="622300" indent="-349250">
              <a:lnSpc>
                <a:spcPct val="150000"/>
              </a:lnSpc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Representa la propiedad parcial de una corporación; da el derecho a votar en ciertas decisiones corporativas y participar de las ganancias.</a:t>
            </a:r>
          </a:p>
          <a:p>
            <a:pPr marL="622300" indent="-349250">
              <a:lnSpc>
                <a:spcPct val="150000"/>
              </a:lnSpc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Constituye un activo financiero para el propietario y un pasivo financiero para el emisor o corporación</a:t>
            </a:r>
          </a:p>
        </p:txBody>
      </p:sp>
    </p:spTree>
    <p:extLst>
      <p:ext uri="{BB962C8B-B14F-4D97-AF65-F5344CB8AC3E}">
        <p14:creationId xmlns:p14="http://schemas.microsoft.com/office/powerpoint/2010/main" val="731177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65F4-D283-6685-10BF-18BC7679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568C1-7387-A993-25BC-D721B3B79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223619"/>
            <a:ext cx="11287125" cy="725488"/>
          </a:xfrm>
        </p:spPr>
        <p:txBody>
          <a:bodyPr>
            <a:normAutofit/>
          </a:bodyPr>
          <a:lstStyle/>
          <a:p>
            <a:r>
              <a:rPr lang="es-ES" dirty="0"/>
              <a:t>Mercados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7B51D1-433E-1180-27C4-7EA859222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4" y="946508"/>
            <a:ext cx="11778342" cy="4854217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Activos más conocidos: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2. Bonos: </a:t>
            </a:r>
          </a:p>
          <a:p>
            <a:pPr marL="622300" indent="-349250">
              <a:lnSpc>
                <a:spcPct val="150000"/>
              </a:lnSpc>
              <a:tabLst>
                <a:tab pos="719138" algn="l"/>
              </a:tabLst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Emisor promete pagar una determinada cantidad de dinero (más intereses) en reconocimiento de préstamo. </a:t>
            </a:r>
          </a:p>
          <a:p>
            <a:pPr marL="622300" indent="-349250">
              <a:lnSpc>
                <a:spcPct val="150000"/>
              </a:lnSpc>
              <a:tabLst>
                <a:tab pos="719138" algn="l"/>
              </a:tabLst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ArialNarrow"/>
              </a:rPr>
              <a:t>Es un activo financiero para el tenedor (prestamista-poseedor) y un pasivo financiero (deuda) para el emisor (prestatario-corporación).</a:t>
            </a:r>
            <a:endParaRPr lang="es-PE" sz="2200" dirty="0"/>
          </a:p>
        </p:txBody>
      </p:sp>
    </p:spTree>
    <p:extLst>
      <p:ext uri="{BB962C8B-B14F-4D97-AF65-F5344CB8AC3E}">
        <p14:creationId xmlns:p14="http://schemas.microsoft.com/office/powerpoint/2010/main" val="522669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E342-CE4E-8AE3-B755-53B032A1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06291-0EF3-AAAC-4EAB-8B63872B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223619"/>
            <a:ext cx="11287125" cy="725488"/>
          </a:xfrm>
        </p:spPr>
        <p:txBody>
          <a:bodyPr>
            <a:normAutofit fontScale="90000"/>
          </a:bodyPr>
          <a:lstStyle/>
          <a:p>
            <a:r>
              <a:rPr lang="es-ES" dirty="0"/>
              <a:t>PERÚ: FINANCIAMIENTO DEL SECTOR PRIVADO EN EL MERCADO DE CAPITALES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0D76B-C584-7A97-B79D-118578837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6" y="1092423"/>
            <a:ext cx="11287125" cy="165182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ArialNarrow"/>
              </a:rPr>
              <a:t>En los últimos años se ha incrementado el número de empresas que han acudido al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Narrow"/>
              </a:rPr>
              <a:t>MdK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Narrow"/>
              </a:rPr>
              <a:t> nacional para obtener fondos para capital de trabajo, financiar proyectos de larga maduración o modificar los plazos de sus deudas.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769292-AA06-6CF6-AAF5-DCE6A88D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436" y="2744249"/>
            <a:ext cx="7559986" cy="397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75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0771-C888-8F53-A0CF-278B89A9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AFD42-C4F4-C2D7-1369-BE27A17B0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223619"/>
            <a:ext cx="11287125" cy="725488"/>
          </a:xfrm>
        </p:spPr>
        <p:txBody>
          <a:bodyPr>
            <a:normAutofit fontScale="90000"/>
          </a:bodyPr>
          <a:lstStyle/>
          <a:p>
            <a:r>
              <a:rPr lang="es-ES" dirty="0"/>
              <a:t>PERÚ: FINANCIAMIENTO DEL SECTOR PRIVADO EN EL MERCADO DE CAPITALES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3CEAD0-95F8-FC31-9FD9-DD0FD460D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7" y="1185994"/>
            <a:ext cx="11287125" cy="725488"/>
          </a:xfrm>
        </p:spPr>
        <p:txBody>
          <a:bodyPr>
            <a:noAutofit/>
          </a:bodyPr>
          <a:lstStyle/>
          <a:p>
            <a:pPr algn="l"/>
            <a:r>
              <a:rPr lang="es-ES" sz="2400" b="0" i="0" u="none" strike="noStrike" baseline="0" dirty="0">
                <a:solidFill>
                  <a:srgbClr val="000000"/>
                </a:solidFill>
                <a:latin typeface="ArialNarrow"/>
              </a:rPr>
              <a:t>Emisión en soles ha venido incrementándose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A57BCA-442C-9DB0-BEE7-AA9C7BD6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11" y="1911483"/>
            <a:ext cx="7273856" cy="44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63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92E9-3B0A-E6F8-203F-F4E5F4B9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47BD0-6CEC-567C-C284-AC54C372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223619"/>
            <a:ext cx="11287125" cy="725488"/>
          </a:xfrm>
        </p:spPr>
        <p:txBody>
          <a:bodyPr>
            <a:normAutofit fontScale="90000"/>
          </a:bodyPr>
          <a:lstStyle/>
          <a:p>
            <a:r>
              <a:rPr lang="es-ES" dirty="0"/>
              <a:t>PERÚ: FINANCIAMIENTO DEL SECTOR PRIVADO EN EL MERCADO DE CAPITALES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A59355-C82E-40CD-DEEF-41CE49C7E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6" y="1189421"/>
            <a:ext cx="11287125" cy="871406"/>
          </a:xfrm>
        </p:spPr>
        <p:txBody>
          <a:bodyPr>
            <a:noAutofit/>
          </a:bodyPr>
          <a:lstStyle/>
          <a:p>
            <a:pPr algn="l"/>
            <a:r>
              <a:rPr lang="es-ES" sz="2400" b="0" i="0" u="none" strike="noStrike" baseline="0" dirty="0">
                <a:solidFill>
                  <a:srgbClr val="000000"/>
                </a:solidFill>
                <a:latin typeface="ArialNarrow"/>
              </a:rPr>
              <a:t>Los plazos se han extendido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9FF50E-5011-7291-080C-7A9DA6177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67" y="1625124"/>
            <a:ext cx="8017297" cy="473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74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1E5AF-97ED-1D79-EF4A-19F0B633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40B90A-33F3-A5CE-B155-33CCB5C2D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1354" y="1354137"/>
            <a:ext cx="11434396" cy="4232275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s-PE" sz="5400" b="1" dirty="0"/>
              <a:t>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3829637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5A57-E37C-E835-6869-EF4FD4A31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8" y="556885"/>
            <a:ext cx="11287125" cy="725488"/>
          </a:xfrm>
        </p:spPr>
        <p:txBody>
          <a:bodyPr>
            <a:normAutofit fontScale="90000"/>
          </a:bodyPr>
          <a:lstStyle/>
          <a:p>
            <a:r>
              <a:rPr lang="en-US" dirty="0"/>
              <a:t>TRANSFORMACION DE LO APRENDIDO: ACTIVIDAD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638DC-FB63-0725-1659-100D7F9D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49" y="1308349"/>
            <a:ext cx="11287125" cy="4245987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Desarrollar sistema financiero</a:t>
            </a:r>
            <a:endParaRPr lang="en-US" dirty="0"/>
          </a:p>
        </p:txBody>
      </p:sp>
      <p:sp>
        <p:nvSpPr>
          <p:cNvPr id="4" name="Flowchart: Connector 4">
            <a:extLst>
              <a:ext uri="{FF2B5EF4-FFF2-40B4-BE49-F238E27FC236}">
                <a16:creationId xmlns:a16="http://schemas.microsoft.com/office/drawing/2014/main" id="{956176B5-8344-18F0-C8AA-89EC95A320BE}"/>
              </a:ext>
            </a:extLst>
          </p:cNvPr>
          <p:cNvSpPr/>
          <p:nvPr/>
        </p:nvSpPr>
        <p:spPr>
          <a:xfrm>
            <a:off x="639727" y="6378220"/>
            <a:ext cx="750923" cy="479780"/>
          </a:xfrm>
          <a:prstGeom prst="rect">
            <a:avLst/>
          </a:prstGeom>
          <a:solidFill>
            <a:srgbClr val="FF0000"/>
          </a:solidFill>
          <a:ln>
            <a:solidFill>
              <a:srgbClr val="FF3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797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450B-4FE3-867A-795E-B7A96625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A225C-A424-4966-6AB2-72BA51CA2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49" y="1306006"/>
            <a:ext cx="11287125" cy="4245987"/>
          </a:xfrm>
        </p:spPr>
        <p:txBody>
          <a:bodyPr>
            <a:normAutofit/>
          </a:bodyPr>
          <a:lstStyle/>
          <a:p>
            <a:pPr algn="just"/>
            <a:r>
              <a:rPr lang="es-PE" sz="2400" kern="1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Cecchetti</a:t>
            </a:r>
            <a:r>
              <a:rPr lang="es-PE" sz="2400" kern="1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S. and </a:t>
            </a:r>
            <a:r>
              <a:rPr lang="es-PE" sz="2400" kern="1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Shoenholtz</a:t>
            </a:r>
            <a:r>
              <a:rPr lang="es-PE" sz="2400" kern="1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, K. (2011). </a:t>
            </a:r>
            <a:r>
              <a:rPr lang="es-PE" sz="2400" kern="1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Chapter</a:t>
            </a:r>
            <a:r>
              <a:rPr lang="es-PE" sz="2400" kern="1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2 and 3. In Money, </a:t>
            </a:r>
            <a:r>
              <a:rPr lang="es-PE" sz="2400" kern="1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Banking</a:t>
            </a:r>
            <a:r>
              <a:rPr lang="es-PE" sz="2400" kern="1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and </a:t>
            </a:r>
            <a:r>
              <a:rPr lang="es-PE" sz="2400" kern="1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Financial</a:t>
            </a:r>
            <a:r>
              <a:rPr lang="es-PE" sz="2400" kern="1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 </a:t>
            </a:r>
            <a:r>
              <a:rPr lang="es-PE" sz="2400" kern="1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Markets</a:t>
            </a:r>
            <a:r>
              <a:rPr lang="es-PE" sz="2400" kern="1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. Mac Graw Hill.</a:t>
            </a:r>
          </a:p>
          <a:p>
            <a:pPr algn="just"/>
            <a:r>
              <a:rPr lang="es-PE" sz="2400" kern="1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Verdana" panose="020B0604030504040204" pitchFamily="34" charset="0"/>
              </a:rPr>
              <a:t>Fernández-Baca, J. (2008). El sistema financiero y la estructura de financiamiento de las empresas. En Teoría y Política Monetaria (pp. 41-64). Universidad del Pacífico.</a:t>
            </a:r>
          </a:p>
          <a:p>
            <a:pPr algn="just"/>
            <a:r>
              <a:rPr lang="en-US" sz="2400" dirty="0"/>
              <a:t>Mishkin, F. (2004). An Overview of the Financial System. In The Economics of Money, Banking and Financial Markets. Pearson</a:t>
            </a:r>
          </a:p>
        </p:txBody>
      </p:sp>
      <p:sp>
        <p:nvSpPr>
          <p:cNvPr id="4" name="Flowchart: Connector 4">
            <a:extLst>
              <a:ext uri="{FF2B5EF4-FFF2-40B4-BE49-F238E27FC236}">
                <a16:creationId xmlns:a16="http://schemas.microsoft.com/office/drawing/2014/main" id="{05D2E9C4-710C-3595-5C45-4552423DBCB9}"/>
              </a:ext>
            </a:extLst>
          </p:cNvPr>
          <p:cNvSpPr/>
          <p:nvPr/>
        </p:nvSpPr>
        <p:spPr>
          <a:xfrm>
            <a:off x="639727" y="6378220"/>
            <a:ext cx="750923" cy="479780"/>
          </a:xfrm>
          <a:prstGeom prst="rect">
            <a:avLst/>
          </a:prstGeom>
          <a:solidFill>
            <a:srgbClr val="FF0000"/>
          </a:solidFill>
          <a:ln>
            <a:solidFill>
              <a:srgbClr val="FF3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19182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175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PREGRADO_CLASES" id="{C905DE7B-0944-487E-8FF4-DF3A648FEF7D}" vid="{77B1F14D-6E40-4904-BD8C-95B5FE2954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PLANTILLA_PREGRADO_CLASES</Template>
  <TotalTime>266</TotalTime>
  <Words>1288</Words>
  <Application>Microsoft Office PowerPoint</Application>
  <PresentationFormat>Panorámica</PresentationFormat>
  <Paragraphs>131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9" baseType="lpstr">
      <vt:lpstr>Aptos</vt:lpstr>
      <vt:lpstr>Arial</vt:lpstr>
      <vt:lpstr>ArialNarrow</vt:lpstr>
      <vt:lpstr>Calibri</vt:lpstr>
      <vt:lpstr>Calibri Light</vt:lpstr>
      <vt:lpstr>Times</vt:lpstr>
      <vt:lpstr>Verdana</vt:lpstr>
      <vt:lpstr>Tema de Office</vt:lpstr>
      <vt:lpstr>Presentación de PowerPoint</vt:lpstr>
      <vt:lpstr>Presentación de PowerPoint</vt:lpstr>
      <vt:lpstr>FUNCIÓN del BCRP: Política Monetaria y Estabilidad Financiera</vt:lpstr>
      <vt:lpstr>Presentación de PowerPoint</vt:lpstr>
      <vt:lpstr>Diagrama de flujos fondos</vt:lpstr>
      <vt:lpstr>FUNCIÓN DE LOS MERCADOS FINANCIEROS</vt:lpstr>
      <vt:lpstr>CLASIFICACIÓN DE LOS MERCADOS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INTERMEDIARIOS FINANCIEROS</vt:lpstr>
      <vt:lpstr>PERÚ: INTERMEDIARIOS FINANCIEROS</vt:lpstr>
      <vt:lpstr>Empresas de Operaciones Múltiples:</vt:lpstr>
      <vt:lpstr>Empresas de Operaciones Múltiples:</vt:lpstr>
      <vt:lpstr>Mercados de Capital</vt:lpstr>
      <vt:lpstr>Mercados de Capital</vt:lpstr>
      <vt:lpstr>PERÚ: FINANCIAMIENTO DEL SECTOR PRIVADO EN EL MERCADO DE CAPITALES</vt:lpstr>
      <vt:lpstr>PERÚ: FINANCIAMIENTO DEL SECTOR PRIVADO EN EL MERCADO DE CAPITALES</vt:lpstr>
      <vt:lpstr>PERÚ: FINANCIAMIENTO DEL SECTOR PRIVADO EN EL MERCADO DE CAPITALES</vt:lpstr>
      <vt:lpstr>Presentación de PowerPoint</vt:lpstr>
      <vt:lpstr>TRANSFORMACION DE LO APRENDIDO: ACTIVIDAD</vt:lpstr>
      <vt:lpstr>REFERENCIAS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Azanero Saona, Jose  Manuel</dc:creator>
  <cp:lastModifiedBy>Azanero Saona, Jose  Manuel</cp:lastModifiedBy>
  <cp:revision>8</cp:revision>
  <dcterms:created xsi:type="dcterms:W3CDTF">2025-03-28T21:58:16Z</dcterms:created>
  <dcterms:modified xsi:type="dcterms:W3CDTF">2025-04-07T21:29:33Z</dcterms:modified>
</cp:coreProperties>
</file>