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96" r:id="rId3"/>
    <p:sldId id="399" r:id="rId4"/>
    <p:sldId id="400" r:id="rId5"/>
    <p:sldId id="334" r:id="rId6"/>
    <p:sldId id="551" r:id="rId7"/>
    <p:sldId id="552" r:id="rId8"/>
    <p:sldId id="585" r:id="rId9"/>
    <p:sldId id="460" r:id="rId10"/>
    <p:sldId id="577" r:id="rId11"/>
    <p:sldId id="583" r:id="rId12"/>
    <p:sldId id="576" r:id="rId13"/>
    <p:sldId id="578" r:id="rId14"/>
    <p:sldId id="579" r:id="rId15"/>
    <p:sldId id="572" r:id="rId16"/>
    <p:sldId id="580" r:id="rId17"/>
    <p:sldId id="581" r:id="rId18"/>
    <p:sldId id="582" r:id="rId19"/>
    <p:sldId id="564" r:id="rId20"/>
    <p:sldId id="584" r:id="rId21"/>
    <p:sldId id="586" r:id="rId22"/>
    <p:sldId id="570" r:id="rId23"/>
    <p:sldId id="573" r:id="rId24"/>
    <p:sldId id="587" r:id="rId25"/>
    <p:sldId id="557" r:id="rId26"/>
    <p:sldId id="588" r:id="rId27"/>
    <p:sldId id="589" r:id="rId28"/>
    <p:sldId id="590" r:id="rId29"/>
    <p:sldId id="591" r:id="rId30"/>
    <p:sldId id="575" r:id="rId31"/>
    <p:sldId id="553" r:id="rId32"/>
    <p:sldId id="264" r:id="rId33"/>
    <p:sldId id="554" r:id="rId34"/>
    <p:sldId id="401" r:id="rId35"/>
  </p:sldIdLst>
  <p:sldSz cx="12192000" cy="6858000"/>
  <p:notesSz cx="6669088" cy="9928225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7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7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7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7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0DA1C512-E15B-4AA6-9E97-5A242A7B6ACF}">
          <p14:sldIdLst>
            <p14:sldId id="256"/>
            <p14:sldId id="296"/>
            <p14:sldId id="399"/>
            <p14:sldId id="400"/>
            <p14:sldId id="334"/>
            <p14:sldId id="551"/>
            <p14:sldId id="552"/>
          </p14:sldIdLst>
        </p14:section>
        <p14:section name="Modelo básico" id="{347623AB-4A6E-405D-B37F-FAEE9B516A41}">
          <p14:sldIdLst>
            <p14:sldId id="585"/>
            <p14:sldId id="460"/>
            <p14:sldId id="577"/>
            <p14:sldId id="583"/>
            <p14:sldId id="576"/>
            <p14:sldId id="578"/>
            <p14:sldId id="579"/>
            <p14:sldId id="572"/>
            <p14:sldId id="580"/>
            <p14:sldId id="581"/>
            <p14:sldId id="582"/>
          </p14:sldIdLst>
        </p14:section>
        <p14:section name="La Dmda Agregada" id="{FD907B87-1470-4101-B70D-A0512983B4D1}">
          <p14:sldIdLst>
            <p14:sldId id="564"/>
            <p14:sldId id="584"/>
            <p14:sldId id="586"/>
          </p14:sldIdLst>
        </p14:section>
        <p14:section name="Regla de Taylor" id="{8E1BBC58-5326-41A0-BC7C-061F13016FCE}">
          <p14:sldIdLst>
            <p14:sldId id="570"/>
            <p14:sldId id="573"/>
            <p14:sldId id="587"/>
          </p14:sldIdLst>
        </p14:section>
        <p14:section name="Regla Optima" id="{45CDCC01-DD3E-4B71-8727-D34104A17FBC}">
          <p14:sldIdLst>
            <p14:sldId id="557"/>
            <p14:sldId id="588"/>
            <p14:sldId id="589"/>
            <p14:sldId id="590"/>
            <p14:sldId id="591"/>
          </p14:sldIdLst>
        </p14:section>
        <p14:section name="Aplicaciones" id="{013115A0-7205-4FD6-A937-05B1AC5DFC82}">
          <p14:sldIdLst>
            <p14:sldId id="575"/>
          </p14:sldIdLst>
        </p14:section>
        <p14:section name="Sección sin título" id="{04703B32-602A-4C88-98E4-36C8864334EF}">
          <p14:sldIdLst>
            <p14:sldId id="553"/>
            <p14:sldId id="264"/>
            <p14:sldId id="554"/>
            <p14:sldId id="4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008000"/>
    <a:srgbClr val="CCCC00"/>
    <a:srgbClr val="CC00CC"/>
    <a:srgbClr val="FF3399"/>
    <a:srgbClr val="FFCC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1" autoAdjust="0"/>
    <p:restoredTop sz="94660" autoAdjust="0"/>
  </p:normalViewPr>
  <p:slideViewPr>
    <p:cSldViewPr>
      <p:cViewPr varScale="1">
        <p:scale>
          <a:sx n="79" d="100"/>
          <a:sy n="79" d="100"/>
        </p:scale>
        <p:origin x="1003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664" y="-108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4">
            <a:extLst>
              <a:ext uri="{FF2B5EF4-FFF2-40B4-BE49-F238E27FC236}">
                <a16:creationId xmlns:a16="http://schemas.microsoft.com/office/drawing/2014/main" id="{4721D659-003A-19CA-2748-BE41C720674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ADE5EB8D-167A-5801-54D9-62797E19D81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177356B-AB19-48C6-B18A-9D9500D29BDA}" type="slidenum">
              <a:rPr lang="es-ES" altLang="es-PE"/>
              <a:pPr>
                <a:defRPr/>
              </a:pPr>
              <a:t>‹Nº›</a:t>
            </a:fld>
            <a:endParaRPr lang="es-ES" altLang="es-PE"/>
          </a:p>
        </p:txBody>
      </p:sp>
      <p:sp>
        <p:nvSpPr>
          <p:cNvPr id="77832" name="Rectangle 8">
            <a:extLst>
              <a:ext uri="{FF2B5EF4-FFF2-40B4-BE49-F238E27FC236}">
                <a16:creationId xmlns:a16="http://schemas.microsoft.com/office/drawing/2014/main" id="{8836619A-F1F4-89D4-7D08-48D786D1F4D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7833" name="Rectangle 9">
            <a:extLst>
              <a:ext uri="{FF2B5EF4-FFF2-40B4-BE49-F238E27FC236}">
                <a16:creationId xmlns:a16="http://schemas.microsoft.com/office/drawing/2014/main" id="{5C9ED19D-BEB2-678C-0ABF-E751F42BF0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93700" y="323850"/>
            <a:ext cx="48704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900" i="1">
                <a:latin typeface="Arial" charset="0"/>
              </a:defRPr>
            </a:lvl1pPr>
          </a:lstStyle>
          <a:p>
            <a:pPr>
              <a:defRPr/>
            </a:pPr>
            <a:r>
              <a:rPr lang="es-PE"/>
              <a:t>EL MODELO IS - LM: LOS MERCADOS DE BIENES Y FINANCIEROS</a:t>
            </a:r>
          </a:p>
        </p:txBody>
      </p:sp>
      <p:sp>
        <p:nvSpPr>
          <p:cNvPr id="22534" name="Line 10">
            <a:extLst>
              <a:ext uri="{FF2B5EF4-FFF2-40B4-BE49-F238E27FC236}">
                <a16:creationId xmlns:a16="http://schemas.microsoft.com/office/drawing/2014/main" id="{D6A285CE-379E-32E4-2E40-8B4CC1D53E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600" y="546100"/>
            <a:ext cx="5878513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55FA3591-1776-2030-5027-ACECBC0FED0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s-ES"/>
              <a:t>EL MODELO IS - LM: LOS MERCADOS DE BIENES Y FINANCIEROS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4DCAC32C-9C68-BF6F-BABE-F62454B326F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3FF423E6-FEE5-92BD-FBCA-EEF5FD7DB97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F7A22A17-1E2E-7AA7-6D71-1FACCD3946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6463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0EC9C255-130A-8180-D010-E6E1738BF2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D408D129-681C-FDAF-FF86-10B6A81852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D6B612E-FE54-4F77-9F98-0A03C252F9FB}" type="slidenum">
              <a:rPr lang="es-ES" altLang="es-PE"/>
              <a:pPr>
                <a:defRPr/>
              </a:pPr>
              <a:t>‹Nº›</a:t>
            </a:fld>
            <a:endParaRPr lang="es-ES" alt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Google Shape;196;p1:notes">
            <a:extLst>
              <a:ext uri="{FF2B5EF4-FFF2-40B4-BE49-F238E27FC236}">
                <a16:creationId xmlns:a16="http://schemas.microsoft.com/office/drawing/2014/main" id="{A0BEBC2E-9D28-DF92-4A2D-01B0C5A6592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66725" y="692150"/>
            <a:ext cx="6151563" cy="346075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  <p:sp>
        <p:nvSpPr>
          <p:cNvPr id="24579" name="Google Shape;197;p1:notes">
            <a:extLst>
              <a:ext uri="{FF2B5EF4-FFF2-40B4-BE49-F238E27FC236}">
                <a16:creationId xmlns:a16="http://schemas.microsoft.com/office/drawing/2014/main" id="{06E7E2B9-AF14-6917-47EB-09F2D82E61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384675"/>
            <a:ext cx="566896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53" tIns="93153" rIns="93153" bIns="93153"/>
          <a:lstStyle/>
          <a:p>
            <a:pPr>
              <a:spcBef>
                <a:spcPct val="0"/>
              </a:spcBef>
              <a:buSzPts val="1100"/>
            </a:pPr>
            <a:endParaRPr lang="es-PE" altLang="es-P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Marcador de imagen de diapositiva 1">
            <a:extLst>
              <a:ext uri="{FF2B5EF4-FFF2-40B4-BE49-F238E27FC236}">
                <a16:creationId xmlns:a16="http://schemas.microsoft.com/office/drawing/2014/main" id="{120196F7-F4D3-06B0-8EB0-0A27B19D4C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Marcador de notas 2">
            <a:extLst>
              <a:ext uri="{FF2B5EF4-FFF2-40B4-BE49-F238E27FC236}">
                <a16:creationId xmlns:a16="http://schemas.microsoft.com/office/drawing/2014/main" id="{66E9EEE7-85E9-52A0-8124-AB5512646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PE" altLang="es-PE"/>
          </a:p>
        </p:txBody>
      </p:sp>
      <p:sp>
        <p:nvSpPr>
          <p:cNvPr id="28676" name="Marcador de número de diapositiva 3">
            <a:extLst>
              <a:ext uri="{FF2B5EF4-FFF2-40B4-BE49-F238E27FC236}">
                <a16:creationId xmlns:a16="http://schemas.microsoft.com/office/drawing/2014/main" id="{316EE2D4-4957-F757-EF85-89E3D04E6E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7255CA-B4FF-440F-8430-253832AC7578}" type="slidenum">
              <a:rPr lang="es-ES" altLang="es-PE" sz="1200" smtClean="0">
                <a:latin typeface="Times New Roman" panose="02020603050405020304" pitchFamily="18" charset="0"/>
              </a:rPr>
              <a:pPr/>
              <a:t>4</a:t>
            </a:fld>
            <a:endParaRPr lang="es-ES" altLang="es-PE" sz="1200">
              <a:latin typeface="Times New Roman" panose="02020603050405020304" pitchFamily="18" charset="0"/>
            </a:endParaRPr>
          </a:p>
        </p:txBody>
      </p:sp>
      <p:sp>
        <p:nvSpPr>
          <p:cNvPr id="28677" name="Marcador de encabezado 4">
            <a:extLst>
              <a:ext uri="{FF2B5EF4-FFF2-40B4-BE49-F238E27FC236}">
                <a16:creationId xmlns:a16="http://schemas.microsoft.com/office/drawing/2014/main" id="{75E5FA43-92E2-E6CE-8B95-B341A137510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PE" altLang="es-PE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83351-3025-6FEC-B034-987BD6E84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EEB2D2AD-9B70-279A-D740-C6E2836A77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07C9D3-973F-4891-B19C-C1A36DEDC0AB}" type="slidenum">
              <a:rPr lang="en-US" altLang="es-PE" sz="1200" smtClean="0"/>
              <a:pPr/>
              <a:t>25</a:t>
            </a:fld>
            <a:endParaRPr lang="en-US" altLang="es-PE" sz="12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FDFFA67E-3CEE-B9FA-A71D-823642422D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F236DF62-5330-DC8E-17B1-D84B1E576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325354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9413-A4EE-BB36-D524-53B9EF90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7B81CDB8-CC99-1775-4812-5BB5D369BB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07C9D3-973F-4891-B19C-C1A36DEDC0AB}" type="slidenum">
              <a:rPr lang="en-US" altLang="es-PE" sz="1200" smtClean="0"/>
              <a:pPr/>
              <a:t>26</a:t>
            </a:fld>
            <a:endParaRPr lang="en-US" altLang="es-PE" sz="12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2547B919-D411-A817-B2C8-983002441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79358E09-CEDD-7B2B-6687-FABD661D3F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044939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0F3D5-849B-4F73-055C-40364FC6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BB6C725F-A84E-3A8A-2860-8BDA60732B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07C9D3-973F-4891-B19C-C1A36DEDC0AB}" type="slidenum">
              <a:rPr lang="en-US" altLang="es-PE" sz="1200" smtClean="0"/>
              <a:pPr/>
              <a:t>27</a:t>
            </a:fld>
            <a:endParaRPr lang="en-US" altLang="es-PE" sz="12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EEB93857-8F5B-4782-B979-94F7169680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BBD2E068-8AAD-9F56-6FF2-42755705F0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968333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DD327-1C5A-3B16-1E8D-1687D8A2B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5AB3AAC1-BDA0-553F-A089-FA70382FA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07C9D3-973F-4891-B19C-C1A36DEDC0AB}" type="slidenum">
              <a:rPr lang="en-US" altLang="es-PE" sz="1200" smtClean="0"/>
              <a:pPr/>
              <a:t>28</a:t>
            </a:fld>
            <a:endParaRPr lang="en-US" altLang="es-PE" sz="12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FBFD3FD9-329E-0D68-E680-F92FEA25DB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CB95D633-296C-02CA-AB43-C780012F2C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018419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4F138-7656-E155-5B00-8F49B5AD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2D637C71-AFFC-ACD6-5746-207208A22B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07C9D3-973F-4891-B19C-C1A36DEDC0AB}" type="slidenum">
              <a:rPr lang="en-US" altLang="es-PE" sz="1200" smtClean="0"/>
              <a:pPr/>
              <a:t>29</a:t>
            </a:fld>
            <a:endParaRPr lang="en-US" altLang="es-PE" sz="12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A53B9231-2E5E-CF7D-2914-DB7D89992B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E5A4F4C0-FAE6-E917-88CD-BE2FD57E9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354548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007F7-A088-3004-7A55-9E834279F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E5E681B8-3AB8-0DAC-0A4A-623DA2F1A2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07C9D3-973F-4891-B19C-C1A36DEDC0AB}" type="slidenum">
              <a:rPr lang="en-US" altLang="es-PE" sz="1200" smtClean="0"/>
              <a:pPr/>
              <a:t>30</a:t>
            </a:fld>
            <a:endParaRPr lang="en-US" altLang="es-PE" sz="12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C7A99C38-8B0E-FC6A-FA0E-EE2097B7B2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C4BC50F8-7E90-C903-5B0B-A56454C75C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730898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Google Shape;226;p5:notes">
            <a:extLst>
              <a:ext uri="{FF2B5EF4-FFF2-40B4-BE49-F238E27FC236}">
                <a16:creationId xmlns:a16="http://schemas.microsoft.com/office/drawing/2014/main" id="{20BF765F-27F8-7D95-7A97-84832F43F67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66725" y="692150"/>
            <a:ext cx="6151563" cy="346075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  <p:sp>
        <p:nvSpPr>
          <p:cNvPr id="157699" name="Google Shape;227;p5:notes">
            <a:extLst>
              <a:ext uri="{FF2B5EF4-FFF2-40B4-BE49-F238E27FC236}">
                <a16:creationId xmlns:a16="http://schemas.microsoft.com/office/drawing/2014/main" id="{B026F19E-927D-656D-F718-06BCC4546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384675"/>
            <a:ext cx="566896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53" tIns="93153" rIns="93153" bIns="93153"/>
          <a:lstStyle/>
          <a:p>
            <a:pPr>
              <a:spcBef>
                <a:spcPct val="0"/>
              </a:spcBef>
              <a:buSzPts val="1100"/>
            </a:pPr>
            <a:endParaRPr lang="es-PE" altLang="es-P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C5D49120-DE36-B9C0-3B8B-8B100AEBCC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DAB153-9358-68E4-4020-2A33BE7731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9E43D6-21C4-D0FC-6FDF-F7B71C4678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49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B911AC18-E6EB-FA60-63DF-843FC5BC40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FC611-AE04-7A69-A285-B45DD77CC1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8ED18D-3B23-195E-7325-7A3D3B5111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449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CBECB07C-B427-B15B-FD5B-E80A5A033A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2D146B-736A-A2E4-A513-B253E09BC3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929881-4651-9182-836D-CF026D0F83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759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10">
            <a:extLst>
              <a:ext uri="{FF2B5EF4-FFF2-40B4-BE49-F238E27FC236}">
                <a16:creationId xmlns:a16="http://schemas.microsoft.com/office/drawing/2014/main" id="{082D362A-AD76-ABC9-8918-DD334D9E11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F6107B5-CC3C-5959-21C4-6C354C1A34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530622A-0DD5-E440-5E26-4AB7962EF2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8036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10">
            <a:extLst>
              <a:ext uri="{FF2B5EF4-FFF2-40B4-BE49-F238E27FC236}">
                <a16:creationId xmlns:a16="http://schemas.microsoft.com/office/drawing/2014/main" id="{4CFE64C4-EAFD-3197-DC8D-5DD3602EA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A16BE47-75B4-B06E-57E7-423C15694F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44550A5-1EB4-E89C-5DA5-041C2EEBDB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2991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6">
            <a:extLst>
              <a:ext uri="{FF2B5EF4-FFF2-40B4-BE49-F238E27FC236}">
                <a16:creationId xmlns:a16="http://schemas.microsoft.com/office/drawing/2014/main" id="{66F1947B-CF31-0E92-354D-7A1435C7D6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7A5A5D-762E-79FA-E9D2-BB790D981E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AAC8E5-B1BA-9252-27BA-1D6EB6D953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4745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B405320C-7E60-DDBC-0ADB-16B82F6B5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7D6F7EB0-4C0C-E199-0541-53EBC7CC49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0033369-016C-5D9C-D447-1BD4881937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728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10">
            <a:extLst>
              <a:ext uri="{FF2B5EF4-FFF2-40B4-BE49-F238E27FC236}">
                <a16:creationId xmlns:a16="http://schemas.microsoft.com/office/drawing/2014/main" id="{74465566-53A0-15EA-DA90-A1EE4D73DE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5B0D190-85C1-1B74-A493-02BDF9E06B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743D9B7-5E91-12CB-913E-8C1DB3B59B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3515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10">
            <a:extLst>
              <a:ext uri="{FF2B5EF4-FFF2-40B4-BE49-F238E27FC236}">
                <a16:creationId xmlns:a16="http://schemas.microsoft.com/office/drawing/2014/main" id="{C7A48AD6-9E07-C400-E283-2BF0B262D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AC5D7E1-8716-EBE5-BAB2-73539FF9D4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DB9C502-9D9A-7A02-7281-EB68737576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80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5308BBD0-1889-DEED-F257-AAF5933213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2CD6FE-8ADE-25C7-8B61-130ECB8DB9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4FF5CF-965E-521D-AD34-BBA44E458D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874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85F2C8BD-22E8-0108-C825-71AAD717A9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B66392-3673-D9BC-1ADC-13CAF05517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877A3F-A60B-8950-378D-3BBC942411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823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Diapositiva de títul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580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Main slide"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6674E6C-3C55-A752-846A-FFEF9F13CC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188913"/>
            <a:ext cx="18669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633200" y="2304591"/>
            <a:ext cx="8925600" cy="14196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4267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1633200" y="3934776"/>
            <a:ext cx="8925600" cy="9652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t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133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6022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with title 1">
  <p:cSld name="Text slide with title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8">
            <a:extLst>
              <a:ext uri="{FF2B5EF4-FFF2-40B4-BE49-F238E27FC236}">
                <a16:creationId xmlns:a16="http://schemas.microsoft.com/office/drawing/2014/main" id="{63CC8359-7C74-42DC-7DD7-A862760646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1741150" y="149225"/>
            <a:ext cx="300038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29767" y="139240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b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29779" y="2170933"/>
            <a:ext cx="8196800" cy="2504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>
            <a:noAutofit/>
          </a:bodyPr>
          <a:lstStyle>
            <a:lvl1pPr marL="609585" lvl="0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A00"/>
              </a:buClr>
              <a:buSzPts val="1400"/>
              <a:buChar char="●"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21917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600">
                <a:solidFill>
                  <a:srgbClr val="999999"/>
                </a:solidFill>
              </a:defRPr>
            </a:lvl2pPr>
            <a:lvl3pPr marL="1828754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600">
                <a:solidFill>
                  <a:srgbClr val="999999"/>
                </a:solidFill>
              </a:defRPr>
            </a:lvl3pPr>
            <a:lvl4pPr marL="2438339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600">
                <a:solidFill>
                  <a:srgbClr val="999999"/>
                </a:solidFill>
              </a:defRPr>
            </a:lvl4pPr>
            <a:lvl5pPr marL="3047924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600">
                <a:solidFill>
                  <a:srgbClr val="999999"/>
                </a:solidFill>
              </a:defRPr>
            </a:lvl5pPr>
            <a:lvl6pPr marL="3657509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600">
                <a:solidFill>
                  <a:srgbClr val="999999"/>
                </a:solidFill>
              </a:defRPr>
            </a:lvl6pPr>
            <a:lvl7pPr marL="4267093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600">
                <a:solidFill>
                  <a:srgbClr val="999999"/>
                </a:solidFill>
              </a:defRPr>
            </a:lvl7pPr>
            <a:lvl8pPr marL="4876678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600">
                <a:solidFill>
                  <a:srgbClr val="999999"/>
                </a:solidFill>
              </a:defRPr>
            </a:lvl8pPr>
            <a:lvl9pPr marL="5486263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6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014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F29EEBD-142C-8AD1-3C75-1E5493669B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título del patrón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B47AC71-8D14-6965-B7CD-B18DF7C318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texto del patrón</a:t>
            </a:r>
          </a:p>
          <a:p>
            <a:pPr lvl="1"/>
            <a:r>
              <a:rPr lang="es-ES" altLang="es-PE"/>
              <a:t>Segundo nivel</a:t>
            </a:r>
          </a:p>
          <a:p>
            <a:pPr lvl="2"/>
            <a:r>
              <a:rPr lang="es-ES" altLang="es-PE"/>
              <a:t>Tercer nivel</a:t>
            </a:r>
          </a:p>
          <a:p>
            <a:pPr lvl="3"/>
            <a:r>
              <a:rPr lang="es-ES" altLang="es-PE"/>
              <a:t>Cuarto nivel</a:t>
            </a:r>
          </a:p>
          <a:p>
            <a:pPr lvl="4"/>
            <a:r>
              <a:rPr lang="es-ES" altLang="es-PE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AC89BFD-2AB7-862C-2062-C44C6D256B6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BD7B7C7-4656-3C6D-B32A-DB4FC796CFA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7">
            <a:extLst>
              <a:ext uri="{FF2B5EF4-FFF2-40B4-BE49-F238E27FC236}">
                <a16:creationId xmlns:a16="http://schemas.microsoft.com/office/drawing/2014/main" id="{A44EFAA7-D4C6-FEDE-45A6-C44D7B64969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4400" y="6240463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7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7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7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7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7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s-PE" altLang="es-PE" sz="1400">
              <a:latin typeface="Times New Roman" pitchFamily="18" charset="0"/>
            </a:endParaRPr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6F2D5EBC-B9DF-F24F-66BB-E4AE3674E4C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5600" y="6240463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7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7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7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7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7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es-PE" altLang="es-PE" sz="1400">
              <a:latin typeface="Times New Roman" pitchFamily="18" charset="0"/>
            </a:endParaRPr>
          </a:p>
        </p:txBody>
      </p:sp>
      <p:sp>
        <p:nvSpPr>
          <p:cNvPr id="1032" name="Rectangle 10">
            <a:extLst>
              <a:ext uri="{FF2B5EF4-FFF2-40B4-BE49-F238E27FC236}">
                <a16:creationId xmlns:a16="http://schemas.microsoft.com/office/drawing/2014/main" id="{093265D6-EDB4-8FC2-4A64-6AF4A01821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4400" y="6240463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7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7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7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7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7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s-PE" altLang="es-PE" sz="1400">
              <a:latin typeface="Times New Roman" pitchFamily="18" charset="0"/>
            </a:endParaRPr>
          </a:p>
        </p:txBody>
      </p:sp>
      <p:sp>
        <p:nvSpPr>
          <p:cNvPr id="1033" name="Rectangle 11">
            <a:extLst>
              <a:ext uri="{FF2B5EF4-FFF2-40B4-BE49-F238E27FC236}">
                <a16:creationId xmlns:a16="http://schemas.microsoft.com/office/drawing/2014/main" id="{983BDE92-7E12-187B-FAFA-98ADEA847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5600" y="6240463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7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7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7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7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7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es-PE" altLang="es-PE" sz="1400">
              <a:latin typeface="Times New Roman" pitchFamily="18" charset="0"/>
            </a:endParaRPr>
          </a:p>
        </p:txBody>
      </p:sp>
      <p:sp>
        <p:nvSpPr>
          <p:cNvPr id="1034" name="Rectangle 14">
            <a:extLst>
              <a:ext uri="{FF2B5EF4-FFF2-40B4-BE49-F238E27FC236}">
                <a16:creationId xmlns:a16="http://schemas.microsoft.com/office/drawing/2014/main" id="{009F5C03-E714-865A-F748-21D7DEE532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551988" y="6500813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84C3497A-AAD9-4500-9884-4A009C3462C1}" type="slidenum">
              <a:rPr lang="es-ES" altLang="es-PE" sz="1600" smtClean="0">
                <a:latin typeface="Times New Roman" panose="02020603050405020304" pitchFamily="18" charset="0"/>
              </a:rPr>
              <a:pPr algn="r" eaLnBrk="1" hangingPunct="1">
                <a:defRPr/>
              </a:pPr>
              <a:t>‹Nº›</a:t>
            </a:fld>
            <a:endParaRPr lang="es-ES" altLang="es-PE" sz="16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86" r:id="rId1"/>
    <p:sldLayoutId id="2147484787" r:id="rId2"/>
    <p:sldLayoutId id="2147484788" r:id="rId3"/>
    <p:sldLayoutId id="2147484789" r:id="rId4"/>
    <p:sldLayoutId id="2147484790" r:id="rId5"/>
    <p:sldLayoutId id="2147484791" r:id="rId6"/>
    <p:sldLayoutId id="2147484792" r:id="rId7"/>
    <p:sldLayoutId id="2147484793" r:id="rId8"/>
    <p:sldLayoutId id="2147484794" r:id="rId9"/>
    <p:sldLayoutId id="2147484795" r:id="rId10"/>
    <p:sldLayoutId id="2147484796" r:id="rId11"/>
    <p:sldLayoutId id="2147484797" r:id="rId12"/>
    <p:sldLayoutId id="2147484798" r:id="rId13"/>
    <p:sldLayoutId id="2147484799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ítulo 8">
            <a:extLst>
              <a:ext uri="{FF2B5EF4-FFF2-40B4-BE49-F238E27FC236}">
                <a16:creationId xmlns:a16="http://schemas.microsoft.com/office/drawing/2014/main" id="{D636FE32-CE2F-57EC-85F4-3A6C36039A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65275" y="3933825"/>
            <a:ext cx="9499600" cy="1871663"/>
          </a:xfrm>
        </p:spPr>
        <p:txBody>
          <a:bodyPr/>
          <a:lstStyle/>
          <a:p>
            <a:pPr marL="111125">
              <a:spcBef>
                <a:spcPts val="475"/>
              </a:spcBef>
              <a:spcAft>
                <a:spcPct val="0"/>
              </a:spcAft>
              <a:tabLst>
                <a:tab pos="4813300" algn="l"/>
              </a:tabLst>
            </a:pPr>
            <a:r>
              <a:rPr lang="es-PE" altLang="es-PE" sz="2800" dirty="0"/>
              <a:t>OA-DA; POLITICA MACROECONOMICA</a:t>
            </a:r>
            <a:br>
              <a:rPr lang="es-PE" altLang="es-PE" sz="2800" dirty="0"/>
            </a:br>
            <a:r>
              <a:rPr lang="es-PE" altLang="es-PE" sz="2800" dirty="0"/>
              <a:t>Y REGLA DE TAYLOR</a:t>
            </a:r>
            <a:br>
              <a:rPr lang="es-PE" altLang="es-PE" sz="2800" dirty="0"/>
            </a:br>
            <a:r>
              <a:rPr lang="es-PE" altLang="es-PE" sz="2800" dirty="0"/>
              <a:t>(Sesión 8 Parte 3)</a:t>
            </a:r>
            <a:endParaRPr lang="es-ES_tradnl" altLang="es-PE" sz="2800" dirty="0"/>
          </a:p>
        </p:txBody>
      </p:sp>
      <p:sp>
        <p:nvSpPr>
          <p:cNvPr id="23555" name="CuadroTexto 11">
            <a:extLst>
              <a:ext uri="{FF2B5EF4-FFF2-40B4-BE49-F238E27FC236}">
                <a16:creationId xmlns:a16="http://schemas.microsoft.com/office/drawing/2014/main" id="{7DA61981-5D07-33C3-C340-C69FE2A30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5200" y="6026150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PE" altLang="es-PE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A9C00E-790E-429A-15C8-0969C2C82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8763" y="322263"/>
            <a:ext cx="6707187" cy="544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lang="es-ES_tradnl" altLang="es-PE" sz="1467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FACULTAD DE CIENCIAS EMPRESARIALES Y ECONÓMICAS</a:t>
            </a:r>
          </a:p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lang="es-ES_tradnl" altLang="es-PE" sz="1467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CARRERA DE ECONOMÍA</a:t>
            </a:r>
            <a:endParaRPr lang="en-US" altLang="es-PE" sz="1467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557" name="Google Shape;102;p1">
            <a:extLst>
              <a:ext uri="{FF2B5EF4-FFF2-40B4-BE49-F238E27FC236}">
                <a16:creationId xmlns:a16="http://schemas.microsoft.com/office/drawing/2014/main" id="{B34FC58F-34D7-0A65-0105-6D8096E69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275" y="2133600"/>
            <a:ext cx="9334500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2533" tIns="162533" rIns="162533" bIns="162533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>
                <a:srgbClr val="434343"/>
              </a:buClr>
              <a:buSzPts val="1800"/>
              <a:buFont typeface="Abril Fatface" panose="02000503000000020003" pitchFamily="2" charset="0"/>
              <a:buNone/>
            </a:pPr>
            <a:r>
              <a:rPr lang="es-ES" altLang="es-PE" sz="36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TEORIA Y POLITICA MONETARIA</a:t>
            </a:r>
          </a:p>
        </p:txBody>
      </p:sp>
      <p:sp>
        <p:nvSpPr>
          <p:cNvPr id="23558" name="CuadroTexto 7">
            <a:extLst>
              <a:ext uri="{FF2B5EF4-FFF2-40B4-BE49-F238E27FC236}">
                <a16:creationId xmlns:a16="http://schemas.microsoft.com/office/drawing/2014/main" id="{893949AC-8FA8-3C5B-D923-2267E9759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0" y="6240463"/>
            <a:ext cx="2311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s-PE" sz="1800">
                <a:solidFill>
                  <a:srgbClr val="FF3A00"/>
                </a:solidFill>
                <a:latin typeface="Arial" panose="020B0604020202020204" pitchFamily="34" charset="0"/>
              </a:rPr>
              <a:t>Metodología IATC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>
            <a:extLst>
              <a:ext uri="{FF2B5EF4-FFF2-40B4-BE49-F238E27FC236}">
                <a16:creationId xmlns:a16="http://schemas.microsoft.com/office/drawing/2014/main" id="{C5FD65A5-A944-1DE4-0140-9127C4CFADF6}"/>
              </a:ext>
            </a:extLst>
          </p:cNvPr>
          <p:cNvSpPr txBox="1">
            <a:spLocks/>
          </p:cNvSpPr>
          <p:nvPr/>
        </p:nvSpPr>
        <p:spPr bwMode="auto">
          <a:xfrm>
            <a:off x="1214438" y="2540000"/>
            <a:ext cx="9872662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PE" altLang="es-PE" sz="4000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IMPACTO</a:t>
            </a:r>
            <a:endParaRPr lang="es-ES_tradnl" altLang="es-PE" sz="4000" b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5603" name="TextBox 1">
            <a:extLst>
              <a:ext uri="{FF2B5EF4-FFF2-40B4-BE49-F238E27FC236}">
                <a16:creationId xmlns:a16="http://schemas.microsoft.com/office/drawing/2014/main" id="{93D4AA4A-305D-579B-7149-F0CD22939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7363"/>
            <a:ext cx="5030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PE" sz="12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FACULTAD DE CIENCIAS EMPRESARIALES Y ECONÓMICAS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PE" sz="12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CARRERA DE ECONOMÍA</a:t>
            </a:r>
            <a:endParaRPr lang="en-US" altLang="es-PE" sz="120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Google Shape;109;p2">
            <a:extLst>
              <a:ext uri="{FF2B5EF4-FFF2-40B4-BE49-F238E27FC236}">
                <a16:creationId xmlns:a16="http://schemas.microsoft.com/office/drawing/2014/main" id="{441B2428-334A-ED74-4B92-22EBA5B74C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2088" y="917575"/>
            <a:ext cx="11369675" cy="1039813"/>
          </a:xfrm>
        </p:spPr>
        <p:txBody>
          <a:bodyPr lIns="162533" tIns="162533" rIns="162533" bIns="162533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s-ES" altLang="es-PE" sz="4400">
                <a:solidFill>
                  <a:srgbClr val="FFC000"/>
                </a:solidFill>
              </a:rPr>
              <a:t>Logro de aprendizaje: </a:t>
            </a:r>
            <a:endParaRPr lang="es-PE" altLang="es-PE" sz="4400"/>
          </a:p>
        </p:txBody>
      </p:sp>
      <p:sp>
        <p:nvSpPr>
          <p:cNvPr id="26627" name="CuadroTexto 9">
            <a:extLst>
              <a:ext uri="{FF2B5EF4-FFF2-40B4-BE49-F238E27FC236}">
                <a16:creationId xmlns:a16="http://schemas.microsoft.com/office/drawing/2014/main" id="{9E549DB2-2BBD-83CC-ADFC-19910204C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2276475"/>
            <a:ext cx="104775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s-PE" altLang="es-PE" sz="2800" dirty="0">
                <a:latin typeface="Arial" panose="020B0604020202020204" pitchFamily="34" charset="0"/>
              </a:rPr>
              <a:t>Comprender el funcionamiento del modelo de la oferta agregada y la regla de política monetaria</a:t>
            </a:r>
            <a:endParaRPr lang="es-PE" altLang="es-PE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114;p3">
            <a:extLst>
              <a:ext uri="{FF2B5EF4-FFF2-40B4-BE49-F238E27FC236}">
                <a16:creationId xmlns:a16="http://schemas.microsoft.com/office/drawing/2014/main" id="{69230216-EEF9-C908-DF10-7D791CBFD03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5413" y="908050"/>
            <a:ext cx="11941175" cy="1008063"/>
          </a:xfrm>
        </p:spPr>
        <p:txBody>
          <a:bodyPr lIns="162533" tIns="162533" rIns="162533" bIns="162533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s-ES" altLang="es-PE" sz="4000">
                <a:solidFill>
                  <a:srgbClr val="000000"/>
                </a:solidFill>
              </a:rPr>
              <a:t>CONTENIDO DETALLADO</a:t>
            </a:r>
            <a:endParaRPr lang="es-PE" altLang="es-PE" sz="4000">
              <a:solidFill>
                <a:srgbClr val="000000"/>
              </a:solidFill>
            </a:endParaRPr>
          </a:p>
        </p:txBody>
      </p:sp>
      <p:sp>
        <p:nvSpPr>
          <p:cNvPr id="27651" name="CuadroTexto 7">
            <a:extLst>
              <a:ext uri="{FF2B5EF4-FFF2-40B4-BE49-F238E27FC236}">
                <a16:creationId xmlns:a16="http://schemas.microsoft.com/office/drawing/2014/main" id="{844F6952-3716-E8B9-DD47-D29D7E424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2060575"/>
            <a:ext cx="8202613" cy="265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El modelo básico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La demanda agregada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Regla de Taylor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Regla óptima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alt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Aplicaciones del modelo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Imagen 3">
            <a:extLst>
              <a:ext uri="{FF2B5EF4-FFF2-40B4-BE49-F238E27FC236}">
                <a16:creationId xmlns:a16="http://schemas.microsoft.com/office/drawing/2014/main" id="{8DB7415C-F955-E63A-E0AE-0E13DFE32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609600"/>
            <a:ext cx="4648200" cy="605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3">
            <a:extLst>
              <a:ext uri="{FF2B5EF4-FFF2-40B4-BE49-F238E27FC236}">
                <a16:creationId xmlns:a16="http://schemas.microsoft.com/office/drawing/2014/main" id="{9F1ABFF8-B15E-AF72-710B-F7738ADA8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3" y="2101850"/>
            <a:ext cx="10774362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PE" altLang="es-PE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De Gregorio Macroeconomía (7a ed.):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PE" altLang="es-PE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</a:t>
            </a:r>
            <a:r>
              <a:rPr lang="es-PE" altLang="es-PE" sz="2000" u="sng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Capitulo 22</a:t>
            </a:r>
            <a:r>
              <a:rPr lang="es-PE" altLang="es-PE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OA-DA y política macroeconómica</a:t>
            </a:r>
          </a:p>
        </p:txBody>
      </p:sp>
      <p:sp>
        <p:nvSpPr>
          <p:cNvPr id="31747" name="Google Shape;109;p2">
            <a:extLst>
              <a:ext uri="{FF2B5EF4-FFF2-40B4-BE49-F238E27FC236}">
                <a16:creationId xmlns:a16="http://schemas.microsoft.com/office/drawing/2014/main" id="{8C578319-AA16-0129-4104-9AB255C40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3" y="987425"/>
            <a:ext cx="7375525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00" tIns="121900" rIns="121900" bIns="1219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>
                <a:srgbClr val="434343"/>
              </a:buClr>
              <a:buSzPts val="2800"/>
              <a:buFontTx/>
              <a:buNone/>
            </a:pPr>
            <a:r>
              <a:rPr lang="es-ES" altLang="es-PE" sz="3300" b="1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Fuente: </a:t>
            </a:r>
            <a:endParaRPr lang="es-PE" altLang="es-PE" sz="3300" b="1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>
            <a:extLst>
              <a:ext uri="{FF2B5EF4-FFF2-40B4-BE49-F238E27FC236}">
                <a16:creationId xmlns:a16="http://schemas.microsoft.com/office/drawing/2014/main" id="{9C67035B-6CFC-86C9-ABD8-0C66C66A23A9}"/>
              </a:ext>
            </a:extLst>
          </p:cNvPr>
          <p:cNvSpPr txBox="1">
            <a:spLocks/>
          </p:cNvSpPr>
          <p:nvPr/>
        </p:nvSpPr>
        <p:spPr bwMode="auto">
          <a:xfrm>
            <a:off x="1214438" y="2540000"/>
            <a:ext cx="9872662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PE" altLang="es-PE" sz="4000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ADQUISICIÓN</a:t>
            </a:r>
            <a:endParaRPr lang="es-ES_tradnl" altLang="es-PE" sz="4000" b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699" name="TextBox 1">
            <a:extLst>
              <a:ext uri="{FF2B5EF4-FFF2-40B4-BE49-F238E27FC236}">
                <a16:creationId xmlns:a16="http://schemas.microsoft.com/office/drawing/2014/main" id="{C123216A-4D32-BC24-2468-19BEE74F3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7363"/>
            <a:ext cx="5030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PE" sz="12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FACULTAD DE CIENCIAS EMPRESARIALES Y ECONÓMICAS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PE" sz="12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CARRERA DE ECONOMÍA</a:t>
            </a:r>
            <a:endParaRPr lang="en-US" altLang="es-PE" sz="120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A5EA1-B0A0-BA61-1554-86D182628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B58D5E3D-DE2E-3A19-961D-C2A2F09563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36" y="332656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El modelo básico</a:t>
            </a:r>
          </a:p>
        </p:txBody>
      </p:sp>
      <p:sp>
        <p:nvSpPr>
          <p:cNvPr id="32771" name="Marcador de contenido 2">
            <a:extLst>
              <a:ext uri="{FF2B5EF4-FFF2-40B4-BE49-F238E27FC236}">
                <a16:creationId xmlns:a16="http://schemas.microsoft.com/office/drawing/2014/main" id="{E1DD1BEA-4D0E-7B4C-05AA-B489479FBC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3392" y="1174750"/>
            <a:ext cx="10585176" cy="4953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PE" altLang="es-PE" sz="2400" dirty="0"/>
              <a:t>En el modelo ISLM se debe considerar ahora que el BC no fija la M</a:t>
            </a:r>
            <a:r>
              <a:rPr lang="es-PE" altLang="es-PE" sz="2400" baseline="30000" dirty="0"/>
              <a:t>s</a:t>
            </a:r>
            <a:r>
              <a:rPr lang="es-PE" altLang="es-PE" sz="2400" dirty="0"/>
              <a:t> aleatoriamente.</a:t>
            </a:r>
          </a:p>
          <a:p>
            <a:pPr>
              <a:lnSpc>
                <a:spcPct val="150000"/>
              </a:lnSpc>
            </a:pPr>
            <a:r>
              <a:rPr lang="es-PE" altLang="es-PE" sz="2400" dirty="0"/>
              <a:t>La política monetaria se guía por una regla, es decir, de acuerdo con algún objetivo.</a:t>
            </a:r>
          </a:p>
          <a:p>
            <a:pPr>
              <a:lnSpc>
                <a:spcPct val="150000"/>
              </a:lnSpc>
            </a:pPr>
            <a:r>
              <a:rPr lang="es-PE" altLang="es-PE" sz="2400" dirty="0"/>
              <a:t>La política monetaria se va cambiando de acuerdo con un objetivo de estabilización ya sea con respecto a una meta de inflación, de brecha producto o ambos.</a:t>
            </a:r>
          </a:p>
        </p:txBody>
      </p:sp>
    </p:spTree>
    <p:extLst>
      <p:ext uri="{BB962C8B-B14F-4D97-AF65-F5344CB8AC3E}">
        <p14:creationId xmlns:p14="http://schemas.microsoft.com/office/powerpoint/2010/main" val="2082711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E0501C58-A294-C116-88D3-F1A6B2DCC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36" y="332656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El modelo básico</a:t>
            </a:r>
          </a:p>
        </p:txBody>
      </p:sp>
      <p:sp>
        <p:nvSpPr>
          <p:cNvPr id="32771" name="Marcador de contenido 2">
            <a:extLst>
              <a:ext uri="{FF2B5EF4-FFF2-40B4-BE49-F238E27FC236}">
                <a16:creationId xmlns:a16="http://schemas.microsoft.com/office/drawing/2014/main" id="{93A1407F-FEE8-32AE-3FC5-C05BEA3CF9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3392" y="1174750"/>
            <a:ext cx="9968408" cy="4953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PE" altLang="es-PE" sz="2400" dirty="0"/>
              <a:t>El objetivo es presentar un modelo de equilibrio macro que interactúa la OA y la Regla de Política Monetaria (RPM), que luego se presentará en su relación con la DA.</a:t>
            </a:r>
          </a:p>
          <a:p>
            <a:pPr>
              <a:lnSpc>
                <a:spcPct val="150000"/>
              </a:lnSpc>
            </a:pPr>
            <a:r>
              <a:rPr lang="es-PE" altLang="es-PE" sz="2400" dirty="0"/>
              <a:t>Todo ello para analizar los diferentes shocks en la economía y los efectos de la política macro.</a:t>
            </a:r>
          </a:p>
          <a:p>
            <a:pPr>
              <a:lnSpc>
                <a:spcPct val="150000"/>
              </a:lnSpc>
            </a:pPr>
            <a:r>
              <a:rPr lang="es-PE" altLang="es-PE" sz="2400" dirty="0"/>
              <a:t>El análisis destaca la política monetaria y no la política fiscal, porque la política monetaria no tiene ‘rezago de implementación’.</a:t>
            </a:r>
          </a:p>
          <a:p>
            <a:pPr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s-PE" altLang="es-PE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1DB43-B894-2964-23A8-3B80502DA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59E8F1EC-112E-56AA-EF7B-C1AD5F2B9D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36" y="332656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El modelo básico</a:t>
            </a:r>
          </a:p>
        </p:txBody>
      </p:sp>
      <p:sp>
        <p:nvSpPr>
          <p:cNvPr id="32771" name="Marcador de contenido 2">
            <a:extLst>
              <a:ext uri="{FF2B5EF4-FFF2-40B4-BE49-F238E27FC236}">
                <a16:creationId xmlns:a16="http://schemas.microsoft.com/office/drawing/2014/main" id="{DD58485C-14AB-4EC0-780D-BAF1ACB346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3392" y="1174750"/>
            <a:ext cx="9968408" cy="49530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s-PE" altLang="es-PE" sz="2400" dirty="0"/>
              <a:t>Regla de Política Monetaria (RPM). </a:t>
            </a:r>
          </a:p>
          <a:p>
            <a:pPr>
              <a:lnSpc>
                <a:spcPct val="150000"/>
              </a:lnSpc>
            </a:pPr>
            <a:r>
              <a:rPr lang="es-PE" altLang="es-PE" sz="2400" dirty="0"/>
              <a:t>Es un conjunto de herramientas utilizados por los bancos centrales para alcanzar sus objetivos de política económica.</a:t>
            </a:r>
          </a:p>
          <a:p>
            <a:pPr>
              <a:lnSpc>
                <a:spcPct val="150000"/>
              </a:lnSpc>
            </a:pPr>
            <a:r>
              <a:rPr lang="es-PE" altLang="es-PE" sz="2400" dirty="0"/>
              <a:t>Estas reglas definen cómo se ajusta la tasa de interés y otros instrumentos monetarios para influir en la economía y mantener la estabilidad financiera y económica.</a:t>
            </a:r>
          </a:p>
        </p:txBody>
      </p:sp>
    </p:spTree>
    <p:extLst>
      <p:ext uri="{BB962C8B-B14F-4D97-AF65-F5344CB8AC3E}">
        <p14:creationId xmlns:p14="http://schemas.microsoft.com/office/powerpoint/2010/main" val="2671301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9604A-1AB2-2BD7-D292-A7E8B9B8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F5F84DE2-1611-9B92-7C08-9E3B60C521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36" y="332656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El modelo básico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143B8F04-EF7C-3ED0-EDF0-94C46545A85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3392" y="1174750"/>
                <a:ext cx="10585176" cy="495300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PE" altLang="es-PE" sz="2400" dirty="0"/>
                  <a:t>Regla de Política Monetaria (RPM). </a:t>
                </a:r>
              </a:p>
              <a:p>
                <a:pPr>
                  <a:lnSpc>
                    <a:spcPct val="150000"/>
                  </a:lnSpc>
                </a:pPr>
                <a:r>
                  <a:rPr lang="es-PE" altLang="es-PE" sz="2400" dirty="0"/>
                  <a:t>El BC al agregar la RPM se logra determinar que en equilibrio la inflación es igual a la inflación objetivo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acc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s-PE" sz="2400" b="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PE" altLang="es-PE" sz="2400" dirty="0"/>
                  <a:t>Lo que “ancla” la inflación es una meta de inflación creíble que debería ser constante con el equilibrio del mercado monetario.</a:t>
                </a:r>
              </a:p>
            </p:txBody>
          </p:sp>
        </mc:Choice>
        <mc:Fallback xmlns="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143B8F04-EF7C-3ED0-EDF0-94C46545A8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174750"/>
                <a:ext cx="10585176" cy="4953000"/>
              </a:xfrm>
              <a:blipFill>
                <a:blip r:embed="rId2"/>
                <a:stretch>
                  <a:fillRect l="-86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2047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04DE2-438B-3F0F-858F-A7563EF15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23D7FA51-F6BD-C4F9-5BAB-8996EE37F9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36" y="332656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El modelo básico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E7C03F07-84AB-3914-BBA1-ADC12241AFB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3392" y="1174750"/>
                <a:ext cx="9968408" cy="495300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s-PE" altLang="es-PE" sz="2400" dirty="0"/>
                  <a:t>Supuestos:</a:t>
                </a:r>
              </a:p>
              <a:p>
                <a:r>
                  <a:rPr lang="es-ES" sz="2400" dirty="0"/>
                  <a:t>Por el lado de la </a:t>
                </a:r>
                <a:r>
                  <a:rPr lang="es-ES" sz="2400" b="1" u="sng" dirty="0"/>
                  <a:t>oferta</a:t>
                </a:r>
                <a:r>
                  <a:rPr lang="es-ES" sz="2400" dirty="0"/>
                  <a:t> tenemos </a:t>
                </a:r>
                <a:r>
                  <a:rPr lang="es-PE" sz="2400" dirty="0"/>
                  <a:t>una curva de Phillips aumentada por expectativas:</a:t>
                </a:r>
                <a:endParaRPr lang="es-PE" altLang="es-PE" sz="2400" dirty="0"/>
              </a:p>
              <a:p>
                <a:pPr marL="40005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P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s-P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sup>
                      </m:sSubSup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d>
                        <m:dPr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PE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s-PE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PE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PE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P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PE" altLang="es-PE" sz="2400" dirty="0"/>
              </a:p>
              <a:p>
                <a:pPr marL="400050" lvl="1" indent="0">
                  <a:lnSpc>
                    <a:spcPct val="150000"/>
                  </a:lnSpc>
                  <a:buNone/>
                </a:pPr>
                <a:r>
                  <a:rPr lang="es-PE" altLang="es-PE" sz="2400" dirty="0"/>
                  <a:t>Esta </a:t>
                </a:r>
                <a:r>
                  <a:rPr lang="es-PE" altLang="es-PE" sz="2400" dirty="0" err="1"/>
                  <a:t>Ec</a:t>
                </a:r>
                <a:r>
                  <a:rPr lang="es-PE" altLang="es-PE" sz="2400" dirty="0"/>
                  <a:t>. se deriva de un modelo donde hay rigideces en el ajuste de salarios y precios.</a:t>
                </a:r>
              </a:p>
              <a:p>
                <a:pPr marL="360363" lvl="1" indent="-36036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s-PE" altLang="es-PE" sz="2400" dirty="0"/>
                  <a:t>La </a:t>
                </a:r>
                <a:r>
                  <a:rPr lang="es-PE" altLang="es-PE" sz="2400" dirty="0" err="1"/>
                  <a:t>Ec</a:t>
                </a:r>
                <a:r>
                  <a:rPr lang="es-PE" altLang="es-PE" sz="2400" dirty="0"/>
                  <a:t>. de </a:t>
                </a:r>
                <a:r>
                  <a:rPr lang="es-PE" altLang="es-PE" sz="2400" b="1" u="sng" dirty="0"/>
                  <a:t>RPM</a:t>
                </a:r>
                <a:r>
                  <a:rPr lang="es-PE" altLang="es-PE" sz="2400" dirty="0"/>
                  <a:t>: </a:t>
                </a:r>
                <a:endParaRPr lang="es-PE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</m:acc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PE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s-PE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PE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PE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PE" altLang="es-PE" sz="2400" dirty="0"/>
              </a:p>
            </p:txBody>
          </p:sp>
        </mc:Choice>
        <mc:Fallback xmlns="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E7C03F07-84AB-3914-BBA1-ADC12241AF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174750"/>
                <a:ext cx="9968408" cy="4953000"/>
              </a:xfrm>
              <a:blipFill>
                <a:blip r:embed="rId2"/>
                <a:stretch>
                  <a:fillRect l="-917" r="-12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671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6E502-A93C-1852-DBE4-FCC462B40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94157C22-C671-D193-76D4-860A188E6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36" y="332656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El modelo básico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B6D640C1-1DCF-8654-451E-8E4C3368FE3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3392" y="1174750"/>
                <a:ext cx="10729192" cy="5350594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s-PE" altLang="es-PE" sz="2300" dirty="0"/>
                  <a:t>Supuestos:</a:t>
                </a:r>
              </a:p>
              <a:p>
                <a:pPr marL="360363" lvl="1" indent="-36036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s-PE" altLang="es-PE" sz="2300" dirty="0"/>
                  <a:t>La </a:t>
                </a:r>
                <a:r>
                  <a:rPr lang="es-PE" altLang="es-PE" sz="2300" dirty="0" err="1"/>
                  <a:t>Ec</a:t>
                </a:r>
                <a:r>
                  <a:rPr lang="es-PE" altLang="es-PE" sz="2300" dirty="0"/>
                  <a:t>. de </a:t>
                </a:r>
                <a:r>
                  <a:rPr lang="es-PE" altLang="es-PE" sz="2300" b="1" u="sng" dirty="0"/>
                  <a:t>RPM</a:t>
                </a:r>
                <a:r>
                  <a:rPr lang="es-PE" altLang="es-PE" sz="2300" dirty="0"/>
                  <a:t>: </a:t>
                </a:r>
                <a:endParaRPr lang="es-PE" sz="23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PE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s-PE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</m:acc>
                      <m:r>
                        <a:rPr lang="es-PE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s-PE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PE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PE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PE" sz="23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PE" sz="23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PE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s-PE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PE" altLang="es-PE" sz="2300" dirty="0"/>
              </a:p>
              <a:p>
                <a:pPr marL="342900" lvl="1" indent="-342900">
                  <a:lnSpc>
                    <a:spcPct val="150000"/>
                  </a:lnSpc>
                </a:pPr>
                <a:r>
                  <a:rPr lang="es-PE" altLang="es-PE" sz="2300" dirty="0"/>
                  <a:t>El BC elige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s-PE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s-PE" altLang="es-PE" sz="2300" dirty="0"/>
                  <a:t>así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s-PE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s-PE" altLang="es-PE" sz="2300" dirty="0"/>
                  <a:t>sobre la RPM por medio de su política monetaria. Ello se puede lograr fijando la tasa de interés consistente con cada punto sobre la RPM.</a:t>
                </a:r>
              </a:p>
              <a:p>
                <a:pPr marL="342900" lvl="1" indent="-342900">
                  <a:lnSpc>
                    <a:spcPct val="150000"/>
                  </a:lnSpc>
                </a:pPr>
                <a:r>
                  <a:rPr lang="es-PE" altLang="es-PE" sz="2300" dirty="0"/>
                  <a:t>EL BC observa la brecha producto y puede decidir cuál es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PE" altLang="es-PE" sz="2300" dirty="0"/>
                  <a:t>, aunque su control sobre ella es imperfecto (por eso existen shocks).</a:t>
                </a:r>
              </a:p>
              <a:p>
                <a:pPr marL="342900" lvl="1" indent="-342900">
                  <a:lnSpc>
                    <a:spcPct val="150000"/>
                  </a:lnSpc>
                </a:pPr>
                <a:r>
                  <a:rPr lang="es-PE" altLang="es-PE" sz="2300" dirty="0"/>
                  <a:t>El BC balancea las pérdidas sociales que causan el desempleo y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PE" altLang="es-PE" sz="2300" dirty="0"/>
                  <a:t>. Tiene un nivel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s-PE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s-PE" altLang="es-PE" sz="2300" dirty="0"/>
                  <a:t> y trata de minimizar las desviaciones de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s-PE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s-PE" altLang="es-PE" sz="2300" dirty="0"/>
                  <a:t>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3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PE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PE" sz="23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es-PE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PE" altLang="es-PE" sz="2300" dirty="0"/>
                  <a:t> (la inflación objetivo).</a:t>
                </a:r>
              </a:p>
            </p:txBody>
          </p:sp>
        </mc:Choice>
        <mc:Fallback xmlns="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B6D640C1-1DCF-8654-451E-8E4C3368FE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174750"/>
                <a:ext cx="10729192" cy="5350594"/>
              </a:xfrm>
              <a:blipFill>
                <a:blip r:embed="rId2"/>
                <a:stretch>
                  <a:fillRect l="-79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658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5BB9E-0AD0-B23C-E889-B8F89E1B7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36DBE4F1-CA2A-04EA-772D-9B93C8882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36" y="332656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El modelo básico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B6F048B4-573C-9835-BEA3-7591A565A4A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3392" y="1174750"/>
                <a:ext cx="10729192" cy="5350594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s-PE" altLang="es-PE" sz="2300" dirty="0"/>
                  <a:t>Supuestos:</a:t>
                </a:r>
              </a:p>
              <a:p>
                <a:pPr marL="360363" lvl="1" indent="-360363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s-PE" altLang="es-PE" sz="2300" dirty="0"/>
                  <a:t>En la </a:t>
                </a:r>
                <a:r>
                  <a:rPr lang="es-PE" altLang="es-PE" sz="2300" b="1" u="sng" dirty="0"/>
                  <a:t>RPM</a:t>
                </a:r>
                <a:r>
                  <a:rPr lang="es-PE" altLang="es-PE" sz="2300" dirty="0"/>
                  <a:t>: </a:t>
                </a:r>
                <a:endParaRPr lang="es-PE" sz="23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PE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s-PE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</m:acc>
                      <m:r>
                        <a:rPr lang="es-PE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s-PE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PE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PE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PE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s-PE" sz="23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PE" sz="23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PE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s-PE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PE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PE" altLang="es-PE" sz="2300" dirty="0"/>
              </a:p>
              <a:p>
                <a:pPr marL="342900" lvl="1" indent="-342900">
                  <a:lnSpc>
                    <a:spcPct val="150000"/>
                  </a:lnSpc>
                </a:pPr>
                <a:r>
                  <a:rPr lang="es-PE" altLang="es-PE" sz="2300" dirty="0"/>
                  <a:t>Mientras menor sea </a:t>
                </a:r>
                <a14:m>
                  <m:oMath xmlns:m="http://schemas.openxmlformats.org/officeDocument/2006/math">
                    <m:r>
                      <a:rPr lang="es-PE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s-PE" altLang="es-PE" sz="2300" dirty="0"/>
                  <a:t> </a:t>
                </a:r>
                <a:r>
                  <a:rPr lang="es-PE" altLang="es-PE" sz="2300" dirty="0">
                    <a:sym typeface="Wingdings" panose="05000000000000000000" pitchFamily="2" charset="2"/>
                  </a:rPr>
                  <a:t> mayor es la aversión por la inflación.</a:t>
                </a:r>
              </a:p>
              <a:p>
                <a:pPr marL="342900" lvl="1" indent="-342900">
                  <a:lnSpc>
                    <a:spcPct val="150000"/>
                  </a:lnSpc>
                </a:pPr>
                <a:r>
                  <a:rPr lang="es-PE" altLang="es-PE" sz="2300" dirty="0">
                    <a:sym typeface="Wingdings" panose="05000000000000000000" pitchFamily="2" charset="2"/>
                  </a:rPr>
                  <a:t>Si </a:t>
                </a:r>
                <a14:m>
                  <m:oMath xmlns:m="http://schemas.openxmlformats.org/officeDocument/2006/math">
                    <m:r>
                      <a:rPr lang="es-PE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s-PE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PE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s-PE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s-PE" altLang="es-PE" sz="2300" dirty="0">
                    <a:sym typeface="Wingdings" panose="05000000000000000000" pitchFamily="2" charset="2"/>
                  </a:rPr>
                  <a:t> </a:t>
                </a:r>
                <a:r>
                  <a:rPr lang="es-PE" altLang="es-PE" sz="2300" dirty="0"/>
                  <a:t> el BC elige siempre la inflación igual a la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acc>
                  </m:oMath>
                </a14:m>
                <a:r>
                  <a:rPr lang="es-PE" altLang="es-PE" sz="2300" dirty="0"/>
                  <a:t> (inflación meta), independientemente de la actividad económica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s-PE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PE" altLang="es-PE" sz="2300" dirty="0"/>
                  <a:t>.</a:t>
                </a:r>
              </a:p>
            </p:txBody>
          </p:sp>
        </mc:Choice>
        <mc:Fallback xmlns="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B6F048B4-573C-9835-BEA3-7591A565A4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174750"/>
                <a:ext cx="10729192" cy="5350594"/>
              </a:xfrm>
              <a:blipFill>
                <a:blip r:embed="rId2"/>
                <a:stretch>
                  <a:fillRect l="-79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6856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DD5EC-4C15-9BB7-30D2-FD985A662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B7E04A42-BD93-C823-A11F-29794A6DB1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36" y="332656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El modelo básico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2540D50D-AD8B-AB92-BD4E-38AC37B84A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23392" y="1174750"/>
                <a:ext cx="5328592" cy="4953000"/>
              </a:xfrm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PE" altLang="es-PE" sz="2400" dirty="0"/>
                  <a:t>Si las expectativas de inflación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PE" altLang="es-PE" sz="2400" dirty="0"/>
                  <a:t> es igual a la inflación esperada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endParaRPr lang="es-PE" altLang="es-PE" sz="2400" dirty="0"/>
              </a:p>
              <a:p>
                <a:pPr marL="360363" indent="0">
                  <a:lnSpc>
                    <a:spcPct val="150000"/>
                  </a:lnSpc>
                  <a:buNone/>
                </a:pPr>
                <a:r>
                  <a:rPr lang="es-PE" altLang="es-PE" sz="2400" dirty="0">
                    <a:sym typeface="Wingdings" panose="05000000000000000000" pitchFamily="2" charset="2"/>
                  </a:rPr>
                  <a:t> el equilibrio es en E.</a:t>
                </a:r>
                <a:endParaRPr lang="es-PE" altLang="es-PE" sz="2400" dirty="0"/>
              </a:p>
            </p:txBody>
          </p:sp>
        </mc:Choice>
        <mc:Fallback xmlns="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2540D50D-AD8B-AB92-BD4E-38AC37B84A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2" y="1174750"/>
                <a:ext cx="5328592" cy="4953000"/>
              </a:xfrm>
              <a:blipFill>
                <a:blip r:embed="rId2"/>
                <a:stretch>
                  <a:fillRect l="-1370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CBF8F2BD-F5A7-E048-9133-774CCCEC4368}"/>
              </a:ext>
            </a:extLst>
          </p:cNvPr>
          <p:cNvSpPr/>
          <p:nvPr/>
        </p:nvSpPr>
        <p:spPr bwMode="auto">
          <a:xfrm>
            <a:off x="8904312" y="1988840"/>
            <a:ext cx="1080120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628B93D-A273-2F2A-54E2-2C3E50F6AB1A}"/>
              </a:ext>
            </a:extLst>
          </p:cNvPr>
          <p:cNvSpPr/>
          <p:nvPr/>
        </p:nvSpPr>
        <p:spPr bwMode="auto">
          <a:xfrm>
            <a:off x="8832304" y="2204864"/>
            <a:ext cx="576064" cy="7200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0A6F34A-E4B7-B838-8C54-A5F58AF388A8}"/>
              </a:ext>
            </a:extLst>
          </p:cNvPr>
          <p:cNvSpPr/>
          <p:nvPr/>
        </p:nvSpPr>
        <p:spPr bwMode="auto">
          <a:xfrm rot="19125918">
            <a:off x="9249438" y="3746086"/>
            <a:ext cx="216945" cy="2233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99FA5F2-311E-9A37-B7C2-6CFC87905FDE}"/>
              </a:ext>
            </a:extLst>
          </p:cNvPr>
          <p:cNvSpPr/>
          <p:nvPr/>
        </p:nvSpPr>
        <p:spPr bwMode="auto">
          <a:xfrm rot="19125918">
            <a:off x="8363966" y="2701929"/>
            <a:ext cx="485868" cy="31838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8776DC9-969B-7CD8-1FA9-408385B362F4}"/>
              </a:ext>
            </a:extLst>
          </p:cNvPr>
          <p:cNvSpPr/>
          <p:nvPr/>
        </p:nvSpPr>
        <p:spPr bwMode="auto">
          <a:xfrm rot="19125918">
            <a:off x="7769700" y="3045595"/>
            <a:ext cx="485868" cy="31838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D449280-93C2-E117-429B-62975F4A45F3}"/>
              </a:ext>
            </a:extLst>
          </p:cNvPr>
          <p:cNvSpPr/>
          <p:nvPr/>
        </p:nvSpPr>
        <p:spPr bwMode="auto">
          <a:xfrm rot="19125918">
            <a:off x="7488325" y="3671270"/>
            <a:ext cx="561719" cy="33702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0979BFD-28DE-0E26-5CB6-D0E9AE96BC7E}"/>
              </a:ext>
            </a:extLst>
          </p:cNvPr>
          <p:cNvSpPr/>
          <p:nvPr/>
        </p:nvSpPr>
        <p:spPr bwMode="auto">
          <a:xfrm rot="19125918">
            <a:off x="7906407" y="3065481"/>
            <a:ext cx="485868" cy="31838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A92018F-319A-1A15-01E0-FAB719158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31" y="1393061"/>
            <a:ext cx="5184576" cy="461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09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814C2-BBE8-B040-EFE2-5FCF926D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E65B7D19-416D-2CA3-013A-06168596A1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36" y="332656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El modelo básico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C2493127-0439-3323-A8DD-367B270643F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95606" y="1251792"/>
                <a:ext cx="5453708" cy="4953000"/>
              </a:xfrm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PE" altLang="es-PE" sz="2400" dirty="0"/>
                  <a:t>Si la inflación esperada es mayor a la inflación efectiva: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es-PE" altLang="es-PE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endParaRPr lang="es-PE" altLang="es-PE" sz="2400" dirty="0"/>
              </a:p>
              <a:p>
                <a:pPr>
                  <a:lnSpc>
                    <a:spcPct val="150000"/>
                  </a:lnSpc>
                </a:pPr>
                <a:r>
                  <a:rPr lang="es-PE" altLang="es-PE" sz="2400" dirty="0"/>
                  <a:t>La OA se contrae se llega al </a:t>
                </a:r>
                <a:r>
                  <a:rPr lang="es-PE" altLang="es-PE" sz="2400" dirty="0" err="1"/>
                  <a:t>pto</a:t>
                </a:r>
                <a:r>
                  <a:rPr lang="es-PE" altLang="es-PE" sz="2400" dirty="0"/>
                  <a:t> A 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acc>
                      <m:accPr>
                        <m:chr m:val="̅"/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acc>
                  </m:oMath>
                </a14:m>
                <a:r>
                  <a:rPr lang="es-PE" altLang="es-PE" sz="240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P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P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s-PE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PE" altLang="es-PE" sz="2400" dirty="0"/>
                  <a:t>Si el BC quiere conservar el empleo (pasar a A’) tendrá que sacrificar inflación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s-PE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s-PE" altLang="es-PE" sz="2400" dirty="0"/>
                  <a:t>deja subir la inflación,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s-PE" altLang="es-PE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r>
                  <a:rPr lang="es-PE" altLang="es-PE" sz="240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P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P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PE" altLang="es-PE" sz="2400" dirty="0"/>
                  <a:t> pero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p>
                    </m:sSubSup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es-PE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acc>
                  </m:oMath>
                </a14:m>
                <a:endParaRPr lang="es-PE" altLang="es-PE" sz="2400" dirty="0"/>
              </a:p>
              <a:p>
                <a:pPr>
                  <a:lnSpc>
                    <a:spcPct val="150000"/>
                  </a:lnSpc>
                </a:pPr>
                <a:endParaRPr lang="es-PE" altLang="es-PE" sz="2400" dirty="0"/>
              </a:p>
            </p:txBody>
          </p:sp>
        </mc:Choice>
        <mc:Fallback xmlns="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C2493127-0439-3323-A8DD-367B270643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606" y="1251792"/>
                <a:ext cx="5453708" cy="4953000"/>
              </a:xfrm>
              <a:blipFill>
                <a:blip r:embed="rId2"/>
                <a:stretch>
                  <a:fillRect l="-1338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>
            <a:extLst>
              <a:ext uri="{FF2B5EF4-FFF2-40B4-BE49-F238E27FC236}">
                <a16:creationId xmlns:a16="http://schemas.microsoft.com/office/drawing/2014/main" id="{CFCC5DE0-A087-F92E-B0BB-32B97C4BC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628800"/>
            <a:ext cx="5453708" cy="419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67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E6AC6-165C-F1C3-98D5-AED8C4B9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D7C6402A-36E9-DDC2-0566-724AF6FD5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36" y="332656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El modelo básico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8AAF1329-3573-0038-18B9-9564A783C10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95606" y="1251792"/>
                <a:ext cx="5453708" cy="4953000"/>
              </a:xfrm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PE" altLang="es-PE" sz="2400" dirty="0"/>
                  <a:t>No obstante, eso significaría un cambio en la función de reacción del BC ya que el punto A’ no pertenece a la RPM.</a:t>
                </a:r>
              </a:p>
              <a:p>
                <a:pPr>
                  <a:lnSpc>
                    <a:spcPct val="150000"/>
                  </a:lnSpc>
                </a:pPr>
                <a:r>
                  <a:rPr lang="es-PE" altLang="es-PE" sz="2400" dirty="0"/>
                  <a:t>Si el BC cede en su objetivo inflacionario tolerando más inflación, le será difícil en el futuro convencer a los agentes económicos de que la inflación objetivo 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acc>
                  </m:oMath>
                </a14:m>
                <a:r>
                  <a:rPr lang="es-PE" altLang="es-PE" sz="2400" dirty="0"/>
                  <a:t>.</a:t>
                </a:r>
              </a:p>
            </p:txBody>
          </p:sp>
        </mc:Choice>
        <mc:Fallback xmlns="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8AAF1329-3573-0038-18B9-9564A783C1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606" y="1251792"/>
                <a:ext cx="5453708" cy="4953000"/>
              </a:xfrm>
              <a:blipFill>
                <a:blip r:embed="rId2"/>
                <a:stretch>
                  <a:fillRect l="-1338" r="-2007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>
            <a:extLst>
              <a:ext uri="{FF2B5EF4-FFF2-40B4-BE49-F238E27FC236}">
                <a16:creationId xmlns:a16="http://schemas.microsoft.com/office/drawing/2014/main" id="{628FA802-8127-4AC0-D863-4832A76C8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628800"/>
            <a:ext cx="5453708" cy="419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369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040C9-788F-862E-DA33-11E46A3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1848BC3C-D321-7E79-DC4A-B22AB8A83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36" y="332656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El modelo básico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8A99C648-92E0-9611-7DC8-600EA9C19B8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95606" y="1251792"/>
                <a:ext cx="5656378" cy="4953000"/>
              </a:xfrm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PE" altLang="es-PE" sz="2400" dirty="0"/>
                  <a:t>Si el BC quiere mantener con firmeza la inflación 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acc>
                  </m:oMath>
                </a14:m>
                <a:r>
                  <a:rPr lang="es-PE" altLang="es-PE" sz="2400" dirty="0"/>
                  <a:t> debe estar dispuesto a tener un nivel de PBI aún menor (en A’’).</a:t>
                </a:r>
              </a:p>
            </p:txBody>
          </p:sp>
        </mc:Choice>
        <mc:Fallback xmlns="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8A99C648-92E0-9611-7DC8-600EA9C19B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5606" y="1251792"/>
                <a:ext cx="5656378" cy="4953000"/>
              </a:xfrm>
              <a:blipFill>
                <a:blip r:embed="rId2"/>
                <a:stretch>
                  <a:fillRect l="-1290" r="-860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>
            <a:extLst>
              <a:ext uri="{FF2B5EF4-FFF2-40B4-BE49-F238E27FC236}">
                <a16:creationId xmlns:a16="http://schemas.microsoft.com/office/drawing/2014/main" id="{4C09FEE5-5B9F-CF0C-1AEE-68F9CD97E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251792"/>
            <a:ext cx="5453708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68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4094C-C2A1-09FE-CA95-187F31D9E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D9A70ACC-08E3-41DC-889D-0FF0B9CC0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352" y="365302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La demanda agregada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A0B42846-3C22-E0B6-34FA-770E2363543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07368" y="1143036"/>
                <a:ext cx="10801200" cy="5166284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PE" altLang="es-PE" sz="2400" dirty="0"/>
                  <a:t>Supuesto: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/>
                  <a:t>La autoridad económica, fiscal o monetaria, implementa su política a través </a:t>
                </a:r>
                <a:r>
                  <a:rPr lang="es-PE" sz="2400" dirty="0"/>
                  <a:t>de afectar la demanda agregada.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s-PE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PE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s-PE" sz="2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d>
                        <m:dPr>
                          <m:ctrlP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P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sup>
                          </m:sSup>
                        </m:e>
                      </m:d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𝜇</m:t>
                      </m:r>
                    </m:oMath>
                  </m:oMathPara>
                </a14:m>
                <a:endParaRPr lang="es-PE" altLang="es-PE" sz="2400" dirty="0"/>
              </a:p>
              <a:p>
                <a:pPr marL="400050" lvl="1" indent="0">
                  <a:lnSpc>
                    <a:spcPct val="150000"/>
                  </a:lnSpc>
                  <a:buNone/>
                </a:pPr>
                <a:r>
                  <a:rPr lang="es-PE" altLang="es-PE" sz="2400" dirty="0"/>
                  <a:t>Tal que:</a:t>
                </a:r>
              </a:p>
              <a:p>
                <a:pPr marL="400050" lvl="1" indent="0">
                  <a:lnSpc>
                    <a:spcPct val="150000"/>
                  </a:lnSpc>
                  <a:buNone/>
                </a:pPr>
                <a:r>
                  <a:rPr lang="es-PE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r=</a:t>
                </a:r>
                <a14:m>
                  <m:oMath xmlns:m="http://schemas.openxmlformats.org/officeDocument/2006/math"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p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lang="es-PE" altLang="es-PE" sz="2400" dirty="0"/>
                  <a:t>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num>
                      <m:den>
                        <m: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den>
                    </m:f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s-PE" altLang="es-PE" sz="2400" dirty="0"/>
                  <a:t>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ε</m:t>
                    </m:r>
                    <m:r>
                      <a:rPr lang="es-PE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s-PE" altLang="es-PE" sz="2400" dirty="0"/>
              </a:p>
            </p:txBody>
          </p:sp>
        </mc:Choice>
        <mc:Fallback xmlns="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A0B42846-3C22-E0B6-34FA-770E236354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143036"/>
                <a:ext cx="10801200" cy="5166284"/>
              </a:xfrm>
              <a:blipFill>
                <a:blip r:embed="rId2"/>
                <a:stretch>
                  <a:fillRect l="-90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240D60DC-5E92-97F5-B02A-D9DA2C0EEBEB}"/>
              </a:ext>
            </a:extLst>
          </p:cNvPr>
          <p:cNvSpPr/>
          <p:nvPr/>
        </p:nvSpPr>
        <p:spPr bwMode="auto">
          <a:xfrm>
            <a:off x="6096000" y="5445224"/>
            <a:ext cx="1224136" cy="2583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50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3F442-63E0-DC71-C0BA-90519E734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A08F05B2-BF3F-92E7-EF8C-943E31BC7F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352" y="365302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La demanda agregada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6C6CF4CC-E76B-E136-E9DE-40FA22084C77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07368" y="1154476"/>
                <a:ext cx="11089232" cy="544287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PE" altLang="es-PE" sz="2100" dirty="0"/>
                  <a:t>Supuesto:</a:t>
                </a:r>
              </a:p>
              <a:p>
                <a:pPr>
                  <a:lnSpc>
                    <a:spcPct val="150000"/>
                  </a:lnSpc>
                </a:pPr>
                <a:r>
                  <a:rPr lang="es-PE" sz="2100" dirty="0"/>
                  <a:t>El equilibrio de pleno empleo (de largo plazo) es el equilibrio de precios flexibles, donde se ubicaría la economía si no hubiera rigidez de precios.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PE" sz="2100" dirty="0"/>
                  <a:t>En este escenario los shocks son iguales a su valor esperado:</a:t>
                </a:r>
                <a:r>
                  <a:rPr lang="es-PE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ε</m:t>
                    </m:r>
                    <m:r>
                      <a:rPr lang="es-PE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PE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s-PE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s-PE" sz="2100" dirty="0"/>
                  <a:t> y que las expectativas de inflación son correctas. </a:t>
                </a:r>
              </a:p>
              <a:p>
                <a:pPr>
                  <a:lnSpc>
                    <a:spcPct val="150000"/>
                  </a:lnSpc>
                </a:pPr>
                <a:r>
                  <a:rPr lang="es-PE" sz="2100" dirty="0"/>
                  <a:t>Así se tiene: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PE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PE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PE" sz="21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PE" sz="21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10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PE" sz="21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s-PE" altLang="es-PE" sz="21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PE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PE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s-PE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s-PE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PE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es-PE" altLang="es-PE" sz="2100" dirty="0"/>
              </a:p>
              <a:p>
                <a:pPr marL="40005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s-PE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PE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</m:acc>
                      <m:r>
                        <a:rPr lang="es-PE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s-PE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PE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s-PE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es-PE" altLang="es-PE" sz="2100" dirty="0"/>
              </a:p>
              <a:p>
                <a:pPr marL="40005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s-PE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PE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acc>
                      <m:r>
                        <a:rPr lang="es-PE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PE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</m:acc>
                      <m:r>
                        <a:rPr lang="es-PE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s-PE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es-PE" altLang="es-PE" sz="2100" dirty="0"/>
              </a:p>
            </p:txBody>
          </p:sp>
        </mc:Choice>
        <mc:Fallback xmlns="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6C6CF4CC-E76B-E136-E9DE-40FA22084C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154476"/>
                <a:ext cx="11089232" cy="5442876"/>
              </a:xfrm>
              <a:blipFill>
                <a:blip r:embed="rId2"/>
                <a:stretch>
                  <a:fillRect l="-66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59D2654D-EA74-C7F7-C47B-4369217B6F8E}"/>
              </a:ext>
            </a:extLst>
          </p:cNvPr>
          <p:cNvSpPr/>
          <p:nvPr/>
        </p:nvSpPr>
        <p:spPr bwMode="auto">
          <a:xfrm>
            <a:off x="6096000" y="5445224"/>
            <a:ext cx="1224136" cy="2583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323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62BFA-4A65-FD7B-5B1A-C8DD2135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A3F7ACD6-D217-7B4F-3AA2-C238825C4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352" y="365302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La demanda agregada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864EDC2B-FB0A-3919-FC45-241393CB4D0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07368" y="1154476"/>
                <a:ext cx="11089232" cy="5442876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PE" sz="2400" dirty="0"/>
                  <a:t>Las </a:t>
                </a:r>
                <a:r>
                  <a:rPr lang="es-PE" sz="2400" dirty="0" err="1"/>
                  <a:t>Ec</a:t>
                </a:r>
                <a:r>
                  <a:rPr lang="es-PE" sz="2400" dirty="0"/>
                  <a:t> IS y OA determinan variables reales: </a:t>
                </a:r>
                <a14:m>
                  <m:oMath xmlns:m="http://schemas.openxmlformats.org/officeDocument/2006/math"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s-PE" sz="2400" dirty="0"/>
                  <a:t> pero no el equilibrio monetario.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PE" sz="2400" dirty="0"/>
                  <a:t>La </a:t>
                </a:r>
                <a14:m>
                  <m:oMath xmlns:m="http://schemas.openxmlformats.org/officeDocument/2006/math"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s-PE" sz="2400" dirty="0"/>
                  <a:t>solo con la IS y OA está indeterminada, por ello se necesita una regla de política monetaria.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PE" sz="2400" dirty="0" err="1"/>
                  <a:t>Asi</a:t>
                </a:r>
                <a:r>
                  <a:rPr lang="es-PE" sz="2400" dirty="0"/>
                  <a:t>, al considerar la RPM se logra determinar que en equilibrio la inflación es igual a la inflación meta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acc>
                    <m:r>
                      <a:rPr lang="es-PE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s-PE" sz="2400" b="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PE" sz="2400" dirty="0"/>
                  <a:t>Lo que ancla la inflación en el modelo es una meta de inflación creíble que debería ser consistente con el equilibrio del mercado monetario.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PE" sz="2400" dirty="0"/>
                  <a:t>Por ello se asume que el BC utiliza la tasa de interés nominal como instrumento de política monetaria.</a:t>
                </a:r>
              </a:p>
            </p:txBody>
          </p:sp>
        </mc:Choice>
        <mc:Fallback xmlns="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864EDC2B-FB0A-3919-FC45-241393CB4D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154476"/>
                <a:ext cx="11089232" cy="5442876"/>
              </a:xfrm>
              <a:blipFill>
                <a:blip r:embed="rId2"/>
                <a:stretch>
                  <a:fillRect l="-770" r="-120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877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1EAE3-A426-4DA3-3093-FB3E0E38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8D199270-6A58-D341-C54F-93D4BA63BA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352" y="365302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Regla de Taylor</a:t>
            </a:r>
          </a:p>
        </p:txBody>
      </p:sp>
      <p:sp>
        <p:nvSpPr>
          <p:cNvPr id="32771" name="Marcador de contenido 2">
            <a:extLst>
              <a:ext uri="{FF2B5EF4-FFF2-40B4-BE49-F238E27FC236}">
                <a16:creationId xmlns:a16="http://schemas.microsoft.com/office/drawing/2014/main" id="{0CD29D9F-51C5-F62F-F3CC-00C85F092D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143036"/>
            <a:ext cx="5472608" cy="5166284"/>
          </a:xfrm>
          <a:ln>
            <a:solidFill>
              <a:schemeClr val="bg2">
                <a:lumMod val="75000"/>
              </a:schemeClr>
            </a:solidFill>
          </a:ln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s-ES" sz="2200" dirty="0"/>
              <a:t>Supuestos:</a:t>
            </a:r>
          </a:p>
          <a:p>
            <a:pPr marL="273050" indent="-273050">
              <a:lnSpc>
                <a:spcPct val="125000"/>
              </a:lnSpc>
            </a:pPr>
            <a:r>
              <a:rPr lang="es-ES" sz="2200" dirty="0"/>
              <a:t>Una primera forma de racionalizar la regla de política monetaria es usar una regla de Taylor.</a:t>
            </a:r>
          </a:p>
          <a:p>
            <a:pPr marL="273050" indent="-273050">
              <a:lnSpc>
                <a:spcPct val="125000"/>
              </a:lnSpc>
            </a:pPr>
            <a:r>
              <a:rPr lang="es-ES" sz="2200" dirty="0"/>
              <a:t>Taylor propuso una ecuación para describir la conducta de los </a:t>
            </a:r>
            <a:r>
              <a:rPr lang="es-ES" sz="2200" dirty="0" err="1"/>
              <a:t>BCs</a:t>
            </a:r>
            <a:endParaRPr lang="es-ES" sz="2200" dirty="0"/>
          </a:p>
          <a:p>
            <a:pPr marL="273050" indent="-273050">
              <a:lnSpc>
                <a:spcPct val="125000"/>
              </a:lnSpc>
            </a:pPr>
            <a:r>
              <a:rPr lang="es-ES" sz="2200" dirty="0"/>
              <a:t>Taylor señaló que los BC siguen una regla en la cual ajustan la tasa de interés de política monetaria a cambios en la inflación y en la brecha producto.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DE0F740-C08E-EEA2-124B-767B3CCAB0E7}"/>
              </a:ext>
            </a:extLst>
          </p:cNvPr>
          <p:cNvSpPr/>
          <p:nvPr/>
        </p:nvSpPr>
        <p:spPr bwMode="auto">
          <a:xfrm>
            <a:off x="6096000" y="5445224"/>
            <a:ext cx="1224136" cy="2583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id="{C939B454-4185-214C-C1BC-CEC0B0CFD6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87777" y="1154476"/>
                <a:ext cx="5472608" cy="51662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" sz="2200" kern="0" dirty="0"/>
                  <a:t>La regla de Taylor:</a:t>
                </a:r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s-PE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P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</m:acc>
                      <m:r>
                        <a:rPr lang="es-PE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s-P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</m:acc>
                      <m:r>
                        <a:rPr lang="es-PE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s-PE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d>
                        <m:dPr>
                          <m:ctrlPr>
                            <a:rPr lang="es-P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es-P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PE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e>
                          </m:acc>
                        </m:e>
                      </m:d>
                      <m:r>
                        <a:rPr lang="es-PE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s-PE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s-P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s-P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PE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PE" sz="2200" b="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" sz="2200" kern="0" dirty="0"/>
                  <a:t>El ratio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s-PE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P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num>
                      <m:den>
                        <m:r>
                          <a:rPr lang="es-PE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es-ES" sz="2200" kern="0" dirty="0"/>
                  <a:t> representa la aversión del BC  a la </a:t>
                </a:r>
                <a14:m>
                  <m:oMath xmlns:m="http://schemas.openxmlformats.org/officeDocument/2006/math">
                    <m:r>
                      <a:rPr lang="es-PE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s-P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s-PE" sz="2200" b="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" sz="2200" kern="0" dirty="0"/>
                  <a:t>Si </a:t>
                </a:r>
                <a14:m>
                  <m:oMath xmlns:m="http://schemas.openxmlformats.org/officeDocument/2006/math">
                    <m:r>
                      <a:rPr lang="es-PE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s-P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P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s-P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s-ES" sz="2200" kern="0" dirty="0"/>
                  <a:t> el BC solo reacciona a la </a:t>
                </a:r>
                <a14:m>
                  <m:oMath xmlns:m="http://schemas.openxmlformats.org/officeDocument/2006/math">
                    <m:r>
                      <a:rPr lang="es-PE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s-ES" sz="2200" kern="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PE" sz="22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PE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s-PE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PE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s-ES" sz="2200" kern="0" dirty="0"/>
                  <a:t>, el BC solo reacciona a las desviaciones del PBI.</a:t>
                </a:r>
              </a:p>
            </p:txBody>
          </p:sp>
        </mc:Choice>
        <mc:Fallback xmlns="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id="{C939B454-4185-214C-C1BC-CEC0B0CFD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87777" y="1154476"/>
                <a:ext cx="5472608" cy="5166284"/>
              </a:xfrm>
              <a:prstGeom prst="rect">
                <a:avLst/>
              </a:prstGeom>
              <a:blipFill>
                <a:blip r:embed="rId2"/>
                <a:stretch>
                  <a:fillRect l="-1333" r="-2000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026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FE415-8B40-5056-1ED0-56B63FDFD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17EAA596-397F-7C41-BCB4-428E3E8B1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352" y="365302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Regla de Taylor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EAC51B52-7A24-26AC-1476-B7055A60AA8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9336" y="1154476"/>
                <a:ext cx="5616624" cy="5166284"/>
              </a:xfrm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" sz="2000" dirty="0"/>
                  <a:t>Principio de Taylor </a:t>
                </a:r>
                <a14:m>
                  <m:oMath xmlns:m="http://schemas.openxmlformats.org/officeDocument/2006/math"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&gt;1</m:t>
                    </m:r>
                  </m:oMath>
                </a14:m>
                <a:endParaRPr lang="es-ES" sz="2000" dirty="0"/>
              </a:p>
              <a:p>
                <a:pPr>
                  <a:lnSpc>
                    <a:spcPct val="150000"/>
                  </a:lnSpc>
                </a:pPr>
                <a:r>
                  <a:rPr lang="es-ES" sz="2000" dirty="0"/>
                  <a:t>Si la </a:t>
                </a:r>
                <a14:m>
                  <m:oMath xmlns:m="http://schemas.openxmlformats.org/officeDocument/2006/math">
                    <m:r>
                      <a:rPr lang="es-PE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s-ES" sz="2000" dirty="0"/>
                  <a:t> sube y el BC quiere enfriar la economía </a:t>
                </a:r>
                <a:r>
                  <a:rPr lang="es-ES" sz="2000" dirty="0">
                    <a:sym typeface="Wingdings" panose="05000000000000000000" pitchFamily="2" charset="2"/>
                  </a:rPr>
                  <a:t> el alza de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s-P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𝑇𝑃𝑀</m:t>
                        </m:r>
                      </m:sub>
                    </m:sSub>
                  </m:oMath>
                </a14:m>
                <a:r>
                  <a:rPr lang="es-ES" sz="2000" dirty="0"/>
                  <a:t> debe ser mayor que el alza de la </a:t>
                </a:r>
                <a14:m>
                  <m:oMath xmlns:m="http://schemas.openxmlformats.org/officeDocument/2006/math"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s-ES" sz="2000" dirty="0"/>
                  <a:t>, así se tiene un alza de la </a:t>
                </a:r>
                <a14:m>
                  <m:oMath xmlns:m="http://schemas.openxmlformats.org/officeDocument/2006/math"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s-ES" sz="2000" dirty="0"/>
                  <a:t>y una caída de la DA.</a:t>
                </a:r>
              </a:p>
            </p:txBody>
          </p:sp>
        </mc:Choice>
        <mc:Fallback xmlns="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EAC51B52-7A24-26AC-1476-B7055A60AA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336" y="1154476"/>
                <a:ext cx="5616624" cy="5166284"/>
              </a:xfrm>
              <a:blipFill>
                <a:blip r:embed="rId2"/>
                <a:stretch>
                  <a:fillRect l="-1083" r="-1950"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72B0FAD3-EC42-A043-68E6-843619CF10A0}"/>
              </a:ext>
            </a:extLst>
          </p:cNvPr>
          <p:cNvSpPr/>
          <p:nvPr/>
        </p:nvSpPr>
        <p:spPr bwMode="auto">
          <a:xfrm>
            <a:off x="6096000" y="5445224"/>
            <a:ext cx="1224136" cy="2583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id="{05D35E62-CDFF-B70B-7CDD-C8EE0D4E02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79976" y="1154476"/>
                <a:ext cx="5832648" cy="51662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s-ES" sz="2000" kern="0" dirty="0"/>
                  <a:t>Considerando la RT y la IS y asumiendo:</a:t>
                </a:r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:r>
                  <a:rPr lang="es-PE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PE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PE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p>
                        <m:r>
                          <a:rPr lang="es-P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p>
                    </m:sSup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s-ES" sz="2000" kern="0" dirty="0"/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PE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r</m:t>
                    </m:r>
                    <m:r>
                      <a:rPr lang="es-PE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s-P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P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num>
                      <m:den>
                        <m:r>
                          <a:rPr lang="es-P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den>
                    </m:f>
                  </m:oMath>
                </a14:m>
                <a:r>
                  <a:rPr lang="es-ES" sz="2000" kern="0" dirty="0"/>
                  <a:t>; </a:t>
                </a:r>
                <a14:m>
                  <m:oMath xmlns:m="http://schemas.openxmlformats.org/officeDocument/2006/math"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P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P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s-ES" sz="2000" kern="0" dirty="0"/>
                  <a:t> ; </a:t>
                </a:r>
                <a14:m>
                  <m:oMath xmlns:m="http://schemas.openxmlformats.org/officeDocument/2006/math"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s-ES" sz="2000" kern="0" dirty="0"/>
              </a:p>
              <a:p>
                <a:pPr marL="174625" indent="0">
                  <a:lnSpc>
                    <a:spcPct val="150000"/>
                  </a:lnSpc>
                  <a:buFontTx/>
                  <a:buNone/>
                </a:pPr>
                <a:r>
                  <a:rPr lang="es-PE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RT : </a:t>
                </a:r>
                <a14:m>
                  <m:oMath xmlns:m="http://schemas.openxmlformats.org/officeDocument/2006/math">
                    <m:r>
                      <a:rPr lang="es-PE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acc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d>
                      <m:dPr>
                        <m:ctrlP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acc>
                      </m:e>
                    </m:d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d>
                      <m:dPr>
                        <m:ctrlP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lang="es-ES" sz="2000" kern="0" dirty="0"/>
              </a:p>
              <a:p>
                <a:pPr marL="174625" indent="0">
                  <a:lnSpc>
                    <a:spcPct val="150000"/>
                  </a:lnSpc>
                  <a:buFontTx/>
                  <a:buNone/>
                </a:pPr>
                <a:r>
                  <a:rPr lang="es-PE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IS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PE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PE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PE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PE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s-PE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PE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s-PE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d>
                      <m:dPr>
                        <m:ctrlP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PE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sup>
                        </m:sSup>
                      </m:e>
                    </m:d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endParaRPr lang="es-ES" sz="2000" kern="0" dirty="0"/>
              </a:p>
              <a:p>
                <a:pPr marL="174625" indent="0">
                  <a:lnSpc>
                    <a:spcPct val="150000"/>
                  </a:lnSpc>
                  <a:buFontTx/>
                  <a:buNone/>
                </a:pPr>
                <a:r>
                  <a:rPr lang="es-ES" sz="2000" kern="0" dirty="0"/>
                  <a:t>Desarrollando:</a:t>
                </a:r>
              </a:p>
              <a:p>
                <a:pPr marL="174625" indent="0">
                  <a:lnSpc>
                    <a:spcPct val="150000"/>
                  </a:lnSpc>
                  <a:buFontTx/>
                  <a:buNone/>
                </a:pPr>
                <a:r>
                  <a:rPr lang="es-PE" sz="20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RPM: </a:t>
                </a:r>
                <a14:m>
                  <m:oMath xmlns:m="http://schemas.openxmlformats.org/officeDocument/2006/math">
                    <m:r>
                      <a:rPr lang="es-PE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acc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s-P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P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P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1+</m:t>
                            </m:r>
                            <m:r>
                              <a:rPr lang="es-P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𝛽𝜙</m:t>
                            </m:r>
                          </m:num>
                          <m:den>
                            <m:r>
                              <a:rPr lang="es-P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𝜙</m:t>
                            </m:r>
                            <m:r>
                              <a:rPr lang="es-P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s-P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𝜙𝛼</m:t>
                            </m:r>
                          </m:den>
                        </m:f>
                      </m:e>
                    </m:d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d>
                      <m:dPr>
                        <m:ctrlP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ctrlPr>
                          <a:rPr lang="es-P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𝜙</m:t>
                            </m:r>
                            <m: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𝜙𝛼</m:t>
                            </m:r>
                          </m:den>
                        </m:f>
                      </m:e>
                    </m:d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endParaRPr lang="es-ES" sz="2000" kern="0" dirty="0"/>
              </a:p>
              <a:p>
                <a:pPr marL="174625" indent="0">
                  <a:lnSpc>
                    <a:spcPct val="150000"/>
                  </a:lnSpc>
                  <a:buFontTx/>
                  <a:buNone/>
                </a:pPr>
                <a:r>
                  <a:rPr lang="es-ES" sz="2000" kern="0" dirty="0"/>
                  <a:t>En la RT:</a:t>
                </a:r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</m:acc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</m:acc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1+</m:t>
                                  </m:r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𝛽𝜙</m:t>
                                  </m:r>
                                </m:num>
                                <m:den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𝜙𝛼</m:t>
                                  </m:r>
                                </m:den>
                              </m:f>
                            </m:e>
                          </m:d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𝜙𝛼</m:t>
                                  </m:r>
                                </m:den>
                              </m:f>
                            </m:e>
                          </m:d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</m:d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ES" sz="1600" kern="0" dirty="0"/>
              </a:p>
            </p:txBody>
          </p:sp>
        </mc:Choice>
        <mc:Fallback xmlns="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id="{05D35E62-CDFF-B70B-7CDD-C8EE0D4E0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79976" y="1154476"/>
                <a:ext cx="5832648" cy="5166284"/>
              </a:xfrm>
              <a:prstGeom prst="rect">
                <a:avLst/>
              </a:prstGeom>
              <a:blipFill>
                <a:blip r:embed="rId3"/>
                <a:stretch>
                  <a:fillRect l="-1044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79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12A1A-60A3-E38F-B8F1-EC83D23F9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A88B8A1B-2926-97EF-D538-CF6388441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352" y="365302"/>
            <a:ext cx="8991600" cy="582613"/>
          </a:xfrm>
        </p:spPr>
        <p:txBody>
          <a:bodyPr/>
          <a:lstStyle/>
          <a:p>
            <a:pPr algn="l"/>
            <a:r>
              <a:rPr lang="es-PE" altLang="es-PE" sz="3200" b="1" dirty="0"/>
              <a:t>Regla de Taylor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E83D153E-E475-0630-0B18-7CD8C5EF53A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096000" y="1154476"/>
                <a:ext cx="5760640" cy="5166284"/>
              </a:xfrm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pPr marL="174625" indent="-174625">
                  <a:lnSpc>
                    <a:spcPct val="150000"/>
                  </a:lnSpc>
                </a:pPr>
                <a:r>
                  <a:rPr lang="es-ES" sz="2000" dirty="0"/>
                  <a:t>Cuando la brecha producto &gt; 0:</a:t>
                </a:r>
              </a:p>
              <a:p>
                <a:pPr marL="174625" indent="0">
                  <a:lnSpc>
                    <a:spcPct val="150000"/>
                  </a:lnSpc>
                  <a:buNone/>
                </a:pPr>
                <a:r>
                  <a:rPr lang="es-ES" sz="2000" dirty="0"/>
                  <a:t>La tasa de interés es &lt; que la de largo plazo (la economía tiene una brecha &gt;0 porque la tasa es baja)</a:t>
                </a:r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s-P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&gt;</m:t>
                      </m:r>
                      <m:acc>
                        <m:accPr>
                          <m:chr m:val="̅"/>
                          <m:ctrlP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</m:acc>
                      <m:r>
                        <a:rPr lang="es-P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</m:acc>
                      <m:r>
                        <a:rPr lang="es-P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𝛽𝜙</m:t>
                              </m:r>
                            </m:num>
                            <m:den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𝜙𝛼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s-P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𝛼𝜇</m:t>
                              </m:r>
                            </m:num>
                            <m:den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𝜙𝛼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ES" sz="2000" dirty="0"/>
              </a:p>
              <a:p>
                <a:pPr marL="273050" indent="-273050">
                  <a:lnSpc>
                    <a:spcPct val="150000"/>
                  </a:lnSpc>
                </a:pPr>
                <a:r>
                  <a:rPr lang="es-ES" sz="2000" dirty="0"/>
                  <a:t>Cuando la brecha producto &lt; 0:</a:t>
                </a:r>
              </a:p>
              <a:p>
                <a:pPr marL="174625" indent="0">
                  <a:lnSpc>
                    <a:spcPct val="150000"/>
                  </a:lnSpc>
                  <a:buFontTx/>
                  <a:buNone/>
                </a:pPr>
                <a:r>
                  <a:rPr lang="es-ES" sz="2000" dirty="0"/>
                  <a:t>La tasa de interés es &gt; que la tasa de interés de largo plazo:</a:t>
                </a:r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s-P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acc>
                        <m:accPr>
                          <m:chr m:val="̅"/>
                          <m:ctrlP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</m:acc>
                      <m:r>
                        <a:rPr lang="es-P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</m:acc>
                      <m:r>
                        <a:rPr lang="es-P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𝛽𝜙</m:t>
                              </m:r>
                            </m:num>
                            <m:den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𝜙𝛼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s-P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s-P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𝛼𝜇</m:t>
                              </m:r>
                            </m:num>
                            <m:den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s-PE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𝜙𝛼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E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771" name="Marcador de contenido 2">
                <a:extLst>
                  <a:ext uri="{FF2B5EF4-FFF2-40B4-BE49-F238E27FC236}">
                    <a16:creationId xmlns:a16="http://schemas.microsoft.com/office/drawing/2014/main" id="{E83D153E-E475-0630-0B18-7CD8C5EF53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154476"/>
                <a:ext cx="5760640" cy="5166284"/>
              </a:xfrm>
              <a:blipFill>
                <a:blip r:embed="rId2"/>
                <a:stretch>
                  <a:fillRect l="-739" r="-422"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id="{6D76D55E-9FBE-5298-F731-FA8ECC5E65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344" y="1154476"/>
                <a:ext cx="5688632" cy="51662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174625" indent="0">
                  <a:lnSpc>
                    <a:spcPct val="150000"/>
                  </a:lnSpc>
                  <a:buFontTx/>
                  <a:buNone/>
                </a:pPr>
                <a:r>
                  <a:rPr lang="es-ES" sz="2000" kern="0" dirty="0"/>
                  <a:t>En la RT:</a:t>
                </a:r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</m:acc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</m:acc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1+</m:t>
                                  </m:r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𝛽𝜙</m:t>
                                  </m:r>
                                </m:num>
                                <m:den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𝜙𝛼</m:t>
                                  </m:r>
                                </m:den>
                              </m:f>
                            </m:e>
                          </m:d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s-PE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𝜙𝛼</m:t>
                                  </m:r>
                                </m:den>
                              </m:f>
                            </m:e>
                          </m:d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</m:d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ES" sz="1600" kern="0" dirty="0"/>
              </a:p>
              <a:p>
                <a:pPr marL="0" indent="0">
                  <a:lnSpc>
                    <a:spcPct val="15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s-P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</m:acc>
                      <m:r>
                        <a:rPr lang="es-P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</m:acc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𝛽𝜙</m:t>
                              </m:r>
                            </m:num>
                            <m:den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𝜙𝛼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s-P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s-P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𝛼𝜇</m:t>
                              </m:r>
                            </m:num>
                            <m:den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s-PE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𝜙𝛼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ES" sz="1600" kern="0" dirty="0"/>
              </a:p>
              <a:p>
                <a:pPr>
                  <a:lnSpc>
                    <a:spcPct val="150000"/>
                  </a:lnSpc>
                </a:pPr>
                <a:r>
                  <a:rPr lang="es-ES" sz="1600" kern="0" dirty="0"/>
                  <a:t> </a:t>
                </a:r>
              </a:p>
            </p:txBody>
          </p:sp>
        </mc:Choice>
        <mc:Fallback xmlns="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id="{6D76D55E-9FBE-5298-F731-FA8ECC5E6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44" y="1154476"/>
                <a:ext cx="5688632" cy="5166284"/>
              </a:xfrm>
              <a:prstGeom prst="rect">
                <a:avLst/>
              </a:prstGeom>
              <a:blipFill>
                <a:blip r:embed="rId3"/>
                <a:stretch>
                  <a:fillRect l="-214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08679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F262-CFC8-74A8-E094-F7CFEF05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5">
            <a:extLst>
              <a:ext uri="{FF2B5EF4-FFF2-40B4-BE49-F238E27FC236}">
                <a16:creationId xmlns:a16="http://schemas.microsoft.com/office/drawing/2014/main" id="{A541E5AD-BF5D-BEB3-2A97-2EAC06FC7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95580"/>
            <a:ext cx="8516620" cy="582930"/>
          </a:xfrm>
        </p:spPr>
        <p:txBody>
          <a:bodyPr tIns="548640" bIns="457200">
            <a:scene3d>
              <a:camera prst="orthographicFront"/>
              <a:lightRig rig="threePt" dir="t"/>
            </a:scene3d>
          </a:bodyPr>
          <a:lstStyle/>
          <a:p>
            <a:pPr marL="855980" indent="-855980" algn="l" eaLnBrk="1" hangingPunct="1">
              <a:lnSpc>
                <a:spcPct val="90000"/>
              </a:lnSpc>
              <a:defRPr/>
            </a:pPr>
            <a:r>
              <a:rPr lang="en-US" altLang="es-PE" sz="3200" b="1" dirty="0">
                <a:solidFill>
                  <a:schemeClr val="tx1"/>
                </a:solidFill>
              </a:rPr>
              <a:t>Regla de Política </a:t>
            </a:r>
            <a:r>
              <a:rPr lang="en-US" altLang="es-PE" sz="3200" b="1" dirty="0" err="1">
                <a:solidFill>
                  <a:schemeClr val="tx1"/>
                </a:solidFill>
              </a:rPr>
              <a:t>Monetaria</a:t>
            </a:r>
            <a:r>
              <a:rPr lang="en-US" altLang="es-PE" sz="3200" b="1" dirty="0">
                <a:solidFill>
                  <a:schemeClr val="tx1"/>
                </a:solidFill>
              </a:rPr>
              <a:t> Optima</a:t>
            </a:r>
            <a:endParaRPr lang="en-US" altLang="es-PE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A69F172D-38FB-9381-E00F-EC066877D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384" y="1196752"/>
                <a:ext cx="11089232" cy="511256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PE" sz="2400" dirty="0"/>
                  <a:t>Desde el punto de vista teórico se busca especificar la conducta del BC basado en la optimización de alguna función que refleje los objetivos últimos de la política monetaria.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/>
                  <a:t>El objetivo de la autoridad es la minimización de una función de pérdida que penaliza las desviaciones del producto desde el pleno empleo y la inflación respecto de su meta:</a:t>
                </a:r>
              </a:p>
              <a:p>
                <a:pPr>
                  <a:lnSpc>
                    <a:spcPct val="150000"/>
                  </a:lnSpc>
                </a:pPr>
                <a:r>
                  <a:rPr lang="es-PE" sz="2400" b="0" dirty="0"/>
                  <a:t>Minimizar: 		</a:t>
                </a:r>
                <a14:m>
                  <m:oMath xmlns:m="http://schemas.openxmlformats.org/officeDocument/2006/math">
                    <m:r>
                      <a:rPr lang="es-PE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P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P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s-P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P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P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P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PE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s-P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P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PE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s-PE" sz="2400" dirty="0"/>
              </a:p>
              <a:p>
                <a:pPr marL="360363" indent="0">
                  <a:lnSpc>
                    <a:spcPct val="150000"/>
                  </a:lnSpc>
                  <a:buNone/>
                </a:pPr>
                <a:r>
                  <a:rPr lang="es-PE" sz="2400" dirty="0"/>
                  <a:t>			s.a. </a:t>
                </a:r>
                <a14:m>
                  <m:oMath xmlns:m="http://schemas.openxmlformats.org/officeDocument/2006/math"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sSup>
                      <m:sSupPr>
                        <m:ctrlP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PE" sz="2400" dirty="0"/>
              </a:p>
            </p:txBody>
          </p:sp>
        </mc:Choice>
        <mc:Fallback xmlns="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A69F172D-38FB-9381-E00F-EC066877D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384" y="1196752"/>
                <a:ext cx="11089232" cy="5112568"/>
              </a:xfrm>
              <a:blipFill>
                <a:blip r:embed="rId3"/>
                <a:stretch>
                  <a:fillRect l="-714" r="-44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21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A1F3F-2FC9-EA92-823B-472F664B3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5">
            <a:extLst>
              <a:ext uri="{FF2B5EF4-FFF2-40B4-BE49-F238E27FC236}">
                <a16:creationId xmlns:a16="http://schemas.microsoft.com/office/drawing/2014/main" id="{20672CAC-87EE-18C9-AA73-C9CB18CF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95580"/>
            <a:ext cx="8516620" cy="582930"/>
          </a:xfrm>
        </p:spPr>
        <p:txBody>
          <a:bodyPr tIns="548640" bIns="457200">
            <a:scene3d>
              <a:camera prst="orthographicFront"/>
              <a:lightRig rig="threePt" dir="t"/>
            </a:scene3d>
          </a:bodyPr>
          <a:lstStyle/>
          <a:p>
            <a:pPr marL="855980" indent="-855980" algn="l" eaLnBrk="1" hangingPunct="1">
              <a:lnSpc>
                <a:spcPct val="90000"/>
              </a:lnSpc>
              <a:defRPr/>
            </a:pPr>
            <a:r>
              <a:rPr lang="en-US" altLang="es-PE" sz="3200" b="1" dirty="0">
                <a:solidFill>
                  <a:schemeClr val="tx1"/>
                </a:solidFill>
              </a:rPr>
              <a:t>Regla de Política </a:t>
            </a:r>
            <a:r>
              <a:rPr lang="en-US" altLang="es-PE" sz="3200" b="1" dirty="0" err="1">
                <a:solidFill>
                  <a:schemeClr val="tx1"/>
                </a:solidFill>
              </a:rPr>
              <a:t>Monetaria</a:t>
            </a:r>
            <a:r>
              <a:rPr lang="en-US" altLang="es-PE" sz="3200" b="1" dirty="0">
                <a:solidFill>
                  <a:schemeClr val="tx1"/>
                </a:solidFill>
              </a:rPr>
              <a:t> Optima</a:t>
            </a:r>
            <a:endParaRPr lang="en-US" altLang="es-PE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FA26435E-3CAC-8218-25D1-322CD45229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384" y="1196752"/>
                <a:ext cx="11089232" cy="511256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PE" sz="2400" b="0" dirty="0"/>
                  <a:t>Minimizar: 		</a:t>
                </a:r>
                <a14:m>
                  <m:oMath xmlns:m="http://schemas.openxmlformats.org/officeDocument/2006/math">
                    <m:r>
                      <a:rPr lang="es-PE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P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P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s-P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P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P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P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PE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s-P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P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PE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s-PE" sz="2400" dirty="0"/>
              </a:p>
              <a:p>
                <a:pPr marL="360363" indent="0">
                  <a:lnSpc>
                    <a:spcPct val="150000"/>
                  </a:lnSpc>
                  <a:buNone/>
                </a:pPr>
                <a:r>
                  <a:rPr lang="es-PE" sz="2400" dirty="0"/>
                  <a:t>			s.a. </a:t>
                </a:r>
                <a14:m>
                  <m:oMath xmlns:m="http://schemas.openxmlformats.org/officeDocument/2006/math"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sSup>
                      <m:sSupPr>
                        <m:ctrlP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PE" sz="2400" dirty="0"/>
              </a:p>
              <a:p>
                <a:pPr marL="360363" indent="0">
                  <a:lnSpc>
                    <a:spcPct val="150000"/>
                  </a:lnSpc>
                  <a:buNone/>
                </a:pPr>
                <a:r>
                  <a:rPr lang="es-PE" sz="2400" dirty="0"/>
                  <a:t>La función de Lagrange:</a:t>
                </a:r>
              </a:p>
              <a:p>
                <a:pPr marL="360363" indent="0">
                  <a:lnSpc>
                    <a:spcPct val="150000"/>
                  </a:lnSpc>
                  <a:buNone/>
                </a:pPr>
                <a:endParaRPr lang="es-PE" sz="2400" dirty="0"/>
              </a:p>
            </p:txBody>
          </p:sp>
        </mc:Choice>
        <mc:Fallback xmlns="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FA26435E-3CAC-8218-25D1-322CD4522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384" y="1196752"/>
                <a:ext cx="11089232" cy="5112568"/>
              </a:xfrm>
              <a:blipFill>
                <a:blip r:embed="rId3"/>
                <a:stretch>
                  <a:fillRect l="-71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591483C9-56FD-5686-7EDB-7428FA8C2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080" y="3501008"/>
            <a:ext cx="6324106" cy="65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105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856E8-38A5-AA7B-49C8-9C12C71E5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5">
            <a:extLst>
              <a:ext uri="{FF2B5EF4-FFF2-40B4-BE49-F238E27FC236}">
                <a16:creationId xmlns:a16="http://schemas.microsoft.com/office/drawing/2014/main" id="{6970BBFD-80CD-4803-8EC2-189370DB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95580"/>
            <a:ext cx="8516620" cy="582930"/>
          </a:xfrm>
        </p:spPr>
        <p:txBody>
          <a:bodyPr tIns="548640" bIns="457200">
            <a:scene3d>
              <a:camera prst="orthographicFront"/>
              <a:lightRig rig="threePt" dir="t"/>
            </a:scene3d>
          </a:bodyPr>
          <a:lstStyle/>
          <a:p>
            <a:pPr marL="855980" indent="-855980" algn="l" eaLnBrk="1" hangingPunct="1">
              <a:lnSpc>
                <a:spcPct val="90000"/>
              </a:lnSpc>
              <a:defRPr/>
            </a:pPr>
            <a:r>
              <a:rPr lang="en-US" altLang="es-PE" sz="3200" b="1" dirty="0">
                <a:solidFill>
                  <a:schemeClr val="tx1"/>
                </a:solidFill>
              </a:rPr>
              <a:t>Regla de Política </a:t>
            </a:r>
            <a:r>
              <a:rPr lang="en-US" altLang="es-PE" sz="3200" b="1" dirty="0" err="1">
                <a:solidFill>
                  <a:schemeClr val="tx1"/>
                </a:solidFill>
              </a:rPr>
              <a:t>Monetaria</a:t>
            </a:r>
            <a:r>
              <a:rPr lang="en-US" altLang="es-PE" sz="3200" b="1" dirty="0">
                <a:solidFill>
                  <a:schemeClr val="tx1"/>
                </a:solidFill>
              </a:rPr>
              <a:t> Optima</a:t>
            </a:r>
            <a:endParaRPr lang="en-US" altLang="es-PE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AD1298D4-3CF5-0210-F71F-115D520EA1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7408" y="-218857"/>
                <a:ext cx="11089232" cy="5580620"/>
              </a:xfrm>
            </p:spPr>
            <p:txBody>
              <a:bodyPr/>
              <a:lstStyle/>
              <a:p>
                <a:pPr marL="360363" indent="0">
                  <a:lnSpc>
                    <a:spcPct val="150000"/>
                  </a:lnSpc>
                  <a:buNone/>
                </a:pPr>
                <a:r>
                  <a:rPr lang="es-PE" sz="2400" dirty="0"/>
                  <a:t>La función de Lagrange:</a:t>
                </a:r>
              </a:p>
              <a:p>
                <a:pPr marL="360363" indent="0">
                  <a:lnSpc>
                    <a:spcPct val="150000"/>
                  </a:lnSpc>
                  <a:buNone/>
                </a:pPr>
                <a:endParaRPr lang="es-PE" sz="2400" dirty="0"/>
              </a:p>
              <a:p>
                <a:pPr marL="360363" indent="0">
                  <a:lnSpc>
                    <a:spcPct val="150000"/>
                  </a:lnSpc>
                  <a:buNone/>
                </a:pPr>
                <a:r>
                  <a:rPr lang="es-PE" sz="2400" dirty="0"/>
                  <a:t>CPO 1: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s-PE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PE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PE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s-PE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s-PE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PE" sz="2400" dirty="0"/>
              </a:p>
              <a:p>
                <a:pPr marL="360363" indent="0">
                  <a:lnSpc>
                    <a:spcPct val="150000"/>
                  </a:lnSpc>
                  <a:buNone/>
                </a:pPr>
                <a:r>
                  <a:rPr lang="es-PE" sz="2400" dirty="0"/>
                  <a:t>CPO 2: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P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PE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s-P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PE" sz="2400" dirty="0"/>
              </a:p>
              <a:p>
                <a:pPr marL="360363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sSup>
                        <m:sSupPr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P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sz="2400" dirty="0"/>
              </a:p>
              <a:p>
                <a:pPr marL="360363" indent="0">
                  <a:lnSpc>
                    <a:spcPct val="150000"/>
                  </a:lnSpc>
                  <a:buNone/>
                </a:pPr>
                <a:r>
                  <a:rPr lang="es-PE" sz="2400" dirty="0"/>
                  <a:t>El precio relativo de la </a:t>
                </a:r>
                <a14:m>
                  <m:oMath xmlns:m="http://schemas.openxmlformats.org/officeDocument/2006/math"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E" sz="2400" dirty="0"/>
                  <a:t>vs la brecha producto implícito en la PC es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s-PE" sz="2400" dirty="0"/>
                  <a:t>.</a:t>
                </a:r>
              </a:p>
              <a:p>
                <a:pPr marL="360363" indent="0">
                  <a:lnSpc>
                    <a:spcPct val="150000"/>
                  </a:lnSpc>
                  <a:buNone/>
                </a:pPr>
                <a:r>
                  <a:rPr lang="es-PE" sz="2400" dirty="0"/>
                  <a:t>De CPO 1 y CPO 2 se tiene:  </a:t>
                </a:r>
                <a14:m>
                  <m:oMath xmlns:m="http://schemas.openxmlformats.org/officeDocument/2006/math"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sSup>
                      <m:sSup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PE" sz="2400" dirty="0"/>
              </a:p>
            </p:txBody>
          </p:sp>
        </mc:Choice>
        <mc:Fallback xmlns="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AD1298D4-3CF5-0210-F71F-115D520EA1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7408" y="-218857"/>
                <a:ext cx="11089232" cy="558062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D2863BF5-9B07-32B9-E395-15E756B9D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947" y="1916832"/>
            <a:ext cx="6324106" cy="65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737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4FF74-F1C2-50EE-DA67-9CE61210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5">
            <a:extLst>
              <a:ext uri="{FF2B5EF4-FFF2-40B4-BE49-F238E27FC236}">
                <a16:creationId xmlns:a16="http://schemas.microsoft.com/office/drawing/2014/main" id="{A6D346B6-E368-0943-4942-3A1CA9ECD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95580"/>
            <a:ext cx="8516620" cy="582930"/>
          </a:xfrm>
        </p:spPr>
        <p:txBody>
          <a:bodyPr tIns="548640" bIns="457200">
            <a:scene3d>
              <a:camera prst="orthographicFront"/>
              <a:lightRig rig="threePt" dir="t"/>
            </a:scene3d>
          </a:bodyPr>
          <a:lstStyle/>
          <a:p>
            <a:pPr marL="855980" indent="-855980" algn="l" eaLnBrk="1" hangingPunct="1">
              <a:lnSpc>
                <a:spcPct val="90000"/>
              </a:lnSpc>
              <a:defRPr/>
            </a:pPr>
            <a:r>
              <a:rPr lang="en-US" altLang="es-PE" sz="3200" b="1" dirty="0">
                <a:solidFill>
                  <a:schemeClr val="tx1"/>
                </a:solidFill>
              </a:rPr>
              <a:t>Regla de Política </a:t>
            </a:r>
            <a:r>
              <a:rPr lang="en-US" altLang="es-PE" sz="3200" b="1" dirty="0" err="1">
                <a:solidFill>
                  <a:schemeClr val="tx1"/>
                </a:solidFill>
              </a:rPr>
              <a:t>Monetaria</a:t>
            </a:r>
            <a:r>
              <a:rPr lang="en-US" altLang="es-PE" sz="3200" b="1" dirty="0">
                <a:solidFill>
                  <a:schemeClr val="tx1"/>
                </a:solidFill>
              </a:rPr>
              <a:t> Optima</a:t>
            </a:r>
            <a:endParaRPr lang="en-US" altLang="es-PE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EDDC1A58-FC75-5154-56A3-44C4D569EC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384" y="980728"/>
                <a:ext cx="11089232" cy="4583253"/>
              </a:xfrm>
            </p:spPr>
            <p:txBody>
              <a:bodyPr/>
              <a:lstStyle/>
              <a:p>
                <a:pPr marL="703263">
                  <a:lnSpc>
                    <a:spcPct val="150000"/>
                  </a:lnSpc>
                </a:pPr>
                <a:r>
                  <a:rPr lang="es-PE" sz="2400" dirty="0"/>
                  <a:t>Para determinar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𝑇𝑃𝑀</m:t>
                        </m:r>
                      </m:sub>
                    </m:sSub>
                  </m:oMath>
                </a14:m>
                <a:r>
                  <a:rPr lang="es-PE" sz="2400" dirty="0"/>
                  <a:t> utiliza la IS y PC para resolver </a:t>
                </a:r>
                <a14:m>
                  <m:oMath xmlns:m="http://schemas.openxmlformats.org/officeDocument/2006/math"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PE" sz="2400" dirty="0"/>
                  <a:t>:</a:t>
                </a:r>
              </a:p>
              <a:p>
                <a:pPr marL="360363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sSup>
                            <m:sSupPr>
                              <m:ctrlPr>
                                <a:rPr lang="es-P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̅"/>
                          <m:ctrlP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acc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PE" sz="2400" dirty="0"/>
              </a:p>
              <a:p>
                <a:pPr marL="703263">
                  <a:lnSpc>
                    <a:spcPct val="150000"/>
                  </a:lnSpc>
                </a:pPr>
                <a:r>
                  <a:rPr lang="es-PE" sz="2400" dirty="0"/>
                  <a:t>Con este output gap en la IS para despejar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𝑇𝑃𝑀</m:t>
                        </m:r>
                      </m:sub>
                    </m:sSub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E" sz="2400" dirty="0"/>
                  <a:t>y asumiendo que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s-P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r>
                      <a:rPr lang="es-P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P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s-PE" sz="2400" dirty="0"/>
                  <a:t> y que el BC observa el shock de demanda cuando fija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P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𝑇𝑃𝑀</m:t>
                        </m:r>
                      </m:sub>
                    </m:sSub>
                    <m:r>
                      <a:rPr lang="es-P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E" sz="2400" dirty="0"/>
                  <a:t>la se tiene:</a:t>
                </a:r>
              </a:p>
              <a:p>
                <a:pPr marL="360363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sSup>
                            <m:sSupPr>
                              <m:ctrlP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acc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EDDC1A58-FC75-5154-56A3-44C4D569EC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384" y="980728"/>
                <a:ext cx="11089232" cy="4583253"/>
              </a:xfrm>
              <a:blipFill>
                <a:blip r:embed="rId3"/>
                <a:stretch>
                  <a:fillRect r="-5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481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98CD1-F103-7296-5944-A994EA12C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5">
            <a:extLst>
              <a:ext uri="{FF2B5EF4-FFF2-40B4-BE49-F238E27FC236}">
                <a16:creationId xmlns:a16="http://schemas.microsoft.com/office/drawing/2014/main" id="{73CBD7D8-0A25-C108-8D06-D8A3AEB56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95580"/>
            <a:ext cx="8516620" cy="582930"/>
          </a:xfrm>
        </p:spPr>
        <p:txBody>
          <a:bodyPr tIns="548640" bIns="457200">
            <a:scene3d>
              <a:camera prst="orthographicFront"/>
              <a:lightRig rig="threePt" dir="t"/>
            </a:scene3d>
          </a:bodyPr>
          <a:lstStyle/>
          <a:p>
            <a:pPr marL="855980" indent="-855980" algn="l" eaLnBrk="1" hangingPunct="1">
              <a:lnSpc>
                <a:spcPct val="90000"/>
              </a:lnSpc>
              <a:defRPr/>
            </a:pPr>
            <a:r>
              <a:rPr lang="en-US" altLang="es-PE" sz="3200" b="1" dirty="0">
                <a:solidFill>
                  <a:schemeClr val="tx1"/>
                </a:solidFill>
              </a:rPr>
              <a:t>Regla de Política </a:t>
            </a:r>
            <a:r>
              <a:rPr lang="en-US" altLang="es-PE" sz="3200" b="1" dirty="0" err="1">
                <a:solidFill>
                  <a:schemeClr val="tx1"/>
                </a:solidFill>
              </a:rPr>
              <a:t>Monetaria</a:t>
            </a:r>
            <a:r>
              <a:rPr lang="en-US" altLang="es-PE" sz="3200" b="1" dirty="0">
                <a:solidFill>
                  <a:schemeClr val="tx1"/>
                </a:solidFill>
              </a:rPr>
              <a:t> Optima</a:t>
            </a:r>
            <a:endParaRPr lang="en-US" altLang="es-PE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69A54130-E62E-BC71-2456-87D5CD81F8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384" y="980728"/>
                <a:ext cx="11089232" cy="4583253"/>
              </a:xfrm>
            </p:spPr>
            <p:txBody>
              <a:bodyPr/>
              <a:lstStyle/>
              <a:p>
                <a:pPr marL="703263">
                  <a:lnSpc>
                    <a:spcPct val="150000"/>
                  </a:lnSpc>
                </a:pPr>
                <a:r>
                  <a:rPr lang="es-PE" sz="2400" dirty="0"/>
                  <a:t>Si se toman las variables en equilibrio :</a:t>
                </a:r>
              </a:p>
              <a:p>
                <a:pPr marL="360363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acc>
                    </m:oMath>
                  </m:oMathPara>
                </a14:m>
                <a:endParaRPr lang="es-PE" sz="2400" dirty="0"/>
              </a:p>
              <a:p>
                <a:pPr marL="719138" indent="-358775">
                  <a:lnSpc>
                    <a:spcPct val="150000"/>
                  </a:lnSpc>
                  <a:buNone/>
                </a:pPr>
                <a:r>
                  <a:rPr lang="es-PE" sz="2400" dirty="0"/>
                  <a:t>	se tiene:</a:t>
                </a:r>
              </a:p>
              <a:p>
                <a:pPr marL="360363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+[1+</m:t>
                      </m:r>
                      <m:f>
                        <m:fPr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sSup>
                            <m:sSupPr>
                              <m:ctrlP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d>
                        <m:dPr>
                          <m:begChr m:val="["/>
                          <m:endChr m:val="]"/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acc>
                        </m:e>
                      </m:d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sSup>
                            <m:sSupPr>
                              <m:ctrlP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s-P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s-PE" sz="2400" dirty="0"/>
              </a:p>
              <a:p>
                <a:pPr marL="719138" indent="0">
                  <a:lnSpc>
                    <a:spcPct val="150000"/>
                  </a:lnSpc>
                  <a:buNone/>
                </a:pPr>
                <a:r>
                  <a:rPr lang="es-PE" sz="2400" dirty="0"/>
                  <a:t>que es la regla óptima que debería seguir el BC.</a:t>
                </a:r>
              </a:p>
            </p:txBody>
          </p:sp>
        </mc:Choice>
        <mc:Fallback xmlns="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69A54130-E62E-BC71-2456-87D5CD81F8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384" y="980728"/>
                <a:ext cx="11089232" cy="458325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5048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49AEC-7028-40D3-63B8-ED9419C2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9" name="Rectangle 3">
            <a:extLst>
              <a:ext uri="{FF2B5EF4-FFF2-40B4-BE49-F238E27FC236}">
                <a16:creationId xmlns:a16="http://schemas.microsoft.com/office/drawing/2014/main" id="{D1488081-48D3-F6BD-897C-F8A8E35791D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1425" y="990600"/>
            <a:ext cx="10873207" cy="42386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s-ES" altLang="es-PE" sz="2400" dirty="0"/>
              <a:t>Analizar cuál es el impacto sobre la inflación y el producto de diferentes shocks, y cuál es la respuesta de política monetaria.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altLang="es-PE" sz="2400" dirty="0"/>
              <a:t>Política fiscal y shock de demanda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altLang="es-PE" sz="2400" dirty="0"/>
              <a:t>Shock inflacionario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altLang="es-PE" sz="2400" dirty="0"/>
              <a:t>Cambio en las expectativas de inflación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altLang="es-PE" sz="2400" dirty="0"/>
              <a:t>Cambio en la meta de inflación</a:t>
            </a:r>
            <a:endParaRPr lang="en-US" altLang="es-PE" sz="2400" dirty="0"/>
          </a:p>
        </p:txBody>
      </p:sp>
      <p:sp>
        <p:nvSpPr>
          <p:cNvPr id="46084" name="Rectangle 5">
            <a:extLst>
              <a:ext uri="{FF2B5EF4-FFF2-40B4-BE49-F238E27FC236}">
                <a16:creationId xmlns:a16="http://schemas.microsoft.com/office/drawing/2014/main" id="{E613EBB6-5692-BA96-019A-44871A759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95580"/>
            <a:ext cx="8516620" cy="582930"/>
          </a:xfrm>
        </p:spPr>
        <p:txBody>
          <a:bodyPr tIns="548640" bIns="457200">
            <a:scene3d>
              <a:camera prst="orthographicFront"/>
              <a:lightRig rig="threePt" dir="t"/>
            </a:scene3d>
          </a:bodyPr>
          <a:lstStyle/>
          <a:p>
            <a:pPr marL="855980" indent="-855980" algn="l" eaLnBrk="1" hangingPunct="1">
              <a:lnSpc>
                <a:spcPct val="90000"/>
              </a:lnSpc>
              <a:defRPr/>
            </a:pPr>
            <a:r>
              <a:rPr lang="en-US" altLang="es-PE" sz="3200" b="1" dirty="0" err="1">
                <a:solidFill>
                  <a:schemeClr val="tx1"/>
                </a:solidFill>
              </a:rPr>
              <a:t>Aplicaciones</a:t>
            </a:r>
            <a:endParaRPr lang="en-US" altLang="es-PE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375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ítulo 1">
            <a:extLst>
              <a:ext uri="{FF2B5EF4-FFF2-40B4-BE49-F238E27FC236}">
                <a16:creationId xmlns:a16="http://schemas.microsoft.com/office/drawing/2014/main" id="{234FCB6C-8996-8853-2073-2D71134341EE}"/>
              </a:ext>
            </a:extLst>
          </p:cNvPr>
          <p:cNvSpPr txBox="1">
            <a:spLocks/>
          </p:cNvSpPr>
          <p:nvPr/>
        </p:nvSpPr>
        <p:spPr bwMode="auto">
          <a:xfrm>
            <a:off x="1214438" y="2540000"/>
            <a:ext cx="9872662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PE" altLang="es-PE" sz="4000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TRANSFERENCIA</a:t>
            </a:r>
            <a:endParaRPr lang="es-ES_tradnl" altLang="es-PE" sz="4000" b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3603" name="TextBox 1">
            <a:extLst>
              <a:ext uri="{FF2B5EF4-FFF2-40B4-BE49-F238E27FC236}">
                <a16:creationId xmlns:a16="http://schemas.microsoft.com/office/drawing/2014/main" id="{29E857D3-19B3-EF3A-3FCF-646889D6F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7363"/>
            <a:ext cx="5030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PE" sz="12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FACULTAD DE CIENCIAS EMPRESARIALES Y ECONÓMICAS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PE" sz="12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CARRERA DE ECONOMÍA</a:t>
            </a:r>
            <a:endParaRPr lang="en-US" altLang="es-PE" sz="120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96429-DDA4-4F4C-E9D0-CD844EF6F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288" y="333375"/>
            <a:ext cx="10515600" cy="61753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" dirty="0"/>
              <a:t>SET DE EJERCICIOS 1</a:t>
            </a:r>
            <a:endParaRPr lang="es-PE" dirty="0"/>
          </a:p>
        </p:txBody>
      </p:sp>
      <p:sp>
        <p:nvSpPr>
          <p:cNvPr id="154627" name="Rectangle 1">
            <a:extLst>
              <a:ext uri="{FF2B5EF4-FFF2-40B4-BE49-F238E27FC236}">
                <a16:creationId xmlns:a16="http://schemas.microsoft.com/office/drawing/2014/main" id="{14DCF218-DF34-98A6-C3D7-F773E0308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288" y="1857375"/>
            <a:ext cx="9891712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endParaRPr lang="es-ES" altLang="es-PE" sz="24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Bef>
                <a:spcPct val="0"/>
              </a:spcBef>
            </a:pPr>
            <a:endParaRPr lang="es-ES" altLang="es-PE" sz="24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Bef>
                <a:spcPct val="0"/>
              </a:spcBef>
            </a:pPr>
            <a:endParaRPr lang="es-ES" altLang="es-PE" sz="24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Bef>
                <a:spcPct val="0"/>
              </a:spcBef>
            </a:pPr>
            <a:endParaRPr lang="es-ES" altLang="es-PE" sz="24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s-ES" altLang="es-PE" sz="24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PE" altLang="es-PE" sz="24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s-ES" altLang="es-PE" sz="240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ítulo 1">
            <a:extLst>
              <a:ext uri="{FF2B5EF4-FFF2-40B4-BE49-F238E27FC236}">
                <a16:creationId xmlns:a16="http://schemas.microsoft.com/office/drawing/2014/main" id="{00C6D90B-268A-981E-8B73-0280DBCFB6BE}"/>
              </a:ext>
            </a:extLst>
          </p:cNvPr>
          <p:cNvSpPr txBox="1">
            <a:spLocks/>
          </p:cNvSpPr>
          <p:nvPr/>
        </p:nvSpPr>
        <p:spPr bwMode="auto">
          <a:xfrm>
            <a:off x="1214438" y="2540000"/>
            <a:ext cx="9872662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PE" altLang="es-PE" sz="4000" b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CIERRE</a:t>
            </a:r>
            <a:endParaRPr lang="es-ES_tradnl" altLang="es-PE" sz="4000" b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5651" name="TextBox 1">
            <a:extLst>
              <a:ext uri="{FF2B5EF4-FFF2-40B4-BE49-F238E27FC236}">
                <a16:creationId xmlns:a16="http://schemas.microsoft.com/office/drawing/2014/main" id="{E357FB48-3FD1-F9E8-A3B3-AE8DBD832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7363"/>
            <a:ext cx="5030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PE" sz="12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FACULTAD DE CIENCIAS EMPRESARIALES Y ECONÓMICAS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PE" sz="12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CARRERA DE ECONOMÍA</a:t>
            </a:r>
            <a:endParaRPr lang="en-US" altLang="es-PE" sz="120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1;p17">
            <a:extLst>
              <a:ext uri="{FF2B5EF4-FFF2-40B4-BE49-F238E27FC236}">
                <a16:creationId xmlns:a16="http://schemas.microsoft.com/office/drawing/2014/main" id="{FDC65F5B-5BF3-7F41-4036-5CCB195D6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0013" y="449263"/>
            <a:ext cx="6477000" cy="889000"/>
          </a:xfrm>
        </p:spPr>
        <p:txBody>
          <a:bodyPr lIns="121900" tIns="121900" rIns="121900" bIns="121900" rtlCol="0" anchor="t"/>
          <a:lstStyle/>
          <a:p>
            <a:pPr>
              <a:defRPr/>
            </a:pPr>
            <a:r>
              <a:rPr lang="es-ES" sz="3733" dirty="0">
                <a:solidFill>
                  <a:srgbClr val="FE9B03"/>
                </a:solidFill>
                <a:latin typeface="Tahoma"/>
                <a:ea typeface="Tahoma"/>
                <a:cs typeface="Tahoma"/>
                <a:sym typeface="Tahoma"/>
              </a:rPr>
              <a:t>Actividad de cierre</a:t>
            </a:r>
            <a:endParaRPr sz="3733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96B4B630-6B0D-C322-A0B6-7CC9DA6B94B5}"/>
              </a:ext>
            </a:extLst>
          </p:cNvPr>
          <p:cNvSpPr txBox="1"/>
          <p:nvPr/>
        </p:nvSpPr>
        <p:spPr>
          <a:xfrm>
            <a:off x="649288" y="1908175"/>
            <a:ext cx="5807075" cy="310854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2800" dirty="0"/>
              <a:t>Se </a:t>
            </a:r>
            <a:r>
              <a:rPr lang="en-US" sz="2800" dirty="0" err="1"/>
              <a:t>evalúa</a:t>
            </a:r>
            <a:r>
              <a:rPr lang="en-US" sz="2800" dirty="0"/>
              <a:t> lo  </a:t>
            </a:r>
            <a:r>
              <a:rPr lang="en-US" sz="2800" dirty="0" err="1"/>
              <a:t>aprendido</a:t>
            </a:r>
            <a:r>
              <a:rPr lang="en-US" sz="2800" dirty="0"/>
              <a:t> </a:t>
            </a:r>
            <a:r>
              <a:rPr lang="en-US" sz="2800" dirty="0" err="1"/>
              <a:t>por</a:t>
            </a:r>
            <a:r>
              <a:rPr lang="en-US" sz="2800" dirty="0"/>
              <a:t> medio: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De </a:t>
            </a:r>
            <a:r>
              <a:rPr lang="en-US" sz="2800" dirty="0" err="1"/>
              <a:t>comentarios</a:t>
            </a:r>
            <a:r>
              <a:rPr lang="en-US" sz="2800" dirty="0"/>
              <a:t> de </a:t>
            </a:r>
            <a:r>
              <a:rPr lang="en-US" sz="2800" dirty="0" err="1"/>
              <a:t>noticias</a:t>
            </a:r>
            <a:r>
              <a:rPr lang="en-US" sz="2800" dirty="0"/>
              <a:t> de la </a:t>
            </a:r>
            <a:r>
              <a:rPr lang="en-US" sz="2800" dirty="0" err="1"/>
              <a:t>actualidad</a:t>
            </a:r>
            <a:r>
              <a:rPr lang="en-US" sz="2800" dirty="0"/>
              <a:t> </a:t>
            </a:r>
            <a:r>
              <a:rPr lang="en-US" sz="2800" dirty="0" err="1"/>
              <a:t>relacionados</a:t>
            </a:r>
            <a:r>
              <a:rPr lang="en-US" sz="2800" dirty="0"/>
              <a:t> a la </a:t>
            </a:r>
            <a:r>
              <a:rPr lang="en-US" sz="2800" dirty="0" err="1"/>
              <a:t>economía</a:t>
            </a:r>
            <a:r>
              <a:rPr lang="en-US" sz="2800" dirty="0"/>
              <a:t> </a:t>
            </a:r>
            <a:r>
              <a:rPr lang="en-US" sz="2800" dirty="0" err="1"/>
              <a:t>abierta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800" dirty="0"/>
          </a:p>
        </p:txBody>
      </p:sp>
      <p:pic>
        <p:nvPicPr>
          <p:cNvPr id="156676" name="Imagen 4">
            <a:extLst>
              <a:ext uri="{FF2B5EF4-FFF2-40B4-BE49-F238E27FC236}">
                <a16:creationId xmlns:a16="http://schemas.microsoft.com/office/drawing/2014/main" id="{1874DCA3-177E-8DB3-2373-3623A49A1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25" y="1143000"/>
            <a:ext cx="3749675" cy="509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7633</TotalTime>
  <Words>1794</Words>
  <Application>Microsoft Office PowerPoint</Application>
  <PresentationFormat>Panorámica</PresentationFormat>
  <Paragraphs>179</Paragraphs>
  <Slides>34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3" baseType="lpstr">
      <vt:lpstr>Abril Fatface</vt:lpstr>
      <vt:lpstr>Arial</vt:lpstr>
      <vt:lpstr>Calibri</vt:lpstr>
      <vt:lpstr>Cambria Math</vt:lpstr>
      <vt:lpstr>Tahoma</vt:lpstr>
      <vt:lpstr>Times New Roman</vt:lpstr>
      <vt:lpstr>Verdana</vt:lpstr>
      <vt:lpstr>Wingdings</vt:lpstr>
      <vt:lpstr>Diseño predeterminado</vt:lpstr>
      <vt:lpstr>OA-DA; POLITICA MACROECONOMICA Y REGLA DE TAYLOR (Sesión 8 Parte 3)</vt:lpstr>
      <vt:lpstr>Presentación de PowerPoint</vt:lpstr>
      <vt:lpstr>Logro de aprendizaje: </vt:lpstr>
      <vt:lpstr>CONTENIDO DETALLADO</vt:lpstr>
      <vt:lpstr>Presentación de PowerPoint</vt:lpstr>
      <vt:lpstr>Presentación de PowerPoint</vt:lpstr>
      <vt:lpstr>Presentación de PowerPoint</vt:lpstr>
      <vt:lpstr>El modelo básico</vt:lpstr>
      <vt:lpstr>El modelo básico</vt:lpstr>
      <vt:lpstr>El modelo básico</vt:lpstr>
      <vt:lpstr>El modelo básico</vt:lpstr>
      <vt:lpstr>El modelo básico</vt:lpstr>
      <vt:lpstr>El modelo básico</vt:lpstr>
      <vt:lpstr>El modelo básico</vt:lpstr>
      <vt:lpstr>El modelo básico</vt:lpstr>
      <vt:lpstr>El modelo básico</vt:lpstr>
      <vt:lpstr>El modelo básico</vt:lpstr>
      <vt:lpstr>El modelo básico</vt:lpstr>
      <vt:lpstr>La demanda agregada</vt:lpstr>
      <vt:lpstr>La demanda agregada</vt:lpstr>
      <vt:lpstr>La demanda agregada</vt:lpstr>
      <vt:lpstr>Regla de Taylor</vt:lpstr>
      <vt:lpstr>Regla de Taylor</vt:lpstr>
      <vt:lpstr>Regla de Taylor</vt:lpstr>
      <vt:lpstr>Regla de Política Monetaria Optima</vt:lpstr>
      <vt:lpstr>Regla de Política Monetaria Optima</vt:lpstr>
      <vt:lpstr>Regla de Política Monetaria Optima</vt:lpstr>
      <vt:lpstr>Regla de Política Monetaria Optima</vt:lpstr>
      <vt:lpstr>Regla de Política Monetaria Optima</vt:lpstr>
      <vt:lpstr>Aplicaciones</vt:lpstr>
      <vt:lpstr>Presentación de PowerPoint</vt:lpstr>
      <vt:lpstr>SET DE EJERCICIOS 1</vt:lpstr>
      <vt:lpstr>Presentación de PowerPoint</vt:lpstr>
      <vt:lpstr>Actividad de cierre</vt:lpstr>
    </vt:vector>
  </TitlesOfParts>
  <Company>Personal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Nora</dc:creator>
  <cp:lastModifiedBy>Azanero Saona, Jose  Manuel</cp:lastModifiedBy>
  <cp:revision>245</cp:revision>
  <dcterms:created xsi:type="dcterms:W3CDTF">2006-01-31T21:31:19Z</dcterms:created>
  <dcterms:modified xsi:type="dcterms:W3CDTF">2025-10-28T02:20:12Z</dcterms:modified>
</cp:coreProperties>
</file>