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47" r:id="rId3"/>
    <p:sldId id="266" r:id="rId4"/>
    <p:sldId id="368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348" r:id="rId14"/>
    <p:sldId id="275" r:id="rId15"/>
    <p:sldId id="374" r:id="rId16"/>
    <p:sldId id="276" r:id="rId17"/>
    <p:sldId id="277" r:id="rId18"/>
    <p:sldId id="278" r:id="rId19"/>
    <p:sldId id="349" r:id="rId20"/>
    <p:sldId id="353" r:id="rId21"/>
    <p:sldId id="354" r:id="rId22"/>
    <p:sldId id="355" r:id="rId23"/>
    <p:sldId id="356" r:id="rId24"/>
    <p:sldId id="357" r:id="rId25"/>
    <p:sldId id="35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8B8434F-CF3A-4759-8C46-F1C2C2C620CA}">
          <p14:sldIdLst>
            <p14:sldId id="256"/>
          </p14:sldIdLst>
        </p14:section>
        <p14:section name="I. LA OFERTA AGREGADA" id="{4B7B5D12-485C-4481-AD77-10528D22580A}">
          <p14:sldIdLst>
            <p14:sldId id="347"/>
          </p14:sldIdLst>
        </p14:section>
        <p14:section name="OA Ec de Salarios y Precios" id="{990B6580-6EAD-44C2-8A6A-95200B557178}">
          <p14:sldIdLst>
            <p14:sldId id="266"/>
            <p14:sldId id="368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I. LA DEMANDA AGREGADA" id="{7601CE2F-9062-49C9-A7A3-CF5582BB80B9}">
          <p14:sldIdLst>
            <p14:sldId id="348"/>
            <p14:sldId id="275"/>
            <p14:sldId id="374"/>
            <p14:sldId id="276"/>
            <p14:sldId id="277"/>
            <p14:sldId id="278"/>
          </p14:sldIdLst>
        </p14:section>
        <p14:section name="III. EQUILIBRIO EN CORTO Y MEDIANO PLAZO" id="{F3A75D8C-B3C1-450C-B053-0DF2372878A6}">
          <p14:sldIdLst>
            <p14:sldId id="349"/>
            <p14:sldId id="353"/>
            <p14:sldId id="354"/>
            <p14:sldId id="355"/>
            <p14:sldId id="356"/>
            <p14:sldId id="357"/>
            <p14:sldId id="359"/>
          </p14:sldIdLst>
        </p14:section>
        <p14:section name="IV. EFECTOS DE EXPANSION MONETARIA" id="{5E0C3A80-34C1-4556-A21D-255D2E8E4CAA}">
          <p14:sldIdLst/>
        </p14:section>
        <p14:section name="V. REDUCCION DE DEFICIT PRESUPUESTARIO" id="{B986B97C-414B-413F-AAC6-2025D20B6A11}">
          <p14:sldIdLst/>
        </p14:section>
        <p14:section name="VI. VARIACION DE PRECIO DE PETROLEO" id="{246B1B85-17D2-4255-84B1-5627D314CDE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80FF"/>
    <a:srgbClr val="556ADD"/>
    <a:srgbClr val="C8AD76"/>
    <a:srgbClr val="333399"/>
    <a:srgbClr val="6699FF"/>
    <a:srgbClr val="CCCCFF"/>
    <a:srgbClr val="FEFDE1"/>
    <a:srgbClr val="FEF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528" autoAdjust="0"/>
    <p:restoredTop sz="94660"/>
  </p:normalViewPr>
  <p:slideViewPr>
    <p:cSldViewPr showGuides="1">
      <p:cViewPr varScale="1">
        <p:scale>
          <a:sx n="79" d="100"/>
          <a:sy n="79" d="100"/>
        </p:scale>
        <p:origin x="1824" y="62"/>
      </p:cViewPr>
      <p:guideLst>
        <p:guide orient="horz" pos="100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" d="1"/>
        <a:sy n="1" d="1"/>
      </p:scale>
      <p:origin x="0" y="-31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AA119B-5E77-48A5-AF32-59BCB21BBA0C}" type="slidenum">
              <a:rPr kumimoji="0" lang="en-US" altLang="es-PE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endParaRPr kumimoji="0" lang="en-US" altLang="es-P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6177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400" b="1" i="0" u="none" strike="noStrike" kern="1200" cap="none" spc="0" normalizeH="0" baseline="0" noProof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Futura Lt BT" pitchFamily="34" charset="0"/>
                <a:ea typeface="+mn-ea"/>
                <a:cs typeface="+mn-cs"/>
              </a:rPr>
              <a:t>© 2006 Prentice Hall Business Publishing	    Macroeconomics, 4/e          Olivier Blanchard</a:t>
            </a:r>
            <a:endParaRPr kumimoji="0" lang="en-US" altLang="es-PE" sz="1400" b="0" i="0" u="none" strike="noStrike" kern="1200" cap="none" spc="0" normalizeH="0" baseline="0" noProof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400" b="1" i="0" u="none" strike="noStrike" kern="1200" cap="none" spc="0" normalizeH="0" baseline="0" noProof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Futura Lt BT" pitchFamily="34" charset="0"/>
                <a:ea typeface="+mn-ea"/>
                <a:cs typeface="+mn-cs"/>
              </a:rPr>
              <a:t>© 2006 Prentice Hall Business Publishing	    Macroeconomics, 4/e          Olivier Blanchard</a:t>
            </a:r>
            <a:endParaRPr kumimoji="0" lang="en-US" altLang="es-PE" sz="1400" b="0" i="0" u="none" strike="noStrike" kern="1200" cap="none" spc="0" normalizeH="0" baseline="0" noProof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400" b="1" i="0" u="none" strike="noStrike" kern="1200" cap="none" spc="0" normalizeH="0" baseline="0" noProof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Futura Lt BT" pitchFamily="34" charset="0"/>
                <a:ea typeface="+mn-ea"/>
                <a:cs typeface="+mn-cs"/>
              </a:rPr>
              <a:t>© 2006 Prentice Hall Business Publishing	    Macroeconomics, 4/e          Olivier Blanchard</a:t>
            </a:r>
            <a:endParaRPr kumimoji="0" lang="en-US" altLang="es-PE" sz="1400" b="0" i="0" u="none" strike="noStrike" kern="1200" cap="none" spc="0" normalizeH="0" baseline="0" noProof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400" b="1" i="0" u="none" strike="noStrike" kern="1200" cap="none" spc="0" normalizeH="0" baseline="0" noProof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Futura Lt BT" pitchFamily="34" charset="0"/>
                <a:ea typeface="+mn-ea"/>
                <a:cs typeface="+mn-cs"/>
              </a:rPr>
              <a:t>© 2006 Prentice Hall Business Publishing	    Macroeconomics, 4/e          Olivier Blanchard</a:t>
            </a:r>
            <a:endParaRPr kumimoji="0" lang="en-US" altLang="es-PE" sz="1400" b="0" i="0" u="none" strike="noStrike" kern="1200" cap="none" spc="0" normalizeH="0" baseline="0" noProof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s-PE" sz="1400" b="1" i="0" u="none" strike="noStrike" kern="1200" cap="none" spc="0" normalizeH="0" baseline="0" noProof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  <a:latin typeface="Futura Lt BT" pitchFamily="34" charset="0"/>
                <a:ea typeface="+mn-ea"/>
                <a:cs typeface="+mn-cs"/>
              </a:rPr>
              <a:t>© 2006 Prentice Hall Business Publishing	    Macroeconomics, 4/e          Olivier Blanchard</a:t>
            </a:r>
            <a:endParaRPr kumimoji="0" lang="en-US" altLang="es-PE" sz="1400" b="0" i="0" u="none" strike="noStrike" kern="1200" cap="none" spc="0" normalizeH="0" baseline="0" noProof="0">
              <a:ln>
                <a:noFill/>
              </a:ln>
              <a:solidFill>
                <a:srgbClr val="6699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49"/>
          <p:cNvGrpSpPr/>
          <p:nvPr userDrawn="1"/>
        </p:nvGrpSpPr>
        <p:grpSpPr>
          <a:xfrm>
            <a:off x="609600" y="5410200"/>
            <a:ext cx="4038600" cy="762000"/>
            <a:chOff x="384" y="3408"/>
            <a:chExt cx="2544" cy="480"/>
          </a:xfrm>
        </p:grpSpPr>
        <p:sp>
          <p:nvSpPr>
            <p:cNvPr id="2059" name="Text Box 26"/>
            <p:cNvSpPr txBox="1"/>
            <p:nvPr/>
          </p:nvSpPr>
          <p:spPr>
            <a:xfrm>
              <a:off x="384" y="3408"/>
              <a:ext cx="2496" cy="480"/>
            </a:xfrm>
            <a:prstGeom prst="rect">
              <a:avLst/>
            </a:prstGeom>
            <a:gradFill rotWithShape="0">
              <a:gsLst>
                <a:gs pos="0">
                  <a:srgbClr val="FF99CC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pPr lvl="0" eaLnBrk="1" hangingPunct="1">
                <a:spcBef>
                  <a:spcPct val="50000"/>
                </a:spcBef>
              </a:pPr>
              <a:endParaRPr lang="es-PE" altLang="es-PE" sz="1400" dirty="0">
                <a:solidFill>
                  <a:srgbClr val="333399"/>
                </a:solidFill>
                <a:latin typeface="Futura Lt BT" pitchFamily="34" charset="0"/>
              </a:endParaRPr>
            </a:p>
          </p:txBody>
        </p:sp>
        <p:sp>
          <p:nvSpPr>
            <p:cNvPr id="2060" name="Text Box 17"/>
            <p:cNvSpPr txBox="1"/>
            <p:nvPr/>
          </p:nvSpPr>
          <p:spPr>
            <a:xfrm>
              <a:off x="384" y="3447"/>
              <a:ext cx="2544" cy="393"/>
            </a:xfrm>
            <a:prstGeom prst="rect">
              <a:avLst/>
            </a:prstGeom>
            <a:solidFill>
              <a:srgbClr val="F7F2E7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es-PE" sz="1400" b="1" dirty="0">
                  <a:solidFill>
                    <a:srgbClr val="CC0099"/>
                  </a:solidFill>
                  <a:latin typeface="Futura Lt BT" pitchFamily="34" charset="0"/>
                </a:rPr>
                <a:t>Prepared by:</a:t>
              </a:r>
            </a:p>
            <a:p>
              <a:pPr lvl="0" eaLnBrk="1" hangingPunct="1">
                <a:spcBef>
                  <a:spcPct val="50000"/>
                </a:spcBef>
              </a:pPr>
              <a:r>
                <a:rPr lang="en-US" altLang="es-PE" sz="1400" b="1" dirty="0">
                  <a:solidFill>
                    <a:srgbClr val="CC0099"/>
                  </a:solidFill>
                  <a:latin typeface="Futura Lt BT" pitchFamily="34" charset="0"/>
                </a:rPr>
                <a:t>Fernando Quijano and Yvonn Quijano</a:t>
              </a:r>
            </a:p>
          </p:txBody>
        </p:sp>
      </p:grpSp>
      <p:grpSp>
        <p:nvGrpSpPr>
          <p:cNvPr id="14" name="Group 48"/>
          <p:cNvGrpSpPr/>
          <p:nvPr userDrawn="1"/>
        </p:nvGrpSpPr>
        <p:grpSpPr>
          <a:xfrm>
            <a:off x="0" y="0"/>
            <a:ext cx="3429000" cy="6553200"/>
            <a:chOff x="0" y="0"/>
            <a:chExt cx="2160" cy="4128"/>
          </a:xfrm>
        </p:grpSpPr>
        <p:pic>
          <p:nvPicPr>
            <p:cNvPr id="2061" name="Picture 47"/>
            <p:cNvPicPr>
              <a:picLocks noChangeAspect="1"/>
            </p:cNvPicPr>
            <p:nvPr/>
          </p:nvPicPr>
          <p:blipFill>
            <a:blip r:embed="rId2">
              <a:lum bright="28000" contrast="-52000"/>
            </a:blip>
            <a:stretch>
              <a:fillRect/>
            </a:stretch>
          </p:blipFill>
          <p:spPr>
            <a:xfrm>
              <a:off x="240" y="0"/>
              <a:ext cx="1104" cy="412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62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92"/>
              <a:ext cx="2160" cy="139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6/22/2025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9230C-B106-407F-9C63-55C8040EE192}" type="slidenum">
              <a:rPr kumimoji="0" lang="en-US" altLang="es-PE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‹Nº›</a:t>
            </a:fld>
            <a:r>
              <a:rPr kumimoji="0" lang="en-US" altLang="es-PE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49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5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wmf"/><Relationship Id="rId7" Type="http://schemas.openxmlformats.org/officeDocument/2006/relationships/image" Target="../media/image24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wmf"/><Relationship Id="rId10" Type="http://schemas.openxmlformats.org/officeDocument/2006/relationships/image" Target="../media/image27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30.png"/><Relationship Id="rId7" Type="http://schemas.openxmlformats.org/officeDocument/2006/relationships/oleObject" Target="../embeddings/oleObject12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Modelo de Oferta Agregada y Demanda Agregada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Oferta Agregada</a:t>
            </a:r>
            <a:endParaRPr lang="es-PE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17805" y="156227"/>
            <a:ext cx="6347713" cy="951006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pPr eaLnBrk="1" hangingPunct="1"/>
            <a:r>
              <a:rPr lang="en-US" altLang="es-PE" dirty="0" err="1">
                <a:solidFill>
                  <a:srgbClr val="C8AD76"/>
                </a:solidFill>
              </a:rPr>
              <a:t>Oferta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0467" name="Rectangle 3"/>
          <p:cNvSpPr>
            <a:spLocks noGrp="1"/>
          </p:cNvSpPr>
          <p:nvPr>
            <p:ph idx="1"/>
          </p:nvPr>
        </p:nvSpPr>
        <p:spPr>
          <a:xfrm>
            <a:off x="76201" y="1219200"/>
            <a:ext cx="7391400" cy="4114800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s-E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La curva de la oferta agregada describe, para cada nivel de precios, la cantidad de producción que las empresas están dispuestas a ofrecer.</a:t>
            </a:r>
          </a:p>
          <a:p>
            <a:pPr>
              <a:lnSpc>
                <a:spcPct val="170000"/>
              </a:lnSpc>
            </a:pPr>
            <a:r>
              <a:rPr lang="es-E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A corto plazo, la curva OA es horizontal (la </a:t>
            </a:r>
            <a:r>
              <a:rPr lang="es-ES" altLang="es-PE" sz="2400" b="1" dirty="0">
                <a:solidFill>
                  <a:schemeClr val="tx1"/>
                </a:solidFill>
                <a:latin typeface="Arial" panose="020B0604020202020204" pitchFamily="34" charset="0"/>
              </a:rPr>
              <a:t>curva keynesiana</a:t>
            </a:r>
            <a:r>
              <a:rPr lang="es-E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 oferta agregada); a largo plazo, la curva OA es vertical (la </a:t>
            </a:r>
            <a:r>
              <a:rPr lang="es-ES" altLang="es-PE" sz="2400" b="1" dirty="0">
                <a:solidFill>
                  <a:schemeClr val="tx1"/>
                </a:solidFill>
                <a:latin typeface="Arial" panose="020B0604020202020204" pitchFamily="34" charset="0"/>
              </a:rPr>
              <a:t>curva clásica</a:t>
            </a:r>
            <a:r>
              <a:rPr lang="es-E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 oferta agregada).</a:t>
            </a:r>
            <a:endParaRPr lang="en-US" altLang="es-PE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3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17805" y="167752"/>
            <a:ext cx="6347713" cy="951006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pPr eaLnBrk="1" hangingPunct="1"/>
            <a:r>
              <a:rPr lang="en-US" altLang="es-PE" b="1" dirty="0" err="1">
                <a:solidFill>
                  <a:srgbClr val="C8AD76"/>
                </a:solidFill>
              </a:rPr>
              <a:t>Oferta</a:t>
            </a:r>
            <a:r>
              <a:rPr lang="en-US" altLang="es-PE" b="1" dirty="0">
                <a:solidFill>
                  <a:srgbClr val="C8AD76"/>
                </a:solidFill>
              </a:rPr>
              <a:t> </a:t>
            </a:r>
            <a:r>
              <a:rPr lang="en-US" altLang="es-PE" b="1" dirty="0" err="1">
                <a:solidFill>
                  <a:srgbClr val="C8AD76"/>
                </a:solidFill>
              </a:rPr>
              <a:t>Agregada</a:t>
            </a:r>
            <a:endParaRPr lang="en-US" altLang="es-PE" b="1" dirty="0">
              <a:solidFill>
                <a:srgbClr val="C8AD76"/>
              </a:solidFill>
            </a:endParaRPr>
          </a:p>
        </p:txBody>
      </p:sp>
      <p:sp>
        <p:nvSpPr>
          <p:cNvPr id="190467" name="Rectangle 3"/>
          <p:cNvSpPr>
            <a:spLocks noGrp="1"/>
          </p:cNvSpPr>
          <p:nvPr>
            <p:ph idx="1"/>
          </p:nvPr>
        </p:nvSpPr>
        <p:spPr>
          <a:xfrm>
            <a:off x="152401" y="1123423"/>
            <a:ext cx="7467600" cy="3372377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200" b="1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oferta</a:t>
            </a:r>
            <a:r>
              <a:rPr lang="en-US" altLang="es-PE" sz="22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agregada</a:t>
            </a:r>
            <a:r>
              <a:rPr lang="en-US" altLang="es-PE" sz="22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captura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los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efectos</a:t>
            </a:r>
            <a:r>
              <a:rPr lang="en-US" altLang="es-PE" sz="2200" u="sng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sz="22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200" u="sng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sobre</a:t>
            </a:r>
            <a:r>
              <a:rPr lang="en-US" altLang="es-PE" sz="2200" u="sng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2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200" u="sng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Dicha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generada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del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comportamiento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los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salarios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y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De la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ecuaciones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determinación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salarios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y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409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4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graphicFrame>
        <p:nvGraphicFramePr>
          <p:cNvPr id="19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163568"/>
              </p:ext>
            </p:extLst>
          </p:nvPr>
        </p:nvGraphicFramePr>
        <p:xfrm>
          <a:off x="3048000" y="4876800"/>
          <a:ext cx="2127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228600" progId="Equation.COEE2">
                  <p:embed/>
                </p:oleObj>
              </mc:Choice>
              <mc:Fallback>
                <p:oleObj r:id="rId2" imgW="939800" imgH="228600" progId="Equation.COEE2">
                  <p:embed/>
                  <p:pic>
                    <p:nvPicPr>
                      <p:cNvPr id="190469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000" y="4876800"/>
                        <a:ext cx="212725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3048000" y="5572192"/>
                <a:ext cx="2109295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572192"/>
                <a:ext cx="2109295" cy="406265"/>
              </a:xfrm>
              <a:prstGeom prst="rect">
                <a:avLst/>
              </a:prstGeom>
              <a:blipFill>
                <a:blip r:embed="rId5"/>
                <a:stretch>
                  <a:fillRect l="-2601" r="-173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126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uiExpand="1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/>
          </p:cNvSpPr>
          <p:nvPr>
            <p:ph type="title"/>
          </p:nvPr>
        </p:nvSpPr>
        <p:spPr>
          <a:xfrm>
            <a:off x="304800" y="78641"/>
            <a:ext cx="6791769" cy="1051024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n-US" altLang="es-PE" sz="32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200" b="1" dirty="0">
                <a:solidFill>
                  <a:srgbClr val="C8AD76"/>
                </a:solidFill>
              </a:rPr>
              <a:t> </a:t>
            </a:r>
            <a:r>
              <a:rPr lang="en-US" altLang="es-PE" sz="3200" b="1" dirty="0" err="1">
                <a:solidFill>
                  <a:srgbClr val="C8AD76"/>
                </a:solidFill>
              </a:rPr>
              <a:t>Agregada</a:t>
            </a:r>
            <a:endParaRPr lang="en-US" altLang="es-PE" sz="3200" b="1" dirty="0">
              <a:solidFill>
                <a:srgbClr val="C8AD76"/>
              </a:solidFill>
            </a:endParaRPr>
          </a:p>
        </p:txBody>
      </p:sp>
      <p:sp>
        <p:nvSpPr>
          <p:cNvPr id="191491" name="Rectangle 3"/>
          <p:cNvSpPr>
            <a:spLocks noGrp="1"/>
          </p:cNvSpPr>
          <p:nvPr>
            <p:ph idx="1"/>
          </p:nvPr>
        </p:nvSpPr>
        <p:spPr>
          <a:xfrm>
            <a:off x="597159" y="1717580"/>
            <a:ext cx="7741285" cy="12001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Considerando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salario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nominal y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5123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5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1052513" y="2290763"/>
          <a:ext cx="2127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228600" progId="Equation.COEE2">
                  <p:embed/>
                </p:oleObj>
              </mc:Choice>
              <mc:Fallback>
                <p:oleObj r:id="rId2" imgW="939800" imgH="228600" progId="Equation.COEE2">
                  <p:embed/>
                  <p:pic>
                    <p:nvPicPr>
                      <p:cNvPr id="0" name="Picture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2513" y="2290763"/>
                        <a:ext cx="212725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4" name="Rectangle 6"/>
          <p:cNvSpPr>
            <a:spLocks noChangeArrowheads="1"/>
          </p:cNvSpPr>
          <p:nvPr/>
        </p:nvSpPr>
        <p:spPr bwMode="auto">
          <a:xfrm>
            <a:off x="3200400" y="2286000"/>
            <a:ext cx="83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39725" indent="-3397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39725" marR="0" lvl="0" indent="-339725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s-PE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y</a:t>
            </a:r>
          </a:p>
        </p:txBody>
      </p:sp>
      <p:sp>
        <p:nvSpPr>
          <p:cNvPr id="191495" name="Rectangle 7"/>
          <p:cNvSpPr>
            <a:spLocks noChangeArrowheads="1"/>
          </p:cNvSpPr>
          <p:nvPr/>
        </p:nvSpPr>
        <p:spPr bwMode="auto">
          <a:xfrm>
            <a:off x="6036842" y="2270919"/>
            <a:ext cx="181175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39725" indent="-3397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39725" marR="0" lvl="0" indent="-339725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es-P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entonces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</p:txBody>
      </p:sp>
      <p:sp>
        <p:nvSpPr>
          <p:cNvPr id="191497" name="Rectangle 9"/>
          <p:cNvSpPr>
            <a:spLocks noChangeArrowheads="1"/>
          </p:cNvSpPr>
          <p:nvPr/>
        </p:nvSpPr>
        <p:spPr bwMode="auto">
          <a:xfrm>
            <a:off x="609600" y="3995420"/>
            <a:ext cx="7624445" cy="173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El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nivel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precios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depende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del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nivel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esperado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precios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y de la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tasa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de </a:t>
            </a:r>
            <a:r>
              <a:rPr lang="en-US" altLang="es-PE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desempleo</a:t>
            </a:r>
            <a:r>
              <a:rPr lang="en-US" altLang="es-PE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 </a:t>
            </a:r>
            <a:r>
              <a:rPr kumimoji="0" lang="en-US" altLang="es-P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asume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s-PE" sz="24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0" lang="en-US" altLang="es-PE" sz="24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 y </a:t>
            </a:r>
            <a:r>
              <a:rPr kumimoji="0" lang="en-US" altLang="es-PE" sz="2400" b="0" i="1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z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 son </a:t>
            </a:r>
            <a:r>
              <a:rPr kumimoji="0" lang="en-US" altLang="es-PE" sz="2400" b="0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constantes</a:t>
            </a:r>
            <a:r>
              <a:rPr kumimoji="0" lang="en-US" altLang="es-P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.</a:t>
            </a:r>
            <a:endParaRPr kumimoji="0" lang="en-US" altLang="es-P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/>
              <p:cNvSpPr txBox="1"/>
              <p:nvPr/>
            </p:nvSpPr>
            <p:spPr>
              <a:xfrm>
                <a:off x="4003394" y="2346392"/>
                <a:ext cx="2109295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394" y="2346392"/>
                <a:ext cx="2109295" cy="406265"/>
              </a:xfrm>
              <a:prstGeom prst="rect">
                <a:avLst/>
              </a:prstGeom>
              <a:blipFill rotWithShape="0">
                <a:blip r:embed="rId5"/>
                <a:stretch>
                  <a:fillRect l="-2890" r="-173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2538697" y="3170555"/>
                <a:ext cx="35739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697" y="3170555"/>
                <a:ext cx="3573992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 advAuto="1000"/>
      <p:bldP spid="191494" grpId="0"/>
      <p:bldP spid="191495" grpId="0"/>
      <p:bldP spid="191497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685800" y="79375"/>
            <a:ext cx="6347713" cy="1063625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2515" name="Rectangle 3"/>
          <p:cNvSpPr>
            <a:spLocks noGrp="1"/>
          </p:cNvSpPr>
          <p:nvPr>
            <p:ph idx="1"/>
          </p:nvPr>
        </p:nvSpPr>
        <p:spPr>
          <a:xfrm>
            <a:off x="838200" y="1281589"/>
            <a:ext cx="6858000" cy="775811"/>
          </a:xfrm>
        </p:spPr>
        <p:txBody>
          <a:bodyPr vert="horz" wrap="square" lIns="91440" tIns="45720" rIns="91440" bIns="45720" anchor="t">
            <a:normAutofit fontScale="850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tasa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desempleo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términos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las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6147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6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838200" y="3962400"/>
            <a:ext cx="6553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s-PE" sz="2200" dirty="0" err="1"/>
              <a:t>Por</a:t>
            </a:r>
            <a:r>
              <a:rPr lang="en-US" altLang="es-PE" sz="2200" dirty="0"/>
              <a:t> lo </a:t>
            </a:r>
            <a:r>
              <a:rPr lang="en-US" altLang="es-PE" sz="2200" dirty="0" err="1"/>
              <a:t>tanto</a:t>
            </a:r>
            <a:r>
              <a:rPr lang="en-US" altLang="es-PE" sz="2200" dirty="0"/>
              <a:t>, para un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fuerza</a:t>
            </a:r>
            <a:r>
              <a:rPr lang="en-US" altLang="es-PE" sz="2200" dirty="0"/>
              <a:t> </a:t>
            </a:r>
            <a:r>
              <a:rPr lang="en-US" altLang="es-PE" sz="2200" dirty="0" err="1"/>
              <a:t>laboral</a:t>
            </a:r>
            <a:r>
              <a:rPr lang="en-US" altLang="es-PE" sz="2200" dirty="0"/>
              <a:t>, ante </a:t>
            </a:r>
            <a:r>
              <a:rPr lang="en-US" altLang="es-PE" sz="2200" u="sng" dirty="0"/>
              <a:t>mayor </a:t>
            </a:r>
            <a:r>
              <a:rPr lang="en-US" altLang="es-PE" sz="2200" u="sng" dirty="0" err="1"/>
              <a:t>producción</a:t>
            </a:r>
            <a:r>
              <a:rPr lang="en-US" altLang="es-PE" sz="2200" dirty="0"/>
              <a:t>, </a:t>
            </a:r>
            <a:r>
              <a:rPr lang="en-US" altLang="es-PE" sz="2200" u="sng" dirty="0" err="1"/>
              <a:t>menor</a:t>
            </a:r>
            <a:r>
              <a:rPr lang="en-US" altLang="es-PE" sz="2200" u="sng" dirty="0"/>
              <a:t> </a:t>
            </a:r>
            <a:r>
              <a:rPr lang="en-US" altLang="es-PE" sz="2200" u="sng" dirty="0" err="1"/>
              <a:t>es</a:t>
            </a:r>
            <a:r>
              <a:rPr lang="en-US" altLang="es-PE" sz="2200" u="sng" dirty="0"/>
              <a:t> la </a:t>
            </a:r>
            <a:r>
              <a:rPr lang="en-US" altLang="es-PE" sz="2200" u="sng" dirty="0" err="1"/>
              <a:t>tasa</a:t>
            </a:r>
            <a:r>
              <a:rPr lang="en-US" altLang="es-PE" sz="2200" u="sng" dirty="0"/>
              <a:t> de </a:t>
            </a:r>
            <a:r>
              <a:rPr lang="en-US" altLang="es-PE" sz="2200" u="sng" dirty="0" err="1"/>
              <a:t>desempleo</a:t>
            </a:r>
            <a:r>
              <a:rPr lang="en-US" altLang="es-PE" sz="2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2400300" y="1985226"/>
                <a:ext cx="4038600" cy="16678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PE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PE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PE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P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PE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s-PE" sz="2800" dirty="0"/>
                  <a:t> </a:t>
                </a: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0" y="1985226"/>
                <a:ext cx="4038600" cy="16678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  <p:bldP spid="192517" grpId="0" bldLvl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228600" y="46832"/>
            <a:ext cx="6347713" cy="867568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3539" name="Rectangle 3"/>
          <p:cNvSpPr>
            <a:spLocks noGrp="1"/>
          </p:cNvSpPr>
          <p:nvPr>
            <p:ph idx="1"/>
          </p:nvPr>
        </p:nvSpPr>
        <p:spPr>
          <a:xfrm>
            <a:off x="125506" y="1250654"/>
            <a:ext cx="7543800" cy="817562"/>
          </a:xfrm>
        </p:spPr>
        <p:txBody>
          <a:bodyPr vert="horz" wrap="square" lIns="91440" tIns="45720" rIns="91440" bIns="45720" anchor="t"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Reemplazando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tasa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desempleo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ecuación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171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7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193541" name="Rectangle 5"/>
          <p:cNvSpPr>
            <a:spLocks noChangeArrowheads="1"/>
          </p:cNvSpPr>
          <p:nvPr/>
        </p:nvSpPr>
        <p:spPr bwMode="auto">
          <a:xfrm>
            <a:off x="129988" y="2169549"/>
            <a:ext cx="7185212" cy="3774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4580" indent="-16700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477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16405" indent="-17462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736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308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880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45205" indent="-1746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precios</a:t>
            </a:r>
            <a:r>
              <a:rPr lang="en-US" altLang="es-PE" sz="2200" dirty="0"/>
              <a:t> </a:t>
            </a:r>
            <a:r>
              <a:rPr lang="en-US" altLang="es-PE" sz="2200" dirty="0" err="1"/>
              <a:t>depende</a:t>
            </a:r>
            <a:r>
              <a:rPr lang="en-US" altLang="es-PE" sz="2200" dirty="0"/>
              <a:t> de:</a:t>
            </a:r>
          </a:p>
          <a:p>
            <a:pPr marL="1146175" lvl="1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lang="en-US" altLang="es-PE" sz="2200" dirty="0"/>
          </a:p>
          <a:p>
            <a:pPr marL="1146175" lvl="1" indent="-342900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endParaRPr lang="en-US" altLang="es-PE" sz="2200" dirty="0"/>
          </a:p>
          <a:p>
            <a:pPr marL="801688" lvl="1" indent="-354013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</a:t>
            </a:r>
            <a:r>
              <a:rPr lang="en-US" altLang="es-PE" sz="2200" dirty="0" err="1"/>
              <a:t>esperado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precios</a:t>
            </a:r>
            <a:r>
              <a:rPr lang="en-US" altLang="es-PE" sz="2200" dirty="0"/>
              <a:t>, </a:t>
            </a:r>
            <a:r>
              <a:rPr lang="en-US" altLang="es-PE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s-PE" sz="22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200" dirty="0"/>
              <a:t>, </a:t>
            </a:r>
          </a:p>
          <a:p>
            <a:pPr marL="801688" lvl="1" indent="-354013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ü"/>
              <a:defRPr/>
            </a:pPr>
            <a:r>
              <a:rPr lang="en-US" altLang="es-PE" sz="2200" dirty="0"/>
              <a:t>El </a:t>
            </a:r>
            <a:r>
              <a:rPr lang="en-US" altLang="es-PE" sz="2200" dirty="0" err="1"/>
              <a:t>nivel</a:t>
            </a:r>
            <a:r>
              <a:rPr lang="en-US" altLang="es-PE" sz="2200" dirty="0"/>
              <a:t> de </a:t>
            </a:r>
            <a:r>
              <a:rPr lang="en-US" altLang="es-PE" sz="2200" dirty="0" err="1"/>
              <a:t>producción</a:t>
            </a:r>
            <a:r>
              <a:rPr lang="en-US" altLang="es-PE" sz="2200" dirty="0"/>
              <a:t>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s-PE" sz="2200" dirty="0"/>
              <a:t> (y de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s-PE" sz="2200" dirty="0">
                <a:sym typeface="Symbol" panose="05050102010706020507" pitchFamily="18" charset="2"/>
              </a:rPr>
              <a:t>,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es-PE" sz="2200" dirty="0">
                <a:sym typeface="Symbol" panose="05050102010706020507" pitchFamily="18" charset="2"/>
              </a:rPr>
              <a:t>, y </a:t>
            </a:r>
            <a:r>
              <a:rPr lang="en-US" altLang="es-PE" sz="2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s-PE" sz="2200" dirty="0">
                <a:sym typeface="Symbol" panose="05050102010706020507" pitchFamily="18" charset="2"/>
              </a:rPr>
              <a:t>, -</a:t>
            </a:r>
            <a:r>
              <a:rPr lang="en-US" altLang="es-PE" sz="2200" dirty="0" err="1">
                <a:sym typeface="Symbol" panose="05050102010706020507" pitchFamily="18" charset="2"/>
              </a:rPr>
              <a:t>asumidos</a:t>
            </a:r>
            <a:r>
              <a:rPr lang="en-US" altLang="es-PE" sz="2200" dirty="0">
                <a:sym typeface="Symbol" panose="05050102010706020507" pitchFamily="18" charset="2"/>
              </a:rPr>
              <a:t> </a:t>
            </a:r>
            <a:r>
              <a:rPr lang="en-US" altLang="es-PE" sz="2200" dirty="0" err="1">
                <a:sym typeface="Symbol" panose="05050102010706020507" pitchFamily="18" charset="2"/>
              </a:rPr>
              <a:t>como</a:t>
            </a:r>
            <a:r>
              <a:rPr lang="en-US" altLang="es-PE" sz="2200" dirty="0">
                <a:sym typeface="Symbol" panose="05050102010706020507" pitchFamily="18" charset="2"/>
              </a:rPr>
              <a:t> </a:t>
            </a:r>
            <a:r>
              <a:rPr lang="en-US" altLang="es-PE" sz="2200" dirty="0" err="1">
                <a:sym typeface="Symbol" panose="05050102010706020507" pitchFamily="18" charset="2"/>
              </a:rPr>
              <a:t>constantes</a:t>
            </a:r>
            <a:r>
              <a:rPr lang="en-US" altLang="es-PE" sz="2200" dirty="0">
                <a:sym typeface="Symbol" panose="05050102010706020507" pitchFamily="18" charset="2"/>
              </a:rPr>
              <a:t>).</a:t>
            </a:r>
            <a:endParaRPr lang="en-US" altLang="es-PE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1143000" y="2870133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870133"/>
                <a:ext cx="4374146" cy="8038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304657" y="49291"/>
            <a:ext cx="6347713" cy="918895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4563" name="Rectangle 3"/>
          <p:cNvSpPr>
            <a:spLocks noGrp="1"/>
          </p:cNvSpPr>
          <p:nvPr>
            <p:ph idx="1"/>
          </p:nvPr>
        </p:nvSpPr>
        <p:spPr>
          <a:xfrm>
            <a:off x="0" y="2168750"/>
            <a:ext cx="7391400" cy="419689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OA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presenta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dos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propiedades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importantes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858520" lvl="3" indent="0">
              <a:lnSpc>
                <a:spcPct val="150000"/>
              </a:lnSpc>
              <a:buClr>
                <a:srgbClr val="FF0066"/>
              </a:buClr>
              <a:buNone/>
            </a:pPr>
            <a:r>
              <a:rPr lang="en-US" altLang="es-PE" sz="2000" dirty="0" err="1"/>
              <a:t>i</a:t>
            </a:r>
            <a:r>
              <a:rPr lang="en-US" altLang="es-PE" sz="2000" dirty="0"/>
              <a:t>)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la </a:t>
            </a:r>
            <a:r>
              <a:rPr lang="en-US" altLang="es-PE" sz="2000" b="1" u="sng" dirty="0" err="1"/>
              <a:t>producción</a:t>
            </a:r>
            <a:r>
              <a:rPr lang="en-US" altLang="es-PE" sz="2000" dirty="0"/>
              <a:t> </a:t>
            </a:r>
            <a:r>
              <a:rPr lang="en-US" altLang="es-PE" sz="2000" dirty="0" err="1"/>
              <a:t>lleva</a:t>
            </a:r>
            <a:r>
              <a:rPr lang="en-US" altLang="es-PE" sz="2000" dirty="0"/>
              <a:t> a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el </a:t>
            </a:r>
            <a:r>
              <a:rPr lang="en-US" altLang="es-PE" sz="2000" dirty="0" err="1"/>
              <a:t>nivel</a:t>
            </a:r>
            <a:r>
              <a:rPr lang="en-US" altLang="es-PE" sz="2000" dirty="0"/>
              <a:t> de </a:t>
            </a:r>
            <a:r>
              <a:rPr lang="en-US" altLang="es-PE" sz="2000" dirty="0" err="1"/>
              <a:t>precios</a:t>
            </a:r>
            <a:r>
              <a:rPr lang="en-US" altLang="es-PE" sz="2000" dirty="0"/>
              <a:t>.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</a:t>
            </a:r>
          </a:p>
          <a:p>
            <a:pPr marL="627380" lvl="2" indent="0" eaLnBrk="1" hangingPunct="1">
              <a:lnSpc>
                <a:spcPct val="150000"/>
              </a:lnSpc>
              <a:buNone/>
            </a:pPr>
            <a:r>
              <a:rPr lang="en-US" altLang="es-PE" dirty="0"/>
              <a:t>  </a:t>
            </a:r>
          </a:p>
        </p:txBody>
      </p:sp>
      <p:sp>
        <p:nvSpPr>
          <p:cNvPr id="8195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8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graphicFrame>
        <p:nvGraphicFramePr>
          <p:cNvPr id="194565" name="Object 5"/>
          <p:cNvGraphicFramePr>
            <a:graphicFrameLocks noChangeAspect="1"/>
          </p:cNvGraphicFramePr>
          <p:nvPr/>
        </p:nvGraphicFramePr>
        <p:xfrm>
          <a:off x="2514600" y="38100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1200" imgH="203200" progId="Equation.COEE2">
                  <p:embed/>
                </p:oleObj>
              </mc:Choice>
              <mc:Fallback>
                <p:oleObj r:id="rId2" imgW="711200" imgH="203200" progId="Equation.COEE2">
                  <p:embed/>
                  <p:pic>
                    <p:nvPicPr>
                      <p:cNvPr id="0" name="Picture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38100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6" name="Object 6"/>
          <p:cNvGraphicFramePr>
            <a:graphicFrameLocks noChangeAspect="1"/>
          </p:cNvGraphicFramePr>
          <p:nvPr/>
        </p:nvGraphicFramePr>
        <p:xfrm>
          <a:off x="2514600" y="42672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5800" imgH="203200" progId="Equation.COEE2">
                  <p:embed/>
                </p:oleObj>
              </mc:Choice>
              <mc:Fallback>
                <p:oleObj r:id="rId4" imgW="685800" imgH="203200" progId="Equation.COEE2">
                  <p:embed/>
                  <p:pic>
                    <p:nvPicPr>
                      <p:cNvPr id="0" name="Picture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600" y="42672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7" name="Object 7"/>
          <p:cNvGraphicFramePr>
            <a:graphicFrameLocks noChangeAspect="1"/>
          </p:cNvGraphicFramePr>
          <p:nvPr/>
        </p:nvGraphicFramePr>
        <p:xfrm>
          <a:off x="2590800" y="4648200"/>
          <a:ext cx="1066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203200" progId="Equation.COEE2">
                  <p:embed/>
                </p:oleObj>
              </mc:Choice>
              <mc:Fallback>
                <p:oleObj r:id="rId6" imgW="685800" imgH="203200" progId="Equation.COEE2">
                  <p:embed/>
                  <p:pic>
                    <p:nvPicPr>
                      <p:cNvPr id="0" name="Picture 308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0800" y="4648200"/>
                        <a:ext cx="1066800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8" name="Object 8"/>
          <p:cNvGraphicFramePr>
            <a:graphicFrameLocks noChangeAspect="1"/>
          </p:cNvGraphicFramePr>
          <p:nvPr/>
        </p:nvGraphicFramePr>
        <p:xfrm>
          <a:off x="2514600" y="5105400"/>
          <a:ext cx="112553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23900" imgH="203200" progId="Equation.COEE2">
                  <p:embed/>
                </p:oleObj>
              </mc:Choice>
              <mc:Fallback>
                <p:oleObj r:id="rId8" imgW="723900" imgH="203200" progId="Equation.COEE2">
                  <p:embed/>
                  <p:pic>
                    <p:nvPicPr>
                      <p:cNvPr id="0" name="Picture 308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14600" y="5105400"/>
                        <a:ext cx="1125538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2286000" y="1096576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96576"/>
                <a:ext cx="4374146" cy="8038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uiExpand="1" build="p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/>
          </p:cNvSpPr>
          <p:nvPr>
            <p:ph type="title"/>
          </p:nvPr>
        </p:nvSpPr>
        <p:spPr>
          <a:xfrm>
            <a:off x="388633" y="99695"/>
            <a:ext cx="6347713" cy="1001645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>
          <a:xfrm>
            <a:off x="228600" y="2350771"/>
            <a:ext cx="7371840" cy="674688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OA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presenta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dos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propiedades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importantes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921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9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195591" name="Rectangle 7"/>
          <p:cNvSpPr>
            <a:spLocks noChangeArrowheads="1"/>
          </p:cNvSpPr>
          <p:nvPr/>
        </p:nvSpPr>
        <p:spPr bwMode="auto">
          <a:xfrm>
            <a:off x="388633" y="3135086"/>
            <a:ext cx="6983856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63550" indent="-34925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43380" indent="-561975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14880" indent="-4572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786380" indent="-4572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2435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007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1579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1518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808038" lvl="3" indent="-447675" algn="just" fontAlgn="base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tabLst>
                <a:tab pos="808038" algn="l"/>
              </a:tabLst>
              <a:defRPr/>
            </a:pPr>
            <a:r>
              <a:rPr lang="en-US" altLang="es-PE" sz="2000" dirty="0"/>
              <a:t>ii)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el </a:t>
            </a:r>
            <a:r>
              <a:rPr lang="en-US" altLang="es-PE" sz="2000" dirty="0" err="1"/>
              <a:t>nivel</a:t>
            </a:r>
            <a:r>
              <a:rPr lang="en-US" altLang="es-PE" sz="2000" dirty="0"/>
              <a:t> </a:t>
            </a:r>
            <a:r>
              <a:rPr lang="en-US" altLang="es-PE" sz="2000" b="1" u="sng" dirty="0" err="1"/>
              <a:t>precio</a:t>
            </a:r>
            <a:r>
              <a:rPr lang="en-US" altLang="es-PE" sz="2000" b="1" u="sng" dirty="0"/>
              <a:t> </a:t>
            </a:r>
            <a:r>
              <a:rPr lang="en-US" altLang="es-PE" sz="2000" b="1" u="sng" dirty="0" err="1"/>
              <a:t>esperado</a:t>
            </a:r>
            <a:r>
              <a:rPr lang="en-US" altLang="es-PE" sz="2000" b="1" dirty="0"/>
              <a:t> </a:t>
            </a:r>
            <a:r>
              <a:rPr lang="en-US" altLang="es-PE" sz="2000" dirty="0"/>
              <a:t>conduce a un </a:t>
            </a:r>
            <a:r>
              <a:rPr lang="en-US" altLang="es-PE" sz="2000" dirty="0" err="1"/>
              <a:t>aumento</a:t>
            </a:r>
            <a:r>
              <a:rPr lang="en-US" altLang="es-PE" sz="2000" dirty="0"/>
              <a:t> </a:t>
            </a:r>
            <a:r>
              <a:rPr lang="en-US" altLang="es-PE" sz="2000" dirty="0" err="1"/>
              <a:t>en</a:t>
            </a:r>
            <a:r>
              <a:rPr lang="en-US" altLang="es-PE" sz="2000" dirty="0"/>
              <a:t> el </a:t>
            </a:r>
            <a:r>
              <a:rPr lang="en-US" altLang="es-PE" sz="2000" dirty="0" err="1"/>
              <a:t>nivel</a:t>
            </a:r>
            <a:r>
              <a:rPr lang="en-US" altLang="es-PE" sz="2000" dirty="0"/>
              <a:t> actual de </a:t>
            </a:r>
            <a:r>
              <a:rPr lang="en-US" altLang="es-PE" sz="2000" dirty="0" err="1"/>
              <a:t>precios</a:t>
            </a:r>
            <a:r>
              <a:rPr lang="en-US" altLang="es-PE" sz="2000" dirty="0"/>
              <a:t>.</a:t>
            </a:r>
            <a:endParaRPr kumimoji="0" lang="en-US" altLang="es-PE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95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24170"/>
              </p:ext>
            </p:extLst>
          </p:nvPr>
        </p:nvGraphicFramePr>
        <p:xfrm>
          <a:off x="2362199" y="4419600"/>
          <a:ext cx="1917388" cy="4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6765" imgH="203200" progId="Equation.COEE2">
                  <p:embed/>
                </p:oleObj>
              </mc:Choice>
              <mc:Fallback>
                <p:oleObj r:id="rId2" imgW="786765" imgH="203200" progId="Equation.COEE2">
                  <p:embed/>
                  <p:pic>
                    <p:nvPicPr>
                      <p:cNvPr id="0" name="Picture 308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2199" y="4419600"/>
                        <a:ext cx="1917388" cy="4942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400554"/>
              </p:ext>
            </p:extLst>
          </p:nvPr>
        </p:nvGraphicFramePr>
        <p:xfrm>
          <a:off x="2412205" y="5029200"/>
          <a:ext cx="1760917" cy="4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23900" imgH="203200" progId="Equation.COEE2">
                  <p:embed/>
                </p:oleObj>
              </mc:Choice>
              <mc:Fallback>
                <p:oleObj r:id="rId4" imgW="723900" imgH="203200" progId="Equation.COEE2">
                  <p:embed/>
                  <p:pic>
                    <p:nvPicPr>
                      <p:cNvPr id="0" name="Picture 30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2205" y="5029200"/>
                        <a:ext cx="1760917" cy="4942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/>
              <p:cNvSpPr txBox="1"/>
              <p:nvPr/>
            </p:nvSpPr>
            <p:spPr>
              <a:xfrm>
                <a:off x="2362200" y="1334552"/>
                <a:ext cx="437414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10" name="Cuadro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334552"/>
                <a:ext cx="4374146" cy="8038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build="p"/>
      <p:bldP spid="195591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/>
          </p:cNvSpPr>
          <p:nvPr>
            <p:ph type="title"/>
          </p:nvPr>
        </p:nvSpPr>
        <p:spPr>
          <a:xfrm>
            <a:off x="313055" y="24406"/>
            <a:ext cx="6347714" cy="81661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0243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10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196611" name="Rectangle 3"/>
          <p:cNvSpPr>
            <a:spLocks noGrp="1"/>
          </p:cNvSpPr>
          <p:nvPr>
            <p:ph type="body" idx="4294967295"/>
          </p:nvPr>
        </p:nvSpPr>
        <p:spPr>
          <a:xfrm>
            <a:off x="313054" y="1752600"/>
            <a:ext cx="3124200" cy="46482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marL="177800" indent="-177800" defTabSz="457200" eaLnBrk="1" hangingPunct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79070" algn="l"/>
              </a:tabLst>
            </a:pP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Dado el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esperado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</a:p>
          <a:p>
            <a:pPr marL="177800" indent="0" defTabSz="457200" eaLnBrk="1" hangingPunct="1">
              <a:lnSpc>
                <a:spcPct val="150000"/>
              </a:lnSpc>
              <a:buNone/>
              <a:tabLst>
                <a:tab pos="179070" algn="l"/>
              </a:tabLst>
            </a:pP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Un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aumento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en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la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producción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lleva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a un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aumento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en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el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b="1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b="1" u="sng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Si el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producto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igual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al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natural de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producción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→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el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igual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al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esperado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196612" name="Picture 4" descr="fig7_1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00200"/>
            <a:ext cx="5029200" cy="3989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613" name="Picture 5" descr="fig7_1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600200"/>
            <a:ext cx="5029200" cy="3989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614" name="Picture 6" descr="fig7_1siz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600200"/>
            <a:ext cx="5029200" cy="3989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6615" name="Rectangle 7"/>
          <p:cNvSpPr/>
          <p:nvPr/>
        </p:nvSpPr>
        <p:spPr>
          <a:xfrm>
            <a:off x="313054" y="947665"/>
            <a:ext cx="3725545" cy="45474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Wingdings" panose="05000000000000000000" pitchFamily="2" charset="2"/>
              <a:buNone/>
            </a:pPr>
            <a:r>
              <a:rPr lang="en-US" altLang="es-PE" sz="2000" b="1" i="1" dirty="0">
                <a:latin typeface="Arial" panose="020B0604020202020204" pitchFamily="34" charset="0"/>
              </a:rPr>
              <a:t>La </a:t>
            </a:r>
            <a:r>
              <a:rPr lang="en-US" altLang="es-PE" sz="2000" b="1" i="1" dirty="0" err="1">
                <a:latin typeface="Arial" panose="020B0604020202020204" pitchFamily="34" charset="0"/>
              </a:rPr>
              <a:t>Curva</a:t>
            </a:r>
            <a:r>
              <a:rPr lang="en-US" altLang="es-PE" sz="2000" b="1" i="1" dirty="0">
                <a:latin typeface="Arial" panose="020B0604020202020204" pitchFamily="34" charset="0"/>
              </a:rPr>
              <a:t> de la </a:t>
            </a:r>
            <a:r>
              <a:rPr lang="en-US" altLang="es-PE" sz="2000" b="1" i="1" dirty="0" err="1">
                <a:latin typeface="Arial" panose="020B0604020202020204" pitchFamily="34" charset="0"/>
              </a:rPr>
              <a:t>Oferta</a:t>
            </a:r>
            <a:r>
              <a:rPr lang="en-US" altLang="es-PE" sz="2000" b="1" i="1" dirty="0">
                <a:latin typeface="Arial" panose="020B0604020202020204" pitchFamily="34" charset="0"/>
              </a:rPr>
              <a:t> </a:t>
            </a:r>
            <a:r>
              <a:rPr lang="en-US" altLang="es-PE" sz="2000" b="1" i="1" dirty="0" err="1">
                <a:latin typeface="Arial" panose="020B0604020202020204" pitchFamily="34" charset="0"/>
              </a:rPr>
              <a:t>Agregada</a:t>
            </a:r>
            <a:endParaRPr lang="en-US" altLang="es-PE" sz="2000" b="1" i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uild="p" animBg="1"/>
      <p:bldP spid="19661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6347714" cy="9906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sz="3600" b="1" dirty="0" err="1">
                <a:solidFill>
                  <a:srgbClr val="C8AD76"/>
                </a:solidFill>
              </a:rPr>
              <a:t>Oferta</a:t>
            </a:r>
            <a:r>
              <a:rPr lang="en-US" altLang="es-PE" sz="3600" b="1" dirty="0">
                <a:solidFill>
                  <a:srgbClr val="C8AD76"/>
                </a:solidFill>
              </a:rPr>
              <a:t> </a:t>
            </a:r>
            <a:r>
              <a:rPr lang="en-US" altLang="es-PE" sz="3600" b="1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1267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11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197635" name="Rectangle 3"/>
          <p:cNvSpPr>
            <a:spLocks noGrp="1"/>
          </p:cNvSpPr>
          <p:nvPr>
            <p:ph type="body" idx="4294967295"/>
          </p:nvPr>
        </p:nvSpPr>
        <p:spPr>
          <a:xfrm>
            <a:off x="278257" y="906624"/>
            <a:ext cx="6655943" cy="5722776"/>
          </a:xfrm>
        </p:spPr>
        <p:txBody>
          <a:bodyPr vert="horz" wrap="square" lIns="91440" tIns="45720" rIns="91440" bIns="45720" anchor="t">
            <a:noAutofit/>
          </a:bodyPr>
          <a:lstStyle/>
          <a:p>
            <a:pPr marL="0" indent="0">
              <a:lnSpc>
                <a:spcPct val="170000"/>
              </a:lnSpc>
              <a:buClr>
                <a:srgbClr val="FF0066"/>
              </a:buClr>
              <a:buNone/>
            </a:pP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curva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la OA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tiene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tres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características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marL="354013" indent="-260350">
              <a:lnSpc>
                <a:spcPct val="170000"/>
              </a:lnSpc>
              <a:buClr>
                <a:srgbClr val="FF0066"/>
              </a:buClr>
              <a:buFont typeface="+mj-lt"/>
              <a:buAutoNum type="romanLcPeriod"/>
            </a:pPr>
            <a:r>
              <a:rPr lang="en-US" altLang="es-PE" dirty="0"/>
              <a:t>La </a:t>
            </a:r>
            <a:r>
              <a:rPr lang="en-US" altLang="es-PE" dirty="0" err="1"/>
              <a:t>curva</a:t>
            </a:r>
            <a:r>
              <a:rPr lang="en-US" altLang="es-PE" dirty="0"/>
              <a:t> de la OA </a:t>
            </a:r>
            <a:r>
              <a:rPr lang="en-US" altLang="es-PE" dirty="0" err="1"/>
              <a:t>tiene</a:t>
            </a:r>
            <a:r>
              <a:rPr lang="en-US" altLang="es-PE" dirty="0"/>
              <a:t> </a:t>
            </a:r>
            <a:r>
              <a:rPr lang="en-US" altLang="es-PE" u="sng" dirty="0" err="1"/>
              <a:t>pendiente</a:t>
            </a:r>
            <a:r>
              <a:rPr lang="en-US" altLang="es-PE" u="sng" dirty="0"/>
              <a:t> </a:t>
            </a:r>
            <a:r>
              <a:rPr lang="en-US" altLang="es-PE" u="sng" dirty="0" err="1"/>
              <a:t>positiva</a:t>
            </a:r>
            <a:r>
              <a:rPr lang="en-US" altLang="es-PE" dirty="0"/>
              <a:t>: un </a:t>
            </a:r>
            <a:r>
              <a:rPr lang="en-US" altLang="es-PE" dirty="0" err="1"/>
              <a:t>aumento</a:t>
            </a:r>
            <a:r>
              <a:rPr lang="en-US" altLang="es-PE" dirty="0"/>
              <a:t> del </a:t>
            </a:r>
            <a:r>
              <a:rPr lang="en-US" altLang="es-PE" dirty="0" err="1"/>
              <a:t>producto</a:t>
            </a:r>
            <a:r>
              <a:rPr lang="en-US" altLang="es-PE" dirty="0"/>
              <a:t> conduce a un </a:t>
            </a:r>
            <a:r>
              <a:rPr lang="en-US" altLang="es-PE" dirty="0" err="1"/>
              <a:t>aumento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el </a:t>
            </a:r>
            <a:r>
              <a:rPr lang="en-US" altLang="es-PE" dirty="0" err="1"/>
              <a:t>nivel</a:t>
            </a:r>
            <a:r>
              <a:rPr lang="en-US" altLang="es-PE" dirty="0"/>
              <a:t> de </a:t>
            </a:r>
            <a:r>
              <a:rPr lang="en-US" altLang="es-PE" dirty="0" err="1"/>
              <a:t>precios</a:t>
            </a:r>
            <a:r>
              <a:rPr lang="en-US" altLang="es-PE" dirty="0"/>
              <a:t>.</a:t>
            </a:r>
          </a:p>
          <a:p>
            <a:pPr marL="354013" indent="-260350">
              <a:lnSpc>
                <a:spcPct val="170000"/>
              </a:lnSpc>
              <a:buClr>
                <a:srgbClr val="FF0066"/>
              </a:buClr>
              <a:buFont typeface="+mj-lt"/>
              <a:buAutoNum type="romanLcPeriod"/>
            </a:pPr>
            <a:r>
              <a:rPr lang="en-US" altLang="es-PE" dirty="0"/>
              <a:t>La </a:t>
            </a:r>
            <a:r>
              <a:rPr lang="en-US" altLang="es-PE" dirty="0" err="1"/>
              <a:t>curva</a:t>
            </a:r>
            <a:r>
              <a:rPr lang="en-US" altLang="es-PE" dirty="0"/>
              <a:t> de la OA </a:t>
            </a:r>
            <a:r>
              <a:rPr lang="en-US" altLang="es-PE" dirty="0" err="1"/>
              <a:t>pasa</a:t>
            </a:r>
            <a:r>
              <a:rPr lang="en-US" altLang="es-PE" dirty="0"/>
              <a:t> por el punto A: </a:t>
            </a:r>
            <a:r>
              <a:rPr lang="en-US" altLang="es-PE" i="1" dirty="0"/>
              <a:t>Y</a:t>
            </a:r>
            <a:r>
              <a:rPr lang="en-US" altLang="es-PE" dirty="0"/>
              <a:t> = </a:t>
            </a:r>
            <a:r>
              <a:rPr lang="en-US" altLang="es-PE" i="1" dirty="0" err="1"/>
              <a:t>Y</a:t>
            </a:r>
            <a:r>
              <a:rPr lang="en-US" altLang="es-PE" i="1" baseline="-25000" dirty="0" err="1"/>
              <a:t>n</a:t>
            </a:r>
            <a:r>
              <a:rPr lang="en-US" altLang="es-PE" dirty="0"/>
              <a:t> y </a:t>
            </a:r>
            <a:r>
              <a:rPr lang="en-US" altLang="es-PE" i="1" dirty="0"/>
              <a:t>P</a:t>
            </a:r>
            <a:r>
              <a:rPr lang="en-US" altLang="es-PE" dirty="0"/>
              <a:t> = </a:t>
            </a:r>
            <a:r>
              <a:rPr lang="en-US" altLang="es-PE" i="1" dirty="0"/>
              <a:t>P</a:t>
            </a:r>
            <a:r>
              <a:rPr lang="en-US" altLang="es-PE" i="1" baseline="30000" dirty="0"/>
              <a:t>e</a:t>
            </a:r>
            <a:r>
              <a:rPr lang="en-US" altLang="es-PE" dirty="0"/>
              <a:t>.  </a:t>
            </a:r>
            <a:r>
              <a:rPr lang="en-US" altLang="es-PE" dirty="0" err="1"/>
              <a:t>Esta</a:t>
            </a:r>
            <a:r>
              <a:rPr lang="en-US" altLang="es-PE" dirty="0"/>
              <a:t> </a:t>
            </a:r>
            <a:r>
              <a:rPr lang="en-US" altLang="es-PE" dirty="0" err="1"/>
              <a:t>propiedad</a:t>
            </a:r>
            <a:r>
              <a:rPr lang="en-US" altLang="es-PE" dirty="0"/>
              <a:t> </a:t>
            </a:r>
            <a:r>
              <a:rPr lang="en-US" altLang="es-PE" dirty="0" err="1"/>
              <a:t>tiene</a:t>
            </a:r>
            <a:r>
              <a:rPr lang="en-US" altLang="es-PE" dirty="0"/>
              <a:t> dos </a:t>
            </a:r>
            <a:r>
              <a:rPr lang="en-US" altLang="es-PE" dirty="0" err="1"/>
              <a:t>implicancias</a:t>
            </a:r>
            <a:r>
              <a:rPr lang="en-US" altLang="es-PE" dirty="0"/>
              <a:t>:</a:t>
            </a:r>
          </a:p>
          <a:p>
            <a:pPr marL="801688" lvl="3" indent="-354013">
              <a:lnSpc>
                <a:spcPct val="17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600" dirty="0" err="1"/>
              <a:t>Cuando</a:t>
            </a:r>
            <a:r>
              <a:rPr lang="en-US" altLang="es-PE" sz="1600" dirty="0"/>
              <a:t> </a:t>
            </a:r>
            <a:r>
              <a:rPr lang="en-US" altLang="es-PE" sz="1600" i="1" dirty="0"/>
              <a:t>Y</a:t>
            </a:r>
            <a:r>
              <a:rPr lang="en-US" altLang="es-PE" sz="1600" dirty="0"/>
              <a:t> &gt; </a:t>
            </a:r>
            <a:r>
              <a:rPr lang="en-US" altLang="es-PE" sz="1600" i="1" dirty="0" err="1"/>
              <a:t>Y</a:t>
            </a:r>
            <a:r>
              <a:rPr lang="en-US" altLang="es-PE" sz="1600" i="1" baseline="-25000" dirty="0" err="1"/>
              <a:t>n</a:t>
            </a:r>
            <a:r>
              <a:rPr lang="en-US" altLang="es-PE" sz="1600" dirty="0"/>
              <a:t>, </a:t>
            </a:r>
            <a:r>
              <a:rPr lang="en-US" altLang="es-PE" sz="1600" dirty="0">
                <a:latin typeface="Arial" panose="020B0604020202020204" pitchFamily="34" charset="0"/>
              </a:rPr>
              <a:t>→ </a:t>
            </a:r>
            <a:r>
              <a:rPr lang="en-US" altLang="es-PE" sz="1600" i="1" dirty="0"/>
              <a:t>P</a:t>
            </a:r>
            <a:r>
              <a:rPr lang="en-US" altLang="es-PE" sz="1600" dirty="0"/>
              <a:t> &gt; </a:t>
            </a:r>
            <a:r>
              <a:rPr lang="en-US" altLang="es-PE" sz="1600" i="1" dirty="0" err="1"/>
              <a:t>P</a:t>
            </a:r>
            <a:r>
              <a:rPr lang="en-US" altLang="es-PE" sz="1600" i="1" baseline="30000" dirty="0" err="1"/>
              <a:t>e</a:t>
            </a:r>
            <a:endParaRPr lang="en-US" altLang="es-PE" sz="1600" dirty="0"/>
          </a:p>
          <a:p>
            <a:pPr marL="801688" lvl="3" indent="-354013">
              <a:lnSpc>
                <a:spcPct val="17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600" dirty="0" err="1"/>
              <a:t>Cuando</a:t>
            </a:r>
            <a:r>
              <a:rPr lang="en-US" altLang="es-PE" sz="1600" dirty="0"/>
              <a:t> </a:t>
            </a:r>
            <a:r>
              <a:rPr lang="en-US" altLang="es-PE" sz="1600" i="1" dirty="0"/>
              <a:t>Y</a:t>
            </a:r>
            <a:r>
              <a:rPr lang="en-US" altLang="es-PE" sz="1600" dirty="0"/>
              <a:t> &lt; </a:t>
            </a:r>
            <a:r>
              <a:rPr lang="en-US" altLang="es-PE" sz="1600" i="1" dirty="0" err="1"/>
              <a:t>Y</a:t>
            </a:r>
            <a:r>
              <a:rPr lang="en-US" altLang="es-PE" sz="1600" i="1" baseline="-25000" dirty="0" err="1"/>
              <a:t>n</a:t>
            </a:r>
            <a:r>
              <a:rPr lang="en-US" altLang="es-PE" sz="1600" i="1" baseline="-25000" dirty="0"/>
              <a:t> </a:t>
            </a:r>
            <a:r>
              <a:rPr lang="en-US" altLang="es-PE" sz="1600" dirty="0">
                <a:latin typeface="Arial" panose="020B0604020202020204" pitchFamily="34" charset="0"/>
                <a:sym typeface="+mn-ea"/>
              </a:rPr>
              <a:t>→</a:t>
            </a:r>
            <a:r>
              <a:rPr lang="en-US" altLang="es-PE" sz="1600" dirty="0"/>
              <a:t> </a:t>
            </a:r>
            <a:r>
              <a:rPr lang="en-US" altLang="es-PE" sz="1600" i="1" dirty="0"/>
              <a:t>P</a:t>
            </a:r>
            <a:r>
              <a:rPr lang="en-US" altLang="es-PE" sz="1600" dirty="0"/>
              <a:t> &lt; </a:t>
            </a:r>
            <a:r>
              <a:rPr lang="en-US" altLang="es-PE" sz="1600" i="1" dirty="0" err="1"/>
              <a:t>P</a:t>
            </a:r>
            <a:r>
              <a:rPr lang="en-US" altLang="es-PE" sz="1600" i="1" baseline="30000" dirty="0" err="1"/>
              <a:t>e</a:t>
            </a:r>
            <a:endParaRPr lang="en-US" altLang="es-PE" sz="1600" dirty="0"/>
          </a:p>
          <a:p>
            <a:pPr marL="354013" indent="-260350">
              <a:lnSpc>
                <a:spcPct val="170000"/>
              </a:lnSpc>
              <a:buClr>
                <a:srgbClr val="FF0066"/>
              </a:buClr>
              <a:buFont typeface="+mj-lt"/>
              <a:buAutoNum type="romanLcPeriod"/>
              <a:tabLst>
                <a:tab pos="625475" algn="l"/>
              </a:tabLst>
            </a:pPr>
            <a:r>
              <a:rPr lang="en-US" altLang="es-PE" dirty="0"/>
              <a:t>Un </a:t>
            </a:r>
            <a:r>
              <a:rPr lang="en-US" altLang="es-PE" dirty="0" err="1"/>
              <a:t>aumento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</a:t>
            </a:r>
            <a:r>
              <a:rPr lang="en-US" altLang="es-PE" i="1" dirty="0" err="1"/>
              <a:t>P</a:t>
            </a:r>
            <a:r>
              <a:rPr lang="en-US" altLang="es-PE" i="1" baseline="30000" dirty="0" err="1"/>
              <a:t>e</a:t>
            </a:r>
            <a:r>
              <a:rPr lang="en-US" altLang="es-PE" dirty="0"/>
              <a:t> </a:t>
            </a:r>
            <a:r>
              <a:rPr lang="en-US" altLang="es-PE" dirty="0" err="1"/>
              <a:t>desplaza</a:t>
            </a:r>
            <a:r>
              <a:rPr lang="en-US" altLang="es-PE" dirty="0"/>
              <a:t> la </a:t>
            </a:r>
            <a:r>
              <a:rPr lang="en-US" altLang="es-PE" dirty="0" err="1"/>
              <a:t>curva</a:t>
            </a:r>
            <a:r>
              <a:rPr lang="en-US" altLang="es-PE" dirty="0"/>
              <a:t> de la OA </a:t>
            </a:r>
            <a:r>
              <a:rPr lang="en-US" altLang="es-PE" dirty="0" err="1"/>
              <a:t>hacia</a:t>
            </a:r>
            <a:r>
              <a:rPr lang="en-US" altLang="es-PE" dirty="0"/>
              <a:t> </a:t>
            </a:r>
            <a:r>
              <a:rPr lang="en-US" altLang="es-PE" dirty="0" err="1"/>
              <a:t>arriba</a:t>
            </a:r>
            <a:r>
              <a:rPr lang="en-US" altLang="es-PE" dirty="0"/>
              <a:t>, y </a:t>
            </a:r>
            <a:r>
              <a:rPr lang="en-US" altLang="es-PE" dirty="0" err="1"/>
              <a:t>una</a:t>
            </a:r>
            <a:r>
              <a:rPr lang="en-US" altLang="es-PE" dirty="0"/>
              <a:t> </a:t>
            </a:r>
            <a:r>
              <a:rPr lang="en-US" altLang="es-PE" dirty="0" err="1"/>
              <a:t>disminución</a:t>
            </a:r>
            <a:r>
              <a:rPr lang="en-US" altLang="es-PE" dirty="0"/>
              <a:t> de </a:t>
            </a:r>
            <a:r>
              <a:rPr lang="en-US" altLang="es-PE" i="1" dirty="0" err="1"/>
              <a:t>P</a:t>
            </a:r>
            <a:r>
              <a:rPr lang="en-US" altLang="es-PE" i="1" baseline="30000" dirty="0" err="1"/>
              <a:t>e</a:t>
            </a:r>
            <a:r>
              <a:rPr lang="en-US" altLang="es-PE" dirty="0"/>
              <a:t> </a:t>
            </a:r>
            <a:r>
              <a:rPr lang="en-US" altLang="es-PE" dirty="0" err="1"/>
              <a:t>desplaza</a:t>
            </a:r>
            <a:r>
              <a:rPr lang="en-US" altLang="es-PE" dirty="0"/>
              <a:t> la </a:t>
            </a:r>
            <a:r>
              <a:rPr lang="en-US" altLang="es-PE" dirty="0" err="1"/>
              <a:t>curva</a:t>
            </a:r>
            <a:r>
              <a:rPr lang="en-US" altLang="es-PE" dirty="0"/>
              <a:t> de la OA </a:t>
            </a:r>
            <a:r>
              <a:rPr lang="en-US" altLang="es-PE" dirty="0" err="1"/>
              <a:t>hacia</a:t>
            </a:r>
            <a:r>
              <a:rPr lang="en-US" altLang="es-PE" dirty="0"/>
              <a:t> </a:t>
            </a:r>
            <a:r>
              <a:rPr lang="en-US" altLang="es-PE" dirty="0" err="1"/>
              <a:t>abajo</a:t>
            </a:r>
            <a:r>
              <a:rPr lang="en-US" altLang="es-PE" dirty="0"/>
              <a:t>.</a:t>
            </a:r>
          </a:p>
          <a:p>
            <a:pPr marL="877888" indent="-514350">
              <a:lnSpc>
                <a:spcPct val="170000"/>
              </a:lnSpc>
              <a:buClr>
                <a:srgbClr val="FF0066"/>
              </a:buClr>
              <a:buFont typeface="+mj-lt"/>
              <a:buAutoNum type="romanLcPeriod"/>
            </a:pPr>
            <a:endParaRPr lang="en-US" altLang="es-P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/>
          </p:cNvSpPr>
          <p:nvPr>
            <p:ph type="title"/>
          </p:nvPr>
        </p:nvSpPr>
        <p:spPr>
          <a:xfrm>
            <a:off x="533399" y="76200"/>
            <a:ext cx="6347713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 err="1">
                <a:solidFill>
                  <a:srgbClr val="C8AD76"/>
                </a:solidFill>
              </a:rPr>
              <a:t>Oferta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8659" name="Rectangle 3"/>
          <p:cNvSpPr>
            <a:spLocks noGrp="1"/>
          </p:cNvSpPr>
          <p:nvPr>
            <p:ph idx="1"/>
          </p:nvPr>
        </p:nvSpPr>
        <p:spPr>
          <a:xfrm>
            <a:off x="195654" y="2997143"/>
            <a:ext cx="2395145" cy="2399665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Un aumento en P</a:t>
            </a:r>
            <a:r>
              <a:rPr lang="es-PE" altLang="es-PE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e</a:t>
            </a:r>
            <a:r>
              <a:rPr lang="es-PE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desplaza la curva de la OA hacia la izquierda/arriba</a:t>
            </a:r>
          </a:p>
        </p:txBody>
      </p:sp>
      <p:sp>
        <p:nvSpPr>
          <p:cNvPr id="12291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12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pic>
        <p:nvPicPr>
          <p:cNvPr id="198660" name="Picture 4" descr="fig7_2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600200"/>
            <a:ext cx="5508625" cy="4068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661" name="Picture 5" descr="fig7_2_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600200"/>
            <a:ext cx="5508625" cy="4068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662" name="Picture 6" descr="fig7_2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1600200"/>
            <a:ext cx="5508625" cy="4068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663" name="Picture 7" descr="fig7_2_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1600200"/>
            <a:ext cx="5508625" cy="4068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664" name="Picture 8" descr="fig7_2siz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1646237"/>
            <a:ext cx="5508625" cy="4068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8665" name="Rectangle 9"/>
          <p:cNvSpPr/>
          <p:nvPr/>
        </p:nvSpPr>
        <p:spPr>
          <a:xfrm>
            <a:off x="159796" y="1374588"/>
            <a:ext cx="2697704" cy="152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Wingdings" panose="05000000000000000000" pitchFamily="2" charset="2"/>
              <a:buNone/>
            </a:pPr>
            <a:r>
              <a:rPr lang="en-US" altLang="es-PE" sz="1600" b="1" i="1" dirty="0">
                <a:latin typeface="Arial" panose="020B0604020202020204" pitchFamily="34" charset="0"/>
              </a:rPr>
              <a:t>El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efecto</a:t>
            </a:r>
            <a:r>
              <a:rPr lang="en-US" altLang="es-PE" sz="1600" b="1" i="1" dirty="0">
                <a:latin typeface="Arial" panose="020B0604020202020204" pitchFamily="34" charset="0"/>
              </a:rPr>
              <a:t> de un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cambio</a:t>
            </a:r>
            <a:r>
              <a:rPr lang="en-US" altLang="es-PE" sz="1600" b="1" i="1" dirty="0">
                <a:latin typeface="Arial" panose="020B0604020202020204" pitchFamily="34" charset="0"/>
              </a:rPr>
              <a:t>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en</a:t>
            </a:r>
            <a:r>
              <a:rPr lang="en-US" altLang="es-PE" sz="1600" b="1" i="1" dirty="0">
                <a:latin typeface="Arial" panose="020B0604020202020204" pitchFamily="34" charset="0"/>
              </a:rPr>
              <a:t> el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nivel</a:t>
            </a:r>
            <a:r>
              <a:rPr lang="en-US" altLang="es-PE" sz="1600" b="1" i="1" dirty="0">
                <a:latin typeface="Arial" panose="020B0604020202020204" pitchFamily="34" charset="0"/>
              </a:rPr>
              <a:t> de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precios</a:t>
            </a:r>
            <a:r>
              <a:rPr lang="en-US" altLang="es-PE" sz="1600" b="1" i="1" dirty="0">
                <a:latin typeface="Arial" panose="020B0604020202020204" pitchFamily="34" charset="0"/>
              </a:rPr>
              <a:t>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esperado</a:t>
            </a:r>
            <a:r>
              <a:rPr lang="en-US" altLang="es-PE" sz="1600" b="1" i="1" dirty="0">
                <a:latin typeface="Arial" panose="020B0604020202020204" pitchFamily="34" charset="0"/>
              </a:rPr>
              <a:t>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sobre</a:t>
            </a:r>
            <a:r>
              <a:rPr lang="en-US" altLang="es-PE" sz="1600" b="1" i="1" dirty="0">
                <a:latin typeface="Arial" panose="020B0604020202020204" pitchFamily="34" charset="0"/>
              </a:rPr>
              <a:t> la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curva</a:t>
            </a:r>
            <a:r>
              <a:rPr lang="en-US" altLang="es-PE" sz="1600" b="1" i="1" dirty="0">
                <a:latin typeface="Arial" panose="020B0604020202020204" pitchFamily="34" charset="0"/>
              </a:rPr>
              <a:t> de la OA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uiExpand="1" build="p"/>
      <p:bldP spid="19866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PE" dirty="0" err="1">
                <a:solidFill>
                  <a:srgbClr val="C8AD76"/>
                </a:solidFill>
                <a:sym typeface="+mn-ea"/>
              </a:rPr>
              <a:t>Demanda</a:t>
            </a:r>
            <a:r>
              <a:rPr lang="en-US" altLang="es-PE" dirty="0">
                <a:solidFill>
                  <a:srgbClr val="C8AD76"/>
                </a:solidFill>
                <a:sym typeface="+mn-ea"/>
              </a:rPr>
              <a:t> </a:t>
            </a:r>
            <a:r>
              <a:rPr lang="en-US" altLang="es-PE" dirty="0" err="1">
                <a:solidFill>
                  <a:srgbClr val="C8AD76"/>
                </a:solidFill>
                <a:sym typeface="+mn-ea"/>
              </a:rPr>
              <a:t>Agregada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457199" y="0"/>
            <a:ext cx="6347713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pPr eaLnBrk="1" hangingPunct="1"/>
            <a:r>
              <a:rPr lang="en-US" altLang="es-PE" dirty="0" err="1">
                <a:solidFill>
                  <a:srgbClr val="C8AD76"/>
                </a:solidFill>
              </a:rPr>
              <a:t>Demanda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9683" name="Rectangle 3"/>
          <p:cNvSpPr>
            <a:spLocks noGrp="1"/>
          </p:cNvSpPr>
          <p:nvPr>
            <p:ph idx="1"/>
          </p:nvPr>
        </p:nvSpPr>
        <p:spPr>
          <a:xfrm>
            <a:off x="304800" y="1203324"/>
            <a:ext cx="7239000" cy="5502276"/>
          </a:xfrm>
        </p:spPr>
        <p:txBody>
          <a:bodyPr vert="horz" wrap="square" lIns="91440" tIns="45720" rIns="91440" bIns="4572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La curva de la demanda agregada muestra las combinaciones del nivel de precios y del nivel de producción a las cuales los mercados de bienes y dinero están simultáneamente en equilibrio.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Las </a:t>
            </a:r>
            <a:r>
              <a:rPr lang="es-ES" sz="2000" b="1" u="sng" dirty="0"/>
              <a:t>políticas fiscal o monetaria</a:t>
            </a:r>
            <a:r>
              <a:rPr lang="es-ES" sz="2000" b="1" dirty="0"/>
              <a:t> </a:t>
            </a:r>
            <a:r>
              <a:rPr lang="es-ES" sz="2000" dirty="0"/>
              <a:t>expansivas desplazan a la derecha la curva de la demanda agregada.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La </a:t>
            </a:r>
            <a:r>
              <a:rPr lang="es-ES" sz="2000" b="1" u="sng" dirty="0"/>
              <a:t>confianza </a:t>
            </a:r>
            <a:r>
              <a:rPr lang="es-ES" sz="2000" dirty="0"/>
              <a:t>de los consumidores e inversionistas también influyen: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cuando la confianza aumenta, la curva </a:t>
            </a:r>
            <a:r>
              <a:rPr lang="es-ES" sz="1700" i="1" dirty="0"/>
              <a:t>DA </a:t>
            </a:r>
            <a:r>
              <a:rPr lang="es-ES" sz="1700" dirty="0"/>
              <a:t>se desplaza a la derecha;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cuando esta se pierde, se mueve hacia la izquierda.</a:t>
            </a:r>
            <a:endParaRPr lang="es-PE" altLang="en-US" sz="17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14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457199" y="0"/>
            <a:ext cx="6347713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pPr eaLnBrk="1" hangingPunct="1"/>
            <a:r>
              <a:rPr lang="en-US" altLang="es-PE" dirty="0" err="1">
                <a:solidFill>
                  <a:srgbClr val="C8AD76"/>
                </a:solidFill>
              </a:rPr>
              <a:t>Demanda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99683" name="Rectangle 3"/>
          <p:cNvSpPr>
            <a:spLocks noGrp="1"/>
          </p:cNvSpPr>
          <p:nvPr>
            <p:ph idx="1"/>
          </p:nvPr>
        </p:nvSpPr>
        <p:spPr>
          <a:xfrm>
            <a:off x="457200" y="1203324"/>
            <a:ext cx="6347712" cy="4816476"/>
          </a:xfrm>
        </p:spPr>
        <p:txBody>
          <a:bodyPr vert="horz" wrap="square" lIns="91440" tIns="45720" rIns="91440" bIns="45720" anchor="t">
            <a:no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sz="2000" b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relación</a:t>
            </a:r>
            <a:r>
              <a:rPr lang="en-US" altLang="es-PE" sz="2000" b="1" u="sng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sz="2000" b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demanda</a:t>
            </a:r>
            <a:r>
              <a:rPr lang="en-US" altLang="es-PE" sz="2000" b="1" u="sng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000" b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agregada</a:t>
            </a:r>
            <a:r>
              <a:rPr lang="en-US" altLang="es-PE" sz="2000" b="1" u="sng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captura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efecto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del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en la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produccíón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Se deduce de las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condiciones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equilibrio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en los mercados de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bienes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fondos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prestables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) y de dinero (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financieros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Las condiciones de equilibrio en los mercados de bienes y de dinero</a:t>
            </a:r>
            <a:r>
              <a:rPr lang="es-PE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	Relación </a:t>
            </a:r>
            <a:r>
              <a:rPr lang="es-PE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: Y = C(Y-T) + I(</a:t>
            </a:r>
            <a:r>
              <a:rPr lang="es-PE" altLang="en-US" sz="20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Y,i</a:t>
            </a:r>
            <a:r>
              <a:rPr lang="es-PE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PE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	Relación </a:t>
            </a:r>
            <a:r>
              <a:rPr lang="es-PE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 : M/P = YL(i)</a:t>
            </a:r>
          </a:p>
        </p:txBody>
      </p:sp>
      <p:sp>
        <p:nvSpPr>
          <p:cNvPr id="1433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15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</p:spTree>
    <p:extLst>
      <p:ext uri="{BB962C8B-B14F-4D97-AF65-F5344CB8AC3E}">
        <p14:creationId xmlns:p14="http://schemas.microsoft.com/office/powerpoint/2010/main" val="222551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/>
          </p:cNvSpPr>
          <p:nvPr>
            <p:ph type="title"/>
          </p:nvPr>
        </p:nvSpPr>
        <p:spPr>
          <a:xfrm>
            <a:off x="609599" y="0"/>
            <a:ext cx="6347714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 err="1">
                <a:solidFill>
                  <a:srgbClr val="C8AD76"/>
                </a:solidFill>
              </a:rPr>
              <a:t>Demanda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5363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16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200707" name="Rectangle 3"/>
          <p:cNvSpPr>
            <a:spLocks noGrp="1"/>
          </p:cNvSpPr>
          <p:nvPr>
            <p:ph type="body" idx="4294967295"/>
          </p:nvPr>
        </p:nvSpPr>
        <p:spPr>
          <a:xfrm>
            <a:off x="316381" y="4632508"/>
            <a:ext cx="3455352" cy="1463492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Demanda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Agregada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Establece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una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relación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inversa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entre el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 y la </a:t>
            </a:r>
            <a:r>
              <a:rPr lang="en-US" altLang="es-PE" i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producción</a:t>
            </a:r>
            <a:r>
              <a:rPr lang="en-US" altLang="es-PE" i="1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200716" name="Picture 12" descr="fig7_3siz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64998"/>
            <a:ext cx="4114800" cy="532817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007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65809"/>
              </p:ext>
            </p:extLst>
          </p:nvPr>
        </p:nvGraphicFramePr>
        <p:xfrm>
          <a:off x="86406" y="3442631"/>
          <a:ext cx="3355629" cy="61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74900" imgH="393700" progId="Equation.COEE2">
                  <p:embed/>
                </p:oleObj>
              </mc:Choice>
              <mc:Fallback>
                <p:oleObj r:id="rId3" imgW="2374900" imgH="393700" progId="Equation.COEE2">
                  <p:embed/>
                  <p:pic>
                    <p:nvPicPr>
                      <p:cNvPr id="0" name="Picture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406" y="3442631"/>
                        <a:ext cx="3355629" cy="61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8" name="Rectangle 14"/>
          <p:cNvSpPr/>
          <p:nvPr/>
        </p:nvSpPr>
        <p:spPr>
          <a:xfrm>
            <a:off x="131230" y="1443877"/>
            <a:ext cx="3455352" cy="838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Wingdings" panose="05000000000000000000" pitchFamily="2" charset="2"/>
              <a:buNone/>
            </a:pPr>
            <a:r>
              <a:rPr lang="en-US" altLang="es-PE" b="1" i="1" dirty="0">
                <a:latin typeface="Arial" panose="020B0604020202020204" pitchFamily="34" charset="0"/>
              </a:rPr>
              <a:t>La </a:t>
            </a:r>
            <a:r>
              <a:rPr lang="en-US" altLang="es-PE" b="1" i="1" dirty="0" err="1">
                <a:latin typeface="Arial" panose="020B0604020202020204" pitchFamily="34" charset="0"/>
              </a:rPr>
              <a:t>obtención</a:t>
            </a:r>
            <a:r>
              <a:rPr lang="en-US" altLang="es-PE" b="1" i="1" dirty="0">
                <a:latin typeface="Arial" panose="020B0604020202020204" pitchFamily="34" charset="0"/>
              </a:rPr>
              <a:t> de la </a:t>
            </a:r>
            <a:r>
              <a:rPr lang="en-US" altLang="es-PE" b="1" i="1" dirty="0" err="1">
                <a:latin typeface="Arial" panose="020B0604020202020204" pitchFamily="34" charset="0"/>
              </a:rPr>
              <a:t>curva</a:t>
            </a:r>
            <a:r>
              <a:rPr lang="en-US" altLang="es-PE" b="1" i="1" dirty="0">
                <a:latin typeface="Arial" panose="020B0604020202020204" pitchFamily="34" charset="0"/>
              </a:rPr>
              <a:t> de la </a:t>
            </a:r>
            <a:r>
              <a:rPr lang="en-US" altLang="es-PE" b="1" i="1" dirty="0" err="1">
                <a:latin typeface="Arial" panose="020B0604020202020204" pitchFamily="34" charset="0"/>
              </a:rPr>
              <a:t>Demanda</a:t>
            </a:r>
            <a:r>
              <a:rPr lang="en-US" altLang="es-PE" b="1" i="1" dirty="0">
                <a:latin typeface="Arial" panose="020B0604020202020204" pitchFamily="34" charset="0"/>
              </a:rPr>
              <a:t> </a:t>
            </a:r>
            <a:r>
              <a:rPr lang="en-US" altLang="es-PE" b="1" i="1" dirty="0" err="1">
                <a:latin typeface="Arial" panose="020B0604020202020204" pitchFamily="34" charset="0"/>
              </a:rPr>
              <a:t>Agregada</a:t>
            </a:r>
            <a:endParaRPr lang="en-US" altLang="es-PE" b="1" i="1" dirty="0"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CBF3533-BB32-40FC-A7E7-9B43B9E15A70}"/>
              </a:ext>
            </a:extLst>
          </p:cNvPr>
          <p:cNvSpPr txBox="1">
            <a:spLocks/>
          </p:cNvSpPr>
          <p:nvPr/>
        </p:nvSpPr>
        <p:spPr>
          <a:xfrm>
            <a:off x="283630" y="2557554"/>
            <a:ext cx="3455352" cy="914400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panose="05040102010807070707" charset="2"/>
              <a:buNone/>
            </a:pP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Un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aumento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en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el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conduce a una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caída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 del </a:t>
            </a:r>
            <a:r>
              <a:rPr lang="en-US" altLang="es-PE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producto</a:t>
            </a:r>
            <a:r>
              <a:rPr lang="en-US" altLang="es-PE" dirty="0">
                <a:solidFill>
                  <a:schemeClr val="tx1"/>
                </a:solidFill>
                <a:latin typeface="Arial Narrow" panose="020B0606020202030204" pitchFamily="34" charset="0"/>
              </a:rPr>
              <a:t>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ldLvl="0" animBg="1"/>
      <p:bldP spid="200718" grpId="0" animBg="1"/>
      <p:bldP spid="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3"/>
          <p:cNvSpPr>
            <a:spLocks noGrp="1"/>
          </p:cNvSpPr>
          <p:nvPr>
            <p:ph type="title"/>
          </p:nvPr>
        </p:nvSpPr>
        <p:spPr>
          <a:xfrm>
            <a:off x="457199" y="0"/>
            <a:ext cx="6347713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 err="1">
                <a:solidFill>
                  <a:srgbClr val="C8AD76"/>
                </a:solidFill>
              </a:rPr>
              <a:t>Demanda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201732" name="Rectangle 4"/>
          <p:cNvSpPr>
            <a:spLocks noGrp="1"/>
          </p:cNvSpPr>
          <p:nvPr>
            <p:ph idx="1"/>
          </p:nvPr>
        </p:nvSpPr>
        <p:spPr>
          <a:xfrm>
            <a:off x="304800" y="1104900"/>
            <a:ext cx="7467600" cy="54483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marL="177800" indent="-177800" eaLnBrk="1" hangingPunct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Cambios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política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monetaria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o fiscal –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general,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cualquier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variable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distinta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al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, que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desplaza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a las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curvas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IS o LM,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desplaza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curva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demanda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agregada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 eaLnBrk="1" hangingPunct="1">
              <a:lnSpc>
                <a:spcPct val="170000"/>
              </a:lnSpc>
            </a:pPr>
            <a:endParaRPr lang="en-US" altLang="es-PE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170000"/>
              </a:lnSpc>
            </a:pPr>
            <a:endParaRPr lang="en-US" altLang="es-PE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170000"/>
              </a:lnSpc>
            </a:pPr>
            <a:endParaRPr lang="en-US" altLang="es-PE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7800" lvl="1" indent="-177800" eaLnBrk="1" hangingPunct="1">
              <a:lnSpc>
                <a:spcPct val="17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i="1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s-PE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altLang="es-PE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pendiente</a:t>
            </a:r>
            <a:r>
              <a:rPr lang="en-US" altLang="es-PE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negativa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, la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i="1" dirty="0">
                <a:latin typeface="Arial" panose="020B0604020202020204" pitchFamily="34" charset="0"/>
                <a:cs typeface="Arial" panose="020B0604020202020204" pitchFamily="34" charset="0"/>
              </a:rPr>
              <a:t>LM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pendiente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positiva</a:t>
            </a:r>
            <a:r>
              <a:rPr lang="en-US" altLang="es-P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1" indent="-177800" eaLnBrk="1" hangingPunct="1">
              <a:lnSpc>
                <a:spcPct val="17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altLang="es-PE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  <a:r>
              <a:rPr lang="en-US" altLang="es-PE" sz="1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inversa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entre el </a:t>
            </a:r>
            <a:r>
              <a:rPr lang="en-US" altLang="es-PE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producto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y el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s-PE" sz="1800" u="sng" dirty="0" err="1">
                <a:latin typeface="Arial" panose="020B0604020202020204" pitchFamily="34" charset="0"/>
                <a:cs typeface="Arial" panose="020B0604020202020204" pitchFamily="34" charset="0"/>
              </a:rPr>
              <a:t>precios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graficada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pendienta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negativa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demanda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sz="1800" dirty="0" err="1">
                <a:latin typeface="Arial" panose="020B0604020202020204" pitchFamily="34" charset="0"/>
                <a:cs typeface="Arial" panose="020B0604020202020204" pitchFamily="34" charset="0"/>
              </a:rPr>
              <a:t>agregada</a:t>
            </a:r>
            <a:r>
              <a:rPr lang="en-US" altLang="es-PE" sz="1800" dirty="0">
                <a:latin typeface="Arial" panose="020B0604020202020204" pitchFamily="34" charset="0"/>
                <a:cs typeface="Arial" panose="020B0604020202020204" pitchFamily="34" charset="0"/>
              </a:rPr>
              <a:t> (DA).</a:t>
            </a:r>
          </a:p>
        </p:txBody>
      </p:sp>
      <p:sp>
        <p:nvSpPr>
          <p:cNvPr id="16387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17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grpSp>
        <p:nvGrpSpPr>
          <p:cNvPr id="201733" name="Group 5"/>
          <p:cNvGrpSpPr/>
          <p:nvPr/>
        </p:nvGrpSpPr>
        <p:grpSpPr>
          <a:xfrm>
            <a:off x="3276600" y="3097212"/>
            <a:ext cx="2057400" cy="1158875"/>
            <a:chOff x="960" y="3024"/>
            <a:chExt cx="1296" cy="730"/>
          </a:xfrm>
        </p:grpSpPr>
        <p:graphicFrame>
          <p:nvGraphicFramePr>
            <p:cNvPr id="16392" name="Object 6"/>
            <p:cNvGraphicFramePr>
              <a:graphicFrameLocks noChangeAspect="1"/>
            </p:cNvGraphicFramePr>
            <p:nvPr/>
          </p:nvGraphicFramePr>
          <p:xfrm>
            <a:off x="960" y="3024"/>
            <a:ext cx="129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66800" imgH="431800" progId="Equation.COEE2">
                    <p:embed/>
                  </p:oleObj>
                </mc:Choice>
                <mc:Fallback>
                  <p:oleObj r:id="rId2" imgW="1066800" imgH="431800" progId="Equation.COEE2">
                    <p:embed/>
                    <p:pic>
                      <p:nvPicPr>
                        <p:cNvPr id="0" name="Picture 308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60" y="3024"/>
                          <a:ext cx="1296" cy="5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3" name="Object 7"/>
            <p:cNvGraphicFramePr>
              <a:graphicFrameLocks noChangeAspect="1"/>
            </p:cNvGraphicFramePr>
            <p:nvPr/>
          </p:nvGraphicFramePr>
          <p:xfrm>
            <a:off x="1440" y="3504"/>
            <a:ext cx="81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22300" imgH="190500" progId="Equation.COEE2">
                    <p:embed/>
                  </p:oleObj>
                </mc:Choice>
                <mc:Fallback>
                  <p:oleObj r:id="rId4" imgW="622300" imgH="190500" progId="Equation.COEE2">
                    <p:embed/>
                    <p:pic>
                      <p:nvPicPr>
                        <p:cNvPr id="0" name="Picture 308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40" y="3504"/>
                          <a:ext cx="816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1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1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533399" y="0"/>
            <a:ext cx="6347714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 err="1">
                <a:solidFill>
                  <a:srgbClr val="C8AD76"/>
                </a:solidFill>
              </a:rPr>
              <a:t>Demanda</a:t>
            </a:r>
            <a:r>
              <a:rPr lang="en-US" altLang="es-PE" dirty="0">
                <a:solidFill>
                  <a:srgbClr val="C8AD76"/>
                </a:solidFill>
              </a:rPr>
              <a:t> </a:t>
            </a:r>
            <a:r>
              <a:rPr lang="en-US" altLang="es-PE" dirty="0" err="1">
                <a:solidFill>
                  <a:srgbClr val="C8AD76"/>
                </a:solidFill>
              </a:rPr>
              <a:t>Agregada</a:t>
            </a:r>
            <a:endParaRPr lang="en-US" altLang="es-PE" dirty="0">
              <a:solidFill>
                <a:srgbClr val="C8AD76"/>
              </a:solidFill>
            </a:endParaRPr>
          </a:p>
        </p:txBody>
      </p:sp>
      <p:sp>
        <p:nvSpPr>
          <p:cNvPr id="17411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18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p:sp>
        <p:nvSpPr>
          <p:cNvPr id="202755" name="Rectangle 3"/>
          <p:cNvSpPr>
            <a:spLocks noGrp="1"/>
          </p:cNvSpPr>
          <p:nvPr>
            <p:ph type="body" idx="4294967295"/>
          </p:nvPr>
        </p:nvSpPr>
        <p:spPr>
          <a:xfrm>
            <a:off x="152400" y="1752600"/>
            <a:ext cx="3048000" cy="42672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Un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aumento</a:t>
            </a:r>
            <a:r>
              <a:rPr lang="en-US" altLang="es-PE" sz="1700" u="sng" dirty="0">
                <a:solidFill>
                  <a:schemeClr val="tx1"/>
                </a:solidFill>
                <a:latin typeface="Arial Narrow" panose="020B0606020202030204" pitchFamily="34" charset="0"/>
              </a:rPr>
              <a:t> del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gasto</a:t>
            </a:r>
            <a:r>
              <a:rPr lang="en-US" altLang="es-PE" sz="1700" u="sng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gobierno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incrementa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el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producto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a un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dado,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desplazando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la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curva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de la DA a la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derecha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Una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disminución</a:t>
            </a:r>
            <a:r>
              <a:rPr lang="en-US" altLang="es-PE" sz="1700" u="sng" dirty="0">
                <a:solidFill>
                  <a:schemeClr val="tx1"/>
                </a:solidFill>
                <a:latin typeface="Arial Narrow" panose="020B0606020202030204" pitchFamily="34" charset="0"/>
              </a:rPr>
              <a:t> de la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cantidad</a:t>
            </a:r>
            <a:r>
              <a:rPr lang="en-US" altLang="es-PE" sz="1700" u="sng" dirty="0">
                <a:solidFill>
                  <a:schemeClr val="tx1"/>
                </a:solidFill>
                <a:latin typeface="Arial Narrow" panose="020B0606020202030204" pitchFamily="34" charset="0"/>
              </a:rPr>
              <a:t> nominal de </a:t>
            </a:r>
            <a:r>
              <a:rPr lang="en-US" altLang="es-PE" sz="1700" u="sng" dirty="0" err="1">
                <a:solidFill>
                  <a:schemeClr val="tx1"/>
                </a:solidFill>
                <a:latin typeface="Arial Narrow" panose="020B0606020202030204" pitchFamily="34" charset="0"/>
              </a:rPr>
              <a:t>dinero</a:t>
            </a:r>
            <a:r>
              <a:rPr lang="en-US" altLang="es-PE" sz="1700" u="sng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disminuye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el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producto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a un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nivel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de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precios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dado,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desplazando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la DA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hacia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 la </a:t>
            </a:r>
            <a:r>
              <a:rPr lang="en-US" altLang="es-PE" sz="1700" dirty="0" err="1">
                <a:solidFill>
                  <a:schemeClr val="tx1"/>
                </a:solidFill>
                <a:latin typeface="Arial Narrow" panose="020B0606020202030204" pitchFamily="34" charset="0"/>
              </a:rPr>
              <a:t>izquierda</a:t>
            </a:r>
            <a:r>
              <a:rPr lang="en-US" altLang="es-PE" sz="1700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grpSp>
        <p:nvGrpSpPr>
          <p:cNvPr id="202756" name="Group 4"/>
          <p:cNvGrpSpPr/>
          <p:nvPr/>
        </p:nvGrpSpPr>
        <p:grpSpPr>
          <a:xfrm>
            <a:off x="2770188" y="5644590"/>
            <a:ext cx="2057400" cy="1143000"/>
            <a:chOff x="768" y="3168"/>
            <a:chExt cx="1296" cy="720"/>
          </a:xfrm>
        </p:grpSpPr>
        <p:graphicFrame>
          <p:nvGraphicFramePr>
            <p:cNvPr id="17422" name="Object 5"/>
            <p:cNvGraphicFramePr>
              <a:graphicFrameLocks noChangeAspect="1"/>
            </p:cNvGraphicFramePr>
            <p:nvPr/>
          </p:nvGraphicFramePr>
          <p:xfrm>
            <a:off x="768" y="3168"/>
            <a:ext cx="129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66800" imgH="431800" progId="Equation.COEE2">
                    <p:embed/>
                  </p:oleObj>
                </mc:Choice>
                <mc:Fallback>
                  <p:oleObj r:id="rId2" imgW="1066800" imgH="431800" progId="Equation.COEE2">
                    <p:embed/>
                    <p:pic>
                      <p:nvPicPr>
                        <p:cNvPr id="0" name="Picture 308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68" y="3168"/>
                          <a:ext cx="1296" cy="5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3" name="Object 6"/>
            <p:cNvGraphicFramePr>
              <a:graphicFrameLocks noChangeAspect="1"/>
            </p:cNvGraphicFramePr>
            <p:nvPr/>
          </p:nvGraphicFramePr>
          <p:xfrm>
            <a:off x="1248" y="3638"/>
            <a:ext cx="81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22300" imgH="190500" progId="Equation.COEE2">
                    <p:embed/>
                  </p:oleObj>
                </mc:Choice>
                <mc:Fallback>
                  <p:oleObj r:id="rId4" imgW="622300" imgH="190500" progId="Equation.COEE2">
                    <p:embed/>
                    <p:pic>
                      <p:nvPicPr>
                        <p:cNvPr id="0" name="Picture 308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48" y="3638"/>
                          <a:ext cx="816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2759" name="Picture 7" descr="fig7_4_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8888" y="1600200"/>
            <a:ext cx="4811712" cy="380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760" name="Picture 8" descr="fig7_4_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8888" y="1600200"/>
            <a:ext cx="4811712" cy="380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761" name="Picture 9" descr="fig7_4_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8888" y="1600200"/>
            <a:ext cx="4811712" cy="380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762" name="Picture 10" descr="fig7_4_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8888" y="1600200"/>
            <a:ext cx="4811712" cy="380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763" name="Picture 11" descr="fig7_4siz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8888" y="1600200"/>
            <a:ext cx="4811712" cy="380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2764" name="Rectangle 12"/>
          <p:cNvSpPr/>
          <p:nvPr/>
        </p:nvSpPr>
        <p:spPr>
          <a:xfrm>
            <a:off x="152400" y="1320800"/>
            <a:ext cx="3646488" cy="609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Wingdings" panose="05000000000000000000" pitchFamily="2" charset="2"/>
              <a:buNone/>
            </a:pPr>
            <a:r>
              <a:rPr lang="en-US" altLang="es-PE" b="1" i="1" dirty="0" err="1">
                <a:latin typeface="Arial" panose="020B0604020202020204" pitchFamily="34" charset="0"/>
              </a:rPr>
              <a:t>Desplazamientos</a:t>
            </a:r>
            <a:r>
              <a:rPr lang="en-US" altLang="es-PE" b="1" i="1" dirty="0">
                <a:latin typeface="Arial" panose="020B0604020202020204" pitchFamily="34" charset="0"/>
              </a:rPr>
              <a:t> de la DA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0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Equilibrio</a:t>
            </a:r>
            <a:r>
              <a:rPr lang="en-US" altLang="es-PE" b="1" dirty="0">
                <a:solidFill>
                  <a:srgbClr val="C8AD76"/>
                </a:solidFill>
                <a:sym typeface="+mn-ea"/>
              </a:rPr>
              <a:t> </a:t>
            </a:r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en</a:t>
            </a:r>
            <a:r>
              <a:rPr lang="en-US" altLang="es-PE" b="1" dirty="0">
                <a:solidFill>
                  <a:srgbClr val="C8AD76"/>
                </a:solidFill>
                <a:sym typeface="+mn-ea"/>
              </a:rPr>
              <a:t> el </a:t>
            </a:r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Corto</a:t>
            </a:r>
            <a:r>
              <a:rPr lang="en-US" altLang="es-PE" b="1" dirty="0">
                <a:solidFill>
                  <a:srgbClr val="C8AD76"/>
                </a:solidFill>
                <a:sym typeface="+mn-ea"/>
              </a:rPr>
              <a:t> </a:t>
            </a:r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Plazo</a:t>
            </a:r>
            <a:r>
              <a:rPr lang="en-US" altLang="es-PE" b="1" dirty="0">
                <a:solidFill>
                  <a:srgbClr val="C8AD76"/>
                </a:solidFill>
                <a:sym typeface="+mn-ea"/>
              </a:rPr>
              <a:t> y el </a:t>
            </a:r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Mediano</a:t>
            </a:r>
            <a:r>
              <a:rPr lang="en-US" altLang="es-PE" b="1" dirty="0">
                <a:solidFill>
                  <a:srgbClr val="C8AD76"/>
                </a:solidFill>
                <a:sym typeface="+mn-ea"/>
              </a:rPr>
              <a:t> </a:t>
            </a:r>
            <a:r>
              <a:rPr lang="en-US" altLang="es-PE" b="1" dirty="0" err="1">
                <a:solidFill>
                  <a:srgbClr val="C8AD76"/>
                </a:solidFill>
                <a:sym typeface="+mn-ea"/>
              </a:rPr>
              <a:t>Plazo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xfrm>
            <a:off x="557529" y="-17145"/>
            <a:ext cx="6347713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s-PE" altLang="es-PE" dirty="0">
                <a:solidFill>
                  <a:schemeClr val="accent2"/>
                </a:solidFill>
              </a:rPr>
              <a:t>Equilibrio en el Corto Plazo y el Mediano Plazo</a:t>
            </a:r>
            <a:endParaRPr lang="en-US" altLang="es-PE" dirty="0">
              <a:solidFill>
                <a:schemeClr val="accent2"/>
              </a:solidFill>
            </a:endParaRPr>
          </a:p>
        </p:txBody>
      </p:sp>
      <p:sp>
        <p:nvSpPr>
          <p:cNvPr id="203779" name="Rectangle 3"/>
          <p:cNvSpPr>
            <a:spLocks noGrp="1"/>
          </p:cNvSpPr>
          <p:nvPr>
            <p:ph idx="1"/>
          </p:nvPr>
        </p:nvSpPr>
        <p:spPr>
          <a:xfrm>
            <a:off x="993140" y="3970973"/>
            <a:ext cx="6858000" cy="2249487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El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equilibrio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depende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los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valores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s-PE" sz="2400" i="1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. 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El valor de </a:t>
            </a:r>
            <a:r>
              <a:rPr lang="en-US" altLang="es-PE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s-PE" sz="2400" i="1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determina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posición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curva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OA, y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posición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la OA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afecta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equilibrio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9459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20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1524000" y="1431599"/>
                <a:ext cx="4526546" cy="803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d>
                        <m:d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P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PE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28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431599"/>
                <a:ext cx="4526546" cy="8038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224802"/>
              </p:ext>
            </p:extLst>
          </p:nvPr>
        </p:nvGraphicFramePr>
        <p:xfrm>
          <a:off x="2438400" y="2514600"/>
          <a:ext cx="2057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66800" imgH="431800" progId="Equation.COEE2">
                  <p:embed/>
                </p:oleObj>
              </mc:Choice>
              <mc:Fallback>
                <p:oleObj r:id="rId4" imgW="1066800" imgH="431800" progId="Equation.COEE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38400" y="2514600"/>
                        <a:ext cx="20574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3561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 bldLvl="2" advAuto="100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478789" y="-17145"/>
            <a:ext cx="6347714" cy="132080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pPr eaLnBrk="1" hangingPunct="1"/>
            <a:r>
              <a:rPr lang="en-US" altLang="es-PE" dirty="0" err="1">
                <a:solidFill>
                  <a:schemeClr val="accent2"/>
                </a:solidFill>
              </a:rPr>
              <a:t>Equilibrio</a:t>
            </a:r>
            <a:r>
              <a:rPr lang="en-US" altLang="es-PE" dirty="0">
                <a:solidFill>
                  <a:schemeClr val="accent2"/>
                </a:solidFill>
              </a:rPr>
              <a:t> </a:t>
            </a:r>
            <a:r>
              <a:rPr lang="en-US" altLang="es-PE" dirty="0" err="1">
                <a:solidFill>
                  <a:schemeClr val="accent2"/>
                </a:solidFill>
              </a:rPr>
              <a:t>en</a:t>
            </a:r>
            <a:r>
              <a:rPr lang="en-US" altLang="es-PE" dirty="0">
                <a:solidFill>
                  <a:schemeClr val="accent2"/>
                </a:solidFill>
              </a:rPr>
              <a:t> el </a:t>
            </a:r>
            <a:r>
              <a:rPr lang="en-US" altLang="es-PE" dirty="0" err="1">
                <a:solidFill>
                  <a:schemeClr val="accent2"/>
                </a:solidFill>
              </a:rPr>
              <a:t>Corto</a:t>
            </a:r>
            <a:r>
              <a:rPr lang="en-US" altLang="es-PE" dirty="0">
                <a:solidFill>
                  <a:schemeClr val="accent2"/>
                </a:solidFill>
              </a:rPr>
              <a:t> </a:t>
            </a:r>
            <a:r>
              <a:rPr lang="en-US" altLang="es-PE" dirty="0" err="1">
                <a:solidFill>
                  <a:schemeClr val="accent2"/>
                </a:solidFill>
              </a:rPr>
              <a:t>Plazo</a:t>
            </a:r>
            <a:endParaRPr lang="en-US" altLang="es-PE" dirty="0">
              <a:solidFill>
                <a:schemeClr val="accent2"/>
              </a:solidFill>
            </a:endParaRPr>
          </a:p>
        </p:txBody>
      </p:sp>
      <p:sp>
        <p:nvSpPr>
          <p:cNvPr id="20483" name="Marcador de número de diapositiva 3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smtClean="0">
                <a:solidFill>
                  <a:schemeClr val="bg1"/>
                </a:solidFill>
              </a:rPr>
              <a:t>21</a:t>
            </a:fld>
            <a:endParaRPr lang="en-US" altLang="es-PE" sz="1400" dirty="0">
              <a:solidFill>
                <a:schemeClr val="bg1"/>
              </a:solidFill>
            </a:endParaRPr>
          </a:p>
        </p:txBody>
      </p:sp>
      <p:sp>
        <p:nvSpPr>
          <p:cNvPr id="204803" name="Rectangle 3"/>
          <p:cNvSpPr>
            <a:spLocks noGrp="1"/>
          </p:cNvSpPr>
          <p:nvPr>
            <p:ph type="body" idx="4294967295"/>
          </p:nvPr>
        </p:nvSpPr>
        <p:spPr>
          <a:xfrm>
            <a:off x="456377" y="2057400"/>
            <a:ext cx="3076575" cy="382016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>
            <a:no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El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equilibrio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está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dado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por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la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intersección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las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curvas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de DA y OA.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En el punto A, el mercado de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bienes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y el mercado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financiero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están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 en </a:t>
            </a:r>
            <a:r>
              <a:rPr lang="en-US" altLang="es-PE" sz="20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equilibrio</a:t>
            </a:r>
            <a:r>
              <a:rPr lang="en-US" altLang="es-PE" sz="2000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204807" name="Picture 7" descr="fig7_5sized"/>
          <p:cNvPicPr>
            <a:picLocks noChangeAspect="1"/>
          </p:cNvPicPr>
          <p:nvPr/>
        </p:nvPicPr>
        <p:blipFill rotWithShape="1">
          <a:blip r:embed="rId2"/>
          <a:srcRect l="7576" b="9013"/>
          <a:stretch/>
        </p:blipFill>
        <p:spPr>
          <a:xfrm>
            <a:off x="3652646" y="1676400"/>
            <a:ext cx="4648200" cy="373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08" name="Rectangle 8"/>
          <p:cNvSpPr/>
          <p:nvPr/>
        </p:nvSpPr>
        <p:spPr>
          <a:xfrm>
            <a:off x="478790" y="1303655"/>
            <a:ext cx="2733675" cy="609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003300"/>
              </a:buClr>
              <a:buFont typeface="Wingdings" panose="05000000000000000000" pitchFamily="2" charset="2"/>
              <a:buNone/>
            </a:pPr>
            <a:r>
              <a:rPr lang="en-US" altLang="es-PE" sz="1600" b="1" i="1" dirty="0">
                <a:latin typeface="Arial" panose="020B0604020202020204" pitchFamily="34" charset="0"/>
              </a:rPr>
              <a:t>El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equilibrio</a:t>
            </a:r>
            <a:r>
              <a:rPr lang="en-US" altLang="es-PE" sz="1600" b="1" i="1" dirty="0">
                <a:latin typeface="Arial" panose="020B0604020202020204" pitchFamily="34" charset="0"/>
              </a:rPr>
              <a:t> de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Corto</a:t>
            </a:r>
            <a:r>
              <a:rPr lang="en-US" altLang="es-PE" sz="1600" b="1" i="1" dirty="0">
                <a:latin typeface="Arial" panose="020B0604020202020204" pitchFamily="34" charset="0"/>
              </a:rPr>
              <a:t> </a:t>
            </a:r>
            <a:r>
              <a:rPr lang="en-US" altLang="es-PE" sz="1600" b="1" i="1" dirty="0" err="1">
                <a:latin typeface="Arial" panose="020B0604020202020204" pitchFamily="34" charset="0"/>
              </a:rPr>
              <a:t>Plazo</a:t>
            </a:r>
            <a:endParaRPr lang="en-US" altLang="es-PE" sz="16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437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/>
          </p:cNvSpPr>
          <p:nvPr>
            <p:ph type="title"/>
          </p:nvPr>
        </p:nvSpPr>
        <p:spPr>
          <a:xfrm>
            <a:off x="503915" y="90488"/>
            <a:ext cx="6347713" cy="1052512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 err="1"/>
              <a:t>Equilibrio</a:t>
            </a:r>
            <a:r>
              <a:rPr lang="en-US" altLang="es-PE" dirty="0"/>
              <a:t> </a:t>
            </a:r>
            <a:r>
              <a:rPr lang="en-US" altLang="es-PE" dirty="0" err="1"/>
              <a:t>en</a:t>
            </a:r>
            <a:r>
              <a:rPr lang="en-US" altLang="es-PE" dirty="0"/>
              <a:t> el </a:t>
            </a:r>
            <a:r>
              <a:rPr lang="en-US" altLang="es-PE" dirty="0" err="1"/>
              <a:t>Corto</a:t>
            </a:r>
            <a:r>
              <a:rPr lang="en-US" altLang="es-PE" dirty="0"/>
              <a:t> </a:t>
            </a:r>
            <a:r>
              <a:rPr lang="en-US" altLang="es-PE" dirty="0" err="1"/>
              <a:t>Plazo</a:t>
            </a:r>
            <a:endParaRPr lang="en-US" altLang="es-PE" dirty="0"/>
          </a:p>
        </p:txBody>
      </p:sp>
      <p:sp>
        <p:nvSpPr>
          <p:cNvPr id="236547" name="Rectangle 3"/>
          <p:cNvSpPr>
            <a:spLocks noGrp="1"/>
          </p:cNvSpPr>
          <p:nvPr>
            <p:ph idx="1"/>
          </p:nvPr>
        </p:nvSpPr>
        <p:spPr>
          <a:xfrm>
            <a:off x="430810" y="1139890"/>
            <a:ext cx="3379190" cy="541331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marL="231775" indent="-231775" eaLnBrk="1" hangingPunct="1">
              <a:lnSpc>
                <a:spcPct val="15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curva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oferta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agregada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OA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esta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graficada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para un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determinado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en-US" altLang="es-PE" i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e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231775" indent="-231775" eaLnBrk="1" hangingPunct="1">
              <a:lnSpc>
                <a:spcPct val="15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A mayor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, mayor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31775" indent="-231775" eaLnBrk="1" hangingPunct="1">
              <a:lnSpc>
                <a:spcPct val="150000"/>
              </a:lnSpc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curva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la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demanda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agregada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está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dibujada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para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niveles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dados de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</a:rPr>
              <a:t>M, G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, y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:  a mayor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menor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es el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producto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21507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smtClean="0">
                <a:solidFill>
                  <a:schemeClr val="bg1"/>
                </a:solidFill>
              </a:rPr>
              <a:t>22</a:t>
            </a:fld>
            <a:endParaRPr lang="en-US" altLang="es-PE" sz="1400" dirty="0">
              <a:solidFill>
                <a:schemeClr val="bg1"/>
              </a:solidFill>
            </a:endParaRPr>
          </a:p>
        </p:txBody>
      </p:sp>
      <p:pic>
        <p:nvPicPr>
          <p:cNvPr id="21513" name="Picture 7" descr="fig7_5sized"/>
          <p:cNvPicPr>
            <a:picLocks noChangeAspect="1"/>
          </p:cNvPicPr>
          <p:nvPr/>
        </p:nvPicPr>
        <p:blipFill rotWithShape="1">
          <a:blip r:embed="rId2"/>
          <a:srcRect l="7051" b="9208"/>
          <a:stretch/>
        </p:blipFill>
        <p:spPr>
          <a:xfrm>
            <a:off x="4038599" y="1760602"/>
            <a:ext cx="4674591" cy="372579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713366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170180" y="0"/>
            <a:ext cx="7449820" cy="922338"/>
          </a:xfrm>
        </p:spPr>
        <p:txBody>
          <a:bodyPr vert="horz" wrap="square" lIns="91440" tIns="548640" rIns="91440" bIns="457200" anchor="ctr">
            <a:noAutofit/>
          </a:bodyPr>
          <a:lstStyle/>
          <a:p>
            <a:pPr eaLnBrk="1" hangingPunct="1"/>
            <a:r>
              <a:rPr lang="en-US" altLang="es-PE" sz="3000" dirty="0"/>
              <a:t>Del </a:t>
            </a:r>
            <a:r>
              <a:rPr lang="en-US" altLang="es-PE" sz="3000" dirty="0" err="1"/>
              <a:t>Corto</a:t>
            </a:r>
            <a:r>
              <a:rPr lang="en-US" altLang="es-PE" sz="3000" dirty="0"/>
              <a:t> </a:t>
            </a:r>
            <a:r>
              <a:rPr lang="en-US" altLang="es-PE" sz="3000" dirty="0" err="1"/>
              <a:t>Plazo</a:t>
            </a:r>
            <a:r>
              <a:rPr lang="en-US" altLang="es-PE" sz="3000" dirty="0"/>
              <a:t> al </a:t>
            </a:r>
            <a:r>
              <a:rPr lang="en-US" altLang="es-PE" sz="3000" dirty="0" err="1"/>
              <a:t>Mediano</a:t>
            </a:r>
            <a:r>
              <a:rPr lang="en-US" altLang="es-PE" sz="3000" dirty="0"/>
              <a:t>/Largo </a:t>
            </a:r>
            <a:r>
              <a:rPr lang="en-US" altLang="es-PE" sz="3000" dirty="0" err="1"/>
              <a:t>Plazo</a:t>
            </a:r>
            <a:endParaRPr lang="en-US" altLang="es-PE" sz="3000" dirty="0"/>
          </a:p>
        </p:txBody>
      </p:sp>
      <p:sp>
        <p:nvSpPr>
          <p:cNvPr id="205827" name="Rectangle 3"/>
          <p:cNvSpPr>
            <a:spLocks noGrp="1"/>
          </p:cNvSpPr>
          <p:nvPr>
            <p:ph idx="1"/>
          </p:nvPr>
        </p:nvSpPr>
        <p:spPr>
          <a:xfrm>
            <a:off x="177956" y="1076292"/>
            <a:ext cx="3297237" cy="525463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charset="0"/>
              <a:buChar char=""/>
            </a:pP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 el punto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</a:rPr>
              <a:t>si</a:t>
            </a:r>
            <a:endParaRPr lang="en-US" altLang="es-PE" baseline="-25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smtClean="0">
                <a:solidFill>
                  <a:schemeClr val="bg1"/>
                </a:solidFill>
              </a:rPr>
              <a:t>23</a:t>
            </a:fld>
            <a:endParaRPr lang="en-US" altLang="es-PE" sz="1400" dirty="0">
              <a:solidFill>
                <a:schemeClr val="bg1"/>
              </a:solidFill>
            </a:endParaRPr>
          </a:p>
        </p:txBody>
      </p:sp>
      <p:sp>
        <p:nvSpPr>
          <p:cNvPr id="205829" name="Rectangle 5"/>
          <p:cNvSpPr/>
          <p:nvPr/>
        </p:nvSpPr>
        <p:spPr>
          <a:xfrm>
            <a:off x="177956" y="2014220"/>
            <a:ext cx="3555844" cy="45389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39725" indent="-339725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600" dirty="0" err="1">
                <a:latin typeface="Arial" panose="020B0604020202020204" pitchFamily="34" charset="0"/>
              </a:rPr>
              <a:t>Quienes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determinan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los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salarios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revisarán</a:t>
            </a:r>
            <a:r>
              <a:rPr lang="en-US" altLang="es-PE" sz="1600" dirty="0">
                <a:latin typeface="Arial" panose="020B0604020202020204" pitchFamily="34" charset="0"/>
              </a:rPr>
              <a:t> al </a:t>
            </a:r>
            <a:r>
              <a:rPr lang="en-US" altLang="es-PE" sz="1600" dirty="0" err="1">
                <a:latin typeface="Arial" panose="020B0604020202020204" pitchFamily="34" charset="0"/>
              </a:rPr>
              <a:t>alza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sus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expectativas</a:t>
            </a:r>
            <a:r>
              <a:rPr lang="en-US" altLang="es-PE" sz="1600" dirty="0">
                <a:latin typeface="Arial" panose="020B0604020202020204" pitchFamily="34" charset="0"/>
              </a:rPr>
              <a:t> del </a:t>
            </a:r>
            <a:r>
              <a:rPr lang="en-US" altLang="es-PE" sz="1600" dirty="0" err="1">
                <a:latin typeface="Arial" panose="020B0604020202020204" pitchFamily="34" charset="0"/>
              </a:rPr>
              <a:t>nivel</a:t>
            </a:r>
            <a:r>
              <a:rPr lang="en-US" altLang="es-PE" sz="1600" dirty="0">
                <a:latin typeface="Arial" panose="020B0604020202020204" pitchFamily="34" charset="0"/>
              </a:rPr>
              <a:t> de </a:t>
            </a:r>
            <a:r>
              <a:rPr lang="en-US" altLang="es-PE" sz="1600" dirty="0" err="1">
                <a:latin typeface="Arial" panose="020B0604020202020204" pitchFamily="34" charset="0"/>
              </a:rPr>
              <a:t>precio</a:t>
            </a:r>
            <a:r>
              <a:rPr lang="en-US" altLang="es-PE" sz="1600" dirty="0">
                <a:latin typeface="Arial" panose="020B0604020202020204" pitchFamily="34" charset="0"/>
              </a:rPr>
              <a:t> a </a:t>
            </a:r>
            <a:r>
              <a:rPr lang="en-US" altLang="es-PE" sz="1600" dirty="0" err="1">
                <a:latin typeface="Arial" panose="020B0604020202020204" pitchFamily="34" charset="0"/>
              </a:rPr>
              <a:t>futuro</a:t>
            </a:r>
            <a:r>
              <a:rPr lang="en-US" altLang="es-PE" sz="1600" dirty="0">
                <a:latin typeface="Arial" panose="020B0604020202020204" pitchFamily="34" charset="0"/>
              </a:rPr>
              <a:t>. Ello </a:t>
            </a:r>
            <a:r>
              <a:rPr lang="en-US" altLang="es-PE" sz="1600" dirty="0" err="1">
                <a:latin typeface="Arial" panose="020B0604020202020204" pitchFamily="34" charset="0"/>
              </a:rPr>
              <a:t>causará</a:t>
            </a:r>
            <a:r>
              <a:rPr lang="en-US" altLang="es-PE" sz="1600" dirty="0">
                <a:latin typeface="Arial" panose="020B0604020202020204" pitchFamily="34" charset="0"/>
              </a:rPr>
              <a:t> que la OA se </a:t>
            </a:r>
            <a:r>
              <a:rPr lang="en-US" altLang="es-PE" sz="1600" dirty="0" err="1">
                <a:latin typeface="Arial" panose="020B0604020202020204" pitchFamily="34" charset="0"/>
              </a:rPr>
              <a:t>contraiga</a:t>
            </a:r>
            <a:r>
              <a:rPr lang="en-US" altLang="es-PE" sz="1600" dirty="0">
                <a:latin typeface="Arial" panose="020B0604020202020204" pitchFamily="34" charset="0"/>
              </a:rPr>
              <a:t> (</a:t>
            </a:r>
            <a:r>
              <a:rPr lang="en-US" altLang="es-PE" sz="1600" dirty="0" err="1">
                <a:latin typeface="Arial" panose="020B0604020202020204" pitchFamily="34" charset="0"/>
              </a:rPr>
              <a:t>desplace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hacia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izquierda</a:t>
            </a:r>
            <a:r>
              <a:rPr lang="en-US" altLang="es-PE" sz="1600" dirty="0">
                <a:latin typeface="Arial" panose="020B0604020202020204" pitchFamily="34" charset="0"/>
              </a:rPr>
              <a:t>/</a:t>
            </a:r>
            <a:r>
              <a:rPr lang="en-US" altLang="es-PE" sz="1600" dirty="0" err="1">
                <a:latin typeface="Arial" panose="020B0604020202020204" pitchFamily="34" charset="0"/>
              </a:rPr>
              <a:t>arriba</a:t>
            </a:r>
            <a:r>
              <a:rPr lang="en-US" altLang="es-PE" sz="1600" dirty="0">
                <a:latin typeface="Arial" panose="020B0604020202020204" pitchFamily="34" charset="0"/>
              </a:rPr>
              <a:t>).</a:t>
            </a:r>
          </a:p>
          <a:p>
            <a:pPr marL="339725" indent="-339725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FF0066"/>
              </a:buClr>
              <a:buFont typeface="Wingdings" panose="05000000000000000000" pitchFamily="2" charset="2"/>
              <a:buChar char="§"/>
            </a:pPr>
            <a:r>
              <a:rPr lang="en-US" altLang="es-PE" sz="1600" dirty="0">
                <a:latin typeface="Arial" panose="020B0604020202020204" pitchFamily="34" charset="0"/>
              </a:rPr>
              <a:t>Un mayor </a:t>
            </a:r>
            <a:r>
              <a:rPr lang="en-US" altLang="es-PE" sz="1600" dirty="0" err="1">
                <a:latin typeface="Arial" panose="020B0604020202020204" pitchFamily="34" charset="0"/>
              </a:rPr>
              <a:t>nivel</a:t>
            </a:r>
            <a:r>
              <a:rPr lang="en-US" altLang="es-PE" sz="1600" dirty="0">
                <a:latin typeface="Arial" panose="020B0604020202020204" pitchFamily="34" charset="0"/>
              </a:rPr>
              <a:t> de </a:t>
            </a:r>
            <a:r>
              <a:rPr lang="en-US" altLang="es-PE" sz="1600" dirty="0" err="1">
                <a:latin typeface="Arial" panose="020B0604020202020204" pitchFamily="34" charset="0"/>
              </a:rPr>
              <a:t>precio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esperado</a:t>
            </a:r>
            <a:r>
              <a:rPr lang="en-US" altLang="es-PE" sz="1600" dirty="0">
                <a:latin typeface="Arial" panose="020B0604020202020204" pitchFamily="34" charset="0"/>
              </a:rPr>
              <a:t> a </a:t>
            </a:r>
            <a:r>
              <a:rPr lang="en-US" altLang="es-PE" sz="1600" dirty="0" err="1">
                <a:latin typeface="Arial" panose="020B0604020202020204" pitchFamily="34" charset="0"/>
              </a:rPr>
              <a:t>su</a:t>
            </a:r>
            <a:r>
              <a:rPr lang="en-US" altLang="es-PE" sz="1600" dirty="0">
                <a:latin typeface="Arial" panose="020B0604020202020204" pitchFamily="34" charset="0"/>
              </a:rPr>
              <a:t> </a:t>
            </a:r>
            <a:r>
              <a:rPr lang="en-US" altLang="es-PE" sz="1600" dirty="0" err="1">
                <a:latin typeface="Arial" panose="020B0604020202020204" pitchFamily="34" charset="0"/>
              </a:rPr>
              <a:t>vez</a:t>
            </a:r>
            <a:r>
              <a:rPr lang="en-US" altLang="es-PE" sz="1600" dirty="0">
                <a:latin typeface="Arial" panose="020B0604020202020204" pitchFamily="34" charset="0"/>
              </a:rPr>
              <a:t> conduce a un mayor </a:t>
            </a:r>
            <a:r>
              <a:rPr lang="en-US" altLang="es-PE" sz="1600" dirty="0" err="1">
                <a:latin typeface="Arial" panose="020B0604020202020204" pitchFamily="34" charset="0"/>
              </a:rPr>
              <a:t>nivel</a:t>
            </a:r>
            <a:r>
              <a:rPr lang="en-US" altLang="es-PE" sz="1600" dirty="0">
                <a:latin typeface="Arial" panose="020B0604020202020204" pitchFamily="34" charset="0"/>
              </a:rPr>
              <a:t> de </a:t>
            </a:r>
            <a:r>
              <a:rPr lang="en-US" altLang="es-PE" sz="1600" dirty="0" err="1">
                <a:latin typeface="Arial" panose="020B0604020202020204" pitchFamily="34" charset="0"/>
              </a:rPr>
              <a:t>salario</a:t>
            </a:r>
            <a:r>
              <a:rPr lang="en-US" altLang="es-PE" sz="1600" dirty="0">
                <a:latin typeface="Arial" panose="020B0604020202020204" pitchFamily="34" charset="0"/>
              </a:rPr>
              <a:t> nominal, lo que </a:t>
            </a:r>
            <a:r>
              <a:rPr lang="en-US" altLang="es-PE" sz="1600" dirty="0" err="1">
                <a:latin typeface="Arial" panose="020B0604020202020204" pitchFamily="34" charset="0"/>
              </a:rPr>
              <a:t>lleva</a:t>
            </a:r>
            <a:r>
              <a:rPr lang="en-US" altLang="es-PE" sz="1600" dirty="0">
                <a:latin typeface="Arial" panose="020B0604020202020204" pitchFamily="34" charset="0"/>
              </a:rPr>
              <a:t> a un mayor </a:t>
            </a:r>
            <a:r>
              <a:rPr lang="en-US" altLang="es-PE" sz="1600" dirty="0" err="1">
                <a:latin typeface="Arial" panose="020B0604020202020204" pitchFamily="34" charset="0"/>
              </a:rPr>
              <a:t>nivel</a:t>
            </a:r>
            <a:r>
              <a:rPr lang="en-US" altLang="es-PE" sz="1600" dirty="0">
                <a:latin typeface="Arial" panose="020B0604020202020204" pitchFamily="34" charset="0"/>
              </a:rPr>
              <a:t> de </a:t>
            </a:r>
            <a:r>
              <a:rPr lang="en-US" altLang="es-PE" sz="1600" dirty="0" err="1">
                <a:latin typeface="Arial" panose="020B0604020202020204" pitchFamily="34" charset="0"/>
              </a:rPr>
              <a:t>precio</a:t>
            </a:r>
            <a:r>
              <a:rPr lang="en-US" altLang="es-PE" sz="16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05830" name="Picture 6" descr="fig7_6_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31" name="Picture 7" descr="fig7_6_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32" name="Picture 8" descr="fig7_6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00200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33" name="Picture 9" descr="fig7_6_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00200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34" name="Picture 10" descr="fig7_6_2"/>
          <p:cNvPicPr>
            <a:picLocks noChangeAspect="1"/>
          </p:cNvPicPr>
          <p:nvPr/>
        </p:nvPicPr>
        <p:blipFill rotWithShape="1">
          <a:blip r:embed="rId6"/>
          <a:srcRect l="7036" b="8764"/>
          <a:stretch/>
        </p:blipFill>
        <p:spPr>
          <a:xfrm>
            <a:off x="4142441" y="1600199"/>
            <a:ext cx="4874053" cy="377918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058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147300"/>
              </p:ext>
            </p:extLst>
          </p:nvPr>
        </p:nvGraphicFramePr>
        <p:xfrm>
          <a:off x="586597" y="1548540"/>
          <a:ext cx="19812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91565" imgH="228600" progId="Equation.COEE2">
                  <p:embed/>
                </p:oleObj>
              </mc:Choice>
              <mc:Fallback>
                <p:oleObj r:id="rId7" imgW="1091565" imgH="228600" progId="Equation.COEE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6597" y="1548540"/>
                        <a:ext cx="1981200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84280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/>
      <p:bldP spid="2058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85089" y="21590"/>
            <a:ext cx="7534911" cy="1320800"/>
          </a:xfrm>
        </p:spPr>
        <p:txBody>
          <a:bodyPr vert="horz" wrap="square" lIns="91440" tIns="548640" rIns="91440" bIns="457200" anchor="ctr">
            <a:noAutofit/>
          </a:bodyPr>
          <a:lstStyle/>
          <a:p>
            <a:r>
              <a:rPr lang="en-US" altLang="es-PE" sz="3000" dirty="0"/>
              <a:t>Del </a:t>
            </a:r>
            <a:r>
              <a:rPr lang="en-US" altLang="es-PE" sz="3000" dirty="0" err="1"/>
              <a:t>Corto</a:t>
            </a:r>
            <a:r>
              <a:rPr lang="en-US" altLang="es-PE" sz="3000" dirty="0"/>
              <a:t> </a:t>
            </a:r>
            <a:r>
              <a:rPr lang="en-US" altLang="es-PE" sz="3000" dirty="0" err="1"/>
              <a:t>Plazo</a:t>
            </a:r>
            <a:r>
              <a:rPr lang="en-US" altLang="es-PE" sz="3000" dirty="0"/>
              <a:t> al </a:t>
            </a:r>
            <a:r>
              <a:rPr lang="en-US" altLang="es-PE" sz="3000" dirty="0" err="1"/>
              <a:t>Mediano</a:t>
            </a:r>
            <a:r>
              <a:rPr lang="en-US" altLang="es-PE" sz="3000" dirty="0"/>
              <a:t>/Largo </a:t>
            </a:r>
            <a:r>
              <a:rPr lang="en-US" altLang="es-PE" sz="3000" dirty="0" err="1"/>
              <a:t>Plazo</a:t>
            </a:r>
            <a:endParaRPr lang="en-US" altLang="es-PE" sz="3000" dirty="0"/>
          </a:p>
        </p:txBody>
      </p:sp>
      <p:sp>
        <p:nvSpPr>
          <p:cNvPr id="206851" name="Rectangle 3"/>
          <p:cNvSpPr>
            <a:spLocks noGrp="1"/>
          </p:cNvSpPr>
          <p:nvPr>
            <p:ph idx="1"/>
          </p:nvPr>
        </p:nvSpPr>
        <p:spPr>
          <a:xfrm>
            <a:off x="228600" y="1342390"/>
            <a:ext cx="3242829" cy="50292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eaLnBrk="1" hangingPunct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ajuste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Y=</a:t>
            </a:r>
            <a:r>
              <a:rPr lang="en-US" altLang="es-PE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s-PE" i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P=</a:t>
            </a:r>
            <a:r>
              <a:rPr lang="en-US" altLang="es-PE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s-PE" i="1" baseline="30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quienes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justificiación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cambiar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expectativas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mediano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plazo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el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regresa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P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altLang="es-P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natural </a:t>
            </a:r>
            <a:r>
              <a:rPr lang="en-US" altLang="es-PE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s-PE" i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s-PE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s-P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smtClean="0">
                <a:solidFill>
                  <a:schemeClr val="bg1"/>
                </a:solidFill>
              </a:rPr>
              <a:t>24</a:t>
            </a:fld>
            <a:endParaRPr lang="en-US" altLang="es-PE" sz="1400" dirty="0">
              <a:solidFill>
                <a:schemeClr val="bg1"/>
              </a:solidFill>
            </a:endParaRPr>
          </a:p>
        </p:txBody>
      </p:sp>
      <p:pic>
        <p:nvPicPr>
          <p:cNvPr id="23559" name="Picture 5" descr="fig7_6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331" y="1423035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54" name="Picture 6" descr="fig7_6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31" y="1423034"/>
            <a:ext cx="4022725" cy="317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55" name="Picture 7" descr="fig7_6sized"/>
          <p:cNvPicPr>
            <a:picLocks noChangeAspect="1"/>
          </p:cNvPicPr>
          <p:nvPr/>
        </p:nvPicPr>
        <p:blipFill rotWithShape="1">
          <a:blip r:embed="rId4"/>
          <a:srcRect l="7528" b="9461"/>
          <a:stretch/>
        </p:blipFill>
        <p:spPr>
          <a:xfrm>
            <a:off x="3733800" y="1423034"/>
            <a:ext cx="5262282" cy="407053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0759006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218439" y="34290"/>
            <a:ext cx="7782561" cy="1032510"/>
          </a:xfrm>
        </p:spPr>
        <p:txBody>
          <a:bodyPr vert="horz" wrap="square" lIns="91440" tIns="548640" rIns="91440" bIns="457200" anchor="ctr">
            <a:normAutofit fontScale="90000"/>
          </a:bodyPr>
          <a:lstStyle/>
          <a:p>
            <a:r>
              <a:rPr lang="en-US" altLang="es-PE" dirty="0"/>
              <a:t>Del </a:t>
            </a:r>
            <a:r>
              <a:rPr lang="en-US" altLang="es-PE" dirty="0" err="1"/>
              <a:t>Corto</a:t>
            </a:r>
            <a:r>
              <a:rPr lang="en-US" altLang="es-PE" dirty="0"/>
              <a:t> </a:t>
            </a:r>
            <a:r>
              <a:rPr lang="en-US" altLang="es-PE" dirty="0" err="1"/>
              <a:t>Plazo</a:t>
            </a:r>
            <a:r>
              <a:rPr lang="en-US" altLang="es-PE" dirty="0"/>
              <a:t> al </a:t>
            </a:r>
            <a:r>
              <a:rPr lang="en-US" altLang="es-PE" dirty="0" err="1"/>
              <a:t>Mediano</a:t>
            </a:r>
            <a:r>
              <a:rPr lang="en-US" altLang="es-PE" sz="3600" dirty="0"/>
              <a:t>/Largo</a:t>
            </a:r>
            <a:r>
              <a:rPr lang="en-US" altLang="es-PE" dirty="0"/>
              <a:t> </a:t>
            </a:r>
            <a:r>
              <a:rPr lang="en-US" altLang="es-PE" dirty="0" err="1"/>
              <a:t>Plazo</a:t>
            </a:r>
            <a:endParaRPr lang="en-US" altLang="es-PE" dirty="0"/>
          </a:p>
        </p:txBody>
      </p:sp>
      <p:sp>
        <p:nvSpPr>
          <p:cNvPr id="237571" name="Rectangle 3"/>
          <p:cNvSpPr>
            <a:spLocks noGrp="1"/>
          </p:cNvSpPr>
          <p:nvPr>
            <p:ph idx="1"/>
          </p:nvPr>
        </p:nvSpPr>
        <p:spPr>
          <a:xfrm>
            <a:off x="400685" y="1355090"/>
            <a:ext cx="7143115" cy="4588510"/>
          </a:xfrm>
        </p:spPr>
        <p:txBody>
          <a:bodyPr vert="horz" wrap="square" lIns="91440" tIns="45720" rIns="91440" bIns="45720" anchor="t">
            <a:normAutofit fontScale="80000" lnSpcReduction="20000"/>
          </a:bodyPr>
          <a:lstStyle/>
          <a:p>
            <a:pPr marL="0" indent="0" eaLnBrk="1" hangingPunct="1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resumen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eaLnBrk="1" hangingPunct="1">
              <a:lnSpc>
                <a:spcPct val="160000"/>
              </a:lnSpc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400" b="1" i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corto</a:t>
            </a:r>
            <a:r>
              <a:rPr lang="en-US" altLang="es-PE" sz="2400" b="1" i="1" u="sng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b="1" i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plazo</a:t>
            </a:r>
            <a:r>
              <a:rPr lang="en-US" altLang="es-PE" sz="2400" i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el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(PBI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efectivo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) se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puede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ubicar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por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encima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o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poder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debajo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del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natural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1">
              <a:lnSpc>
                <a:spcPct val="160000"/>
              </a:lnSpc>
              <a:buClr>
                <a:srgbClr val="FF0066"/>
              </a:buClr>
              <a:buFont typeface="Wingdings" panose="05000000000000000000" pitchFamily="2" charset="2"/>
              <a:buChar char="ü"/>
            </a:pP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Cambios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alguna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variable que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incide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ya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sea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la DA o la OA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llevará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cambios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(PBI </a:t>
            </a:r>
            <a:r>
              <a:rPr lang="en-US" altLang="es-P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efectivo</a:t>
            </a:r>
            <a:r>
              <a:rPr lang="en-US" altLang="es-PE" sz="2000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y 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cambios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60000"/>
              </a:lnSpc>
              <a:buClr>
                <a:srgbClr val="FF0066"/>
              </a:buClr>
              <a:buFont typeface="Arial" panose="020B0604020202020204" pitchFamily="34" charset="0"/>
              <a:buChar char="•"/>
            </a:pP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400" b="1" i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mediano</a:t>
            </a:r>
            <a:r>
              <a:rPr lang="en-US" altLang="es-PE" sz="2400" b="1" i="1" u="sng" dirty="0">
                <a:solidFill>
                  <a:schemeClr val="tx1"/>
                </a:solidFill>
                <a:latin typeface="Arial" panose="020B0604020202020204" pitchFamily="34" charset="0"/>
              </a:rPr>
              <a:t>/largo </a:t>
            </a:r>
            <a:r>
              <a:rPr lang="en-US" altLang="es-PE" sz="2400" b="1" i="1" u="sng" dirty="0" err="1">
                <a:solidFill>
                  <a:schemeClr val="tx1"/>
                </a:solidFill>
                <a:latin typeface="Arial" panose="020B0604020202020204" pitchFamily="34" charset="0"/>
              </a:rPr>
              <a:t>plazo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, la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regresa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a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su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 natural de </a:t>
            </a:r>
            <a:r>
              <a:rPr lang="en-US" altLang="es-PE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producción</a:t>
            </a:r>
            <a:r>
              <a:rPr lang="en-US" altLang="es-PE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1">
              <a:lnSpc>
                <a:spcPct val="160000"/>
              </a:lnSpc>
              <a:buClr>
                <a:srgbClr val="FF0066"/>
              </a:buClr>
              <a:buFont typeface="Wingdings" panose="05000000000000000000" pitchFamily="2" charset="2"/>
              <a:buChar char="ü"/>
            </a:pP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El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ajuste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se da a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través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cambios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en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el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nivel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 de </a:t>
            </a:r>
            <a:r>
              <a:rPr lang="en-US" altLang="es-PE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precios</a:t>
            </a:r>
            <a:r>
              <a:rPr lang="en-US" altLang="es-PE" sz="22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25603" name="Marcador de número de diapositiva 4"/>
          <p:cNvSpPr txBox="1">
            <a:spLocks noGrp="1"/>
          </p:cNvSpPr>
          <p:nvPr>
            <p:ph type="sldNum" sz="quarter" idx="4294967295"/>
          </p:nvPr>
        </p:nvSpPr>
        <p:spPr>
          <a:xfrm>
            <a:off x="8001000" y="6553200"/>
            <a:ext cx="1143000" cy="304800"/>
          </a:xfrm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s-PE" sz="1400" dirty="0">
                <a:solidFill>
                  <a:schemeClr val="bg1"/>
                </a:solidFill>
              </a:rPr>
              <a:t>25</a:t>
            </a:fld>
            <a:r>
              <a:rPr lang="en-US" altLang="es-PE" sz="1400" dirty="0">
                <a:solidFill>
                  <a:schemeClr val="bg1"/>
                </a:solidFill>
              </a:rPr>
              <a:t> of 49</a:t>
            </a:r>
          </a:p>
        </p:txBody>
      </p:sp>
    </p:spTree>
    <p:extLst>
      <p:ext uri="{BB962C8B-B14F-4D97-AF65-F5344CB8AC3E}">
        <p14:creationId xmlns:p14="http://schemas.microsoft.com/office/powerpoint/2010/main" val="340055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1443</TotalTime>
  <Words>1353</Words>
  <Application>Microsoft Office PowerPoint</Application>
  <PresentationFormat>Presentación en pantalla (4:3)</PresentationFormat>
  <Paragraphs>134</Paragraphs>
  <Slides>25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6" baseType="lpstr">
      <vt:lpstr>Arial</vt:lpstr>
      <vt:lpstr>Arial Narrow</vt:lpstr>
      <vt:lpstr>Cambria Math</vt:lpstr>
      <vt:lpstr>Futura Lt BT</vt:lpstr>
      <vt:lpstr>Symbol</vt:lpstr>
      <vt:lpstr>Times New Roman</vt:lpstr>
      <vt:lpstr>Trebuchet MS</vt:lpstr>
      <vt:lpstr>Wingdings</vt:lpstr>
      <vt:lpstr>Wingdings 3</vt:lpstr>
      <vt:lpstr>Faceta</vt:lpstr>
      <vt:lpstr>Equation.COEE2</vt:lpstr>
      <vt:lpstr>Modelo de Oferta Agregada y Demanda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Oferta Agregada</vt:lpstr>
      <vt:lpstr>Demanda Agregada</vt:lpstr>
      <vt:lpstr>Demanda Agregada</vt:lpstr>
      <vt:lpstr>Demanda Agregada</vt:lpstr>
      <vt:lpstr>Demanda Agregada</vt:lpstr>
      <vt:lpstr>Demanda Agregada</vt:lpstr>
      <vt:lpstr>Demanda Agregada</vt:lpstr>
      <vt:lpstr>Equilibrio en el Corto Plazo y el Mediano Plazo</vt:lpstr>
      <vt:lpstr>Equilibrio en el Corto Plazo y el Mediano Plazo</vt:lpstr>
      <vt:lpstr>Equilibrio en el Corto Plazo</vt:lpstr>
      <vt:lpstr>Equilibrio en el Corto Plazo</vt:lpstr>
      <vt:lpstr>Del Corto Plazo al Mediano/Largo Plazo</vt:lpstr>
      <vt:lpstr>Del Corto Plazo al Mediano/Largo Plazo</vt:lpstr>
      <vt:lpstr>Del Corto Plazo al Mediano/Largo Plazo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Yvonn Quijano</dc:creator>
  <cp:lastModifiedBy>Azanero Saona, Jose  Manuel</cp:lastModifiedBy>
  <cp:revision>165</cp:revision>
  <cp:lastPrinted>2018-09-25T03:58:57Z</cp:lastPrinted>
  <dcterms:created xsi:type="dcterms:W3CDTF">2005-05-11T00:59:00Z</dcterms:created>
  <dcterms:modified xsi:type="dcterms:W3CDTF">2025-06-23T03:03:16Z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1033-10.2.0.6020</vt:lpwstr>
  </property>
</Properties>
</file>